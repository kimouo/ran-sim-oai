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網路問題與其影響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流量攀升下，連線品質與能源成本是使用者與電信商各自最大的網路問題，對應 IM、CCO 與 ES [19][20]。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環境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流量持續攀升：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全球行動網路流量年增 23%，單月已逾 220 EB [18]。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生活面的兩個實例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通話與上網品質（IM、CCO）：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連線品質連續兩年居電信申訴之首，2025 年占 52% [19]。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電費與碳排（ES）：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能源占電信商網路營運成本 20% 至 40%，基地台為主要耗能來源 [20][5]。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問題類型的選定依據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標準化用例：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覆蓋容量、干擾與節能自 3GPP Rel-9 起即為 SON 用例，O-RAN 沿用至今 [21][5]。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2025 年國內電信消費申訴類別占比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029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通訊連線品質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2048256"/>
            <a:ext cx="1783080" cy="164592"/>
          </a:xfrm>
          <a:prstGeom prst="rect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8704" y="2029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52%　1,905 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2313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申裝／異動／續約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401193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6817" y="2313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11.7%　429 件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25968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客戶服務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615184"/>
            <a:ext cx="154305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9929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4.5%　165 件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28803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計費問題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80760" y="2898648"/>
            <a:ext cx="144018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9642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4.2%　156 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資費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3182112"/>
            <a:ext cx="113157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8781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3.3%　122 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34655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 [19]；藍色為對應 IM、CCO 的類別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92040" y="37490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23%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行動網路流量年增率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Q2 對 2025 Q2 [18]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37490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 至 40%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能源占網路營運成本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OPEX 的比例 [20]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4352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橘色為與 ES 對應的成本項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CCO：Coverage and Capacity Optimization　ES：Energy Saving　IM：Interference Management　EB：Exabyte　OPEX：Operating Expense　SON：Self-Organizing Network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[18] Ericsson, Ericsson Mobility Report, 2026-06　[19] 電信消費爭議處理中心, 2025 年電信消費申訴統計, 2026　[20] GSMA Intelligence, Going green: measuring the energy efficiency of mobile networks (4th ed.), 2025-03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[21] 3GPP TR 36.902 V9.3.1, Self-configuring and self-optimizing network (SON) use cases and solutions, 2011-03　[5] O-RAN ALLIANCE nGRG, O-RAN Green Communication Research Report, RR-2024-08, 2024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早期的解決方式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2011 至 2023 年的文獻一致指出：演算法由專家設計、參數由人工調整、成效以實地量測驗證 [14][4][15][6]。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人工主導的三個環節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演算法設計：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由專家工程師分析量測資料，並手動調整系統參數以優化網路 [4]。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部署與整合：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每導入一支新應用即需人工整合一次，測試與安裝缺乏自動化流程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成效驗證：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換手參數優化仰賴定點 drive test 與人工紀錄後處理 [14]，此作法自 2G 時期沿用至今 [15]。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作法特徵：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三個環節均以專業人力為核心，每一輪調整皆重新執行一次 [14]。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2176272"/>
            <a:ext cx="374904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39512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專業人力調參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驗證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4G Americas [14]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63640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7648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3016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43016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專家工程師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手動調整參數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79008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Klaine [4]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287768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1776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7144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67144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驗證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 2G 沿用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03136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Bayazeed [15]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311896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18704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75904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91272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91272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xApp 測試與安裝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仍為人工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27264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Hoffmann [6]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2040" y="3410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各文獻共同描述的人工環節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9204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演算法設計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專家分析與調參 [4][14]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3909060"/>
            <a:ext cx="91440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7220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7220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部署與整合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人工整合與安裝 [6]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60920" y="3909060"/>
            <a:ext cx="91440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5236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5236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成效驗證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與紀錄後處理 [14][15]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2428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橘色為最接近現況的文獻；作法未隨網路世代改變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test：以量測車沿道路實測訊號品質　xApp：Near-RT RIC Application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[14] 4G Americas, Self-Optimizing Networks: The Benefits of SON in LTE, 2011-07　[4] P. V. Klaine et al., A Survey of Machine Learning Techniques Applied to Self-Organizing Cellular Networks, IEEE COMST, 19(4), 2017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[15] A. Bayazeed, K. Khorzom, M. Aljnidi, A survey of self-coordination in self-organizing network, Computer Networks, 196, 2021　[6] M. Hoffmann et al., Open RAN xApps Design and Evaluation, IEEE JSAC（已接受）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早期解決方式的限制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人工作法的成本落在人力、驗證與時間三處，電信商推動自動化的主要動機亦集中於人員效率與維運成本 [14][17]。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三項成本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人力成本：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須維持專業人力調整參數，人工流程耗時且易出錯 [14]。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驗證成本：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於人力、時間與設備上均屬高成本，且僅涵蓋量測路徑 [14][16]。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時間成本：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換手參數優化的基準量測需數天至數週 [14]；細胞停擺的人工偵測亦以天或週計 [4]。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產業的轉型動機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自動化的動機：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受訪電信商中，認為「簡化維運並提升人員效率」與「降低維運成本」非常重要者分別達 84% 與 85% [17]。</a:t>
            </a:r>
            <a:endParaRPr lang="en-US" sz="1500" dirty="0"/>
          </a:p>
        </p:txBody>
      </p:sp>
      <p:pic>
        <p:nvPicPr>
          <p:cNvPr id="10" name="Image 0" descr="tmf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37360"/>
            <a:ext cx="3749040" cy="1527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3291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[17]　電信商推動自主網路的動機；深色為「非常重要」的受訪者比例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9204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專業人力常駐 [14]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[14][16]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5236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5236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時間成本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數天至數週 [14][4]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4169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橘色為文獻指出的三項人工成本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基準量測：調整參數前先量測一段時間作為比較基準　維運：Operations and Maintenance（O&amp;M）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[14] 4G Americas, Self-Optimizing Networks: The Benefits of SON in LTE, 2011-07　[16] NGMN Alliance, NGMN Top OPE Recommendations, v1.0, 2010-09　[4] P. V. Klaine et al., IEEE COMST, 19(4), 2017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[17] R. Webb, A regional guide to autonomous networks progress, TM Forum, 2025-06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網路自主化的國際趨勢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為降低人工作法的成本，國際標準將方向定為由人給定意圖、由網路自行達成，並以 L0 至 L5 六級衡量進程 [1][3]。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國際定義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意圖式網路 IBN：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意圖為宣告式、以結果為導向且不涉及實作的營運目標，由網路自行轉譯、執行並持續驗證與修正 [1]。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自主網路分級：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依執行、感知、分析、決策、意圖處理五類工作由人或系統承擔，將自主程度劃分為 L0 至 L5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產業現況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多數處於 L2 至 L3：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執行與感知已由系統承擔，決策仍由人為之 [2]。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首例 L4 驗證：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TDC NET 以 Ericsson 預測式細胞節能方案取得 TM Forum 首張 L4 驗證，2024 年 5 月上線，每 GB 能耗降約 5% [28]。</a:t>
            </a:r>
            <a:endParaRPr lang="en-US" sz="1500" dirty="0"/>
          </a:p>
        </p:txBody>
      </p:sp>
      <p:pic>
        <p:nvPicPr>
          <p:cNvPr id="10" name="Image 0" descr="ts28100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37360"/>
            <a:ext cx="3749040" cy="1435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3200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[3] Table 5-1　六級各由人或由系統承擔哪幾類工作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9204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L2、L3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產業多數所處的等級 [2]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決策由系統承擔的下一級 [3]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5236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5236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L5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五類工作全由系統承擔 [3]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4059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橘色為本研究對應的等級：決策由系統承擔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IBN：Intent-Based Networking　3GPP：3rd Generation Partnership Project　L0 至 L5：Autonomous Network Levels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[1] IETF RFC 9315, Intent-Based Networking - Concepts and Definitions, 2022-10　[3] 3GPP TS 28.100 V17.1.0, Levels of autonomous network, 2022-10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[2] B. Wu et al., IEEE Communications Magazine（已接受）, 2025　[28] Ericsson, TDC NET and Ericsson achieve industry-first certification from TM Forum of Level 4 autonomy, 2025-06-19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網路問題的解決流程與部署位置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觀測、分析、決策、執行四步中，決策集中於 RIC，Near-RT RIC 承擔 10 ms 至 1 s 的即時控制 [6][22]。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解決流程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觀測與分析：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基地台經 E2 介面回報量測，RIC 彙整為網路狀態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決策：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Near-RT RIC 上的 xApp 依網路狀態產生控制策略，本研究生成的即為此處的 xApp 策略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執行：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RIC 經 E2 介面下達控制，基地台套用參數並回報結果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解決方案的部署位置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決策集中於 RIC：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對照自主網路等級定義，L4 要求由系統承擔的正是決策，對應 RIC 上的應用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部署於 Near-RT RIC：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控制迴路為 10 ms 至 1 s，可於秒級內回應干擾、覆蓋與換手；Non-RT RIC 迴路為 1 s 以上，適合長期策略 [22]。</a:t>
            </a:r>
            <a:endParaRPr lang="en-US" sz="1500" dirty="0"/>
          </a:p>
        </p:txBody>
      </p:sp>
      <p:pic>
        <p:nvPicPr>
          <p:cNvPr id="10" name="Image 0" descr="ora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737360"/>
            <a:ext cx="2514600" cy="2514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730627"/>
            <a:ext cx="1709928" cy="729234"/>
          </a:xfrm>
          <a:prstGeom prst="roundRect">
            <a:avLst>
              <a:gd name="adj" fmla="val 501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5000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892040" y="4288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[6] Fig. 1　O-RAN 架構；紅色虛線框為本研究解決方案部署的 Near-RT RIC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RIC：RAN Intelligent Controller　Near-RT：Near-Real-Time　Non-RT：Non-Real-Time　xApp：Near-RT RIC Application　rApp：Non-RT RIC Application　E2：Near-RT RIC 與基地台間的介面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[6] M. Hoffmann et al., Open RAN xApps Design and Evaluation, IEEE JSAC（已接受）　[3] 3GPP TS 28.100 V17.1.0, 2022-10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[22] O-RAN ALLIANCE, O-RAN Architecture Description, O-RAN.WG1.OAD-R003-v07.00, 2022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以自主網路解決問題的既有研究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決策是唯一將網路狀態轉為控制動作的環節，既有研究多以生成決策邏輯為主軸，正確率與穩定性仍受限 [3][7][24]。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決策環節的關鍵地位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分級定義：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3GPP TS 28.100，L2 由系統承擔執行與感知，L3 再承擔分析但決策仍需人參與，L4 起決策全由系統承擔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L3 至 L4 的關鍵：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兩級的差異僅在決策一欄，TM Forum 稱此為自主網路的顯著跨越 [17]。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需求驅動的研究方向：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電信商最優先自動化的是故障偵測與處置，占 82%，屬決策環節 [17]；LLM 生成研究因而多以產出決策邏輯為主軸 [7][23][24]。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數據揭示的缺口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正確率與穩定性受模型能力主導：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同一任務 GPT-4 達 88%，其餘模型於困難任務僅 0% 至 38% [7]。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修正不跨題累積：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驗證與修正僅作用於當次演算法，下一題從頭生成；ALLSTaR 複雜演算法每次仍需 1.6 至 2.6 輪，AutORAN 初版仍約 5 個錯誤 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領域知識決定成功率：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AutORAN 移除知識檢索後，一次成功率自 0.92 降至 0.76 [24]。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737360"/>
                <a:gridCol w="135331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研究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作法與指標定義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原文數據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Mani et al.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2023 [7]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LLM 直接生成網管程式；正確率為執行結果與標準答案相符的任務比例，任務分易、中、難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GPT-4 最佳 88%；困難任務 GPT-4 降至 75%，GPT-3 等其他模型 0% 至 38%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ALLSTaR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2025 [23]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LLM 由論文生成排程器，生成後以單元測試發現錯誤再修正，一次修正為一輪，每種演算法 5 次取平均；信心分數為另一 LLM 對照原論文的互評，滿分 10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ALLSTaR 生成的 9 種 QoS 感知排程器平均需 1.6 至 2.6 輪；其中最複雜的 2L-FLS 信心分數僅 6.2 至 7.0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AutORAN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2026 [24]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固定管線生成 xApp，生成後執行並以錯誤日誌修正；修的是當次程式，下一需求從頭開始。一次成功率為首次生成可無錯執行的比例，初版為未修正的第一輪程式，25 次取平均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AutORAN 完整管線的一次成功率 0.92 與 0.96，但初版平均含約 5 個邏輯錯誤，需 2 至 3 輪修正；移除知識檢索後一次成功率降至 0.76 與 0.80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892040" y="4206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橘色為各研究原文報告的數據；中欄為作法與指標定義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LLM：Large Language Model　QoS：Quality of Service　2L-FLS：兩層框架級排程器，為 ALLSTaR 所測最複雜的演算法　TS 28.100 的 L0 至 L5 沿用 TM Forum 的六級定義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[7] S. K. Mani et al., Enhancing Network Management Using Code Generated by LLMs, ACM HotNets, 2023　[23] M. Elkael et al., ALLSTaR, arXiv:2505.18389, 2025　[24] X. Li et al., AutORAN, arXiv:2603.18604, 2026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[3] 3GPP TS 28.100 V17.1.0, 2022-10　[17] TM Forum, A regional guide to autonomous networks progress, 2025-06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本研究方法：封閉迴路的策略生成工作流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策略生成 Agent 依案例資料集生成策略，網路專家 Agent 評估後將扣分回饋為 prompt 修正，兩者構成封閉迴路。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兩個 Agent 的職責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策略生成 Agent：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辨識問題型別，檢索案例資料集後生成控制策略。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網路專家 Agent：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以一致標準評估策略，判定扣分根因並修正生成 Agent 的 prompt。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工作流的設計理念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固定契約：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各階段輸入與輸出格式事先定義，Agent 依格式交接。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案例資料集：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3GPP 與 O-RAN 文件及環境規格編製的標註案例，每案含觀測資料、問題型別與參考策略；觀測供檢索，參考策略僅供評估。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與既有研究的差異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修正生成器而非單次產物：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既有研究以錯誤日誌修正當次程式；本方法將扣分歸因至 prompt 段落並修改，改進延續至後續題目 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評估以程式對照標準答案：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 LLM 互評或部署後實測，五項分數重跑不變且可歸因。</a:t>
            </a:r>
            <a:endParaRPr lang="en-US" sz="1500" dirty="0"/>
          </a:p>
        </p:txBody>
      </p:sp>
      <p:pic>
        <p:nvPicPr>
          <p:cNvPr id="10" name="Image 0" descr="method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28800"/>
            <a:ext cx="3749040" cy="21122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知識來源匯入案例資料集，兩個 Agent 以生成與回饋構成封閉迴路，通過評估的策略方為輸出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案例資料集：公開網管文件與 AI 生成案例的彙整　網路專家 Agent：即第二章的策略 Judge Agent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架構細節見第二章：方法論流程、策略生成 Agent、策略 Judge Agent 與閉迴路優化。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方法的效益與全球需求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效益為策略生成快且迴路可自我修正；需求端為部署 xApp 的電信商與供應商，2027 年支出估近 7 億美元 [9]。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效益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生成效率：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固定契約與案例資料集使策略生成以分鐘計，取代從頭開發與人工整合 [6][24]。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迴路自我修正：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每筆扣分經根因判定後轉為 prompt 修改，取代人工反覆調校；根因不在 prompt 者僅開單。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成效可歸因、可累積：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改動逐字可重放，同一批題目兩次執行的分差與累積增益可直接量化。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全球需求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市場規模：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2027 年底 RIC、xApp 與 rApp 年度投資近 7 億美元，複合成長率逾 125% [9]。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電信商目標：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85% 受訪電信商以 2030 年達 L4 為目標，決策自動化為必經環節 [17]。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供應模式：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xApp 可由第三方供應，改良的生成方式可直接進入交付 [6]。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近 7 億美元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2027 年 RIC、xApp、rApp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年度投資 [9]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逾 125%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2024 至 2027 年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複合成長率 [9]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85%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2030 年達 L4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為目標的電信商 [17]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487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橘色為需求端的目標；前兩者為市場規模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92040" y="2926080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21224" y="2880360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21224" y="2880360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網路應用供應商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以本方法生成 xApp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10912" y="3163824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310128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21224" y="3264408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21224" y="3264408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marketplace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交付電信商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10912" y="3547872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694176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94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21224" y="3648456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21224" y="3648456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電信商的網路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部署於 Near-RT RIC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10912" y="3931920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4078224"/>
            <a:ext cx="237744" cy="23774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21224" y="4032504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9525">
            <a:solidFill>
              <a:srgbClr val="A5D6A7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21224" y="4032504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可量測的結果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生成時間、正確率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綠色為本方法要量的產出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rApp：Non-RT RIC Application　marketplace：xApp 與 rApp 的交付平台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[9] SNS Telecom &amp; IT, RAN Automation, SON, RIC, xApps &amp; rApps in the 5G Era: 2024-2030, 2024-08-28　[17] TM Forum, A regional guide to autonomous networks progress, 2025-06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[6] M. Hoffmann et al., Open RAN xApps Design and Evaluation, IEEE JSAC（已接受）　[24] X. Li et al., AutORAN, arXiv:2603.18604,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2026-09-13T11:17:18Z</dcterms:created>
  <dcterms:modified xsi:type="dcterms:W3CDTF">2026-09-13T11:17:18Z</dcterms:modified>
</cp:coreProperties>
</file>