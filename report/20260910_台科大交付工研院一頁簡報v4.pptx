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70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B7F7C-6733-46AA-8FBA-D155E94597C5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EEAF5-3175-450F-8763-D07F1BAEFE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358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1EEAF5-3175-450F-8763-D07F1BAEFE7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2388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7723" y="192186"/>
            <a:ext cx="898398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TW" altLang="en-US" b="1" dirty="0">
                <a:solidFill>
                  <a:srgbClr val="1A237E"/>
                </a:solidFill>
                <a:latin typeface="Arial"/>
                <a:ea typeface="微軟正黑體"/>
                <a:cs typeface="微軟正黑體"/>
              </a:rPr>
              <a:t>以 </a:t>
            </a:r>
            <a:r>
              <a:rPr lang="en-US" altLang="zh-TW" b="1" dirty="0">
                <a:solidFill>
                  <a:srgbClr val="1A237E"/>
                </a:solidFill>
                <a:latin typeface="Arial"/>
                <a:ea typeface="微軟正黑體"/>
                <a:cs typeface="微軟正黑體"/>
              </a:rPr>
              <a:t>Agent as a Judge </a:t>
            </a:r>
            <a:r>
              <a:rPr lang="zh-TW" altLang="en-US" b="1" dirty="0">
                <a:solidFill>
                  <a:srgbClr val="1A237E"/>
                </a:solidFill>
                <a:latin typeface="Arial"/>
                <a:ea typeface="微軟正黑體"/>
                <a:cs typeface="微軟正黑體"/>
              </a:rPr>
              <a:t>打造網路策略專家角色，持續提升 </a:t>
            </a:r>
            <a:r>
              <a:rPr lang="en-US" altLang="zh-TW" b="1" dirty="0">
                <a:solidFill>
                  <a:srgbClr val="1A237E"/>
                </a:solidFill>
                <a:latin typeface="Arial"/>
                <a:ea typeface="微軟正黑體"/>
                <a:cs typeface="微軟正黑體"/>
              </a:rPr>
              <a:t>Agent </a:t>
            </a:r>
            <a:r>
              <a:rPr lang="zh-TW" altLang="en-US" b="1" dirty="0">
                <a:solidFill>
                  <a:srgbClr val="1A237E"/>
                </a:solidFill>
                <a:latin typeface="Arial"/>
                <a:ea typeface="微軟正黑體"/>
                <a:cs typeface="微軟正黑體"/>
              </a:rPr>
              <a:t>的策略生成能力。</a:t>
            </a:r>
            <a:endParaRPr lang="zh-TW" altLang="en-US" sz="2400" b="1" dirty="0">
              <a:solidFill>
                <a:srgbClr val="FF0000"/>
              </a:solidFill>
              <a:latin typeface="Arial"/>
              <a:ea typeface="微軟正黑體"/>
              <a:cs typeface="微軟正黑體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0020" y="517256"/>
            <a:ext cx="8854440" cy="45719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7722" y="678168"/>
            <a:ext cx="3873753" cy="49946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5000"/>
              </a:lnSpc>
              <a:buFont typeface="Wingdings" panose="05000000000000000000" pitchFamily="2" charset="2"/>
              <a:buChar char="n"/>
            </a:pPr>
            <a:r>
              <a:rPr lang="zh-TW" altLang="en-US" sz="1400" b="1" dirty="0">
                <a:solidFill>
                  <a:srgbClr val="1A237E"/>
                </a:solidFill>
                <a:latin typeface="Arial"/>
                <a:ea typeface="微軟正黑體"/>
                <a:cs typeface="微軟正黑體"/>
              </a:rPr>
              <a:t>問題難點</a:t>
            </a:r>
            <a:endParaRPr sz="1400" b="1" dirty="0">
              <a:solidFill>
                <a:srgbClr val="1A237E"/>
              </a:solidFill>
              <a:latin typeface="Arial"/>
              <a:ea typeface="微軟正黑體"/>
              <a:cs typeface="微軟正黑體"/>
            </a:endParaRPr>
          </a:p>
          <a:p>
            <a:pPr marL="201168" algn="just">
              <a:lnSpc>
                <a:spcPct val="105000"/>
              </a:lnSpc>
              <a:spcAft>
                <a:spcPts val="200"/>
              </a:spcAft>
            </a:pPr>
            <a:r>
              <a:rPr lang="en-US" altLang="zh-TW" sz="120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Agent </a:t>
            </a: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自主生成網路策略仍面臨兩大挑戰：</a:t>
            </a:r>
            <a:endParaRPr sz="1200" b="0" dirty="0">
              <a:solidFill>
                <a:srgbClr val="5F6368"/>
              </a:solidFill>
              <a:latin typeface="Arial"/>
              <a:ea typeface="微軟正黑體"/>
              <a:cs typeface="微軟正黑體"/>
            </a:endParaRPr>
          </a:p>
          <a:p>
            <a:pPr marL="486918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200" b="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專家經驗難掌握：缺乏網管專業知識與實務經驗，難以判斷問題及處理方式。</a:t>
            </a:r>
            <a:endParaRPr sz="1200" b="0" dirty="0">
              <a:solidFill>
                <a:srgbClr val="5F6368"/>
              </a:solidFill>
              <a:latin typeface="Arial"/>
              <a:ea typeface="微軟正黑體"/>
              <a:cs typeface="微軟正黑體"/>
            </a:endParaRPr>
          </a:p>
          <a:p>
            <a:pPr marL="486918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200" b="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生成品質難確認：缺乏一致的評估標準，難以確認生成策略是否符合需求。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sz="1400" b="1" dirty="0">
                <a:solidFill>
                  <a:srgbClr val="0D47A1"/>
                </a:solidFill>
                <a:latin typeface="Arial"/>
                <a:ea typeface="微軟正黑體"/>
                <a:cs typeface="微軟正黑體"/>
              </a:rPr>
              <a:t>目標說明</a:t>
            </a:r>
            <a:endParaRPr sz="1400" b="1" dirty="0">
              <a:solidFill>
                <a:srgbClr val="0D47A1"/>
              </a:solidFill>
              <a:latin typeface="Arial"/>
              <a:ea typeface="微軟正黑體"/>
              <a:cs typeface="微軟正黑體"/>
            </a:endParaRPr>
          </a:p>
          <a:p>
            <a:pPr marL="486918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強化網路問題處理能力：讓 </a:t>
            </a:r>
            <a:r>
              <a:rPr lang="en-US" altLang="zh-TW" sz="120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Agent </a:t>
            </a: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正確辨識問題，掌握對應的處理方式。</a:t>
            </a:r>
            <a:endParaRPr lang="en-US" altLang="zh-TW" sz="1200" dirty="0">
              <a:solidFill>
                <a:srgbClr val="5F6368"/>
              </a:solidFill>
              <a:latin typeface="Arial"/>
              <a:ea typeface="微軟正黑體"/>
              <a:cs typeface="微軟正黑體"/>
            </a:endParaRPr>
          </a:p>
          <a:p>
            <a:pPr marL="486918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提升網路策略生成品質：讓 </a:t>
            </a:r>
            <a:r>
              <a:rPr lang="en-US" altLang="zh-TW" sz="120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Agent </a:t>
            </a: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產生符合需求的網路策略。</a:t>
            </a:r>
            <a:endParaRPr sz="1200" b="0" dirty="0">
              <a:solidFill>
                <a:srgbClr val="5F6368"/>
              </a:solidFill>
              <a:latin typeface="Arial"/>
              <a:ea typeface="微軟正黑體"/>
              <a:cs typeface="微軟正黑體"/>
            </a:endParaRPr>
          </a:p>
          <a:p>
            <a:pPr marL="285750" indent="-285750">
              <a:lnSpc>
                <a:spcPct val="105000"/>
              </a:lnSpc>
              <a:buFont typeface="Wingdings" panose="05000000000000000000" pitchFamily="2" charset="2"/>
              <a:buChar char="n"/>
            </a:pPr>
            <a:r>
              <a:rPr lang="zh-TW" altLang="en-US" sz="1400" b="1" dirty="0">
                <a:solidFill>
                  <a:srgbClr val="006064"/>
                </a:solidFill>
                <a:latin typeface="Arial"/>
                <a:ea typeface="微軟正黑體"/>
                <a:cs typeface="微軟正黑體"/>
              </a:rPr>
              <a:t>方法說明</a:t>
            </a:r>
            <a:endParaRPr lang="zh-TW" altLang="en-US" sz="1400" b="1" dirty="0">
              <a:solidFill>
                <a:srgbClr val="E65100"/>
              </a:solidFill>
              <a:latin typeface="Arial"/>
              <a:ea typeface="微軟正黑體"/>
              <a:cs typeface="微軟正黑體"/>
            </a:endParaRPr>
          </a:p>
          <a:p>
            <a:pPr marL="486918" indent="-285750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建立網管案例資料集：彙整網路公開的網管文件，搭配 </a:t>
            </a:r>
            <a:r>
              <a:rPr lang="en-US" altLang="zh-TW" sz="120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AI </a:t>
            </a: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  <a:cs typeface="微軟正黑體"/>
              </a:rPr>
              <a:t>生成案例，提供問題判斷與策略生成的參考。</a:t>
            </a:r>
            <a:endParaRPr lang="en-US" altLang="zh-TW" sz="1200" dirty="0">
              <a:solidFill>
                <a:srgbClr val="5F6368"/>
              </a:solidFill>
              <a:latin typeface="Arial"/>
              <a:ea typeface="微軟正黑體"/>
              <a:cs typeface="微軟正黑體"/>
            </a:endParaRPr>
          </a:p>
          <a:p>
            <a:pPr marL="486918" indent="-285750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</a:rPr>
              <a:t>導入 </a:t>
            </a:r>
            <a:r>
              <a:rPr lang="en-US" altLang="zh-TW" sz="1200" dirty="0">
                <a:solidFill>
                  <a:srgbClr val="5F6368"/>
                </a:solidFill>
                <a:latin typeface="Arial"/>
                <a:ea typeface="微軟正黑體"/>
              </a:rPr>
              <a:t>LLM as a Judge</a:t>
            </a: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</a:rPr>
              <a:t>：以一致標準評估生成的策略，提供改善建議，引導 </a:t>
            </a:r>
            <a:r>
              <a:rPr lang="en-US" altLang="zh-TW" sz="1200" dirty="0">
                <a:solidFill>
                  <a:srgbClr val="5F6368"/>
                </a:solidFill>
                <a:latin typeface="Arial"/>
                <a:ea typeface="微軟正黑體"/>
              </a:rPr>
              <a:t>Agent </a:t>
            </a: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</a:rPr>
              <a:t>修正策略。</a:t>
            </a:r>
            <a:endParaRPr lang="en-US" altLang="zh-TW" sz="1200" dirty="0">
              <a:solidFill>
                <a:srgbClr val="5F6368"/>
              </a:solidFill>
              <a:latin typeface="Arial"/>
              <a:ea typeface="微軟正黑體"/>
            </a:endParaRPr>
          </a:p>
          <a:p>
            <a:pPr marL="285750" indent="-285750">
              <a:lnSpc>
                <a:spcPct val="105000"/>
              </a:lnSpc>
              <a:buFont typeface="Wingdings" panose="05000000000000000000" pitchFamily="2" charset="2"/>
              <a:buChar char="n"/>
            </a:pPr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Arial"/>
                <a:ea typeface="微軟正黑體"/>
              </a:rPr>
              <a:t>成果說明</a:t>
            </a:r>
            <a:endParaRPr lang="en-US" altLang="zh-TW" sz="1400" b="1" dirty="0">
              <a:solidFill>
                <a:schemeClr val="accent2">
                  <a:lumMod val="75000"/>
                </a:schemeClr>
              </a:solidFill>
              <a:latin typeface="Arial"/>
              <a:ea typeface="微軟正黑體"/>
            </a:endParaRPr>
          </a:p>
          <a:p>
            <a:pPr marL="486918" indent="-285750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</a:rPr>
              <a:t>網路問題辨識率 ≥ </a:t>
            </a:r>
            <a:r>
              <a:rPr lang="en-US" altLang="zh-TW" sz="1200" dirty="0">
                <a:solidFill>
                  <a:srgbClr val="5F6368"/>
                </a:solidFill>
                <a:latin typeface="Arial"/>
                <a:ea typeface="微軟正黑體"/>
              </a:rPr>
              <a:t>90%</a:t>
            </a: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</a:rPr>
              <a:t>，能準確辨識網路問題。</a:t>
            </a:r>
            <a:endParaRPr lang="en-US" altLang="zh-TW" sz="1200" dirty="0">
              <a:solidFill>
                <a:srgbClr val="5F6368"/>
              </a:solidFill>
              <a:latin typeface="Arial"/>
              <a:ea typeface="微軟正黑體"/>
            </a:endParaRPr>
          </a:p>
          <a:p>
            <a:pPr marL="486918" indent="-285750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</a:rPr>
              <a:t>策略生成正確率 ≥ </a:t>
            </a:r>
            <a:r>
              <a:rPr lang="en-US" altLang="zh-TW" sz="1200" dirty="0">
                <a:solidFill>
                  <a:srgbClr val="5F6368"/>
                </a:solidFill>
                <a:latin typeface="Arial"/>
                <a:ea typeface="微軟正黑體"/>
              </a:rPr>
              <a:t>90%</a:t>
            </a:r>
            <a:r>
              <a:rPr lang="zh-TW" altLang="en-US" sz="1200" dirty="0">
                <a:solidFill>
                  <a:srgbClr val="5F6368"/>
                </a:solidFill>
                <a:latin typeface="Arial"/>
                <a:ea typeface="微軟正黑體"/>
              </a:rPr>
              <a:t>，能正確生成解決網路問題的策略。</a:t>
            </a:r>
            <a:endParaRPr lang="en-US" altLang="zh-TW" sz="1200" dirty="0">
              <a:solidFill>
                <a:srgbClr val="5F6368"/>
              </a:solidFill>
              <a:latin typeface="Arial"/>
              <a:ea typeface="微軟正黑體"/>
            </a:endParaRPr>
          </a:p>
          <a:p>
            <a:pPr marL="285750" indent="-285750">
              <a:lnSpc>
                <a:spcPct val="105000"/>
              </a:lnSpc>
              <a:spcBef>
                <a:spcPts val="1100"/>
              </a:spcBef>
              <a:spcAft>
                <a:spcPts val="200"/>
              </a:spcAft>
              <a:buFont typeface="Wingdings" panose="05000000000000000000" pitchFamily="2" charset="2"/>
              <a:buChar char="n"/>
            </a:pPr>
            <a:endParaRPr lang="zh-TW" altLang="en-US" sz="1400" b="1" dirty="0">
              <a:solidFill>
                <a:schemeClr val="accent2">
                  <a:lumMod val="75000"/>
                </a:schemeClr>
              </a:solidFill>
              <a:latin typeface="Arial"/>
              <a:ea typeface="微軟正黑體"/>
            </a:endParaRPr>
          </a:p>
          <a:p>
            <a:pPr marL="486918" indent="-285750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zh-TW" sz="1200" dirty="0">
              <a:solidFill>
                <a:srgbClr val="5F6368"/>
              </a:solidFill>
              <a:latin typeface="Arial"/>
              <a:ea typeface="微軟正黑體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17217" y="-3870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dirty="0" err="1">
                <a:latin typeface="標楷體"/>
              </a:rPr>
              <a:t>國立臺灣科技大學</a:t>
            </a:r>
            <a:r>
              <a:rPr sz="900" dirty="0">
                <a:latin typeface="標楷體"/>
              </a:rPr>
              <a:t> </a:t>
            </a:r>
            <a:r>
              <a:rPr sz="900" dirty="0" err="1">
                <a:latin typeface="標楷體"/>
              </a:rPr>
              <a:t>電資學院</a:t>
            </a:r>
            <a:r>
              <a:rPr sz="900" dirty="0">
                <a:latin typeface="標楷體"/>
              </a:rPr>
              <a:t> </a:t>
            </a:r>
            <a:r>
              <a:rPr sz="900" dirty="0" err="1">
                <a:latin typeface="標楷體"/>
              </a:rPr>
              <a:t>呂政修</a:t>
            </a:r>
            <a:r>
              <a:rPr sz="900" dirty="0">
                <a:latin typeface="標楷體"/>
              </a:rPr>
              <a:t> </a:t>
            </a:r>
            <a:r>
              <a:rPr sz="900" dirty="0" err="1">
                <a:latin typeface="標楷體"/>
              </a:rPr>
              <a:t>院長</a:t>
            </a:r>
            <a:endParaRPr sz="900" dirty="0">
              <a:latin typeface="標楷體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5AD893B-17CA-51C2-FAE5-1CC0AABF7F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7" r="4239"/>
          <a:stretch/>
        </p:blipFill>
        <p:spPr>
          <a:xfrm>
            <a:off x="4194810" y="914397"/>
            <a:ext cx="4819650" cy="37957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197</Words>
  <Application>Microsoft Office PowerPoint</Application>
  <PresentationFormat>如螢幕大小 (16:9)</PresentationFormat>
  <Paragraphs>16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標楷體</vt:lpstr>
      <vt:lpstr>Aptos</vt:lpstr>
      <vt:lpstr>Arial</vt:lpstr>
      <vt:lpstr>Calibri</vt:lpstr>
      <vt:lpstr>Wingdings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Eric JHUANG</dc:creator>
  <cp:keywords/>
  <dc:description>generated using python-pptx</dc:description>
  <cp:lastModifiedBy>莊雨樵</cp:lastModifiedBy>
  <cp:revision>67</cp:revision>
  <dcterms:created xsi:type="dcterms:W3CDTF">2013-01-27T09:14:16Z</dcterms:created>
  <dcterms:modified xsi:type="dcterms:W3CDTF">2026-09-10T11:20:06Z</dcterms:modified>
  <cp:category/>
</cp:coreProperties>
</file>