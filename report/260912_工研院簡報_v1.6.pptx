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86" r:id="rId2"/>
  </p:sldMasterIdLst>
  <p:notesMasterIdLst>
    <p:notesMasterId r:id="rId34"/>
  </p:notesMasterIdLst>
  <p:sldIdLst>
    <p:sldId id="256" r:id="rId3"/>
    <p:sldId id="257" r:id="rId4"/>
    <p:sldId id="258" r:id="rId5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267" r:id="rId14"/>
    <p:sldId id="285" r:id="rId15"/>
    <p:sldId id="270" r:id="rId16"/>
    <p:sldId id="271" r:id="rId17"/>
    <p:sldId id="269" r:id="rId18"/>
    <p:sldId id="273" r:id="rId19"/>
    <p:sldId id="272" r:id="rId20"/>
    <p:sldId id="274" r:id="rId21"/>
    <p:sldId id="275" r:id="rId22"/>
    <p:sldId id="284" r:id="rId23"/>
    <p:sldId id="276" r:id="rId24"/>
    <p:sldId id="277" r:id="rId25"/>
    <p:sldId id="280" r:id="rId26"/>
    <p:sldId id="281" r:id="rId27"/>
    <p:sldId id="278" r:id="rId28"/>
    <p:sldId id="286" r:id="rId29"/>
    <p:sldId id="287" r:id="rId30"/>
    <p:sldId id="279" r:id="rId31"/>
    <p:sldId id="282" r:id="rId32"/>
    <p:sldId id="283" r:id="rId3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35"/>
      <p:bold r:id="rId36"/>
      <p:italic r:id="rId37"/>
      <p:boldItalic r:id="rId38"/>
    </p:embeddedFont>
    <p:embeddedFont>
      <p:font typeface="微軟正黑體" panose="020B0604030504040204" pitchFamily="34" charset="-12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70">
          <p15:clr>
            <a:srgbClr val="747775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502A"/>
    <a:srgbClr val="FDEDED"/>
    <a:srgbClr val="E8F1FC"/>
    <a:srgbClr val="7A14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46" autoAdjust="0"/>
    <p:restoredTop sz="95220" autoAdjust="0"/>
  </p:normalViewPr>
  <p:slideViewPr>
    <p:cSldViewPr snapToGrid="0">
      <p:cViewPr varScale="1">
        <p:scale>
          <a:sx n="146" d="100"/>
          <a:sy n="146" d="100"/>
        </p:scale>
        <p:origin x="828" y="120"/>
      </p:cViewPr>
      <p:guideLst>
        <p:guide pos="17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5.fntdata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4.fntdata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267001"/>
      </p:ext>
    </p:extLst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微軟正黑體" panose="020B0604030504040204" pitchFamily="34" charset="-120"/>
        <a:ea typeface="微軟正黑體" panose="020B0604030504040204" pitchFamily="34" charset="-120"/>
        <a:cs typeface="Arial"/>
        <a:sym typeface="Arial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 dirty="0"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 1">
  <p:cSld name="標題投影片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ctrTitle"/>
          </p:nvPr>
        </p:nvSpPr>
        <p:spPr>
          <a:xfrm>
            <a:off x="685800" y="1055807"/>
            <a:ext cx="7848600" cy="14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"/>
          </p:nvPr>
        </p:nvSpPr>
        <p:spPr>
          <a:xfrm>
            <a:off x="685800" y="2733775"/>
            <a:ext cx="7848600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cxnSp>
        <p:nvCxnSpPr>
          <p:cNvPr id="53" name="Google Shape;53;p13"/>
          <p:cNvCxnSpPr/>
          <p:nvPr/>
        </p:nvCxnSpPr>
        <p:spPr>
          <a:xfrm>
            <a:off x="685800" y="2548890"/>
            <a:ext cx="7848600" cy="1200"/>
          </a:xfrm>
          <a:prstGeom prst="straightConnector1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13"/>
          <p:cNvSpPr txBox="1">
            <a:spLocks noGrp="1"/>
          </p:cNvSpPr>
          <p:nvPr>
            <p:ph type="body" idx="2"/>
          </p:nvPr>
        </p:nvSpPr>
        <p:spPr>
          <a:xfrm>
            <a:off x="5056616" y="3566182"/>
            <a:ext cx="39963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 dirty="0"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825" y="4126125"/>
            <a:ext cx="3951649" cy="88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8" name="Google Shape;58;p14"/>
          <p:cNvSpPr/>
          <p:nvPr/>
        </p:nvSpPr>
        <p:spPr>
          <a:xfrm>
            <a:off x="8781399" y="4838457"/>
            <a:ext cx="259800" cy="27000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>
  <p:cSld name="SECTION_HEADER_1">
    <p:bg>
      <p:bgPr>
        <a:solidFill>
          <a:srgbClr val="CFE2F3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699338" y="1159926"/>
            <a:ext cx="7772400" cy="16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cxnSp>
        <p:nvCxnSpPr>
          <p:cNvPr id="63" name="Google Shape;63;p15"/>
          <p:cNvCxnSpPr/>
          <p:nvPr/>
        </p:nvCxnSpPr>
        <p:spPr>
          <a:xfrm>
            <a:off x="708545" y="2837849"/>
            <a:ext cx="7848600" cy="1200"/>
          </a:xfrm>
          <a:prstGeom prst="straightConnector1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661250" y="2924500"/>
            <a:ext cx="7848600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ctrTitle"/>
          </p:nvPr>
        </p:nvSpPr>
        <p:spPr>
          <a:xfrm>
            <a:off x="685800" y="1055807"/>
            <a:ext cx="7848600" cy="14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ubTitle" idx="1"/>
          </p:nvPr>
        </p:nvSpPr>
        <p:spPr>
          <a:xfrm>
            <a:off x="685800" y="2733775"/>
            <a:ext cx="7848600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cxnSp>
        <p:nvCxnSpPr>
          <p:cNvPr id="75" name="Google Shape;75;p17"/>
          <p:cNvCxnSpPr/>
          <p:nvPr/>
        </p:nvCxnSpPr>
        <p:spPr>
          <a:xfrm>
            <a:off x="685800" y="2548890"/>
            <a:ext cx="7848600" cy="1200"/>
          </a:xfrm>
          <a:prstGeom prst="straightConnector1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17"/>
          <p:cNvSpPr txBox="1">
            <a:spLocks noGrp="1"/>
          </p:cNvSpPr>
          <p:nvPr>
            <p:ph type="body" idx="2"/>
          </p:nvPr>
        </p:nvSpPr>
        <p:spPr>
          <a:xfrm>
            <a:off x="5056616" y="3566182"/>
            <a:ext cx="39963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pic>
        <p:nvPicPr>
          <p:cNvPr id="77" name="Google Shape;7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825" y="4126125"/>
            <a:ext cx="3951649" cy="88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/>
          <p:nvPr/>
        </p:nvSpPr>
        <p:spPr>
          <a:xfrm>
            <a:off x="8781399" y="4838457"/>
            <a:ext cx="259800" cy="27000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>
            <a:spLocks noGrp="1"/>
          </p:cNvSpPr>
          <p:nvPr>
            <p:ph type="title"/>
          </p:nvPr>
        </p:nvSpPr>
        <p:spPr>
          <a:xfrm>
            <a:off x="699338" y="1159926"/>
            <a:ext cx="7772400" cy="16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Roboto"/>
              <a:buNone/>
              <a:defRPr sz="3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85" name="Google Shape;85;p19"/>
          <p:cNvCxnSpPr/>
          <p:nvPr/>
        </p:nvCxnSpPr>
        <p:spPr>
          <a:xfrm>
            <a:off x="708545" y="2837849"/>
            <a:ext cx="7848600" cy="1200"/>
          </a:xfrm>
          <a:prstGeom prst="straightConnector1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19"/>
          <p:cNvSpPr txBox="1">
            <a:spLocks noGrp="1"/>
          </p:cNvSpPr>
          <p:nvPr>
            <p:ph type="subTitle" idx="1"/>
          </p:nvPr>
        </p:nvSpPr>
        <p:spPr>
          <a:xfrm>
            <a:off x="661250" y="2924500"/>
            <a:ext cx="7848600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34343"/>
              </a:buClr>
              <a:buSzPts val="1500"/>
              <a:buNone/>
              <a:defRPr sz="15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00" name="Google Shape;80;p18"/>
          <p:cNvSpPr/>
          <p:nvPr/>
        </p:nvSpPr>
        <p:spPr>
          <a:xfrm>
            <a:off x="8781399" y="4838457"/>
            <a:ext cx="259800" cy="27000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90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body" idx="1"/>
          </p:nvPr>
        </p:nvSpPr>
        <p:spPr>
          <a:xfrm>
            <a:off x="457200" y="1255014"/>
            <a:ext cx="4038600" cy="3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body" idx="2"/>
          </p:nvPr>
        </p:nvSpPr>
        <p:spPr>
          <a:xfrm>
            <a:off x="4648200" y="1255014"/>
            <a:ext cx="4038600" cy="3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0"/>
          <p:cNvSpPr/>
          <p:nvPr/>
        </p:nvSpPr>
        <p:spPr>
          <a:xfrm>
            <a:off x="8781399" y="4838457"/>
            <a:ext cx="259800" cy="27000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92" name="Google Shape;92;p20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body" idx="1"/>
          </p:nvPr>
        </p:nvSpPr>
        <p:spPr>
          <a:xfrm>
            <a:off x="457200" y="1257300"/>
            <a:ext cx="39318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body" idx="2"/>
          </p:nvPr>
        </p:nvSpPr>
        <p:spPr>
          <a:xfrm>
            <a:off x="457200" y="1828800"/>
            <a:ext cx="39318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1pPr>
            <a:lvl2pPr marL="914400" lvl="1" indent="-3111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Char char="•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body" idx="3"/>
          </p:nvPr>
        </p:nvSpPr>
        <p:spPr>
          <a:xfrm>
            <a:off x="4754880" y="1257300"/>
            <a:ext cx="39318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0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 dirty="0"/>
          </a:p>
        </p:txBody>
      </p:sp>
      <p:sp>
        <p:nvSpPr>
          <p:cNvPr id="98" name="Google Shape;98;p21"/>
          <p:cNvSpPr txBox="1">
            <a:spLocks noGrp="1"/>
          </p:cNvSpPr>
          <p:nvPr>
            <p:ph type="body" idx="4"/>
          </p:nvPr>
        </p:nvSpPr>
        <p:spPr>
          <a:xfrm>
            <a:off x="4754880" y="1828800"/>
            <a:ext cx="39318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1pPr>
            <a:lvl2pPr marL="914400" lvl="1" indent="-3111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Char char="•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cxnSp>
        <p:nvCxnSpPr>
          <p:cNvPr id="99" name="Google Shape;99;p21"/>
          <p:cNvCxnSpPr/>
          <p:nvPr/>
        </p:nvCxnSpPr>
        <p:spPr>
          <a:xfrm rot="5400000">
            <a:off x="2806394" y="3034230"/>
            <a:ext cx="3531900" cy="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21"/>
          <p:cNvSpPr/>
          <p:nvPr/>
        </p:nvSpPr>
        <p:spPr>
          <a:xfrm>
            <a:off x="8781399" y="4838457"/>
            <a:ext cx="259800" cy="27000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01" name="Google Shape;101;p21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2"/>
          <p:cNvSpPr/>
          <p:nvPr/>
        </p:nvSpPr>
        <p:spPr>
          <a:xfrm>
            <a:off x="8781399" y="4838457"/>
            <a:ext cx="259800" cy="27000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05" name="Google Shape;105;p22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/>
          <p:nvPr/>
        </p:nvSpPr>
        <p:spPr>
          <a:xfrm>
            <a:off x="8781399" y="4838457"/>
            <a:ext cx="259800" cy="27000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08" name="Google Shape;108;p23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>
            <a:spLocks noGrp="1"/>
          </p:cNvSpPr>
          <p:nvPr>
            <p:ph type="title"/>
          </p:nvPr>
        </p:nvSpPr>
        <p:spPr>
          <a:xfrm>
            <a:off x="457200" y="594060"/>
            <a:ext cx="2139600" cy="9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body" idx="1"/>
          </p:nvPr>
        </p:nvSpPr>
        <p:spPr>
          <a:xfrm>
            <a:off x="2971800" y="594060"/>
            <a:ext cx="57150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 sz="2100"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body" idx="2"/>
          </p:nvPr>
        </p:nvSpPr>
        <p:spPr>
          <a:xfrm>
            <a:off x="457201" y="1597915"/>
            <a:ext cx="2139600" cy="3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cxnSp>
        <p:nvCxnSpPr>
          <p:cNvPr id="113" name="Google Shape;113;p24"/>
          <p:cNvCxnSpPr/>
          <p:nvPr/>
        </p:nvCxnSpPr>
        <p:spPr>
          <a:xfrm rot="5400000">
            <a:off x="684098" y="2685061"/>
            <a:ext cx="4183500" cy="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" name="Google Shape;114;p24"/>
          <p:cNvSpPr/>
          <p:nvPr/>
        </p:nvSpPr>
        <p:spPr>
          <a:xfrm>
            <a:off x="8781399" y="4838457"/>
            <a:ext cx="259800" cy="27000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15" name="Google Shape;115;p24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>
            <a:spLocks noGrp="1"/>
          </p:cNvSpPr>
          <p:nvPr>
            <p:ph type="title"/>
          </p:nvPr>
        </p:nvSpPr>
        <p:spPr>
          <a:xfrm>
            <a:off x="457200" y="594360"/>
            <a:ext cx="2142600" cy="9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5"/>
          <p:cNvSpPr>
            <a:spLocks noGrp="1"/>
          </p:cNvSpPr>
          <p:nvPr>
            <p:ph type="pic" idx="2"/>
          </p:nvPr>
        </p:nvSpPr>
        <p:spPr>
          <a:xfrm>
            <a:off x="2858610" y="628651"/>
            <a:ext cx="5904300" cy="4125300"/>
          </a:xfrm>
          <a:prstGeom prst="rect">
            <a:avLst/>
          </a:prstGeom>
          <a:solidFill>
            <a:schemeClr val="lt2"/>
          </a:solidFill>
          <a:ln w="762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12700" dir="5400000" algn="t" rotWithShape="0">
              <a:srgbClr val="000000">
                <a:alpha val="56470"/>
              </a:srgbClr>
            </a:outerShdw>
          </a:effectLst>
        </p:spPr>
      </p:sp>
      <p:sp>
        <p:nvSpPr>
          <p:cNvPr id="119" name="Google Shape;119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2139600" cy="31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20" name="Google Shape;120;p25"/>
          <p:cNvSpPr/>
          <p:nvPr/>
        </p:nvSpPr>
        <p:spPr>
          <a:xfrm>
            <a:off x="8781399" y="4838457"/>
            <a:ext cx="259800" cy="27000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21" name="Google Shape;121;p25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body" idx="1"/>
          </p:nvPr>
        </p:nvSpPr>
        <p:spPr>
          <a:xfrm rot="5400000">
            <a:off x="2772001" y="-1114650"/>
            <a:ext cx="36000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6"/>
          <p:cNvSpPr/>
          <p:nvPr/>
        </p:nvSpPr>
        <p:spPr>
          <a:xfrm>
            <a:off x="8781399" y="4838457"/>
            <a:ext cx="259800" cy="27000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26" name="Google Shape;126;p26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>
            <a:spLocks noGrp="1"/>
          </p:cNvSpPr>
          <p:nvPr>
            <p:ph type="title"/>
          </p:nvPr>
        </p:nvSpPr>
        <p:spPr>
          <a:xfrm rot="5400000">
            <a:off x="5486550" y="1600050"/>
            <a:ext cx="43431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body" idx="1"/>
          </p:nvPr>
        </p:nvSpPr>
        <p:spPr>
          <a:xfrm rot="5400000">
            <a:off x="1295550" y="-381151"/>
            <a:ext cx="43431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27"/>
          <p:cNvSpPr/>
          <p:nvPr/>
        </p:nvSpPr>
        <p:spPr>
          <a:xfrm>
            <a:off x="8781399" y="4838457"/>
            <a:ext cx="259800" cy="27000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31" name="Google Shape;131;p27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微軟正黑體" panose="020B0604030504040204" pitchFamily="34" charset="-120"/>
          <a:ea typeface="微軟正黑體" panose="020B0604030504040204" pitchFamily="34" charset="-12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微軟正黑體" panose="020B0604030504040204" pitchFamily="34" charset="-120"/>
          <a:ea typeface="微軟正黑體" panose="020B0604030504040204" pitchFamily="34" charset="-12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oboto"/>
              <a:buNone/>
              <a:defRPr sz="3000" b="1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pic>
        <p:nvPicPr>
          <p:cNvPr id="67" name="Google Shape;67;p1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5496" y="3522"/>
            <a:ext cx="1223628" cy="29758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 txBox="1"/>
          <p:nvPr/>
        </p:nvSpPr>
        <p:spPr>
          <a:xfrm>
            <a:off x="1484100" y="-66350"/>
            <a:ext cx="381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zh-TW" sz="1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電子工程系</a:t>
            </a:r>
            <a:endParaRPr sz="10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zh-TW" sz="1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Dept. of Electronic and Computer Engineering (ECE)</a:t>
            </a:r>
            <a:endParaRPr sz="10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6" title="圖片1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01225" y="-375"/>
            <a:ext cx="382875" cy="357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6" title="圖片2.png"/>
          <p:cNvPicPr preferRelativeResize="0"/>
          <p:nvPr/>
        </p:nvPicPr>
        <p:blipFill rotWithShape="1">
          <a:blip r:embed="rId15">
            <a:alphaModFix/>
          </a:blip>
          <a:srcRect l="5594" t="31430" r="10415" b="23855"/>
          <a:stretch/>
        </p:blipFill>
        <p:spPr>
          <a:xfrm>
            <a:off x="7543425" y="-14700"/>
            <a:ext cx="1600575" cy="3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sz="21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sz="21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sz="21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sz="21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sz="21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sz="21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sz="21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sz="21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619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B0F0"/>
              </a:buClr>
              <a:buSzPts val="2100"/>
              <a:buFont typeface="Roboto"/>
              <a:buChar char="•"/>
              <a:defRPr sz="21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9.08312" TargetMode="External"/><Relationship Id="rId7" Type="http://schemas.openxmlformats.org/officeDocument/2006/relationships/hyperlink" Target="https://arxiv.org/abs/2311.04380" TargetMode="External"/><Relationship Id="rId2" Type="http://schemas.openxmlformats.org/officeDocument/2006/relationships/hyperlink" Target="https://www.rfc-editor.org/rfc/rfc9315.html" TargetMode="Externa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mediastorage.o-ran.org/ngrg-rr/nGRG-RR-2024-08-O-RAN%20Green%20Communication%20Research%20Report.pdf" TargetMode="External"/><Relationship Id="rId5" Type="http://schemas.openxmlformats.org/officeDocument/2006/relationships/hyperlink" Target="https://eprints.gla.ac.uk/144139/7/144139.pdf" TargetMode="External"/><Relationship Id="rId4" Type="http://schemas.openxmlformats.org/officeDocument/2006/relationships/hyperlink" Target="https://www.etsi.org/deliver/etsi_ts/128100_128199/128100/17.01.00_60/ts_128100v170100p.pdf" TargetMode="Externa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1204.5721" TargetMode="External"/><Relationship Id="rId3" Type="http://schemas.openxmlformats.org/officeDocument/2006/relationships/hyperlink" Target="https://arxiv.org/abs/2503.05200" TargetMode="External"/><Relationship Id="rId7" Type="http://schemas.openxmlformats.org/officeDocument/2006/relationships/hyperlink" Target="https://software-lab.org/publications/ase2022_CrystalBLEU.pdf" TargetMode="External"/><Relationship Id="rId2" Type="http://schemas.openxmlformats.org/officeDocument/2006/relationships/hyperlink" Target="https://conferences.sigcomm.org/hotnets/2023/papers/hotnets23_mani_zhou.pdf" TargetMode="Externa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www.jmlr.org/papers/v12/pedregosa11a.html" TargetMode="External"/><Relationship Id="rId5" Type="http://schemas.openxmlformats.org/officeDocument/2006/relationships/hyperlink" Target="https://link.springer.com/article/10.1007/s10994-012-5320-9" TargetMode="External"/><Relationship Id="rId4" Type="http://schemas.openxmlformats.org/officeDocument/2006/relationships/hyperlink" Target="https://www.snstelecom.com/ric-xrapps" TargetMode="Externa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6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6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6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6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2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xApp 策略生成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0" y="3794760"/>
            <a:ext cx="4288536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Advisor: Jenq-Shiou Leu, Professor 呂政修 教授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Date: 2026.09.12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Dept. of Electronic and Computer Engineering (ECE)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National Taiwan University of Science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目錄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2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61950" y="1186688"/>
            <a:ext cx="4749800" cy="42754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4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一、背景介紹</a:t>
            </a:r>
            <a:endParaRPr sz="14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1.2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網路本身的問題</a:t>
            </a:r>
            <a:r>
              <a:rPr lang="en-US" altLang="zh-TW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網路問題有幾種</a:t>
            </a:r>
            <a:r>
              <a:rPr lang="en-US" altLang="zh-TW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?</a:t>
            </a:r>
            <a:r>
              <a:rPr lang="zh-TW" altLang="en-US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對</a:t>
            </a:r>
            <a:r>
              <a:rPr lang="en-US" altLang="zh-TW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XXX</a:t>
            </a:r>
            <a:r>
              <a:rPr lang="zh-TW" altLang="en-US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造成甚麼影響</a:t>
            </a:r>
            <a: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?)</a:t>
            </a:r>
            <a:b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</a:br>
            <a: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1.1 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因為網路</a:t>
            </a:r>
            <a: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XXX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的原因使的趨勢朝網路自主化發展</a:t>
            </a:r>
            <a:endParaRPr lang="en-US"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endParaRPr lang="en-US" sz="105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lang="en-US" altLang="zh-TW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1.?</a:t>
            </a:r>
            <a:r>
              <a:rPr lang="zh-TW" altLang="en-US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在這個發展下的網路問題的解決流程 </a:t>
            </a:r>
            <a:endParaRPr lang="en-US" altLang="zh-TW" sz="105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endParaRPr lang="en-US"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1.4 </a:t>
            </a:r>
            <a:r>
              <a:rPr lang="zh-TW" altLang="en-US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過往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網路問題的解決方法</a:t>
            </a:r>
            <a:r>
              <a:rPr lang="en-US" altLang="zh-TW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要提到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生成式解決方案</a:t>
            </a:r>
            <a:r>
              <a:rPr lang="en-US" altLang="zh-TW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)</a:t>
            </a:r>
            <a:endParaRPr lang="en-US"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1.5 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過往解決方法的限制</a:t>
            </a:r>
            <a:endParaRPr lang="en-US" altLang="zh-TW" sz="105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endParaRPr lang="en-US" altLang="zh-TW" sz="105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lang="en-US" altLang="zh-TW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{</a:t>
            </a: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lang="zh-TW" altLang="en-US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我們要解的問題是甚麼</a:t>
            </a:r>
            <a:r>
              <a:rPr lang="en-US" altLang="zh-TW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?</a:t>
            </a: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lang="zh-TW" altLang="en-US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過往網路問題在制定解決策略上花大量時間</a:t>
            </a:r>
            <a:r>
              <a:rPr lang="en-US" altLang="zh-TW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-&gt;</a:t>
            </a:r>
            <a:r>
              <a:rPr lang="zh-TW" altLang="en-US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產的速度快</a:t>
            </a:r>
            <a:endParaRPr lang="en-US" altLang="zh-TW" sz="105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lang="zh-TW" altLang="en-US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生成式解決方案的不穩定性</a:t>
            </a:r>
            <a:r>
              <a:rPr lang="en-US" altLang="zh-TW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-&gt;</a:t>
            </a:r>
            <a:r>
              <a:rPr lang="zh-TW" altLang="en-US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迭代流程設計</a:t>
            </a:r>
            <a:r>
              <a:rPr lang="en-US" altLang="zh-TW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方法論講</a:t>
            </a:r>
            <a:r>
              <a:rPr lang="en-US" altLang="zh-TW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)-&gt;</a:t>
            </a:r>
            <a:r>
              <a:rPr lang="zh-TW" altLang="en-US" sz="10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生成正確率高</a:t>
            </a:r>
            <a:endParaRPr sz="1050" b="0" i="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• 1.6 </a:t>
            </a:r>
            <a:r>
              <a:rPr sz="1050" b="0" i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生成網路應用</a:t>
            </a:r>
            <a:r>
              <a:rPr lang="zh-TW" altLang="en-US" sz="1050" b="0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策略</a:t>
            </a:r>
            <a:r>
              <a:rPr sz="1050" b="0" i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的解決方法目標</a:t>
            </a:r>
            <a:endParaRPr sz="1050" b="0" i="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• 1.7 </a:t>
            </a:r>
            <a:r>
              <a:rPr sz="1050" b="0" i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生成網路應用</a:t>
            </a:r>
            <a:r>
              <a:rPr lang="zh-TW" altLang="en-US" sz="1050" b="0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策略</a:t>
            </a:r>
            <a:r>
              <a:rPr sz="1050" b="0" i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的解決方法效益</a:t>
            </a:r>
            <a:r>
              <a:rPr lang="en-US" altLang="zh-TW" sz="1050" b="0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1050" b="0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看情況補</a:t>
            </a:r>
            <a:r>
              <a:rPr lang="en-US" altLang="zh-TW" sz="1050" b="0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)</a:t>
            </a:r>
            <a:endParaRPr lang="en-US" sz="1050" b="0" i="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lang="en-US" altLang="zh-TW" sz="1050" b="0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}</a:t>
            </a:r>
            <a:endParaRPr sz="1050" b="0" i="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</a:pPr>
            <a:r>
              <a:rPr sz="14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4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二、生成網路應用的解決方法</a:t>
            </a:r>
            <a:endParaRPr sz="14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2.2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生成網路應用</a:t>
            </a:r>
            <a:r>
              <a:rPr lang="zh-TW" altLang="en-US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策略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的框架</a:t>
            </a: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2.3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策略生成</a:t>
            </a: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 Agent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的架構</a:t>
            </a: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2.4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策略生成</a:t>
            </a: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 Agent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的能力</a:t>
            </a: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2.5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監控策略生成的品質</a:t>
            </a: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2.6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生成網路應用的閉迴路優化</a:t>
            </a: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427980" y="1251988"/>
            <a:ext cx="3840480" cy="37214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4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三、實驗評估</a:t>
            </a:r>
            <a:endParaRPr sz="14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3.1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評估環境</a:t>
            </a: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3.2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評估條件</a:t>
            </a: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3.3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評估指標</a:t>
            </a: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3.4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實驗流程</a:t>
            </a: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3.5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實驗結果</a:t>
            </a:r>
            <a:endParaRPr lang="en-US"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endParaRPr lang="en-US" sz="105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評估條件</a:t>
            </a:r>
            <a: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消融</a:t>
            </a:r>
            <a:r>
              <a:rPr lang="zh-TW" altLang="en-US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實驗</a:t>
            </a:r>
            <a:r>
              <a:rPr lang="en-US" altLang="zh-TW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-1:</a:t>
            </a: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lang="zh-TW" altLang="en-US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純</a:t>
            </a:r>
            <a:r>
              <a:rPr lang="en-US" altLang="zh-TW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agent</a:t>
            </a:r>
            <a:r>
              <a:rPr lang="zh-TW" altLang="en-US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與方法論</a:t>
            </a:r>
            <a:r>
              <a:rPr lang="en-US" altLang="zh-TW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agent</a:t>
            </a:r>
            <a:r>
              <a:rPr lang="zh-TW" altLang="en-US"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對於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產</a:t>
            </a:r>
            <a:r>
              <a:rPr lang="en-US" altLang="zh-TW" sz="105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xApp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正確性影響</a:t>
            </a:r>
            <a:endParaRPr lang="en-US" altLang="zh-TW" sz="105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評估條件</a:t>
            </a:r>
            <a: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消融實驗</a:t>
            </a:r>
            <a: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-2:</a:t>
            </a: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有無</a:t>
            </a:r>
            <a:r>
              <a:rPr lang="en-US" altLang="zh-TW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judge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對於方法論生成</a:t>
            </a:r>
            <a:r>
              <a:rPr lang="en-US" altLang="zh-TW" sz="105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xApp</a:t>
            </a:r>
            <a:r>
              <a:rPr lang="zh-TW" altLang="en-US" sz="105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正確性影響</a:t>
            </a:r>
            <a:endParaRPr lang="en-US" altLang="zh-TW" sz="105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</a:pPr>
            <a:r>
              <a:rPr sz="1400" b="1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400" b="1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四、實際展示</a:t>
            </a:r>
            <a:endParaRPr sz="1400" b="1" i="0" dirty="0">
              <a:solidFill>
                <a:srgbClr val="5F6368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</a:pPr>
            <a:r>
              <a:rPr sz="1400" b="1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400" b="1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五、結論</a:t>
            </a:r>
            <a:endParaRPr sz="1400" b="1" i="0" dirty="0">
              <a:solidFill>
                <a:srgbClr val="5F6368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</a:pPr>
            <a:r>
              <a:rPr sz="14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4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附錄：指標定義</a:t>
            </a:r>
            <a:endParaRPr sz="14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A.1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單題品質指標</a:t>
            </a: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  <a:p>
            <a:pPr marL="274320">
              <a:lnSpc>
                <a:spcPct val="106000"/>
              </a:lnSpc>
              <a:spcAft>
                <a:spcPts val="100"/>
              </a:spcAft>
            </a:pPr>
            <a:r>
              <a:rPr sz="1050" b="0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• A.2 </a:t>
            </a:r>
            <a:r>
              <a:rPr sz="1050" b="0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成效與成本指標</a:t>
            </a:r>
            <a:endParaRPr sz="1050" b="0" i="0" dirty="0">
              <a:solidFill>
                <a:srgbClr val="212121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6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一、背景介紹</a:t>
            </a:r>
          </a:p>
        </p:txBody>
      </p:sp>
      <p:sp>
        <p:nvSpPr>
          <p:cNvPr id="90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3</a:t>
            </a:fld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網路自主化的國際趨勢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4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國際標準把方向定成人只給意圖、網路自己達成，並用 L0 到 L5 六級量進度 </a:t>
            </a:r>
            <a:r>
              <a:rPr sz="1000" b="0" i="0" baseline="3000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[1][2]</a:t>
            </a: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719072"/>
            <a:ext cx="3932377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國際定義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意圖式網路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IBN：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人給的是目標與結果，不寫達成的步驟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[1]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自主網路六級：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TM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Forum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提出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L0 到 L5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的成熟度量表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[2]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分級依據：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3GPP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看執行、感知、分析、決策、意圖處理五類工作由誰完成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[3]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應用缺口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意圖到應用之間仍靠人接手：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人給得出目標，把目標變成可執行的網路應用還沒有自動化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715000" y="1847088"/>
            <a:ext cx="1325880" cy="530352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 w="19050">
            <a:solidFill>
              <a:srgbClr val="90A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7474F"/>
                </a:solidFill>
                <a:latin typeface="微軟正黑體"/>
                <a:ea typeface="微軟正黑體"/>
                <a:cs typeface="微軟正黑體"/>
              </a:rPr>
              <a:t>人給意圖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37474F"/>
                </a:solidFill>
                <a:latin typeface="微軟正黑體"/>
                <a:ea typeface="微軟正黑體"/>
                <a:cs typeface="微軟正黑體"/>
              </a:rPr>
              <a:t>要達到什麼結果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715000" y="2651760"/>
            <a:ext cx="1325880" cy="53035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 dirty="0" err="1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網路自己規劃</a:t>
            </a:r>
            <a:endParaRPr sz="1100" b="1" i="0" dirty="0">
              <a:solidFill>
                <a:srgbClr val="0D47A1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00000"/>
              </a:lnSpc>
            </a:pPr>
            <a:r>
              <a:rPr sz="850" b="0" i="0" dirty="0" err="1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轉成設定並執行</a:t>
            </a:r>
            <a:endParaRPr sz="850" b="0" i="0" dirty="0">
              <a:solidFill>
                <a:srgbClr val="0D47A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5715000" y="3456432"/>
            <a:ext cx="1325880" cy="53035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監測與修正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沒達成就再調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377940" y="2377440"/>
            <a:ext cx="0" cy="27432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377940" y="3182112"/>
            <a:ext cx="0" cy="27432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040880" y="3721608"/>
            <a:ext cx="640080" cy="0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680960" y="2916936"/>
            <a:ext cx="0" cy="804672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7040880" y="2916936"/>
            <a:ext cx="640080" cy="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7795260" y="2985515"/>
            <a:ext cx="86868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</a:rPr>
              <a:t>回到執行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15000" y="4059936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藍色為系統自己完成的部分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8016" y="4520793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50" b="0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IBN：Intent-Based</a:t>
            </a:r>
            <a:r>
              <a:rPr sz="650" b="0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 Networking　3GPP：3rd Generation Partnership Project　L0 至 L5：Autonomous Network Levels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[1] IETF RFC 9315, Intent-Based Networking - Concepts and Definitions, 2022-10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[2] B. Wu et al., Leveraging AI Agents for Autonomous Networks, IEEE Communications </a:t>
            </a:r>
            <a:r>
              <a:rPr sz="750" b="0" i="0" dirty="0" err="1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Magazine（已接受</a:t>
            </a:r>
            <a:r>
              <a:rPr sz="750" b="0" i="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）, 2025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[3] 3GPP TS 28.100 V17.1.0, Levels of autonomous network, 2022-10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自主化分級的產業現況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5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多數電信商停在決策仍由人的</a:t>
            </a:r>
            <a:r>
              <a:rPr sz="1250" b="1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 L2 與 L3，下一級 L4 </a:t>
            </a:r>
            <a:r>
              <a:rPr sz="1250" b="1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把決策交給系統</a:t>
            </a:r>
            <a:r>
              <a:rPr sz="1250" b="1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[2][3]</a:t>
            </a:r>
            <a:r>
              <a:rPr sz="1250" b="1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719072"/>
            <a:ext cx="3765042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產業現況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L0 與 L5：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L0 全部由人，L5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全部由系統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[3]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多數在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 L2 與 L3：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執行與感知已由系統完成，決策仍由人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[2]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L4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的要求：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決策由系統完成，人只留在意圖處理那一欄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[3]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處理範圍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要補的是決策那一格：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把決策交給系統，缺的是能執行決策的網路應用怎麼來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pic>
        <p:nvPicPr>
          <p:cNvPr id="86" name="Picture 85" descr="fig_1-1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157984"/>
            <a:ext cx="4572000" cy="1751740"/>
          </a:xfrm>
          <a:prstGeom prst="rect">
            <a:avLst/>
          </a:prstGeom>
          <a:ln w="9525">
            <a:solidFill>
              <a:srgbClr val="C4CDD8"/>
            </a:solidFill>
          </a:ln>
        </p:spPr>
      </p:pic>
      <p:sp>
        <p:nvSpPr>
          <p:cNvPr id="87" name="TextBox 86"/>
          <p:cNvSpPr txBox="1"/>
          <p:nvPr/>
        </p:nvSpPr>
        <p:spPr>
          <a:xfrm>
            <a:off x="4389120" y="394630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0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圖取自 [3] Table 5-1　六級各自由人或由系統完成哪幾類工作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016" y="4590288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[3] 3GPP TS 28.100 V17.1.0, Levels of autonomous network, 2022-10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[2] B. Wu et al., Leveraging AI Agents for Autonomous Networks, IEEE Communications Magazine（已接受）,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網路本身的問題</a:t>
            </a:r>
            <a:endParaRPr sz="28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6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干擾、覆蓋與容量、節能從</a:t>
            </a:r>
            <a:r>
              <a:rPr sz="1250" b="1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 2G </a:t>
            </a:r>
            <a:r>
              <a:rPr sz="1250" b="1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就在處理，題目沒有換，換的是處理的位置</a:t>
            </a:r>
            <a:r>
              <a:rPr sz="1250" b="1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[4][5]</a:t>
            </a:r>
            <a:r>
              <a:rPr sz="1250" b="1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635423"/>
            <a:ext cx="4091345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標準沿革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2G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就在調的參數：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以換手參數做負載平衡的研究可以追到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2G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網路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[4]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SON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把它們列成用例：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自我最佳化涵蓋覆蓋與容量、行動性、換手、負載平衡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[4]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現在交給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 RIC：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O-RAN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把網路節能的最佳化交給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Non-RT RIC 與 Near-RT RIC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[5]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處理範圍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三類問題各要一套控制邏輯：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IM、CCO、ES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要解的題目不同，產出的應用得分別對應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pic>
        <p:nvPicPr>
          <p:cNvPr id="86" name="Picture 85" descr="fig_1-2_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1773936"/>
            <a:ext cx="4151376" cy="2521038"/>
          </a:xfrm>
          <a:prstGeom prst="rect">
            <a:avLst/>
          </a:prstGeom>
          <a:ln w="9525">
            <a:solidFill>
              <a:srgbClr val="C4CDD8"/>
            </a:solidFill>
          </a:ln>
        </p:spPr>
      </p:pic>
      <p:sp>
        <p:nvSpPr>
          <p:cNvPr id="87" name="TextBox 86"/>
          <p:cNvSpPr txBox="1"/>
          <p:nvPr/>
        </p:nvSpPr>
        <p:spPr>
          <a:xfrm>
            <a:off x="4764024" y="4331550"/>
            <a:ext cx="415137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0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圖取自 [4] Fig. 1　自我管理三大類與各自的用例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016" y="4535424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CCO：Coverage and Capacity Optimization　ES：Energy Saving　IM：Interference Management　O-RAN：Open Radio Access Network　RIC：RAN Intelligent Controller　SON：Self-Organizing Network　Near-RT：Near-Real-Time　Non-RT：Non-Real-Time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[4] P. V. Klaine et al., IEEE Communications Surveys &amp; Tutorials, 19(4), 2017（格拉斯哥大學典藏）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[5] O-RAN ALLIANCE nGRG, O-RAN Green Communication Research Report, RR-2024-08,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網路問題造成的影響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7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節能記在電信商的營運成本上，干擾與覆蓋記在使用者的連線品質上 </a:t>
            </a:r>
            <a:r>
              <a:rPr sz="1000" b="0" i="0" baseline="3000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[5][4]</a:t>
            </a: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719072"/>
            <a:ext cx="4091345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影響範圍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電信商在乎成本：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節能是營運商的策略目標，背後是能源相關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OPEX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的下降需求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[5]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使用者在乎連得上：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換手參數會牽動掉話率與乒乓換手率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[4]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兩邊互相拉扯：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覆蓋與容量列為同一個用例，調一邊會動到另一邊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[4]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量測要求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兩邊要一起量：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只報省下的電，看不出使用者端有沒有被犧牲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029873" y="1719072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三類網路問題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362361" y="2587752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65100"/>
                </a:solidFill>
                <a:latin typeface="微軟正黑體"/>
                <a:ea typeface="微軟正黑體"/>
                <a:cs typeface="微軟正黑體"/>
              </a:rPr>
              <a:t>節能 ES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852833" y="258775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干擾與覆蓋 IM、CCO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142905" y="3383280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營運成本</a:t>
            </a:r>
            <a:r>
              <a:rPr sz="800" b="0" i="0" baseline="3000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[5]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電信商：電費與能源 OPEX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035713" y="3383280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連線品質</a:t>
            </a:r>
            <a:r>
              <a:rPr sz="800" b="0" i="0" baseline="3000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[4]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使用者：掉話、乒乓換手</a:t>
            </a:r>
          </a:p>
        </p:txBody>
      </p:sp>
      <p:cxnSp>
        <p:nvCxnSpPr>
          <p:cNvPr id="91" name="Connector 90"/>
          <p:cNvCxnSpPr/>
          <p:nvPr/>
        </p:nvCxnSpPr>
        <p:spPr>
          <a:xfrm flipH="1">
            <a:off x="5842421" y="2176272"/>
            <a:ext cx="964692" cy="41148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807113" y="2176272"/>
            <a:ext cx="914400" cy="41148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5828705" y="3044952"/>
            <a:ext cx="13716" cy="338328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721513" y="3044952"/>
            <a:ext cx="22860" cy="338328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5142905" y="4023360"/>
            <a:ext cx="344728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橘色為記在營運成本上的那一類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8016" y="4590288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OPEX：Operating Expense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[5] O-RAN ALLIANCE nGRG, O-RAN Green Communication Research Report, RR-2024-08, 2024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[4] P. V. Klaine et al., IEEE Communications Surveys &amp; Tutorials, 19(4), 2017（格拉斯哥大學典藏）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網路問題的解決方法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8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現行做法是把演算法做成 RIC 上的應用程式，模擬顯示能耗最多可降 63% </a:t>
            </a:r>
            <a:r>
              <a:rPr sz="1000" b="0" i="0" baseline="3000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[5]</a:t>
            </a: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719072"/>
            <a:ext cx="4091345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現行做法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應用程式跑在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 RIC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上：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RIC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分成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Non-RT 與 Near-RT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兩層，分別負責策略下達與即時控制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[6]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節能最佳化由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 RIC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執行：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O-RAN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把網路節能列為兩層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RIC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的工作項目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[5]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模擬得到的幅度：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基地台開關策略在滿足覆蓋門檻下，能耗最多降低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63%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[5]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改動重點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要改的是產出方式：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部署位置與介面都不必動，問題在這種應用怎麼被做出來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pic>
        <p:nvPicPr>
          <p:cNvPr id="86" name="Picture 85" descr="fig_1-4_or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76" y="1773936"/>
            <a:ext cx="2514600" cy="2519838"/>
          </a:xfrm>
          <a:prstGeom prst="rect">
            <a:avLst/>
          </a:prstGeom>
          <a:ln w="9525">
            <a:solidFill>
              <a:srgbClr val="C4CDD8"/>
            </a:solidFill>
          </a:ln>
        </p:spPr>
      </p:pic>
      <p:sp>
        <p:nvSpPr>
          <p:cNvPr id="87" name="TextBox 86"/>
          <p:cNvSpPr txBox="1"/>
          <p:nvPr/>
        </p:nvSpPr>
        <p:spPr>
          <a:xfrm>
            <a:off x="5294376" y="4330350"/>
            <a:ext cx="2514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0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圖取自 [6] Fig. 1　O-RAN 架構與各介面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016" y="4590288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[6] M. Hoffmann et al., Open RAN </a:t>
            </a:r>
            <a:r>
              <a:rPr sz="750" b="0" i="0" dirty="0" err="1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xApps</a:t>
            </a:r>
            <a:r>
              <a:rPr sz="750" b="0" i="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 Design and Evaluation, IEEE </a:t>
            </a:r>
            <a:r>
              <a:rPr sz="750" b="0" i="0" dirty="0" err="1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JSAC（已接受</a:t>
            </a:r>
            <a:r>
              <a:rPr sz="750" b="0" i="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[5] O-RAN ALLIANCE </a:t>
            </a:r>
            <a:r>
              <a:rPr sz="750" b="0" i="0" dirty="0" err="1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nGRG</a:t>
            </a:r>
            <a:r>
              <a:rPr sz="750" b="0" i="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, O-RAN Green Communication Research Report, RR-2024-08, 2024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解決方法的限制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9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一支應用從開發到上線都靠人，測試與部署沒有自動化，效果也沒有公認的比較基準 </a:t>
            </a:r>
            <a:r>
              <a:rPr sz="1000" b="0" i="0" baseline="3000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[6]</a:t>
            </a: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719072"/>
            <a:ext cx="4350715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開發代價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測試與部署仍是人工：</a:t>
            </a: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每要導入一支新應用就得人工整合一次，沒有統一的導入方式 </a:t>
            </a:r>
            <a:r>
              <a:rPr sz="1000" b="0" i="0" baseline="3000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[6]</a:t>
            </a: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人力花在整合不是演算法：</a:t>
            </a: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供應端的資源被整合佔掉，接收端還要人工確認應用是否照設計運作 </a:t>
            </a:r>
            <a:r>
              <a:rPr sz="1000" b="0" i="0" baseline="3000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[6]</a:t>
            </a: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缺乏公認的比較基準：</a:t>
            </a: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可信的模擬環境、共同的軟體提供方式與效能比較基準都還沒有 </a:t>
            </a:r>
            <a:r>
              <a:rPr sz="1000" b="0" i="0" baseline="3000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[6]</a:t>
            </a: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關鍵瓶頸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要改的是產出方式：</a:t>
            </a: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每支 xApp 都得從頭開發與驗證，要提速就得改成用生成的。</a:t>
            </a:r>
          </a:p>
        </p:txBody>
      </p:sp>
      <p:pic>
        <p:nvPicPr>
          <p:cNvPr id="86" name="Picture 85" descr="fig_1-5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32" y="1783080"/>
            <a:ext cx="2761488" cy="2484302"/>
          </a:xfrm>
          <a:prstGeom prst="rect">
            <a:avLst/>
          </a:prstGeom>
          <a:ln w="9525">
            <a:solidFill>
              <a:srgbClr val="C4CDD8"/>
            </a:solidFill>
          </a:ln>
        </p:spPr>
      </p:pic>
      <p:sp>
        <p:nvSpPr>
          <p:cNvPr id="87" name="TextBox 86"/>
          <p:cNvSpPr txBox="1"/>
          <p:nvPr/>
        </p:nvSpPr>
        <p:spPr>
          <a:xfrm>
            <a:off x="5513832" y="4303958"/>
            <a:ext cx="276148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80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圖取自 [6] Fig. 2　建置與測試端到端系統的既有專案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016" y="4590288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xApp：Near-RT RIC Application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[6] M. Hoffmann et al., Open RAN xApps Design and Evaluation, IEEE JSAC（已接受）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生成網路應用的解決方法目標</a:t>
            </a:r>
            <a:endParaRPr sz="28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10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目標是由 Agent 生成控制策略，生成之後自動比對資料集的正確答案再回頭優化。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719072"/>
            <a:ext cx="4350715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既有做法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生成網路程式已被驗證：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以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LLM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生成網路管理程式，正確率最高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88%，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複雜任務會下降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[7]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O-RAN 已有專用模型：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ORANSight-2.0 在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srsRAN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程式生成基準上比通用模型高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18.465%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[8]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技術特點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生成的是策略內容：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Agent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產出的是網路要套用的控制策略，不是產生一支新的應用程式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差異在自動優化迴圈：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與標註答案比對，不符就把差距回饋給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Agent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重新生成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72200" y="1828800"/>
            <a:ext cx="1234440" cy="566928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Agent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生成控制策略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172200" y="2670048"/>
            <a:ext cx="1234440" cy="566928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與資料集比對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標註答案為準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172200" y="3511296"/>
            <a:ext cx="1234440" cy="566928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相符的策略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才算通過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789420" y="2395728"/>
            <a:ext cx="0" cy="27432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789420" y="3236976"/>
            <a:ext cx="0" cy="27432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406640" y="2953512"/>
            <a:ext cx="365760" cy="0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772400" y="2112264"/>
            <a:ext cx="0" cy="841248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7406640" y="2112264"/>
            <a:ext cx="365760" cy="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7726680" y="2418587"/>
            <a:ext cx="8229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</a:rPr>
              <a:t>不符就重新生成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72200" y="4151376"/>
            <a:ext cx="123443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綠色為通過比對的策略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8016" y="4590288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LLM：Large Language Model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[7] S. K. Mani et al., Enhancing Network Management Using Code Generated by LLMs, ACM HotNets, 2023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[8] P. Gajjar, V. K. Shah, ORANSight-2.0, IEEE TMLCN, vol. 3,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生成網路應用的解決方法效益</a:t>
            </a:r>
            <a:endParaRPr sz="28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11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付費者是部署這些應用的電信商與供應商，2027 年底該類支出估計接近 7 億美元 </a:t>
            </a:r>
            <a:r>
              <a:rPr sz="1000" b="0" i="0" baseline="3000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[9]</a:t>
            </a: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664208"/>
            <a:ext cx="4852720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市場現況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支出規模接近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 7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億美元：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SNS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Telecom 估 2027 年底的年度投資，2024 至 2027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年複合成長率超過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125%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[9]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應用由第三方供應：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xApp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原則上獨立於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Near-RT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RIC，可由第三方提供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[6]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產業效益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優化對象是產出流程：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改的是一支應用怎麼被做出來，部署位置與介面都不動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前後差異：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現在每支從頭開發與驗證，之後由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Agent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生成再自動比對驗收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51168" y="1719072"/>
            <a:ext cx="1920240" cy="512064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18288" rIns="45720" bIns="18288" rtlCol="0" anchor="ctr"/>
          <a:lstStyle/>
          <a:p>
            <a:pPr algn="l">
              <a:lnSpc>
                <a:spcPct val="100000"/>
              </a:lnSpc>
            </a:pPr>
            <a:r>
              <a:rPr sz="1100" b="1" i="0" dirty="0" err="1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網路應用供應商</a:t>
            </a:r>
            <a:endParaRPr sz="1100" b="1" i="0" dirty="0">
              <a:solidFill>
                <a:srgbClr val="424242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00000"/>
              </a:lnSpc>
            </a:pPr>
            <a:r>
              <a:rPr sz="850" b="0" i="0" dirty="0" err="1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開發</a:t>
            </a:r>
            <a:r>
              <a:rPr sz="850" b="0" i="0" dirty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850" b="0" i="0" dirty="0" err="1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xApp</a:t>
            </a:r>
            <a:r>
              <a:rPr sz="850" b="0" i="0" dirty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 與 </a:t>
            </a:r>
            <a:r>
              <a:rPr sz="850" b="0" i="0" dirty="0" err="1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rApp</a:t>
            </a:r>
            <a:endParaRPr sz="850" b="0" i="0" dirty="0">
              <a:solidFill>
                <a:srgbClr val="424242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6196888" y="1865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151168" y="2377439"/>
            <a:ext cx="1920240" cy="512064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18288" rIns="45720" bIns="18288" rtlCol="0" anchor="ctr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marketplace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交付電信商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196888" y="252374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151168" y="3035808"/>
            <a:ext cx="1920240" cy="512064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18288" rIns="45720" bIns="18288" rtlCol="0" anchor="ctr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電信商的網路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部署於 RIC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196888" y="31821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151168" y="3694176"/>
            <a:ext cx="1920240" cy="512064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18288" rIns="45720" bIns="18288" rtlCol="0" anchor="ctr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可量測的結果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生成時間、策略有效性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196888" y="384048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7111288" y="2231136"/>
            <a:ext cx="0" cy="146303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111288" y="2889503"/>
            <a:ext cx="0" cy="146305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111288" y="3547872"/>
            <a:ext cx="0" cy="146304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6151168" y="4279392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綠色為要量的產出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8016" y="4590288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50" b="0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rApp：Non-RT RIC Application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[9] SNS Telecom &amp; IT, RAN Automation, SON, RIC, xApps &amp; rApps in the 5G Era: 2024-2030, 2024-08-28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[6] M. Hoffmann et al., Open RAN xApps Design and Evaluation, IEEE JSAC（已接受）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6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二、生成網路應用的解決方法</a:t>
            </a:r>
          </a:p>
        </p:txBody>
      </p:sp>
      <p:sp>
        <p:nvSpPr>
          <p:cNvPr id="90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12</a:t>
            </a:fld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zh-TW" altLang="en-US" sz="280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方法論流程設計</a:t>
            </a:r>
            <a:endParaRPr sz="2800" b="1" i="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13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輸入是網路觀測資料，輸出是可部署的網路應用，中間三段各有固定契約。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2613963"/>
            <a:ext cx="4183380" cy="23798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處理流程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取數工具取回整包觀測，不必人先整理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  <a:r>
              <a:rPr lang="zh-TW" altLang="en-US" sz="1250" b="1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輸入是觀測資料：</a:t>
            </a:r>
            <a:r>
              <a:rPr lang="zh-TW" altLang="en-US" sz="125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由</a:t>
            </a:r>
            <a:endParaRPr sz="1250" b="0" i="0" dirty="0">
              <a:solidFill>
                <a:srgbClr val="5F6368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輸出是可部署的專案：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最後一段產出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xApp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程式碼目錄與部署描述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快來自固定契約：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三段各有輸入輸出格式，交接時不重談規格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處理範圍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有效看的是策略：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一支應用有沒有用，取決於它套用的控制策略對不對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217920" y="1828800"/>
            <a:ext cx="1353312" cy="438912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 w="19050">
            <a:solidFill>
              <a:srgbClr val="90A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7474F"/>
                </a:solidFill>
                <a:latin typeface="微軟正黑體"/>
                <a:ea typeface="微軟正黑體"/>
                <a:cs typeface="微軟正黑體"/>
              </a:rPr>
              <a:t>網路觀測資料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37474F"/>
                </a:solidFill>
                <a:latin typeface="微軟正黑體"/>
                <a:ea typeface="微軟正黑體"/>
                <a:cs typeface="微軟正黑體"/>
              </a:rPr>
              <a:t>取數工具取回整包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382512" y="2487168"/>
            <a:ext cx="1014984" cy="43891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問題分類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判出問題型別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382512" y="3145536"/>
            <a:ext cx="1014984" cy="43891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策略生成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產出控制策略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144768" y="3803904"/>
            <a:ext cx="1481328" cy="438912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網路應用生成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產出可部署的 xApp</a:t>
            </a:r>
          </a:p>
        </p:txBody>
      </p:sp>
      <p:cxnSp>
        <p:nvCxnSpPr>
          <p:cNvPr id="90" name="Connector 89"/>
          <p:cNvCxnSpPr/>
          <p:nvPr/>
        </p:nvCxnSpPr>
        <p:spPr>
          <a:xfrm flipH="1">
            <a:off x="6890003" y="2267712"/>
            <a:ext cx="4573" cy="219456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890003" y="2926079"/>
            <a:ext cx="0" cy="219457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6885431" y="3584448"/>
            <a:ext cx="4572" cy="219456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6144768" y="4315968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綠色為交付給網路的產出</a:t>
            </a:r>
          </a:p>
        </p:txBody>
      </p:sp>
      <p:sp>
        <p:nvSpPr>
          <p:cNvPr id="16" name="TextBox 84"/>
          <p:cNvSpPr txBox="1"/>
          <p:nvPr/>
        </p:nvSpPr>
        <p:spPr>
          <a:xfrm>
            <a:off x="457200" y="1752699"/>
            <a:ext cx="4183380" cy="7853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lang="zh-TW" altLang="en-US" sz="150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為什麼應該要細分成這三個階段</a:t>
            </a:r>
            <a:endParaRPr lang="en-US" altLang="zh-TW" sz="1500" b="1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lang="zh-TW" altLang="en-US" sz="150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■  每</a:t>
            </a:r>
            <a:r>
              <a:rPr lang="zh-TW" altLang="en-US" sz="1500" b="1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個階段的</a:t>
            </a:r>
            <a:r>
              <a:rPr lang="en-US" altLang="zh-TW" sz="150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input process output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lang="en-US" altLang="zh-TW" sz="1500" b="1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1500" b="1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問題分類如果後面沒講這裡要大致解釋</a:t>
            </a:r>
            <a:r>
              <a:rPr lang="en-US" altLang="zh-TW" sz="1500" b="1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)</a:t>
            </a:r>
            <a:endParaRPr sz="1500" b="1" i="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91814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策略生成 Agent 的架構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14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策略生成吃問題描述、吐 strategy.yaml，語意層與生成層分工，產物要過驗證層。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719072"/>
            <a:ext cx="4183380" cy="29141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介面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輸入是問題描述：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問題型別加上五段命題，不帶檔案路徑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輸出是</a:t>
            </a:r>
            <a:r>
              <a:rPr sz="1250" b="1" i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yaml</a:t>
            </a:r>
            <a:r>
              <a:rPr lang="zh-TW" altLang="en-US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格式的檔案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：</a:t>
            </a:r>
            <a:endParaRPr lang="en-US" sz="1250" b="1" i="0" dirty="0">
              <a:solidFill>
                <a:srgbClr val="1B5E20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lang="zh-TW" altLang="en-US"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欄位</a:t>
            </a:r>
            <a:r>
              <a:rPr lang="en-US" altLang="zh-TW" sz="125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: </a:t>
            </a:r>
            <a:r>
              <a:rPr lang="en-US" altLang="zh-TW" sz="12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pseudo code</a:t>
            </a:r>
            <a:r>
              <a:rPr lang="zh-TW" altLang="en-US" sz="12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、甚麼的常數 時序</a:t>
            </a:r>
            <a:r>
              <a:rPr lang="en-US" altLang="zh-TW" sz="125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?</a:t>
            </a:r>
            <a:endParaRPr lang="en-US" sz="1250" b="0" i="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endParaRPr lang="en-US"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lang="zh-TW" altLang="en-US" sz="1500" b="1" i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設計邏輯</a:t>
            </a:r>
            <a:endParaRPr lang="en-US" altLang="zh-TW" sz="1500" b="1" i="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語意層唯讀：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把送進來的話轉成結構化輸入，缺欄位就追問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驗證層不跑模型：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schema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與規則沒過就退回生成層重跑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093207" y="2328926"/>
            <a:ext cx="1115568" cy="365760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 w="19050">
            <a:solidFill>
              <a:srgbClr val="90A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 dirty="0" err="1">
                <a:solidFill>
                  <a:srgbClr val="37474F"/>
                </a:solidFill>
                <a:latin typeface="微軟正黑體"/>
                <a:ea typeface="微軟正黑體"/>
                <a:cs typeface="微軟正黑體"/>
              </a:rPr>
              <a:t>問題描述</a:t>
            </a:r>
            <a:endParaRPr sz="1000" b="1" i="0" dirty="0">
              <a:solidFill>
                <a:srgbClr val="37474F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00000"/>
              </a:lnSpc>
            </a:pPr>
            <a:r>
              <a:rPr sz="800" b="0" i="0" dirty="0" err="1">
                <a:solidFill>
                  <a:srgbClr val="37474F"/>
                </a:solidFill>
                <a:latin typeface="微軟正黑體"/>
                <a:ea typeface="微軟正黑體"/>
                <a:cs typeface="微軟正黑體"/>
              </a:rPr>
              <a:t>型別＋五段命題</a:t>
            </a:r>
            <a:endParaRPr sz="800" b="0" i="0" dirty="0">
              <a:solidFill>
                <a:srgbClr val="37474F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4832604" y="2843276"/>
            <a:ext cx="1591056" cy="36576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 dirty="0" err="1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語意層</a:t>
            </a:r>
            <a:endParaRPr sz="1000" b="1" i="0" dirty="0">
              <a:solidFill>
                <a:srgbClr val="0D47A1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00000"/>
              </a:lnSpc>
            </a:pPr>
            <a:r>
              <a:rPr sz="800" b="0" i="0" dirty="0" err="1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唯讀，轉成結構化輸入</a:t>
            </a:r>
            <a:endParaRPr sz="800" b="0" i="0" dirty="0">
              <a:solidFill>
                <a:srgbClr val="0D47A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4933188" y="3355340"/>
            <a:ext cx="1389888" cy="36576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 dirty="0" err="1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生成層</a:t>
            </a:r>
            <a:endParaRPr sz="1000" b="1" i="0" dirty="0">
              <a:solidFill>
                <a:srgbClr val="0D47A1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00000"/>
              </a:lnSpc>
            </a:pPr>
            <a:r>
              <a:rPr sz="800" b="0" i="0" dirty="0" err="1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讀知識庫後寫</a:t>
            </a:r>
            <a:r>
              <a:rPr sz="800" b="0" i="0" dirty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800" b="0" i="0" dirty="0" err="1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yaml</a:t>
            </a:r>
            <a:endParaRPr sz="800" b="0" i="0" dirty="0">
              <a:solidFill>
                <a:srgbClr val="0D47A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4594860" y="3867404"/>
            <a:ext cx="2066543" cy="36576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 dirty="0" err="1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驗證層</a:t>
            </a:r>
            <a:endParaRPr sz="1000" b="1" i="0" dirty="0">
              <a:solidFill>
                <a:srgbClr val="424242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00000"/>
              </a:lnSpc>
            </a:pPr>
            <a:r>
              <a:rPr sz="800" b="0" i="0" dirty="0" err="1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不跑模型，只判用不用得下去</a:t>
            </a:r>
            <a:endParaRPr sz="800" b="0" i="0" dirty="0">
              <a:solidFill>
                <a:srgbClr val="424242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4878324" y="4379468"/>
            <a:ext cx="1499616" cy="36576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strategy.yaml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pseudo 與常數</a:t>
            </a:r>
          </a:p>
        </p:txBody>
      </p:sp>
      <p:cxnSp>
        <p:nvCxnSpPr>
          <p:cNvPr id="91" name="Connector 90"/>
          <p:cNvCxnSpPr/>
          <p:nvPr/>
        </p:nvCxnSpPr>
        <p:spPr>
          <a:xfrm flipH="1">
            <a:off x="5628132" y="2696972"/>
            <a:ext cx="9144" cy="146304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5628131" y="3209036"/>
            <a:ext cx="1" cy="146304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628131" y="3721100"/>
            <a:ext cx="1" cy="146304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628132" y="4233164"/>
            <a:ext cx="0" cy="146304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661404" y="4050284"/>
            <a:ext cx="274320" cy="0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935724" y="3538220"/>
            <a:ext cx="0" cy="512064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6323075" y="3538220"/>
            <a:ext cx="612649" cy="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6570980" y="3725672"/>
            <a:ext cx="80467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</a:rPr>
              <a:t>沒過就重跑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94860" y="4818380"/>
            <a:ext cx="2066543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綠色為通過驗證才產出的檔</a:t>
            </a:r>
          </a:p>
        </p:txBody>
      </p:sp>
      <p:sp>
        <p:nvSpPr>
          <p:cNvPr id="22" name="Rounded Rectangle 85"/>
          <p:cNvSpPr/>
          <p:nvPr/>
        </p:nvSpPr>
        <p:spPr>
          <a:xfrm>
            <a:off x="7566660" y="1702214"/>
            <a:ext cx="1353312" cy="438912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 w="19050">
            <a:solidFill>
              <a:srgbClr val="90A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 dirty="0" err="1">
                <a:solidFill>
                  <a:srgbClr val="37474F"/>
                </a:solidFill>
                <a:latin typeface="微軟正黑體"/>
                <a:ea typeface="微軟正黑體"/>
                <a:cs typeface="微軟正黑體"/>
              </a:rPr>
              <a:t>網路觀測資料</a:t>
            </a:r>
            <a:endParaRPr sz="1100" b="1" i="0" dirty="0">
              <a:solidFill>
                <a:srgbClr val="37474F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00000"/>
              </a:lnSpc>
            </a:pPr>
            <a:r>
              <a:rPr sz="850" b="0" i="0" dirty="0" err="1">
                <a:solidFill>
                  <a:srgbClr val="37474F"/>
                </a:solidFill>
                <a:latin typeface="微軟正黑體"/>
                <a:ea typeface="微軟正黑體"/>
                <a:cs typeface="微軟正黑體"/>
              </a:rPr>
              <a:t>取數工具取回整包</a:t>
            </a:r>
            <a:endParaRPr sz="850" b="0" i="0" dirty="0">
              <a:solidFill>
                <a:srgbClr val="37474F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3" name="Rounded Rectangle 86"/>
          <p:cNvSpPr/>
          <p:nvPr/>
        </p:nvSpPr>
        <p:spPr>
          <a:xfrm>
            <a:off x="7731252" y="2360582"/>
            <a:ext cx="1014984" cy="43891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問題分類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判出問題型別</a:t>
            </a:r>
          </a:p>
        </p:txBody>
      </p:sp>
      <p:sp>
        <p:nvSpPr>
          <p:cNvPr id="24" name="Rounded Rectangle 87"/>
          <p:cNvSpPr/>
          <p:nvPr/>
        </p:nvSpPr>
        <p:spPr>
          <a:xfrm>
            <a:off x="7731252" y="3018950"/>
            <a:ext cx="1014984" cy="43891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策略生成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產出控制策略</a:t>
            </a:r>
          </a:p>
        </p:txBody>
      </p:sp>
      <p:sp>
        <p:nvSpPr>
          <p:cNvPr id="25" name="Rounded Rectangle 88"/>
          <p:cNvSpPr/>
          <p:nvPr/>
        </p:nvSpPr>
        <p:spPr>
          <a:xfrm>
            <a:off x="7493508" y="3677318"/>
            <a:ext cx="1481328" cy="438912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10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網路應用生成</a:t>
            </a:r>
            <a:endParaRPr sz="1100" b="1" i="0" dirty="0">
              <a:solidFill>
                <a:srgbClr val="1B5E20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00000"/>
              </a:lnSpc>
            </a:pPr>
            <a:r>
              <a:rPr sz="850" b="0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產出可部署的</a:t>
            </a:r>
            <a:r>
              <a:rPr sz="850" b="0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850" b="0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xApp</a:t>
            </a:r>
            <a:endParaRPr sz="850" b="0" i="0" dirty="0">
              <a:solidFill>
                <a:srgbClr val="1B5E20"/>
              </a:solidFill>
              <a:latin typeface="微軟正黑體"/>
              <a:ea typeface="微軟正黑體"/>
              <a:cs typeface="微軟正黑體"/>
            </a:endParaRPr>
          </a:p>
        </p:txBody>
      </p:sp>
      <p:cxnSp>
        <p:nvCxnSpPr>
          <p:cNvPr id="26" name="Connector 89"/>
          <p:cNvCxnSpPr/>
          <p:nvPr/>
        </p:nvCxnSpPr>
        <p:spPr>
          <a:xfrm flipH="1">
            <a:off x="8238743" y="2141126"/>
            <a:ext cx="4573" cy="219456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90"/>
          <p:cNvCxnSpPr/>
          <p:nvPr/>
        </p:nvCxnSpPr>
        <p:spPr>
          <a:xfrm>
            <a:off x="8238743" y="2799493"/>
            <a:ext cx="0" cy="219457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91"/>
          <p:cNvCxnSpPr/>
          <p:nvPr/>
        </p:nvCxnSpPr>
        <p:spPr>
          <a:xfrm flipH="1">
            <a:off x="8234171" y="3457862"/>
            <a:ext cx="4572" cy="219456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92"/>
          <p:cNvSpPr txBox="1"/>
          <p:nvPr/>
        </p:nvSpPr>
        <p:spPr>
          <a:xfrm>
            <a:off x="7493508" y="4189382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綠色為交付給網路的產出</a:t>
            </a:r>
          </a:p>
        </p:txBody>
      </p:sp>
      <p:sp>
        <p:nvSpPr>
          <p:cNvPr id="6" name="矩形 5"/>
          <p:cNvSpPr/>
          <p:nvPr/>
        </p:nvSpPr>
        <p:spPr>
          <a:xfrm>
            <a:off x="7624316" y="2939636"/>
            <a:ext cx="1209548" cy="5924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/>
          <p:cNvCxnSpPr>
            <a:stCxn id="6" idx="1"/>
          </p:cNvCxnSpPr>
          <p:nvPr/>
        </p:nvCxnSpPr>
        <p:spPr>
          <a:xfrm flipH="1" flipV="1">
            <a:off x="6798564" y="3209036"/>
            <a:ext cx="825752" cy="268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1314450" y="4699207"/>
            <a:ext cx="2618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要跟雨喬確認三層代表的意思</a:t>
            </a:r>
            <a:r>
              <a:rPr lang="en-US" altLang="zh-TW" dirty="0">
                <a:solidFill>
                  <a:srgbClr val="FF0000"/>
                </a:solidFill>
              </a:rPr>
              <a:t>?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策略生成</a:t>
            </a:r>
            <a:r>
              <a:rPr sz="28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 Agent </a:t>
            </a:r>
            <a:r>
              <a:rPr lang="zh-TW" altLang="en-US" sz="28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知識來源</a:t>
            </a:r>
            <a:endParaRPr sz="28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15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能力來自三樣東西：能用的工具、當作唯一真相的知識庫、寫死在 prompt 的產出規則。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719072"/>
            <a:ext cx="4183380" cy="23950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能力來源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工具只有三支：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讀檔、寫檔、改檔，宣告以外的一律擋掉，連探索檔案的指令都沒有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知識庫是門檻的唯一來源：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型別定義、環境規格與該型解題卡，門檻與量測名一律照知識庫，禁止自編數字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產出規則寫在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prompt：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常數要標出處、動作順序、判準與狀態管理各有寫法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lang="zh-TW" altLang="en-US"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設計邏輯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lang="zh-TW" altLang="en-US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強制先檢索後生成</a:t>
            </a:r>
            <a:r>
              <a:rPr sz="1250" b="1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沒有讀過知識庫就寫出來的門檻值不算數，產出還要再過六條規則檢查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248656" y="1874519"/>
            <a:ext cx="1271016" cy="4572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工具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讀檔、寫檔、改檔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166359" y="2569463"/>
            <a:ext cx="1426464" cy="4572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 dirty="0" err="1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知識庫</a:t>
            </a:r>
            <a:endParaRPr sz="1000" b="1" i="0" dirty="0">
              <a:solidFill>
                <a:srgbClr val="424242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00000"/>
              </a:lnSpc>
            </a:pPr>
            <a:r>
              <a:rPr sz="800" b="0" i="0" dirty="0" err="1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型別、環境、解題卡</a:t>
            </a:r>
            <a:endParaRPr sz="800" b="0" i="0" dirty="0">
              <a:solidFill>
                <a:srgbClr val="424242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5166359" y="3264408"/>
            <a:ext cx="1426464" cy="4572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產出規則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常數出處、動作順序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848856" y="2569463"/>
            <a:ext cx="1444752" cy="45720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策略生成 Agent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519672" y="2103120"/>
            <a:ext cx="329184" cy="694943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592823" y="2798063"/>
            <a:ext cx="256033" cy="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6592823" y="2798063"/>
            <a:ext cx="256033" cy="694945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5166359" y="3794760"/>
            <a:ext cx="312724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藍色為使用這三樣東西的那一支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521208" y="4214662"/>
            <a:ext cx="439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型別 問題類型</a:t>
            </a:r>
            <a:r>
              <a:rPr lang="en-US" altLang="zh-TW" dirty="0">
                <a:solidFill>
                  <a:srgbClr val="FF0000"/>
                </a:solidFill>
              </a:rPr>
              <a:t>-&gt;</a:t>
            </a:r>
            <a:r>
              <a:rPr lang="zh-TW" altLang="en-US" dirty="0">
                <a:solidFill>
                  <a:srgbClr val="FF0000"/>
                </a:solidFill>
              </a:rPr>
              <a:t>問題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環境是甚麼</a:t>
            </a:r>
            <a:r>
              <a:rPr lang="en-US" altLang="zh-TW" dirty="0">
                <a:solidFill>
                  <a:srgbClr val="FF0000"/>
                </a:solidFill>
              </a:rPr>
              <a:t>?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454656" y="4201249"/>
            <a:ext cx="4394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知識庫內有甚麼</a:t>
            </a:r>
            <a:r>
              <a:rPr lang="en-US" altLang="zh-TW" dirty="0">
                <a:solidFill>
                  <a:srgbClr val="FF0000"/>
                </a:solidFill>
              </a:rPr>
              <a:t>?</a:t>
            </a:r>
          </a:p>
          <a:p>
            <a:r>
              <a:rPr lang="zh-TW" altLang="en-US" dirty="0">
                <a:solidFill>
                  <a:srgbClr val="FF0000"/>
                </a:solidFill>
              </a:rPr>
              <a:t>官方文件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可解問題類型定義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r>
              <a:rPr lang="zh-TW" altLang="en-US" dirty="0">
                <a:solidFill>
                  <a:srgbClr val="FF0000"/>
                </a:solidFill>
              </a:rPr>
              <a:t>、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各類型的演算法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更像是參考書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r>
              <a:rPr lang="zh-TW" altLang="en-US" dirty="0">
                <a:solidFill>
                  <a:srgbClr val="FF0000"/>
                </a:solidFill>
              </a:rPr>
              <a:t>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zh-TW" altLang="en-US" sz="280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策略 </a:t>
            </a:r>
            <a:r>
              <a:rPr lang="en-US" altLang="zh-TW" sz="280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Judge Agent</a:t>
            </a:r>
            <a:endParaRPr sz="2800" b="1" i="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16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產出由 AI 網管團隊負責，品質由 AI 品質監控團隊負責，依賴只有一個方向。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719072"/>
            <a:ext cx="4183380" cy="23950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團隊分工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網管團隊解題：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問題分類、策略生成、應用生成三支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Agent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接力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品質監控團隊評題：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策略生成專家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Agent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評分、找根因、改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prompt，不解題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依賴單向：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品質監控讀網管的檔案與介面，反向不成立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改動重點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lang="zh-TW" altLang="en-US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本階段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優化策略生成：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另外兩支的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prompt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不動，失敗也不計分，扣分才歸得了因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538976" y="2190778"/>
            <a:ext cx="1078992" cy="402336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AI 網管團隊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解題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573521" y="2979124"/>
            <a:ext cx="960120" cy="347472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 dirty="0" err="1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策略生成</a:t>
            </a:r>
            <a:endParaRPr lang="en-US" sz="1000" b="1" i="0" dirty="0">
              <a:solidFill>
                <a:srgbClr val="424242"/>
              </a:solidFill>
              <a:latin typeface="微軟正黑體"/>
              <a:ea typeface="微軟正黑體"/>
              <a:cs typeface="微軟正黑體"/>
            </a:endParaRPr>
          </a:p>
          <a:p>
            <a:pPr algn="ctr"/>
            <a:r>
              <a:rPr lang="en-US" altLang="zh-TW" sz="100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agent</a:t>
            </a:r>
            <a:endParaRPr sz="1000" b="1" i="0" dirty="0">
              <a:solidFill>
                <a:srgbClr val="424242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7162037" y="2148233"/>
            <a:ext cx="1472184" cy="402336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 w="19050">
            <a:solidFill>
              <a:srgbClr val="0097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6064"/>
                </a:solidFill>
                <a:latin typeface="微軟正黑體"/>
                <a:ea typeface="微軟正黑體"/>
                <a:cs typeface="微軟正黑體"/>
              </a:rPr>
              <a:t>AI 品質監控團隊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006064"/>
                </a:solidFill>
                <a:latin typeface="微軟正黑體"/>
                <a:ea typeface="微軟正黑體"/>
                <a:cs typeface="微軟正黑體"/>
              </a:rPr>
              <a:t>評題，不解題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991094" y="2661115"/>
            <a:ext cx="1847088" cy="856686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 dirty="0" err="1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策略生成專家</a:t>
            </a:r>
            <a:r>
              <a:rPr sz="1000" b="1" i="0" dirty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 Agent</a:t>
            </a:r>
          </a:p>
          <a:p>
            <a:pPr algn="ctr">
              <a:lnSpc>
                <a:spcPct val="100000"/>
              </a:lnSpc>
            </a:pPr>
            <a:r>
              <a:rPr sz="800" b="0" i="0" dirty="0" err="1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評分、找根因</a:t>
            </a:r>
            <a:endParaRPr sz="800" b="0" i="0" dirty="0">
              <a:solidFill>
                <a:srgbClr val="424242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00000"/>
              </a:lnSpc>
            </a:pPr>
            <a:r>
              <a:rPr sz="800" b="0" i="0" dirty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改 prompt</a:t>
            </a:r>
          </a:p>
        </p:txBody>
      </p:sp>
      <p:cxnSp>
        <p:nvCxnSpPr>
          <p:cNvPr id="93" name="Connector 92"/>
          <p:cNvCxnSpPr/>
          <p:nvPr/>
        </p:nvCxnSpPr>
        <p:spPr>
          <a:xfrm flipV="1">
            <a:off x="6554723" y="2950578"/>
            <a:ext cx="436371" cy="83008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>
            <a:endCxn id="88" idx="3"/>
          </p:cNvCxnSpPr>
          <p:nvPr/>
        </p:nvCxnSpPr>
        <p:spPr>
          <a:xfrm flipH="1" flipV="1">
            <a:off x="6533641" y="3152860"/>
            <a:ext cx="411480" cy="36576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生成網路應用的閉迴路優化</a:t>
            </a:r>
            <a:endParaRPr sz="28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17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評分、找根因、改 prompt、再生成四步接成迴路，根因不在文本時只開單不動 prompt。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78358" y="1828800"/>
            <a:ext cx="4183380" cy="23798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迴路四步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評分是純程式：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抽出元素再套指標，得到五個能力分數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根因走七步：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策略生成專家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Agent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對每一條扣分獨立判一次，先命中者為終點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在文本就改、不在就開單：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契約、知識庫、題目與評分程式一律只讀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改動重點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改動要能重放：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宣告的每一刀套回原檔，要逐字等於交出的新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prompt。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63056" y="1828800"/>
            <a:ext cx="1444752" cy="420624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策略生成 Agent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產出 strategy.yaml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409944" y="2450592"/>
            <a:ext cx="960120" cy="420624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評分器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五個能力分數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971031" y="3072384"/>
            <a:ext cx="1847088" cy="420624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策略生成專家 Agent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七步判根因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281928" y="3694176"/>
            <a:ext cx="1225296" cy="420624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新的 prompt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或一張轉單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885432" y="2249424"/>
            <a:ext cx="4572" cy="201168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890004" y="2871216"/>
            <a:ext cx="4571" cy="201168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894575" y="3493008"/>
            <a:ext cx="1" cy="201168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507224" y="3904488"/>
            <a:ext cx="374903" cy="0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7882127" y="2039112"/>
            <a:ext cx="0" cy="1865376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7607808" y="2039112"/>
            <a:ext cx="274319" cy="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936992" y="2948939"/>
            <a:ext cx="80467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</a:rPr>
              <a:t>回到生成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71031" y="4187952"/>
            <a:ext cx="184708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綠色為這一輪唯一會被改的東西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2045567" y="1809946"/>
            <a:ext cx="26535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YAML</a:t>
            </a:r>
            <a:r>
              <a:rPr lang="zh-TW" altLang="en-US" dirty="0">
                <a:solidFill>
                  <a:srgbClr val="FF0000"/>
                </a:solidFill>
              </a:rPr>
              <a:t>、行為必須是被允許的</a:t>
            </a:r>
          </a:p>
        </p:txBody>
      </p:sp>
      <p:sp>
        <p:nvSpPr>
          <p:cNvPr id="21" name="文字方塊 20"/>
          <p:cNvSpPr txBox="1"/>
          <p:nvPr/>
        </p:nvSpPr>
        <p:spPr>
          <a:xfrm>
            <a:off x="2045567" y="4058806"/>
            <a:ext cx="40295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prompt</a:t>
            </a:r>
            <a:r>
              <a:rPr lang="zh-TW" altLang="en-US" dirty="0">
                <a:solidFill>
                  <a:srgbClr val="FF0000"/>
                </a:solidFill>
              </a:rPr>
              <a:t>裡</a:t>
            </a:r>
            <a:r>
              <a:rPr lang="en-US" altLang="zh-TW" dirty="0">
                <a:solidFill>
                  <a:srgbClr val="FF0000"/>
                </a:solidFill>
              </a:rPr>
              <a:t>key</a:t>
            </a:r>
            <a:r>
              <a:rPr lang="zh-TW" altLang="en-US" dirty="0">
                <a:solidFill>
                  <a:srgbClr val="FF0000"/>
                </a:solidFill>
              </a:rPr>
              <a:t>值否正確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>
                <a:solidFill>
                  <a:srgbClr val="FF0000"/>
                </a:solidFill>
              </a:rPr>
              <a:t>prompt</a:t>
            </a:r>
            <a:r>
              <a:rPr lang="zh-TW" altLang="en-US" dirty="0">
                <a:solidFill>
                  <a:srgbClr val="FF0000"/>
                </a:solidFill>
              </a:rPr>
              <a:t>裡的</a:t>
            </a:r>
            <a:r>
              <a:rPr lang="en-US" altLang="zh-TW" dirty="0">
                <a:solidFill>
                  <a:srgbClr val="FF0000"/>
                </a:solidFill>
              </a:rPr>
              <a:t>value</a:t>
            </a:r>
            <a:r>
              <a:rPr lang="zh-TW" altLang="en-US" dirty="0">
                <a:solidFill>
                  <a:srgbClr val="FF0000"/>
                </a:solidFill>
              </a:rPr>
              <a:t>是否在</a:t>
            </a:r>
            <a:r>
              <a:rPr lang="en-US" altLang="zh-TW" dirty="0">
                <a:solidFill>
                  <a:srgbClr val="FF0000"/>
                </a:solidFill>
              </a:rPr>
              <a:t>key</a:t>
            </a:r>
            <a:r>
              <a:rPr lang="zh-TW" altLang="en-US" dirty="0">
                <a:solidFill>
                  <a:srgbClr val="FF0000"/>
                </a:solidFill>
              </a:rPr>
              <a:t>值的定義域內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策略生成</a:t>
            </a:r>
            <a:r>
              <a:rPr lang="en-US" altLang="zh-TW" dirty="0">
                <a:solidFill>
                  <a:srgbClr val="FF0000"/>
                </a:solidFill>
              </a:rPr>
              <a:t>Agent</a:t>
            </a:r>
            <a:r>
              <a:rPr lang="zh-TW" altLang="en-US" dirty="0">
                <a:solidFill>
                  <a:srgbClr val="FF0000"/>
                </a:solidFill>
              </a:rPr>
              <a:t>是否嚴格按照限制生成策略檔</a:t>
            </a:r>
            <a:endParaRPr lang="en-US" altLang="zh-TW" dirty="0">
              <a:solidFill>
                <a:srgbClr val="FF0000"/>
              </a:solidFill>
            </a:endParaRPr>
          </a:p>
          <a:p>
            <a:endParaRPr lang="zh-TW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監控策略生成的品質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18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品質拆成五個能力項，三項不過就當未解題，主分數落在演算法正確性。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719072"/>
            <a:ext cx="3848709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能力項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拆成五項才歸得了因：</a:t>
            </a: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只有一個總分時，扣分指不回 prompt 的哪一段。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三項是否決：</a:t>
            </a: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格式正確性、介面合規率、宣告一致性，沒過即視為未解題。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主分數是演算法正確性：</a:t>
            </a: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解法本身對不對，這一輪要改好的就是它。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200"/>
              </a:spcAft>
            </a:pPr>
            <a:r>
              <a:rPr sz="15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量測要求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五項都由程式判定：</a:t>
            </a:r>
            <a:r>
              <a:rPr sz="1250" b="0" i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模型評審已經退場，同一份產物重跑，分數不會變。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08192" y="1737360"/>
            <a:ext cx="1234440" cy="36576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65100"/>
                </a:solidFill>
                <a:latin typeface="微軟正黑體"/>
                <a:ea typeface="微軟正黑體"/>
                <a:cs typeface="微軟正黑體"/>
              </a:rPr>
              <a:t>一 格式正確性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424928" y="2423160"/>
            <a:ext cx="1234440" cy="36576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65100"/>
                </a:solidFill>
                <a:latin typeface="微軟正黑體"/>
                <a:ea typeface="微軟正黑體"/>
                <a:cs typeface="微軟正黑體"/>
              </a:rPr>
              <a:t>二 介面合規率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922008" y="3520440"/>
            <a:ext cx="1234440" cy="36576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65100"/>
                </a:solidFill>
                <a:latin typeface="微軟正黑體"/>
                <a:ea typeface="微軟正黑體"/>
                <a:cs typeface="微軟正黑體"/>
              </a:rPr>
              <a:t>三 宣告一致性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184648" y="3520440"/>
            <a:ext cx="1435608" cy="36576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四 演算法正確性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782312" y="2423160"/>
            <a:ext cx="1234440" cy="36576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905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65100"/>
                </a:solidFill>
                <a:latin typeface="微軟正黑體"/>
                <a:ea typeface="微軟正黑體"/>
                <a:cs typeface="微軟正黑體"/>
              </a:rPr>
              <a:t>五 限制遵循率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076541" y="2103120"/>
            <a:ext cx="614477" cy="320040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7623048" y="2788920"/>
            <a:ext cx="335280" cy="731519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6620256" y="3703320"/>
            <a:ext cx="301752" cy="0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 flipV="1">
            <a:off x="5483351" y="2788920"/>
            <a:ext cx="335281" cy="731519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5753099" y="2103120"/>
            <a:ext cx="618745" cy="320040"/>
          </a:xfrm>
          <a:prstGeom prst="line">
            <a:avLst/>
          </a:prstGeom>
          <a:ln w="22225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4782312" y="3959352"/>
            <a:ext cx="387705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綠色為主分數，橘色為否決項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6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三、實驗</a:t>
            </a:r>
            <a:endParaRPr sz="36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90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19</a:t>
            </a:fld>
            <a:endParaRPr lang="zh-TW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zh-TW" altLang="en-US" sz="280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實驗</a:t>
            </a:r>
            <a:r>
              <a:rPr sz="28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環境</a:t>
            </a:r>
            <a:endParaRPr sz="28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20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5" name="Table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366447"/>
              </p:ext>
            </p:extLst>
          </p:nvPr>
        </p:nvGraphicFramePr>
        <p:xfrm>
          <a:off x="391459" y="1397060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 dirty="0" err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項目</a:t>
                      </a:r>
                      <a:endParaRPr sz="1100" b="1" i="0" dirty="0">
                        <a:solidFill>
                          <a:srgbClr val="FFFFFF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設定</a:t>
                      </a: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作業系統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Ubuntu 24.04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處理器與記憶體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Intel Xeon Silver 4516Y+ 八核、16 GB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平台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0" i="0" dirty="0" err="1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Docker、PostgreSQL、Redis</a:t>
                      </a:r>
                      <a:endParaRPr sz="1100" b="0" i="0" dirty="0">
                        <a:solidFill>
                          <a:srgbClr val="FF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策略生成 Agent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claude sonnet 5，effort low，工具只有讀檔、寫檔、改檔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策略生成專家 Agent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claude opus 5，effort high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資料集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出題團隊交付一份試算表，收檔驗證後拆成一案一目錄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題目範圍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ANR 十二題；節能、干擾、覆蓋容量三類還沒有標準答案，先不納入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 dirty="0" err="1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答案隔離</a:t>
                      </a:r>
                      <a:endParaRPr sz="1100" b="1" i="0" dirty="0">
                        <a:solidFill>
                          <a:srgbClr val="FF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0" i="0" dirty="0" err="1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只有觀測檔掛給</a:t>
                      </a:r>
                      <a:r>
                        <a:rPr sz="1100" b="0" i="0" dirty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Agent，標準答案與參考解法只給評分程式</a:t>
                      </a:r>
                      <a:endParaRPr sz="1100" b="0" i="0" dirty="0">
                        <a:solidFill>
                          <a:srgbClr val="FF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" name="TextBox 85"/>
          <p:cNvSpPr txBox="1"/>
          <p:nvPr/>
        </p:nvSpPr>
        <p:spPr>
          <a:xfrm>
            <a:off x="128016" y="4590288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650" b="0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ANR：Automatic</a:t>
            </a:r>
            <a:r>
              <a:rPr sz="650" b="0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650" b="0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Neighbour</a:t>
            </a:r>
            <a:r>
              <a:rPr sz="650" b="0" i="0" dirty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 Relation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2277035" y="4153647"/>
            <a:ext cx="1541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不會在這頁講這些內容</a:t>
            </a:r>
          </a:p>
        </p:txBody>
      </p:sp>
      <p:sp>
        <p:nvSpPr>
          <p:cNvPr id="4" name="左大括弧 3"/>
          <p:cNvSpPr/>
          <p:nvPr/>
        </p:nvSpPr>
        <p:spPr>
          <a:xfrm>
            <a:off x="280894" y="2689412"/>
            <a:ext cx="101600" cy="12371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/>
          <p:cNvCxnSpPr/>
          <p:nvPr/>
        </p:nvCxnSpPr>
        <p:spPr>
          <a:xfrm>
            <a:off x="346635" y="4028141"/>
            <a:ext cx="1834777" cy="388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資料集生成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01812" y="2002118"/>
            <a:ext cx="8229600" cy="2347632"/>
          </a:xfrm>
        </p:spPr>
        <p:txBody>
          <a:bodyPr/>
          <a:lstStyle/>
          <a:p>
            <a:r>
              <a:rPr lang="zh-TW" altLang="en-US" dirty="0"/>
              <a:t>參考</a:t>
            </a:r>
            <a:r>
              <a:rPr lang="en-US" altLang="zh-TW" dirty="0"/>
              <a:t>XXX</a:t>
            </a:r>
            <a:r>
              <a:rPr lang="zh-TW" altLang="en-US" dirty="0"/>
              <a:t>文件 定義</a:t>
            </a:r>
            <a:r>
              <a:rPr lang="en-US" altLang="zh-TW" dirty="0"/>
              <a:t>schema </a:t>
            </a:r>
          </a:p>
          <a:p>
            <a:r>
              <a:rPr lang="zh-TW" altLang="en-US" dirty="0"/>
              <a:t>生成</a:t>
            </a:r>
            <a:r>
              <a:rPr lang="en-US" altLang="zh-TW" dirty="0"/>
              <a:t>XXX</a:t>
            </a:r>
            <a:r>
              <a:rPr lang="zh-TW" altLang="en-US" dirty="0"/>
              <a:t>筆資料</a:t>
            </a:r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999365"/>
              </p:ext>
            </p:extLst>
          </p:nvPr>
        </p:nvGraphicFramePr>
        <p:xfrm>
          <a:off x="412377" y="3309844"/>
          <a:ext cx="822960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 dirty="0" err="1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資料集</a:t>
                      </a:r>
                      <a:endParaRPr sz="1100" b="1" i="0" dirty="0">
                        <a:solidFill>
                          <a:srgbClr val="FF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0" i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出題團隊交付一份試算表，收檔驗證後拆成一案一目錄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題目範圍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0" i="0" dirty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ANR </a:t>
                      </a:r>
                      <a:r>
                        <a:rPr sz="1100" b="0" i="0" dirty="0" err="1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十二題；節能、干擾、覆蓋容量三類還沒有標準答案，先不納入</a:t>
                      </a:r>
                      <a:endParaRPr sz="1100" b="0" i="0" dirty="0">
                        <a:solidFill>
                          <a:srgbClr val="FF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1" i="0" dirty="0" err="1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答案隔離</a:t>
                      </a:r>
                      <a:endParaRPr sz="1100" b="1" i="0" dirty="0">
                        <a:solidFill>
                          <a:srgbClr val="FF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100" b="0" i="0" dirty="0" err="1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只有觀測檔掛給</a:t>
                      </a:r>
                      <a:r>
                        <a:rPr sz="1100" b="0" i="0" dirty="0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Agent，標準答案與參考解法只給評分程式</a:t>
                      </a:r>
                      <a:endParaRPr sz="1100" b="0" i="0" dirty="0">
                        <a:solidFill>
                          <a:srgbClr val="FF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412377" y="1156747"/>
            <a:ext cx="619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solidFill>
                  <a:srgbClr val="FF0000"/>
                </a:solidFill>
              </a:rPr>
              <a:t>資料集生成流程圖</a:t>
            </a:r>
          </a:p>
        </p:txBody>
      </p:sp>
    </p:spTree>
    <p:extLst>
      <p:ext uri="{BB962C8B-B14F-4D97-AF65-F5344CB8AC3E}">
        <p14:creationId xmlns:p14="http://schemas.microsoft.com/office/powerpoint/2010/main" val="3198625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zh-TW" altLang="en-US" sz="280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實驗評估項目</a:t>
            </a:r>
            <a:endParaRPr sz="2800" b="1" i="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22</a:t>
            </a:fld>
            <a:endParaRPr lang="zh-TW" altLang="en-US" dirty="0"/>
          </a:p>
        </p:txBody>
      </p:sp>
      <p:graphicFrame>
        <p:nvGraphicFramePr>
          <p:cNvPr id="85" name="Table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866611"/>
              </p:ext>
            </p:extLst>
          </p:nvPr>
        </p:nvGraphicFramePr>
        <p:xfrm>
          <a:off x="503278" y="1523999"/>
          <a:ext cx="6933561" cy="1224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4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1532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zh-TW" altLang="en-US" sz="1150" b="1" i="0" dirty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項目</a:t>
                      </a:r>
                      <a:endParaRPr sz="1150" b="1" i="0" dirty="0">
                        <a:solidFill>
                          <a:srgbClr val="FFFFFF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zh-TW" altLang="en-US" sz="1150" b="1" i="0" dirty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評估指標</a:t>
                      </a:r>
                      <a:endParaRPr sz="1150" b="1" i="0" dirty="0">
                        <a:solidFill>
                          <a:srgbClr val="FFFFFF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zh-TW" altLang="en-US" sz="115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網路策略是否能被正確的生成</a:t>
                      </a:r>
                      <a:endParaRPr sz="1150" b="0" i="0" dirty="0">
                        <a:solidFill>
                          <a:srgbClr val="5F6368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zh-TW" altLang="en-US" sz="115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策略生成正確率</a:t>
                      </a:r>
                      <a:endParaRPr sz="1150" b="0" i="0" dirty="0">
                        <a:solidFill>
                          <a:srgbClr val="5F6368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zh-TW" altLang="en-US" sz="115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有無</a:t>
                      </a:r>
                      <a:r>
                        <a:rPr lang="en-US" altLang="zh-TW" sz="115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judge</a:t>
                      </a:r>
                      <a:r>
                        <a:rPr lang="zh-TW" altLang="en-US" sz="115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對於方法論生成</a:t>
                      </a:r>
                      <a:r>
                        <a:rPr lang="en-US" altLang="zh-TW" sz="1150" b="0" i="0" dirty="0" err="1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xApp</a:t>
                      </a:r>
                      <a:r>
                        <a:rPr lang="zh-TW" altLang="en-US" sz="115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正確性與品質影響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endParaRPr sz="1150" b="0" i="0" dirty="0">
                        <a:solidFill>
                          <a:srgbClr val="5F6368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rgbClr val="212121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純</a:t>
                      </a:r>
                      <a:r>
                        <a:rPr lang="en-US" altLang="zh-TW" sz="1200" dirty="0">
                          <a:solidFill>
                            <a:srgbClr val="212121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agent pipeline</a:t>
                      </a:r>
                      <a:r>
                        <a:rPr lang="zh-TW" altLang="en-US" sz="1200" dirty="0">
                          <a:solidFill>
                            <a:srgbClr val="212121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與方法論</a:t>
                      </a:r>
                      <a:r>
                        <a:rPr lang="en-US" altLang="zh-TW" sz="1200" dirty="0">
                          <a:solidFill>
                            <a:srgbClr val="212121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agent pipeline</a:t>
                      </a:r>
                      <a:r>
                        <a:rPr lang="zh-TW" altLang="en-US" sz="1200" dirty="0">
                          <a:solidFill>
                            <a:srgbClr val="212121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對於產</a:t>
                      </a:r>
                      <a:r>
                        <a:rPr lang="en-US" altLang="zh-TW" sz="1200" dirty="0" err="1">
                          <a:solidFill>
                            <a:srgbClr val="212121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xApp</a:t>
                      </a:r>
                      <a:r>
                        <a:rPr lang="zh-TW" altLang="en-US" sz="1200" dirty="0">
                          <a:solidFill>
                            <a:srgbClr val="212121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正確性與品質影響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endParaRPr sz="1150" b="0" i="0" dirty="0">
                        <a:solidFill>
                          <a:srgbClr val="5F6368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評估指標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23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最後要比的是同一批題目在無優化與有優化下的差，差用品質、疊代與成本三個面向呈現</a:t>
            </a:r>
            <a:r>
              <a:rPr sz="1250" b="1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457200" y="1755648"/>
          <a:ext cx="822959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面向</a:t>
                      </a:r>
                      <a:endParaRPr sz="1050" b="1" i="0" dirty="0">
                        <a:solidFill>
                          <a:srgbClr val="FFFFFF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指標</a:t>
                      </a: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實驗一 無優化</a:t>
                      </a: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實驗二 有優化</a:t>
                      </a: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差異怎麼看</a:t>
                      </a: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 dirty="0" err="1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品質</a:t>
                      </a:r>
                      <a:endParaRPr sz="1050" b="1" i="0" dirty="0">
                        <a:solidFill>
                          <a:srgbClr val="1B5E2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平均演算法正確性分數 x̄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Δ ＝ x̄₂ − x̄₁，</a:t>
                      </a:r>
                      <a:r>
                        <a:rPr sz="1050" b="0" i="0" dirty="0" err="1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愈大愈好</a:t>
                      </a:r>
                      <a:endParaRPr sz="1050" b="0" i="0" dirty="0">
                        <a:solidFill>
                          <a:srgbClr val="5F6368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品質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 dirty="0" err="1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四類元素各自的</a:t>
                      </a:r>
                      <a:r>
                        <a:rPr sz="105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 F1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逐類比，看改好的是哪一類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品質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否決率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要同步下降，否則 Δ 不算數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疊代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累積增益 G(n)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沿題序累加，終值 G ＝ N×Δ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疊代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配對退步率 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被改壞的題數占比，愈低愈好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成本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單題時間與模型呼叫次數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優化多花的時間與次數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成本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token 四個分量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優化端 ÷ 生成端＝額外代價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評估指標：單題品質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24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單題品質由五個能力項判定，能算分數的只有演算法正確性，用四類元素的 F1 平均。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457200" y="1755648"/>
          <a:ext cx="8229600" cy="2159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指標</a:t>
                      </a:r>
                      <a:endParaRPr sz="1050" b="1" i="0" dirty="0">
                        <a:solidFill>
                          <a:srgbClr val="FFFFFF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公式</a:t>
                      </a: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單位與範圍</a:t>
                      </a: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出處</a:t>
                      </a: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 dirty="0" err="1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精確率</a:t>
                      </a:r>
                      <a:r>
                        <a:rPr sz="1050" b="1" i="0" dirty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 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產物與標準答案交集 ÷ 產物元素數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無單位，0 至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統計標準量，實作用 scikit-learn </a:t>
                      </a:r>
                      <a:r>
                        <a:rPr sz="840" b="0" i="0" baseline="30000">
                          <a:solidFill>
                            <a:srgbClr val="78909C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[11]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召回率 R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交集 ÷ 標準答案元素數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無單位，0 至 1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同上 </a:t>
                      </a:r>
                      <a:r>
                        <a:rPr sz="840" b="0" i="0" baseline="30000">
                          <a:solidFill>
                            <a:srgbClr val="78909C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[11]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F1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2PR ÷ (P＋R)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無單位，0 至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同上 </a:t>
                      </a:r>
                      <a:r>
                        <a:rPr sz="840" b="0" i="0" baseline="30000">
                          <a:solidFill>
                            <a:srgbClr val="78909C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[11]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演算法正確性 s(i)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常數、API 序列、判準、狀態機各算 F1 後取算術平均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無單位，0 至 1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各類等權，形式同 scikit-learn 的 macro 平均 </a:t>
                      </a:r>
                      <a:r>
                        <a:rPr sz="840" b="0" i="0" baseline="30000">
                          <a:solidFill>
                            <a:srgbClr val="78909C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[11]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否決判定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格式正確性、介面合規率、宣告一致性與 L1、L2 任一不過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 或 1；否決時 s(i) 記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契約 schema 與 API 白名單條文，本計畫定義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distinguishability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等價組平均分 ÷ 非等價組平均分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無單位，須大於 1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 dirty="0" err="1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CrystalBLEU</a:t>
                      </a:r>
                      <a:r>
                        <a:rPr sz="105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定義</a:t>
                      </a:r>
                      <a:r>
                        <a:rPr sz="1050" b="0" i="0" dirty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 3.1 </a:t>
                      </a:r>
                      <a:r>
                        <a:rPr sz="840" b="0" i="0" baseline="30000" dirty="0">
                          <a:solidFill>
                            <a:srgbClr val="78909C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[12]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6" name="TextBox 85"/>
          <p:cNvSpPr txBox="1"/>
          <p:nvPr/>
        </p:nvSpPr>
        <p:spPr>
          <a:xfrm>
            <a:off x="128016" y="4590288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[11] F. Pedregosa et al., Scikit-learn: Machine Learning in Python, JMLR, 12, 2011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[12] A. Eghbali, M. Pradel, CrystalBLEU, IEEE/ACM ASE, 2022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評估指標：成效與成本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25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成效看兩次實驗的差與它怎麼累積，成本看每一輪花掉的時間與用量。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457200" y="1755648"/>
          <a:ext cx="8229598" cy="2040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 dirty="0" err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指標</a:t>
                      </a:r>
                      <a:endParaRPr sz="1050" b="1" i="0" dirty="0">
                        <a:solidFill>
                          <a:srgbClr val="FFFFFF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公式</a:t>
                      </a: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單位與範圍</a:t>
                      </a: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出處</a:t>
                      </a:r>
                    </a:p>
                  </a:txBody>
                  <a:tcPr marL="73152" marR="73152" marT="27432" marB="27432"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平均分數的差 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實驗二的平均 s(i) 減實驗一的平均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無單位，−1 至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本計畫定義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 dirty="0" err="1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累積增益</a:t>
                      </a:r>
                      <a:r>
                        <a:rPr sz="1050" b="1" i="0" dirty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 G(n)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逐題差沿題序累加，終值 G ＝ N×Δ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無單位，−N 至 N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形式為累積 regret 取負號 </a:t>
                      </a:r>
                      <a:r>
                        <a:rPr sz="840" b="0" i="0" baseline="30000">
                          <a:solidFill>
                            <a:srgbClr val="78909C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[13]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配對退步率 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變差的題數 ÷ 題數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比例，0 至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本計畫定義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否決率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被否決的題數 ÷ 題數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比例，0 至 1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本計畫定義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單輪時間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軌跡最早到最晚的牆鐘秒數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秒，0 以上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本計畫定義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1" i="0">
                          <a:solidFill>
                            <a:srgbClr val="1B5E2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單輪用量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 dirty="0" err="1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呼叫次數，與未命中輸入、快取讀取、快取建立、輸出四個分量</a:t>
                      </a:r>
                      <a:endParaRPr sz="1050" b="0" i="0" dirty="0">
                        <a:solidFill>
                          <a:srgbClr val="5F6368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次／token，0 以上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sz="1050" b="0" i="0">
                          <a:solidFill>
                            <a:srgbClr val="5F6368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四個分量單價不同，不合併</a:t>
                      </a:r>
                    </a:p>
                  </a:txBody>
                  <a:tcPr marL="73152" marR="73152" marT="27432" marB="27432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6" name="TextBox 85"/>
          <p:cNvSpPr txBox="1"/>
          <p:nvPr/>
        </p:nvSpPr>
        <p:spPr>
          <a:xfrm>
            <a:off x="128016" y="4590288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[13] S. Bubeck, N. Cesa-Bianchi, Regret Analysis of Multi-armed Bandit Problems, FnT ML, 2012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實驗流程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26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36576" rtlCol="0" anchor="ctr"/>
          <a:lstStyle/>
          <a:p>
            <a:pPr algn="ctr">
              <a:lnSpc>
                <a:spcPct val="112000"/>
              </a:lnSpc>
            </a:pPr>
            <a:r>
              <a:rPr sz="1250" b="1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同一批</a:t>
            </a:r>
            <a:r>
              <a:rPr sz="1250" b="1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 ANR </a:t>
            </a:r>
            <a:r>
              <a:rPr sz="1250" b="1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題目跑兩次：一次不改</a:t>
            </a:r>
            <a:r>
              <a:rPr sz="1250" b="1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1" i="0" dirty="0" err="1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prompt，一次每題判要不要改，兩次的指標相減就是優化成效</a:t>
            </a:r>
            <a:r>
              <a:rPr sz="1250" b="1" i="0" dirty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7200" y="1719072"/>
            <a:ext cx="4183380" cy="15681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■  </a:t>
            </a:r>
            <a:r>
              <a:rPr sz="1500" b="1" i="0" dirty="0" err="1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流程</a:t>
            </a:r>
            <a:endParaRPr sz="1500" b="1" i="0" dirty="0">
              <a:solidFill>
                <a:srgbClr val="1A237E"/>
              </a:solidFill>
              <a:latin typeface="微軟正黑體"/>
              <a:ea typeface="微軟正黑體"/>
              <a:cs typeface="微軟正黑體"/>
            </a:endParaRP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輸入是同一批題目：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ANR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十二題，題序先打亂再固定，兩次跑同一個順序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第一次不進優化：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十二題共用同一份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prompt，得到沒有優化的輸出與指標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marL="182880">
              <a:lnSpc>
                <a:spcPct val="108000"/>
              </a:lnSpc>
              <a:spcAft>
                <a:spcPts val="200"/>
              </a:spcAft>
            </a:pP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sz="1250" b="1" i="0" dirty="0" err="1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第二次逐題判根因：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根因在文本才改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prompt，不在就開單，那一題的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prompt </a:t>
            </a:r>
            <a:r>
              <a:rPr sz="1250" b="0" i="0" dirty="0" err="1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一個字不動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i="0" baseline="30000" dirty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[10]</a:t>
            </a:r>
            <a:r>
              <a:rPr sz="1250" b="0" i="0" dirty="0">
                <a:solidFill>
                  <a:srgbClr val="5F6368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72200" y="1810512"/>
            <a:ext cx="1426464" cy="402336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 w="19050">
            <a:solidFill>
              <a:srgbClr val="90A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37474F"/>
                </a:solidFill>
                <a:latin typeface="微軟正黑體"/>
                <a:ea typeface="微軟正黑體"/>
                <a:cs typeface="微軟正黑體"/>
              </a:rPr>
              <a:t>ANR 十二題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37474F"/>
                </a:solidFill>
                <a:latin typeface="微軟正黑體"/>
                <a:ea typeface="微軟正黑體"/>
                <a:cs typeface="微軟正黑體"/>
              </a:rPr>
              <a:t>固定題序，一次一題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202936" y="2468880"/>
            <a:ext cx="1271016" cy="402336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無優化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prompt 全程不動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223760" y="2468880"/>
            <a:ext cx="1426464" cy="475488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有優化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每題判一次根因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0D47A1"/>
                </a:solidFill>
                <a:latin typeface="微軟正黑體"/>
                <a:ea typeface="微軟正黑體"/>
                <a:cs typeface="微軟正黑體"/>
              </a:rPr>
              <a:t>在文本才改 prompt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358384" y="3127248"/>
            <a:ext cx="960120" cy="402336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指標 s₁(i)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含時間與用量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461504" y="3127248"/>
            <a:ext cx="960120" cy="402336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指標 s₂(i)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24242"/>
                </a:solidFill>
                <a:latin typeface="微軟正黑體"/>
                <a:ea typeface="微軟正黑體"/>
                <a:cs typeface="微軟正黑體"/>
              </a:rPr>
              <a:t>含時間與用量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016752" y="3822191"/>
            <a:ext cx="1746504" cy="420624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逐題相減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B5E20"/>
                </a:solidFill>
                <a:latin typeface="微軟正黑體"/>
                <a:ea typeface="微軟正黑體"/>
                <a:cs typeface="微軟正黑體"/>
              </a:rPr>
              <a:t>品質、疊代、成本三面向</a:t>
            </a:r>
          </a:p>
        </p:txBody>
      </p:sp>
      <p:cxnSp>
        <p:nvCxnSpPr>
          <p:cNvPr id="92" name="Connector 91"/>
          <p:cNvCxnSpPr/>
          <p:nvPr/>
        </p:nvCxnSpPr>
        <p:spPr>
          <a:xfrm flipH="1">
            <a:off x="6158357" y="2212848"/>
            <a:ext cx="407162" cy="256032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189830" y="2212848"/>
            <a:ext cx="387417" cy="256032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838444" y="2871216"/>
            <a:ext cx="0" cy="256032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936992" y="2944368"/>
            <a:ext cx="4572" cy="182880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138889" y="3529584"/>
            <a:ext cx="437012" cy="292607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7204106" y="3529584"/>
            <a:ext cx="437012" cy="292607"/>
          </a:xfrm>
          <a:prstGeom prst="line">
            <a:avLst/>
          </a:prstGeom>
          <a:ln w="22225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5202936" y="4315968"/>
            <a:ext cx="344728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綠色為要報出來的那個差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8016" y="4590288"/>
            <a:ext cx="84124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8909C"/>
                </a:solidFill>
                <a:latin typeface="微軟正黑體"/>
                <a:ea typeface="微軟正黑體"/>
                <a:cs typeface="微軟正黑體"/>
              </a:rPr>
              <a:t>[10] J. Gama, R. Sebastião, P. P. Rodrigues, On evaluating stream learning algorithms, Machine Learning, 90, 2013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實驗結果與展示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025443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結論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有</a:t>
            </a:r>
            <a:r>
              <a:rPr lang="en-US" altLang="zh-TW" dirty="0"/>
              <a:t>XXX</a:t>
            </a:r>
            <a:r>
              <a:rPr lang="zh-TW" altLang="en-US" dirty="0"/>
              <a:t>問題存在，透過</a:t>
            </a:r>
            <a:r>
              <a:rPr lang="en-US" altLang="zh-TW" dirty="0"/>
              <a:t>XXX</a:t>
            </a:r>
            <a:r>
              <a:rPr lang="zh-TW" altLang="en-US" dirty="0"/>
              <a:t>方法，</a:t>
            </a:r>
            <a:r>
              <a:rPr lang="en-US" altLang="zh-TW" dirty="0" err="1"/>
              <a:t>xApp</a:t>
            </a:r>
            <a:r>
              <a:rPr lang="zh-TW" altLang="en-US" dirty="0"/>
              <a:t>策略生成正確率達</a:t>
            </a:r>
            <a:r>
              <a:rPr lang="en-US" altLang="zh-TW" dirty="0"/>
              <a:t>XX%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9662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6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附錄：指標定義</a:t>
            </a:r>
          </a:p>
        </p:txBody>
      </p:sp>
      <p:sp>
        <p:nvSpPr>
          <p:cNvPr id="90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29</a:t>
            </a:fld>
            <a:endParaRPr lang="zh-TW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參考資料（1 / 2）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30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57200" y="1280160"/>
            <a:ext cx="8229600" cy="3218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[1] A. Clemm, L. Ciavaglia, L. Z. Granville, J. Tantsura, "Intent-Based Networking - Concepts and Definitions", IETF RFC 9315, 2022-10.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2"/>
              </a:rPr>
              <a:t>https://www.rfc-editor.org/rfc/rfc9315.html</a:t>
            </a:r>
          </a:p>
          <a:p>
            <a:pPr>
              <a:lnSpc>
                <a:spcPct val="105000"/>
              </a:lnSpc>
              <a:spcBef>
                <a:spcPts val="576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[2] B. Wu, S. Wang, Y. Liu, Y.-Q. Zhang, J. Sifakis, Y. Ouyang, "Leveraging AI Agents for Autonomous Networks: A Reference Architecture and Empirical Studies", accepted by IEEE Communications Magazine, 2025.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3"/>
              </a:rPr>
              <a:t>https://arxiv.org/abs/2509.08312</a:t>
            </a:r>
          </a:p>
          <a:p>
            <a:pPr>
              <a:lnSpc>
                <a:spcPct val="105000"/>
              </a:lnSpc>
              <a:spcBef>
                <a:spcPts val="576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[3] 3GPP, "Management and orchestration; Levels of autonomous network", 3GPP TS 28.100 V17.1.0, 2022-10（ETSI TS 128 100 V17.1.0）.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4"/>
              </a:rPr>
              <a:t>https://www.etsi.org/deliver/etsi_ts/128100_128199/128100/17.01.00_60/ts_128100v170100p.pdf</a:t>
            </a:r>
          </a:p>
          <a:p>
            <a:pPr>
              <a:lnSpc>
                <a:spcPct val="105000"/>
              </a:lnSpc>
              <a:spcBef>
                <a:spcPts val="576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[4] P. V. Klaine, M. A. Imran, O. Onireti, R. D. Souza, "A Survey of Machine Learning Techniques Applied to Self-Organizing Cellular Networks", IEEE Communications Surveys &amp; Tutorials, vol. 19, no. 4, pp. 2392-2431, 2017.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5"/>
              </a:rPr>
              <a:t>https://eprints.gla.ac.uk/144139/7/144139.pdf</a:t>
            </a:r>
          </a:p>
          <a:p>
            <a:pPr>
              <a:lnSpc>
                <a:spcPct val="105000"/>
              </a:lnSpc>
              <a:spcBef>
                <a:spcPts val="576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[5] O-RAN ALLIANCE next Generation Research Group, "O-RAN Green Communication Research Report", RR-2024-08, 2024.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6"/>
              </a:rPr>
              <a:t>https://mediastorage.o-ran.org/ngrg-rr/nGRG-RR-2024-08-O-RAN%20Green%20Communication%20Research%20Report.pdf</a:t>
            </a:r>
          </a:p>
          <a:p>
            <a:pPr>
              <a:lnSpc>
                <a:spcPct val="105000"/>
              </a:lnSpc>
              <a:spcBef>
                <a:spcPts val="576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[6] M. Hoffmann et al., "Open RAN xApps Design and Evaluation: Lessons Learnt and Identified Challenges", accepted for publication in IEEE Journal on Selected Areas in Communications.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7"/>
              </a:rPr>
              <a:t>https://arxiv.org/abs/2311.04380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參考資料（2 / 2）</a:t>
            </a:r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86798" y="4838456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31</a:t>
            </a:fld>
            <a:endParaRPr lang="zh-TW" altLang="en-US" dirty="0"/>
          </a:p>
        </p:txBody>
      </p:sp>
      <p:sp>
        <p:nvSpPr>
          <p:cNvPr id="82" name="Rectangle 81"/>
          <p:cNvSpPr/>
          <p:nvPr/>
        </p:nvSpPr>
        <p:spPr>
          <a:xfrm>
            <a:off x="457200" y="1161288"/>
            <a:ext cx="8229600" cy="25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57200" y="1280160"/>
            <a:ext cx="8229600" cy="3218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[7] S. K. Mani, Y. Zhou, K. Hsieh, S. Segarra, T. Eberl, E. Azulai, I. Frizler, R. Chandra, S. Kandula, "Enhancing Network Management Using Code Generated by Large Language Models", ACM HotNets, 2023.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2"/>
              </a:rPr>
              <a:t>https://conferences.sigcomm.org/hotnets/2023/papers/hotnets23_mani_zhou.pdf</a:t>
            </a:r>
          </a:p>
          <a:p>
            <a:pPr>
              <a:lnSpc>
                <a:spcPct val="105000"/>
              </a:lnSpc>
              <a:spcBef>
                <a:spcPts val="576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[8] P. Gajjar, V. K. Shah, "ORANSight-2.0: Foundational LLMs for O-RAN", IEEE Transactions on Machine Learning in Communications and Networking, vol. 3, pp. 903-920, 2025.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3"/>
              </a:rPr>
              <a:t>https://arxiv.org/abs/2503.05200</a:t>
            </a:r>
          </a:p>
          <a:p>
            <a:pPr>
              <a:lnSpc>
                <a:spcPct val="105000"/>
              </a:lnSpc>
              <a:spcBef>
                <a:spcPts val="576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[9] SNS Telecom &amp; IT, "RAN Automation, SON, RIC, xApps &amp; rApps in the 5G Era: 2024 - 2030", 2024-08-28.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4"/>
              </a:rPr>
              <a:t>https://www.snstelecom.com/ric-xrapps</a:t>
            </a:r>
          </a:p>
          <a:p>
            <a:pPr>
              <a:lnSpc>
                <a:spcPct val="105000"/>
              </a:lnSpc>
              <a:spcBef>
                <a:spcPts val="576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[10] J. Gama, R. Sebastião, P. P. Rodrigues, "On evaluating stream learning algorithms", Machine Learning, vol. 90, pp. 317-346, 2013.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5"/>
              </a:rPr>
              <a:t>https://link.springer.com/article/10.1007/s10994-012-5320-9</a:t>
            </a:r>
          </a:p>
          <a:p>
            <a:pPr>
              <a:lnSpc>
                <a:spcPct val="105000"/>
              </a:lnSpc>
              <a:spcBef>
                <a:spcPts val="576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[11] F. Pedregosa et al., "Scikit-learn: Machine Learning in Python", Journal of Machine Learning Research, vol. 12, pp. 2825-2830, 2011.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6"/>
              </a:rPr>
              <a:t>https://www.jmlr.org/papers/v12/pedregosa11a.html</a:t>
            </a:r>
          </a:p>
          <a:p>
            <a:pPr>
              <a:lnSpc>
                <a:spcPct val="105000"/>
              </a:lnSpc>
              <a:spcBef>
                <a:spcPts val="576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[12] A. Eghbali, M. Pradel, "CrystalBLEU: Precisely and Efficiently Measuring the Similarity of Code", IEEE/ACM International Conference on Automated Software Engineering (ASE), 2022.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7"/>
              </a:rPr>
              <a:t>https://software-lab.org/publications/ase2022_CrystalBLEU.pdf</a:t>
            </a:r>
          </a:p>
          <a:p>
            <a:pPr>
              <a:lnSpc>
                <a:spcPct val="105000"/>
              </a:lnSpc>
              <a:spcBef>
                <a:spcPts val="576"/>
              </a:spcBef>
              <a:spcAft>
                <a:spcPts val="0"/>
              </a:spcAft>
            </a:pPr>
            <a:r>
              <a:rPr sz="900" b="0" i="0">
                <a:solidFill>
                  <a:srgbClr val="212121"/>
                </a:solidFill>
                <a:latin typeface="微軟正黑體"/>
                <a:ea typeface="微軟正黑體"/>
                <a:cs typeface="微軟正黑體"/>
              </a:rPr>
              <a:t>[13] S. Bubeck, N. Cesa-Bianchi, "Regret Analysis of Stochastic and Nonstochastic Multi-armed Bandit Problems", Foundations and Trends in Machine Learning, vol. 5, no. 1, pp. 1-122, 2012.</a:t>
            </a:r>
          </a:p>
          <a:p>
            <a:pPr marL="228600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4285F4"/>
                </a:solidFill>
                <a:latin typeface="微軟正黑體"/>
                <a:ea typeface="微軟正黑體"/>
                <a:cs typeface="微軟正黑體"/>
                <a:hlinkClick r:id="rId8"/>
              </a:rPr>
              <a:t>https://arxiv.org/abs/1204.5721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網路問題與其影響</a:t>
            </a:r>
          </a:p>
        </p:txBody>
      </p:sp>
      <p:sp>
        <p:nvSpPr>
          <p:cNvPr id="103" name="Shape 1"/>
          <p:cNvSpPr/>
          <p:nvPr/>
        </p:nvSpPr>
        <p:spPr>
          <a:xfrm>
            <a:off x="457200" y="1161288"/>
            <a:ext cx="8229600" cy="274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4" name="Shape 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DD8"/>
            </a:solidFill>
            <a:prstDash val="solid"/>
          </a:ln>
        </p:spPr>
      </p:sp>
      <p:sp>
        <p:nvSpPr>
          <p:cNvPr id="105" name="Shape 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6" name="Text 4"/>
          <p:cNvSpPr/>
          <p:nvPr/>
        </p:nvSpPr>
        <p:spPr>
          <a:xfrm>
            <a:off x="548640" y="1207008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流量攀升下，連線品質與能源成本是使用者與電信商各自最大的網路問題，對應 IM、CCO 與 ES [19][20]。</a:t>
            </a:r>
            <a:endParaRPr lang="en-US" sz="1200" dirty="0"/>
          </a:p>
        </p:txBody>
      </p:sp>
      <p:sp>
        <p:nvSpPr>
          <p:cNvPr id="107" name="Shape 5"/>
          <p:cNvSpPr/>
          <p:nvPr/>
        </p:nvSpPr>
        <p:spPr>
          <a:xfrm>
            <a:off x="8686800" y="4800600"/>
            <a:ext cx="292608" cy="29260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8" name="Text 6"/>
          <p:cNvSpPr/>
          <p:nvPr/>
        </p:nvSpPr>
        <p:spPr>
          <a:xfrm>
            <a:off x="868680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09" name="Text 7"/>
          <p:cNvSpPr/>
          <p:nvPr/>
        </p:nvSpPr>
        <p:spPr>
          <a:xfrm>
            <a:off x="457200" y="1719072"/>
            <a:ext cx="4160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環境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流量持續攀升：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全球行動網路流量年增 23%，單月已逾 220 EB [18]。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生活面的兩個實例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通話與上網品質（IM、CCO）：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連線品質連續兩年居電信申訴之首，2025 年占 52% [19]。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電費與碳排（ES）：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能源占電信商網路營運成本 20% 至 40%，基地台為主要耗能來源 [20][5]。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問題類型的選定依據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標準化用例：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覆蓋容量、干擾與節能自 3GPP Rel-9 起即為 SON 用例，O-RAN 沿用至今 [21][5]。</a:t>
            </a:r>
            <a:endParaRPr lang="en-US" sz="1500" dirty="0"/>
          </a:p>
        </p:txBody>
      </p:sp>
      <p:sp>
        <p:nvSpPr>
          <p:cNvPr id="110" name="Text 8"/>
          <p:cNvSpPr/>
          <p:nvPr/>
        </p:nvSpPr>
        <p:spPr>
          <a:xfrm>
            <a:off x="4892040" y="17373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2025 年國內電信消費申訴類別占比</a:t>
            </a:r>
            <a:endParaRPr lang="en-US" sz="900" dirty="0"/>
          </a:p>
        </p:txBody>
      </p:sp>
      <p:sp>
        <p:nvSpPr>
          <p:cNvPr id="111" name="Text 9"/>
          <p:cNvSpPr/>
          <p:nvPr/>
        </p:nvSpPr>
        <p:spPr>
          <a:xfrm>
            <a:off x="4892040" y="20299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通訊連線品質</a:t>
            </a:r>
            <a:endParaRPr lang="en-US" sz="800" dirty="0"/>
          </a:p>
        </p:txBody>
      </p:sp>
      <p:sp>
        <p:nvSpPr>
          <p:cNvPr id="112" name="Shape 10"/>
          <p:cNvSpPr/>
          <p:nvPr/>
        </p:nvSpPr>
        <p:spPr>
          <a:xfrm>
            <a:off x="6080760" y="2048256"/>
            <a:ext cx="1783080" cy="164592"/>
          </a:xfrm>
          <a:prstGeom prst="rect">
            <a:avLst/>
          </a:prstGeom>
          <a:solidFill>
            <a:srgbClr val="1A23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3" name="Text 11"/>
          <p:cNvSpPr/>
          <p:nvPr/>
        </p:nvSpPr>
        <p:spPr>
          <a:xfrm>
            <a:off x="7918704" y="2029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52%　1,905 件</a:t>
            </a:r>
            <a:endParaRPr lang="en-US" sz="800" dirty="0"/>
          </a:p>
        </p:txBody>
      </p:sp>
      <p:sp>
        <p:nvSpPr>
          <p:cNvPr id="114" name="Text 12"/>
          <p:cNvSpPr/>
          <p:nvPr/>
        </p:nvSpPr>
        <p:spPr>
          <a:xfrm>
            <a:off x="4892040" y="23134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申裝／異動／續約</a:t>
            </a:r>
            <a:endParaRPr lang="en-US" sz="800" dirty="0"/>
          </a:p>
        </p:txBody>
      </p:sp>
      <p:sp>
        <p:nvSpPr>
          <p:cNvPr id="115" name="Shape 13"/>
          <p:cNvSpPr/>
          <p:nvPr/>
        </p:nvSpPr>
        <p:spPr>
          <a:xfrm>
            <a:off x="6080760" y="2331720"/>
            <a:ext cx="401193" cy="164592"/>
          </a:xfrm>
          <a:prstGeom prst="rect">
            <a:avLst/>
          </a:prstGeom>
          <a:solidFill>
            <a:srgbClr val="C4CD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Text 14"/>
          <p:cNvSpPr/>
          <p:nvPr/>
        </p:nvSpPr>
        <p:spPr>
          <a:xfrm>
            <a:off x="6536817" y="23134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11.7%　429 件</a:t>
            </a:r>
            <a:endParaRPr lang="en-US" sz="800" dirty="0"/>
          </a:p>
        </p:txBody>
      </p:sp>
      <p:sp>
        <p:nvSpPr>
          <p:cNvPr id="117" name="Text 15"/>
          <p:cNvSpPr/>
          <p:nvPr/>
        </p:nvSpPr>
        <p:spPr>
          <a:xfrm>
            <a:off x="4892040" y="259689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客戶服務</a:t>
            </a:r>
            <a:endParaRPr lang="en-US" sz="800" dirty="0"/>
          </a:p>
        </p:txBody>
      </p:sp>
      <p:sp>
        <p:nvSpPr>
          <p:cNvPr id="118" name="Shape 16"/>
          <p:cNvSpPr/>
          <p:nvPr/>
        </p:nvSpPr>
        <p:spPr>
          <a:xfrm>
            <a:off x="6080760" y="2615184"/>
            <a:ext cx="154305" cy="164592"/>
          </a:xfrm>
          <a:prstGeom prst="rect">
            <a:avLst/>
          </a:prstGeom>
          <a:solidFill>
            <a:srgbClr val="C4CD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9" name="Text 17"/>
          <p:cNvSpPr/>
          <p:nvPr/>
        </p:nvSpPr>
        <p:spPr>
          <a:xfrm>
            <a:off x="6289929" y="25968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4.5%　165 件</a:t>
            </a:r>
            <a:endParaRPr lang="en-US" sz="800" dirty="0"/>
          </a:p>
        </p:txBody>
      </p:sp>
      <p:sp>
        <p:nvSpPr>
          <p:cNvPr id="120" name="Text 18"/>
          <p:cNvSpPr/>
          <p:nvPr/>
        </p:nvSpPr>
        <p:spPr>
          <a:xfrm>
            <a:off x="4892040" y="288036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計費問題</a:t>
            </a:r>
            <a:endParaRPr lang="en-US" sz="800" dirty="0"/>
          </a:p>
        </p:txBody>
      </p:sp>
      <p:sp>
        <p:nvSpPr>
          <p:cNvPr id="121" name="Shape 19"/>
          <p:cNvSpPr/>
          <p:nvPr/>
        </p:nvSpPr>
        <p:spPr>
          <a:xfrm>
            <a:off x="6080760" y="2898648"/>
            <a:ext cx="144018" cy="164592"/>
          </a:xfrm>
          <a:prstGeom prst="rect">
            <a:avLst/>
          </a:prstGeom>
          <a:solidFill>
            <a:srgbClr val="C4CD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2" name="Text 20"/>
          <p:cNvSpPr/>
          <p:nvPr/>
        </p:nvSpPr>
        <p:spPr>
          <a:xfrm>
            <a:off x="6279642" y="28803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4.2%　156 件</a:t>
            </a:r>
            <a:endParaRPr lang="en-US" sz="800" dirty="0"/>
          </a:p>
        </p:txBody>
      </p:sp>
      <p:sp>
        <p:nvSpPr>
          <p:cNvPr id="123" name="Text 21"/>
          <p:cNvSpPr/>
          <p:nvPr/>
        </p:nvSpPr>
        <p:spPr>
          <a:xfrm>
            <a:off x="4892040" y="31638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資費</a:t>
            </a:r>
            <a:endParaRPr lang="en-US" sz="800" dirty="0"/>
          </a:p>
        </p:txBody>
      </p:sp>
      <p:sp>
        <p:nvSpPr>
          <p:cNvPr id="124" name="Shape 22"/>
          <p:cNvSpPr/>
          <p:nvPr/>
        </p:nvSpPr>
        <p:spPr>
          <a:xfrm>
            <a:off x="6080760" y="3182112"/>
            <a:ext cx="113157" cy="164592"/>
          </a:xfrm>
          <a:prstGeom prst="rect">
            <a:avLst/>
          </a:prstGeom>
          <a:solidFill>
            <a:srgbClr val="C4CD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5" name="Text 23"/>
          <p:cNvSpPr/>
          <p:nvPr/>
        </p:nvSpPr>
        <p:spPr>
          <a:xfrm>
            <a:off x="6248781" y="31638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3.3%　122 件</a:t>
            </a:r>
            <a:endParaRPr lang="en-US" sz="800" dirty="0"/>
          </a:p>
        </p:txBody>
      </p:sp>
      <p:sp>
        <p:nvSpPr>
          <p:cNvPr id="126" name="Text 24"/>
          <p:cNvSpPr/>
          <p:nvPr/>
        </p:nvSpPr>
        <p:spPr>
          <a:xfrm>
            <a:off x="4892040" y="346557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 [19]；藍色為對應 IM、CCO 的類別</a:t>
            </a:r>
            <a:endParaRPr lang="en-US" sz="750" dirty="0"/>
          </a:p>
        </p:txBody>
      </p:sp>
      <p:sp>
        <p:nvSpPr>
          <p:cNvPr id="127" name="Shape 25"/>
          <p:cNvSpPr/>
          <p:nvPr/>
        </p:nvSpPr>
        <p:spPr>
          <a:xfrm>
            <a:off x="4892040" y="374904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</p:spPr>
      </p:sp>
      <p:sp>
        <p:nvSpPr>
          <p:cNvPr id="128" name="Text 26"/>
          <p:cNvSpPr/>
          <p:nvPr/>
        </p:nvSpPr>
        <p:spPr>
          <a:xfrm>
            <a:off x="4892040" y="3749040"/>
            <a:ext cx="1828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23%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行動網路流量年增率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Q2 對 2025 Q2 [18]</a:t>
            </a:r>
            <a:endParaRPr lang="en-US" sz="1400" dirty="0"/>
          </a:p>
        </p:txBody>
      </p:sp>
      <p:sp>
        <p:nvSpPr>
          <p:cNvPr id="129" name="Shape 27"/>
          <p:cNvSpPr/>
          <p:nvPr/>
        </p:nvSpPr>
        <p:spPr>
          <a:xfrm>
            <a:off x="6812280" y="374904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FF3E0"/>
          </a:solidFill>
          <a:ln w="9525">
            <a:solidFill>
              <a:srgbClr val="FFB74D"/>
            </a:solidFill>
            <a:prstDash val="solid"/>
          </a:ln>
        </p:spPr>
      </p:sp>
      <p:sp>
        <p:nvSpPr>
          <p:cNvPr id="130" name="Text 28"/>
          <p:cNvSpPr/>
          <p:nvPr/>
        </p:nvSpPr>
        <p:spPr>
          <a:xfrm>
            <a:off x="6812280" y="3749040"/>
            <a:ext cx="18288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20% 至 40%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能源占網路營運成本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OPEX 的比例 [20]</a:t>
            </a:r>
            <a:endParaRPr lang="en-US" sz="1400" dirty="0"/>
          </a:p>
        </p:txBody>
      </p:sp>
      <p:sp>
        <p:nvSpPr>
          <p:cNvPr id="131" name="Text 29"/>
          <p:cNvSpPr/>
          <p:nvPr/>
        </p:nvSpPr>
        <p:spPr>
          <a:xfrm>
            <a:off x="4892040" y="435254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橘色為與 ES 對應的成本項</a:t>
            </a:r>
            <a:endParaRPr lang="en-US" sz="750" dirty="0"/>
          </a:p>
        </p:txBody>
      </p:sp>
      <p:sp>
        <p:nvSpPr>
          <p:cNvPr id="132" name="Text 30"/>
          <p:cNvSpPr/>
          <p:nvPr/>
        </p:nvSpPr>
        <p:spPr>
          <a:xfrm>
            <a:off x="128016" y="45720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CCO：Coverage and Capacity Optimization　ES：Energy Saving　IM：Interference Management　EB：Exabyte　OPEX：Operating Expense　SON：Self-Organizing Network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[18] Ericsson, Ericsson Mobility Report, 2026-06　[19] 電信消費爭議處理中心, 2025 年電信消費申訴統計, 2026　[20] GSMA Intelligence, Going green: measuring the energy efficiency of mobile networks (4th ed.), 2025-03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[21] 3GPP TR 36.902 V9.3.1, Self-configuring and self-optimizing network (SON) use cases and solutions, 2011-03　[5] O-RAN ALLIANCE nGRG, O-RAN Green Communication Research Report, RR-2024-08, 2024</a:t>
            </a:r>
            <a:endParaRPr lang="en-US" sz="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早期的解決方式</a:t>
            </a:r>
          </a:p>
        </p:txBody>
      </p:sp>
      <p:sp>
        <p:nvSpPr>
          <p:cNvPr id="103" name="Shape 1"/>
          <p:cNvSpPr/>
          <p:nvPr/>
        </p:nvSpPr>
        <p:spPr>
          <a:xfrm>
            <a:off x="457200" y="1161288"/>
            <a:ext cx="8229600" cy="274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4" name="Shape 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DD8"/>
            </a:solidFill>
            <a:prstDash val="solid"/>
          </a:ln>
        </p:spPr>
      </p:sp>
      <p:sp>
        <p:nvSpPr>
          <p:cNvPr id="105" name="Shape 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6" name="Text 4"/>
          <p:cNvSpPr/>
          <p:nvPr/>
        </p:nvSpPr>
        <p:spPr>
          <a:xfrm>
            <a:off x="548640" y="1207008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2011 至 2023 年的文獻一致指出：演算法由專家設計、參數由人工調整、成效以實地量測驗證 [14][4][15][6]。</a:t>
            </a:r>
            <a:endParaRPr lang="en-US" sz="1200" dirty="0"/>
          </a:p>
        </p:txBody>
      </p:sp>
      <p:sp>
        <p:nvSpPr>
          <p:cNvPr id="107" name="Shape 5"/>
          <p:cNvSpPr/>
          <p:nvPr/>
        </p:nvSpPr>
        <p:spPr>
          <a:xfrm>
            <a:off x="8686800" y="4800600"/>
            <a:ext cx="292608" cy="29260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8" name="Text 6"/>
          <p:cNvSpPr/>
          <p:nvPr/>
        </p:nvSpPr>
        <p:spPr>
          <a:xfrm>
            <a:off x="868680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09" name="Text 7"/>
          <p:cNvSpPr/>
          <p:nvPr/>
        </p:nvSpPr>
        <p:spPr>
          <a:xfrm>
            <a:off x="457200" y="1719072"/>
            <a:ext cx="4160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人工主導的三個環節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演算法設計：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由專家工程師分析量測資料，並手動調整系統參數以優化網路 [4]。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部署與整合：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每導入一支新應用即需人工整合一次，測試與安裝缺乏自動化流程 [6]。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成效驗證：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換手參數優化仰賴定點 drive test 與人工紀錄後處理 [14]，此作法自 2G 時期沿用至今 [15]。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作法特徵：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三個環節均以專業人力為核心，每一輪調整皆重新執行一次 [14]。</a:t>
            </a:r>
            <a:endParaRPr lang="en-US" sz="1500" dirty="0"/>
          </a:p>
        </p:txBody>
      </p:sp>
      <p:sp>
        <p:nvSpPr>
          <p:cNvPr id="110" name="Shape 8"/>
          <p:cNvSpPr/>
          <p:nvPr/>
        </p:nvSpPr>
        <p:spPr>
          <a:xfrm>
            <a:off x="4892040" y="2176272"/>
            <a:ext cx="3749040" cy="0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111" name="Shape 9"/>
          <p:cNvSpPr/>
          <p:nvPr/>
        </p:nvSpPr>
        <p:spPr>
          <a:xfrm>
            <a:off x="5239512" y="2112264"/>
            <a:ext cx="128016" cy="128016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12" name="Text 10"/>
          <p:cNvSpPr/>
          <p:nvPr/>
        </p:nvSpPr>
        <p:spPr>
          <a:xfrm>
            <a:off x="4846320" y="1792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2011</a:t>
            </a:r>
            <a:endParaRPr lang="en-US" sz="1100" dirty="0"/>
          </a:p>
        </p:txBody>
      </p:sp>
      <p:sp>
        <p:nvSpPr>
          <p:cNvPr id="113" name="Shape 11"/>
          <p:cNvSpPr/>
          <p:nvPr/>
        </p:nvSpPr>
        <p:spPr>
          <a:xfrm>
            <a:off x="5303520" y="2240280"/>
            <a:ext cx="0" cy="228600"/>
          </a:xfrm>
          <a:prstGeom prst="line">
            <a:avLst/>
          </a:prstGeom>
          <a:noFill/>
          <a:ln w="12700">
            <a:solidFill>
              <a:srgbClr val="78909C"/>
            </a:solidFill>
            <a:prstDash val="solid"/>
          </a:ln>
        </p:spPr>
      </p:sp>
      <p:sp>
        <p:nvSpPr>
          <p:cNvPr id="114" name="Shape 12"/>
          <p:cNvSpPr/>
          <p:nvPr/>
        </p:nvSpPr>
        <p:spPr>
          <a:xfrm>
            <a:off x="4818888" y="2468880"/>
            <a:ext cx="969264" cy="603504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15" name="Text 13"/>
          <p:cNvSpPr/>
          <p:nvPr/>
        </p:nvSpPr>
        <p:spPr>
          <a:xfrm>
            <a:off x="4818888" y="2468880"/>
            <a:ext cx="96926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專業人力調參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drive test 驗證</a:t>
            </a:r>
            <a:endParaRPr lang="en-US" sz="850" dirty="0"/>
          </a:p>
        </p:txBody>
      </p:sp>
      <p:sp>
        <p:nvSpPr>
          <p:cNvPr id="116" name="Text 14"/>
          <p:cNvSpPr/>
          <p:nvPr/>
        </p:nvSpPr>
        <p:spPr>
          <a:xfrm>
            <a:off x="4754880" y="3090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4G Americas [14]</a:t>
            </a:r>
            <a:endParaRPr lang="en-US" sz="700" dirty="0"/>
          </a:p>
        </p:txBody>
      </p:sp>
      <p:sp>
        <p:nvSpPr>
          <p:cNvPr id="117" name="Shape 15"/>
          <p:cNvSpPr/>
          <p:nvPr/>
        </p:nvSpPr>
        <p:spPr>
          <a:xfrm>
            <a:off x="6263640" y="2112264"/>
            <a:ext cx="128016" cy="128016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18" name="Text 16"/>
          <p:cNvSpPr/>
          <p:nvPr/>
        </p:nvSpPr>
        <p:spPr>
          <a:xfrm>
            <a:off x="5870448" y="1792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100" dirty="0"/>
          </a:p>
        </p:txBody>
      </p:sp>
      <p:sp>
        <p:nvSpPr>
          <p:cNvPr id="119" name="Shape 17"/>
          <p:cNvSpPr/>
          <p:nvPr/>
        </p:nvSpPr>
        <p:spPr>
          <a:xfrm>
            <a:off x="6327648" y="2240280"/>
            <a:ext cx="0" cy="228600"/>
          </a:xfrm>
          <a:prstGeom prst="line">
            <a:avLst/>
          </a:prstGeom>
          <a:noFill/>
          <a:ln w="12700">
            <a:solidFill>
              <a:srgbClr val="78909C"/>
            </a:solidFill>
            <a:prstDash val="solid"/>
          </a:ln>
        </p:spPr>
      </p:sp>
      <p:sp>
        <p:nvSpPr>
          <p:cNvPr id="120" name="Shape 18"/>
          <p:cNvSpPr/>
          <p:nvPr/>
        </p:nvSpPr>
        <p:spPr>
          <a:xfrm>
            <a:off x="5843016" y="2468880"/>
            <a:ext cx="969264" cy="603504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21" name="Text 19"/>
          <p:cNvSpPr/>
          <p:nvPr/>
        </p:nvSpPr>
        <p:spPr>
          <a:xfrm>
            <a:off x="5843016" y="2468880"/>
            <a:ext cx="96926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專家工程師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手動調整參數</a:t>
            </a:r>
            <a:endParaRPr lang="en-US" sz="850" dirty="0"/>
          </a:p>
        </p:txBody>
      </p:sp>
      <p:sp>
        <p:nvSpPr>
          <p:cNvPr id="122" name="Text 20"/>
          <p:cNvSpPr/>
          <p:nvPr/>
        </p:nvSpPr>
        <p:spPr>
          <a:xfrm>
            <a:off x="5779008" y="3090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Klaine [4]</a:t>
            </a:r>
            <a:endParaRPr lang="en-US" sz="700" dirty="0"/>
          </a:p>
        </p:txBody>
      </p:sp>
      <p:sp>
        <p:nvSpPr>
          <p:cNvPr id="123" name="Shape 21"/>
          <p:cNvSpPr/>
          <p:nvPr/>
        </p:nvSpPr>
        <p:spPr>
          <a:xfrm>
            <a:off x="7287768" y="2112264"/>
            <a:ext cx="128016" cy="128016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24" name="Text 22"/>
          <p:cNvSpPr/>
          <p:nvPr/>
        </p:nvSpPr>
        <p:spPr>
          <a:xfrm>
            <a:off x="6894576" y="1792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100" dirty="0"/>
          </a:p>
        </p:txBody>
      </p:sp>
      <p:sp>
        <p:nvSpPr>
          <p:cNvPr id="125" name="Shape 23"/>
          <p:cNvSpPr/>
          <p:nvPr/>
        </p:nvSpPr>
        <p:spPr>
          <a:xfrm>
            <a:off x="7351776" y="2240280"/>
            <a:ext cx="0" cy="228600"/>
          </a:xfrm>
          <a:prstGeom prst="line">
            <a:avLst/>
          </a:prstGeom>
          <a:noFill/>
          <a:ln w="12700">
            <a:solidFill>
              <a:srgbClr val="78909C"/>
            </a:solidFill>
            <a:prstDash val="solid"/>
          </a:ln>
        </p:spPr>
      </p:sp>
      <p:sp>
        <p:nvSpPr>
          <p:cNvPr id="126" name="Shape 24"/>
          <p:cNvSpPr/>
          <p:nvPr/>
        </p:nvSpPr>
        <p:spPr>
          <a:xfrm>
            <a:off x="6867144" y="2468880"/>
            <a:ext cx="969264" cy="603504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27" name="Text 25"/>
          <p:cNvSpPr/>
          <p:nvPr/>
        </p:nvSpPr>
        <p:spPr>
          <a:xfrm>
            <a:off x="6867144" y="2468880"/>
            <a:ext cx="96926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drive test 驗證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 2G 沿用</a:t>
            </a:r>
            <a:endParaRPr lang="en-US" sz="850" dirty="0"/>
          </a:p>
        </p:txBody>
      </p:sp>
      <p:sp>
        <p:nvSpPr>
          <p:cNvPr id="128" name="Text 26"/>
          <p:cNvSpPr/>
          <p:nvPr/>
        </p:nvSpPr>
        <p:spPr>
          <a:xfrm>
            <a:off x="6803136" y="3090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Bayazeed [15]</a:t>
            </a:r>
            <a:endParaRPr lang="en-US" sz="700" dirty="0"/>
          </a:p>
        </p:txBody>
      </p:sp>
      <p:sp>
        <p:nvSpPr>
          <p:cNvPr id="129" name="Shape 27"/>
          <p:cNvSpPr/>
          <p:nvPr/>
        </p:nvSpPr>
        <p:spPr>
          <a:xfrm>
            <a:off x="8311896" y="2112264"/>
            <a:ext cx="128016" cy="128016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30" name="Text 28"/>
          <p:cNvSpPr/>
          <p:nvPr/>
        </p:nvSpPr>
        <p:spPr>
          <a:xfrm>
            <a:off x="7918704" y="1792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100" dirty="0"/>
          </a:p>
        </p:txBody>
      </p:sp>
      <p:sp>
        <p:nvSpPr>
          <p:cNvPr id="131" name="Shape 29"/>
          <p:cNvSpPr/>
          <p:nvPr/>
        </p:nvSpPr>
        <p:spPr>
          <a:xfrm>
            <a:off x="8375904" y="2240280"/>
            <a:ext cx="0" cy="228600"/>
          </a:xfrm>
          <a:prstGeom prst="line">
            <a:avLst/>
          </a:prstGeom>
          <a:noFill/>
          <a:ln w="12700">
            <a:solidFill>
              <a:srgbClr val="78909C"/>
            </a:solidFill>
            <a:prstDash val="solid"/>
          </a:ln>
        </p:spPr>
      </p:sp>
      <p:sp>
        <p:nvSpPr>
          <p:cNvPr id="132" name="Shape 30"/>
          <p:cNvSpPr/>
          <p:nvPr/>
        </p:nvSpPr>
        <p:spPr>
          <a:xfrm>
            <a:off x="7891272" y="2468880"/>
            <a:ext cx="969264" cy="603504"/>
          </a:xfrm>
          <a:prstGeom prst="roundRect">
            <a:avLst>
              <a:gd name="adj" fmla="val 9091"/>
            </a:avLst>
          </a:prstGeom>
          <a:solidFill>
            <a:srgbClr val="FFF3E0"/>
          </a:solidFill>
          <a:ln w="9525">
            <a:solidFill>
              <a:srgbClr val="FFB74D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33" name="Text 31"/>
          <p:cNvSpPr/>
          <p:nvPr/>
        </p:nvSpPr>
        <p:spPr>
          <a:xfrm>
            <a:off x="7891272" y="2468880"/>
            <a:ext cx="96926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xApp 測試與安裝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仍為人工</a:t>
            </a:r>
            <a:endParaRPr lang="en-US" sz="850" dirty="0"/>
          </a:p>
        </p:txBody>
      </p:sp>
      <p:sp>
        <p:nvSpPr>
          <p:cNvPr id="134" name="Text 32"/>
          <p:cNvSpPr/>
          <p:nvPr/>
        </p:nvSpPr>
        <p:spPr>
          <a:xfrm>
            <a:off x="7827264" y="3090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Hoffmann [6]</a:t>
            </a:r>
            <a:endParaRPr lang="en-US" sz="700" dirty="0"/>
          </a:p>
        </p:txBody>
      </p:sp>
      <p:sp>
        <p:nvSpPr>
          <p:cNvPr id="135" name="Text 33"/>
          <p:cNvSpPr/>
          <p:nvPr/>
        </p:nvSpPr>
        <p:spPr>
          <a:xfrm>
            <a:off x="4892040" y="3410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各文獻共同描述的人工環節</a:t>
            </a:r>
            <a:endParaRPr lang="en-US" sz="850" dirty="0"/>
          </a:p>
        </p:txBody>
      </p:sp>
      <p:sp>
        <p:nvSpPr>
          <p:cNvPr id="136" name="Shape 34"/>
          <p:cNvSpPr/>
          <p:nvPr/>
        </p:nvSpPr>
        <p:spPr>
          <a:xfrm>
            <a:off x="4892040" y="36576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37" name="Text 35"/>
          <p:cNvSpPr/>
          <p:nvPr/>
        </p:nvSpPr>
        <p:spPr>
          <a:xfrm>
            <a:off x="4892040" y="3657600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演算法設計</a:t>
            </a:r>
            <a:endParaRPr lang="en-US" sz="10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專家分析與調參 [4][14]</a:t>
            </a:r>
            <a:endParaRPr lang="en-US" sz="1000" dirty="0"/>
          </a:p>
        </p:txBody>
      </p:sp>
      <p:sp>
        <p:nvSpPr>
          <p:cNvPr id="138" name="Shape 36"/>
          <p:cNvSpPr/>
          <p:nvPr/>
        </p:nvSpPr>
        <p:spPr>
          <a:xfrm>
            <a:off x="6080760" y="3909060"/>
            <a:ext cx="91440" cy="0"/>
          </a:xfrm>
          <a:prstGeom prst="line">
            <a:avLst/>
          </a:prstGeom>
          <a:noFill/>
          <a:ln w="1270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139" name="Shape 37"/>
          <p:cNvSpPr/>
          <p:nvPr/>
        </p:nvSpPr>
        <p:spPr>
          <a:xfrm>
            <a:off x="6172200" y="36576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40" name="Text 38"/>
          <p:cNvSpPr/>
          <p:nvPr/>
        </p:nvSpPr>
        <p:spPr>
          <a:xfrm>
            <a:off x="6172200" y="3657600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部署與整合</a:t>
            </a:r>
            <a:endParaRPr lang="en-US" sz="10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人工整合與安裝 [6]</a:t>
            </a:r>
            <a:endParaRPr lang="en-US" sz="1000" dirty="0"/>
          </a:p>
        </p:txBody>
      </p:sp>
      <p:sp>
        <p:nvSpPr>
          <p:cNvPr id="141" name="Shape 39"/>
          <p:cNvSpPr/>
          <p:nvPr/>
        </p:nvSpPr>
        <p:spPr>
          <a:xfrm>
            <a:off x="7360920" y="3909060"/>
            <a:ext cx="91440" cy="0"/>
          </a:xfrm>
          <a:prstGeom prst="line">
            <a:avLst/>
          </a:prstGeom>
          <a:noFill/>
          <a:ln w="1270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142" name="Shape 40"/>
          <p:cNvSpPr/>
          <p:nvPr/>
        </p:nvSpPr>
        <p:spPr>
          <a:xfrm>
            <a:off x="7452360" y="36576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43" name="Text 41"/>
          <p:cNvSpPr/>
          <p:nvPr/>
        </p:nvSpPr>
        <p:spPr>
          <a:xfrm>
            <a:off x="7452360" y="3657600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成效驗證</a:t>
            </a:r>
            <a:endParaRPr lang="en-US" sz="10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drive test 與紀錄後處理 [14][15]</a:t>
            </a:r>
            <a:endParaRPr lang="en-US" sz="1000" dirty="0"/>
          </a:p>
        </p:txBody>
      </p:sp>
      <p:sp>
        <p:nvSpPr>
          <p:cNvPr id="144" name="Text 42"/>
          <p:cNvSpPr/>
          <p:nvPr/>
        </p:nvSpPr>
        <p:spPr>
          <a:xfrm>
            <a:off x="4892040" y="42428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橘色為最接近現況的文獻；作法未隨網路世代改變</a:t>
            </a:r>
            <a:endParaRPr lang="en-US" sz="750" dirty="0"/>
          </a:p>
        </p:txBody>
      </p:sp>
      <p:sp>
        <p:nvSpPr>
          <p:cNvPr id="145" name="Text 43"/>
          <p:cNvSpPr/>
          <p:nvPr/>
        </p:nvSpPr>
        <p:spPr>
          <a:xfrm>
            <a:off x="128016" y="45720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drive test：以量測車沿道路實測訊號品質　xApp：Near-RT RIC Application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[14] 4G Americas, Self-Optimizing Networks: The Benefits of SON in LTE, 2011-07　[4] P. V. Klaine et al., A Survey of Machine Learning Techniques Applied to Self-Organizing Cellular Networks, IEEE COMST, 19(4), 2017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[15] A. Bayazeed, K. Khorzom, M. Aljnidi, A survey of self-coordination in self-organizing network, Computer Networks, 196, 2021　[6] M. Hoffmann et al., Open RAN xApps Design and Evaluation, IEEE JSAC（已接受）</a:t>
            </a:r>
            <a:endParaRPr lang="en-US" sz="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早期解決方式的限制</a:t>
            </a:r>
          </a:p>
        </p:txBody>
      </p:sp>
      <p:sp>
        <p:nvSpPr>
          <p:cNvPr id="103" name="Shape 1"/>
          <p:cNvSpPr/>
          <p:nvPr/>
        </p:nvSpPr>
        <p:spPr>
          <a:xfrm>
            <a:off x="457200" y="1161288"/>
            <a:ext cx="8229600" cy="274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4" name="Shape 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DD8"/>
            </a:solidFill>
            <a:prstDash val="solid"/>
          </a:ln>
        </p:spPr>
      </p:sp>
      <p:sp>
        <p:nvSpPr>
          <p:cNvPr id="105" name="Shape 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6" name="Text 4"/>
          <p:cNvSpPr/>
          <p:nvPr/>
        </p:nvSpPr>
        <p:spPr>
          <a:xfrm>
            <a:off x="548640" y="1207008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人工作法的成本落在人力、驗證與時間三處，電信商推動自動化的主要動機亦集中於人員效率與維運成本 [14][17]。</a:t>
            </a:r>
            <a:endParaRPr lang="en-US" sz="1200" dirty="0"/>
          </a:p>
        </p:txBody>
      </p:sp>
      <p:sp>
        <p:nvSpPr>
          <p:cNvPr id="107" name="Shape 5"/>
          <p:cNvSpPr/>
          <p:nvPr/>
        </p:nvSpPr>
        <p:spPr>
          <a:xfrm>
            <a:off x="8686800" y="4800600"/>
            <a:ext cx="292608" cy="29260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8" name="Text 6"/>
          <p:cNvSpPr/>
          <p:nvPr/>
        </p:nvSpPr>
        <p:spPr>
          <a:xfrm>
            <a:off x="868680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09" name="Text 7"/>
          <p:cNvSpPr/>
          <p:nvPr/>
        </p:nvSpPr>
        <p:spPr>
          <a:xfrm>
            <a:off x="457200" y="1719072"/>
            <a:ext cx="4160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三項成本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人力成本：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須維持專業人力調整參數，人工流程耗時且易出錯 [14]。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驗證成本：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drive test 於人力、時間與設備上均屬高成本，且僅涵蓋量測路徑 [14][16]。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時間成本：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換手參數優化的基準量測需數天至數週 [14]；細胞停擺的人工偵測亦以天或週計 [4]。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產業的轉型動機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自動化的動機：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受訪電信商中，認為「簡化維運並提升人員效率」與「降低維運成本」非常重要者分別達 84% 與 85% [17]。</a:t>
            </a:r>
            <a:endParaRPr lang="en-US" sz="1500" dirty="0"/>
          </a:p>
        </p:txBody>
      </p:sp>
      <p:pic>
        <p:nvPicPr>
          <p:cNvPr id="110" name="Image 0" descr="tmf_driv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737360"/>
            <a:ext cx="3749040" cy="1527048"/>
          </a:xfrm>
          <a:prstGeom prst="rect">
            <a:avLst/>
          </a:prstGeom>
        </p:spPr>
      </p:pic>
      <p:sp>
        <p:nvSpPr>
          <p:cNvPr id="111" name="Text 8"/>
          <p:cNvSpPr/>
          <p:nvPr/>
        </p:nvSpPr>
        <p:spPr>
          <a:xfrm>
            <a:off x="4892040" y="32918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圖取自 [17]　電信商推動自主網路的動機；深色為「非常重要」的受訪者比例</a:t>
            </a:r>
            <a:endParaRPr lang="en-US" sz="750" dirty="0"/>
          </a:p>
        </p:txBody>
      </p:sp>
      <p:sp>
        <p:nvSpPr>
          <p:cNvPr id="112" name="Shape 9"/>
          <p:cNvSpPr/>
          <p:nvPr/>
        </p:nvSpPr>
        <p:spPr>
          <a:xfrm>
            <a:off x="4892040" y="3639312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FFF3E0"/>
          </a:solidFill>
          <a:ln w="9525">
            <a:solidFill>
              <a:srgbClr val="FFB74D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13" name="Text 10"/>
          <p:cNvSpPr/>
          <p:nvPr/>
        </p:nvSpPr>
        <p:spPr>
          <a:xfrm>
            <a:off x="4892040" y="3639312"/>
            <a:ext cx="1188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人力成本</a:t>
            </a:r>
            <a:endParaRPr lang="en-US" sz="100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專業人力常駐 [14]</a:t>
            </a:r>
            <a:endParaRPr lang="en-US" sz="1000" dirty="0"/>
          </a:p>
        </p:txBody>
      </p:sp>
      <p:sp>
        <p:nvSpPr>
          <p:cNvPr id="114" name="Shape 11"/>
          <p:cNvSpPr/>
          <p:nvPr/>
        </p:nvSpPr>
        <p:spPr>
          <a:xfrm>
            <a:off x="6172200" y="3639312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FFF3E0"/>
          </a:solidFill>
          <a:ln w="9525">
            <a:solidFill>
              <a:srgbClr val="FFB74D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15" name="Text 12"/>
          <p:cNvSpPr/>
          <p:nvPr/>
        </p:nvSpPr>
        <p:spPr>
          <a:xfrm>
            <a:off x="6172200" y="3639312"/>
            <a:ext cx="1188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驗證成本</a:t>
            </a:r>
            <a:endParaRPr lang="en-US" sz="100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drive test [14][16]</a:t>
            </a:r>
            <a:endParaRPr lang="en-US" sz="1000" dirty="0"/>
          </a:p>
        </p:txBody>
      </p:sp>
      <p:sp>
        <p:nvSpPr>
          <p:cNvPr id="116" name="Shape 13"/>
          <p:cNvSpPr/>
          <p:nvPr/>
        </p:nvSpPr>
        <p:spPr>
          <a:xfrm>
            <a:off x="7452360" y="3639312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FFF3E0"/>
          </a:solidFill>
          <a:ln w="9525">
            <a:solidFill>
              <a:srgbClr val="FFB74D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17" name="Text 14"/>
          <p:cNvSpPr/>
          <p:nvPr/>
        </p:nvSpPr>
        <p:spPr>
          <a:xfrm>
            <a:off x="7452360" y="3639312"/>
            <a:ext cx="1188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時間成本</a:t>
            </a:r>
            <a:endParaRPr lang="en-US" sz="100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數天至數週 [14][4]</a:t>
            </a:r>
            <a:endParaRPr lang="en-US" sz="1000" dirty="0"/>
          </a:p>
        </p:txBody>
      </p:sp>
      <p:sp>
        <p:nvSpPr>
          <p:cNvPr id="118" name="Text 15"/>
          <p:cNvSpPr/>
          <p:nvPr/>
        </p:nvSpPr>
        <p:spPr>
          <a:xfrm>
            <a:off x="4892040" y="41696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橘色為文獻指出的三項人工成本</a:t>
            </a:r>
            <a:endParaRPr lang="en-US" sz="750" dirty="0"/>
          </a:p>
        </p:txBody>
      </p:sp>
      <p:sp>
        <p:nvSpPr>
          <p:cNvPr id="119" name="Text 16"/>
          <p:cNvSpPr/>
          <p:nvPr/>
        </p:nvSpPr>
        <p:spPr>
          <a:xfrm>
            <a:off x="128016" y="45720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基準量測：調整參數前先量測一段時間作為比較基準　維運：Operations and Maintenance（O&amp;M）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[14] 4G Americas, Self-Optimizing Networks: The Benefits of SON in LTE, 2011-07　[16] NGMN Alliance, NGMN Top OPE Recommendations, v1.0, 2010-09　[4] P. V. Klaine et al., IEEE COMST, 19(4), 2017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[17] R. Webb, A regional guide to autonomous networks progress, TM Forum, 2025-06</a:t>
            </a:r>
            <a:endParaRPr lang="en-US" sz="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網路自主化的國際趨勢</a:t>
            </a:r>
          </a:p>
        </p:txBody>
      </p:sp>
      <p:sp>
        <p:nvSpPr>
          <p:cNvPr id="103" name="Shape 1"/>
          <p:cNvSpPr/>
          <p:nvPr/>
        </p:nvSpPr>
        <p:spPr>
          <a:xfrm>
            <a:off x="457200" y="1161288"/>
            <a:ext cx="8229600" cy="274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4" name="Shape 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DD8"/>
            </a:solidFill>
            <a:prstDash val="solid"/>
          </a:ln>
        </p:spPr>
      </p:sp>
      <p:sp>
        <p:nvSpPr>
          <p:cNvPr id="105" name="Shape 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6" name="Text 4"/>
          <p:cNvSpPr/>
          <p:nvPr/>
        </p:nvSpPr>
        <p:spPr>
          <a:xfrm>
            <a:off x="548640" y="1207008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為降低人工作法的成本，國際標準將方向定為由人給定意圖、由網路自行達成，並以 L0 至 L5 六級衡量進程 [1][3]。</a:t>
            </a:r>
            <a:endParaRPr lang="en-US" sz="1200" dirty="0"/>
          </a:p>
        </p:txBody>
      </p:sp>
      <p:sp>
        <p:nvSpPr>
          <p:cNvPr id="107" name="Shape 5"/>
          <p:cNvSpPr/>
          <p:nvPr/>
        </p:nvSpPr>
        <p:spPr>
          <a:xfrm>
            <a:off x="8686800" y="4800600"/>
            <a:ext cx="292608" cy="29260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8" name="Text 6"/>
          <p:cNvSpPr/>
          <p:nvPr/>
        </p:nvSpPr>
        <p:spPr>
          <a:xfrm>
            <a:off x="868680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109" name="Text 7"/>
          <p:cNvSpPr/>
          <p:nvPr/>
        </p:nvSpPr>
        <p:spPr>
          <a:xfrm>
            <a:off x="457200" y="1719072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國際定義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意圖式網路 IBN：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意圖為宣告式、以結果為導向且不涉及實作的營運目標，由網路自行轉譯、執行並持續驗證與修正 [1]。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自主網路分級：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依執行、感知、分析、決策、意圖處理五類工作由人或系統承擔，將自主程度劃分為 L0 至 L5 [3]。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產業現況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多數處於 L2 至 L3：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執行與感知已由系統承擔，決策仍由人為之 [2]。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首例 L4 驗證：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TDC NET 以 Ericsson 預測式細胞節能方案取得 TM Forum 首張 L4 驗證，2024 年 5 月上線，每 GB 能耗降約 5% [28]。</a:t>
            </a:r>
            <a:endParaRPr lang="en-US" sz="1500" dirty="0"/>
          </a:p>
        </p:txBody>
      </p:sp>
      <p:pic>
        <p:nvPicPr>
          <p:cNvPr id="110" name="Image 0" descr="ts28100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737360"/>
            <a:ext cx="3749040" cy="1435608"/>
          </a:xfrm>
          <a:prstGeom prst="rect">
            <a:avLst/>
          </a:prstGeom>
        </p:spPr>
      </p:pic>
      <p:sp>
        <p:nvSpPr>
          <p:cNvPr id="111" name="Text 8"/>
          <p:cNvSpPr/>
          <p:nvPr/>
        </p:nvSpPr>
        <p:spPr>
          <a:xfrm>
            <a:off x="4892040" y="32004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圖取自 [3] Table 5-1　六級各由人或由系統承擔哪幾類工作</a:t>
            </a:r>
            <a:endParaRPr lang="en-US" sz="750" dirty="0"/>
          </a:p>
        </p:txBody>
      </p:sp>
      <p:sp>
        <p:nvSpPr>
          <p:cNvPr id="112" name="Shape 9"/>
          <p:cNvSpPr/>
          <p:nvPr/>
        </p:nvSpPr>
        <p:spPr>
          <a:xfrm>
            <a:off x="4892040" y="352044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13" name="Text 10"/>
          <p:cNvSpPr/>
          <p:nvPr/>
        </p:nvSpPr>
        <p:spPr>
          <a:xfrm>
            <a:off x="4892040" y="3520440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L2、L3</a:t>
            </a:r>
            <a:endParaRPr lang="en-US" sz="10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產業多數所處的等級 [2]</a:t>
            </a:r>
            <a:endParaRPr lang="en-US" sz="1000" dirty="0"/>
          </a:p>
        </p:txBody>
      </p:sp>
      <p:sp>
        <p:nvSpPr>
          <p:cNvPr id="114" name="Shape 11"/>
          <p:cNvSpPr/>
          <p:nvPr/>
        </p:nvSpPr>
        <p:spPr>
          <a:xfrm>
            <a:off x="6172200" y="352044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FF3E0"/>
          </a:solidFill>
          <a:ln w="9525">
            <a:solidFill>
              <a:srgbClr val="FFB74D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15" name="Text 12"/>
          <p:cNvSpPr/>
          <p:nvPr/>
        </p:nvSpPr>
        <p:spPr>
          <a:xfrm>
            <a:off x="6172200" y="3520440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L4</a:t>
            </a:r>
            <a:endParaRPr lang="en-US" sz="10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決策由系統承擔的下一級 [3]</a:t>
            </a:r>
            <a:endParaRPr lang="en-US" sz="1000" dirty="0"/>
          </a:p>
        </p:txBody>
      </p:sp>
      <p:sp>
        <p:nvSpPr>
          <p:cNvPr id="116" name="Shape 13"/>
          <p:cNvSpPr/>
          <p:nvPr/>
        </p:nvSpPr>
        <p:spPr>
          <a:xfrm>
            <a:off x="7452360" y="352044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17" name="Text 14"/>
          <p:cNvSpPr/>
          <p:nvPr/>
        </p:nvSpPr>
        <p:spPr>
          <a:xfrm>
            <a:off x="7452360" y="3520440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L5</a:t>
            </a:r>
            <a:endParaRPr lang="en-US" sz="10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五類工作全由系統承擔 [3]</a:t>
            </a:r>
            <a:endParaRPr lang="en-US" sz="1000" dirty="0"/>
          </a:p>
        </p:txBody>
      </p:sp>
      <p:sp>
        <p:nvSpPr>
          <p:cNvPr id="118" name="Text 15"/>
          <p:cNvSpPr/>
          <p:nvPr/>
        </p:nvSpPr>
        <p:spPr>
          <a:xfrm>
            <a:off x="4892040" y="40599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橘色為本研究對應的等級：決策由系統承擔</a:t>
            </a:r>
            <a:endParaRPr lang="en-US" sz="750" dirty="0"/>
          </a:p>
        </p:txBody>
      </p:sp>
      <p:sp>
        <p:nvSpPr>
          <p:cNvPr id="119" name="Text 16"/>
          <p:cNvSpPr/>
          <p:nvPr/>
        </p:nvSpPr>
        <p:spPr>
          <a:xfrm>
            <a:off x="128016" y="45720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IBN：Intent-Based Networking　3GPP：3rd Generation Partnership Project　L0 至 L5：Autonomous Network Levels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[1] IETF RFC 9315, Intent-Based Networking - Concepts and Definitions, 2022-10　[3] 3GPP TS 28.100 V17.1.0, Levels of autonomous network, 2022-10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[2] B. Wu et al., IEEE Communications Magazine（已接受）, 2025　[28] Ericsson, TDC NET and Ericsson achieve industry-first certification from TM Forum of Level 4 autonomy, 2025-06-19</a:t>
            </a:r>
            <a:endParaRPr lang="en-US" sz="6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網路問題的解決流程與部署位置</a:t>
            </a:r>
          </a:p>
        </p:txBody>
      </p:sp>
      <p:sp>
        <p:nvSpPr>
          <p:cNvPr id="103" name="Shape 1"/>
          <p:cNvSpPr/>
          <p:nvPr/>
        </p:nvSpPr>
        <p:spPr>
          <a:xfrm>
            <a:off x="457200" y="1161288"/>
            <a:ext cx="8229600" cy="274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4" name="Shape 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DD8"/>
            </a:solidFill>
            <a:prstDash val="solid"/>
          </a:ln>
        </p:spPr>
      </p:sp>
      <p:sp>
        <p:nvSpPr>
          <p:cNvPr id="105" name="Shape 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6" name="Text 4"/>
          <p:cNvSpPr/>
          <p:nvPr/>
        </p:nvSpPr>
        <p:spPr>
          <a:xfrm>
            <a:off x="548640" y="1207008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觀測、分析、決策、執行四步中，決策集中於 RIC，Near-RT RIC 承擔 10 ms 至 1 s 的即時控制 [6][22]。</a:t>
            </a:r>
            <a:endParaRPr lang="en-US" sz="1200" dirty="0"/>
          </a:p>
        </p:txBody>
      </p:sp>
      <p:sp>
        <p:nvSpPr>
          <p:cNvPr id="107" name="Shape 5"/>
          <p:cNvSpPr/>
          <p:nvPr/>
        </p:nvSpPr>
        <p:spPr>
          <a:xfrm>
            <a:off x="8686800" y="4800600"/>
            <a:ext cx="292608" cy="29260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8" name="Text 6"/>
          <p:cNvSpPr/>
          <p:nvPr/>
        </p:nvSpPr>
        <p:spPr>
          <a:xfrm>
            <a:off x="868680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09" name="Text 7"/>
          <p:cNvSpPr/>
          <p:nvPr/>
        </p:nvSpPr>
        <p:spPr>
          <a:xfrm>
            <a:off x="457200" y="1719072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解決流程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觀測與分析：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基地台經 E2 介面回報量測，RIC 彙整為網路狀態 [6]。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決策：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Near-RT RIC 上的 xApp 依網路狀態產生控制策略，本研究生成的即為此處的 xApp 策略 [6]。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執行：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RIC 經 E2 介面下達控制，基地台套用參數並回報結果 [6]。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解決方案的部署位置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決策集中於 RIC：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對照自主網路等級定義，L4 要求由系統承擔的正是決策，對應 RIC 上的應用 [3]。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部署於 Near-RT RIC：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控制迴路為 10 ms 至 1 s，可於秒級內回應干擾、覆蓋與換手；Non-RT RIC 迴路為 1 s 以上，適合長期策略 [22]。</a:t>
            </a:r>
            <a:endParaRPr lang="en-US" sz="1500" dirty="0"/>
          </a:p>
        </p:txBody>
      </p:sp>
      <p:pic>
        <p:nvPicPr>
          <p:cNvPr id="110" name="Image 0" descr="oran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9260" y="1737360"/>
            <a:ext cx="2514600" cy="2514600"/>
          </a:xfrm>
          <a:prstGeom prst="rect">
            <a:avLst/>
          </a:prstGeom>
        </p:spPr>
      </p:pic>
      <p:sp>
        <p:nvSpPr>
          <p:cNvPr id="111" name="Shape 8"/>
          <p:cNvSpPr/>
          <p:nvPr/>
        </p:nvSpPr>
        <p:spPr>
          <a:xfrm>
            <a:off x="5760720" y="2730627"/>
            <a:ext cx="1709928" cy="729234"/>
          </a:xfrm>
          <a:prstGeom prst="roundRect">
            <a:avLst>
              <a:gd name="adj" fmla="val 5016"/>
            </a:avLst>
          </a:prstGeom>
          <a:solidFill>
            <a:srgbClr val="FFFFFF">
              <a:alpha val="0"/>
            </a:srgbClr>
          </a:solidFill>
          <a:ln w="28575">
            <a:solidFill>
              <a:srgbClr val="D50000"/>
            </a:solidFill>
            <a:prstDash val="dash"/>
          </a:ln>
        </p:spPr>
      </p:sp>
      <p:sp>
        <p:nvSpPr>
          <p:cNvPr id="112" name="Text 9"/>
          <p:cNvSpPr/>
          <p:nvPr/>
        </p:nvSpPr>
        <p:spPr>
          <a:xfrm>
            <a:off x="4892040" y="42885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圖取自 [6] Fig. 1　O-RAN 架構；紅色虛線框為本研究解決方案部署的 Near-RT RIC</a:t>
            </a:r>
            <a:endParaRPr lang="en-US" sz="750" dirty="0"/>
          </a:p>
        </p:txBody>
      </p:sp>
      <p:sp>
        <p:nvSpPr>
          <p:cNvPr id="113" name="Text 10"/>
          <p:cNvSpPr/>
          <p:nvPr/>
        </p:nvSpPr>
        <p:spPr>
          <a:xfrm>
            <a:off x="128016" y="45720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RIC：RAN Intelligent Controller　Near-RT：Near-Real-Time　Non-RT：Non-Real-Time　xApp：Near-RT RIC Application　rApp：Non-RT RIC Application　E2：Near-RT RIC 與基地台間的介面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[6] M. Hoffmann et al., Open RAN xApps Design and Evaluation, IEEE JSAC（已接受）　[3] 3GPP TS 28.100 V17.1.0, 2022-10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[22] O-RAN ALLIANCE, O-RAN Architecture Description, O-RAN.WG1.OAD-R003-v07.00, 2022</a:t>
            </a:r>
            <a:endParaRPr lang="en-US" sz="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以自主網路解決問題的既有研究</a:t>
            </a:r>
          </a:p>
        </p:txBody>
      </p:sp>
      <p:sp>
        <p:nvSpPr>
          <p:cNvPr id="103" name="Shape 1"/>
          <p:cNvSpPr/>
          <p:nvPr/>
        </p:nvSpPr>
        <p:spPr>
          <a:xfrm>
            <a:off x="457200" y="1161288"/>
            <a:ext cx="8229600" cy="274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4" name="Shape 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DD8"/>
            </a:solidFill>
            <a:prstDash val="solid"/>
          </a:ln>
        </p:spPr>
      </p:sp>
      <p:sp>
        <p:nvSpPr>
          <p:cNvPr id="105" name="Shape 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6" name="Text 4"/>
          <p:cNvSpPr/>
          <p:nvPr/>
        </p:nvSpPr>
        <p:spPr>
          <a:xfrm>
            <a:off x="548640" y="1207008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決策是唯一將網路狀態轉為控制動作的環節，既有研究多以生成決策邏輯為主軸，正確率與穩定性仍受限 [3][7][24]。</a:t>
            </a:r>
            <a:endParaRPr lang="en-US" sz="1200" dirty="0"/>
          </a:p>
        </p:txBody>
      </p:sp>
      <p:sp>
        <p:nvSpPr>
          <p:cNvPr id="107" name="Shape 5"/>
          <p:cNvSpPr/>
          <p:nvPr/>
        </p:nvSpPr>
        <p:spPr>
          <a:xfrm>
            <a:off x="8686800" y="4800600"/>
            <a:ext cx="292608" cy="29260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8" name="Text 6"/>
          <p:cNvSpPr/>
          <p:nvPr/>
        </p:nvSpPr>
        <p:spPr>
          <a:xfrm>
            <a:off x="868680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109" name="Text 7"/>
          <p:cNvSpPr/>
          <p:nvPr/>
        </p:nvSpPr>
        <p:spPr>
          <a:xfrm>
            <a:off x="457200" y="1719072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決策環節的關鍵地位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分級定義：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3GPP TS 28.100，L2 由系統承擔執行與感知，L3 再承擔分析但決策仍需人參與，L4 起決策全由系統承擔 [3]。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L3 至 L4 的關鍵：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兩級的差異僅在決策一欄，TM Forum 稱此為自主網路的顯著跨越 [17]。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需求驅動的研究方向：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電信商最優先自動化的是故障偵測與處置，占 82%，屬決策環節 [17]；LLM 生成研究因而多以產出決策邏輯為主軸 [7][23][24]。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數據揭示的缺口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正確率與穩定性受模型能力主導：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同一任務 GPT-4 達 88%，其餘模型於困難任務僅 0% 至 38% [7]。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修正不跨題累積：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驗證與修正僅作用於當次演算法，下一題從頭生成；ALLSTaR 複雜演算法每次仍需 1.6 至 2.6 輪，AutORAN 初版仍約 5 個錯誤 [23][24]。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領域知識決定成功率：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AutORAN 移除知識檢索後，一次成功率自 0.92 降至 0.76 [24]。</a:t>
            </a:r>
            <a:endParaRPr lang="en-US" sz="1500" dirty="0"/>
          </a:p>
        </p:txBody>
      </p:sp>
      <p:graphicFrame>
        <p:nvGraphicFramePr>
          <p:cNvPr id="10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737360"/>
          <a:ext cx="374904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1737360"/>
                <a:gridCol w="1353312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研究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作法與指標定義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原文數據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Mani et al.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2023 [7]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LLM 直接生成網管程式；正確率為執行結果與標準答案相符的任務比例，任務分易、中、難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651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GPT-4 最佳 88%；困難任務 GPT-4 降至 75%，GPT-3 等其他模型 0% 至 38%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ALLSTaR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2025 [23]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LLM 由論文生成排程器，生成後以單元測試發現錯誤再修正，一次修正為一輪，每種演算法 5 次取平均；信心分數為另一 LLM 對照原論文的互評，滿分 10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651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ALLSTaR 生成的 9 種 QoS 感知排程器平均需 1.6 至 2.6 輪；其中最複雜的 2L-FLS 信心分數僅 6.2 至 7.0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AutORAN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2026 [24]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1212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固定管線生成 xApp，生成後執行並以錯誤日誌修正；修的是當次程式，下一需求從頭開始。一次成功率為首次生成可無錯執行的比例，初版為未修正的第一輪程式，25 次取平均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651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AutORAN 完整管線的一次成功率 0.92 與 0.96，但初版平均含約 5 個邏輯錯誤，需 2 至 3 輪修正；移除知識檢索後一次成功率降至 0.76 與 0.80</a:t>
                      </a:r>
                      <a:endParaRPr lang="en-US" sz="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11" name="Text 8"/>
          <p:cNvSpPr/>
          <p:nvPr/>
        </p:nvSpPr>
        <p:spPr>
          <a:xfrm>
            <a:off x="4892040" y="42062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橘色為各研究原文報告的數據；中欄為作法與指標定義</a:t>
            </a:r>
            <a:endParaRPr lang="en-US" sz="750" dirty="0"/>
          </a:p>
        </p:txBody>
      </p:sp>
      <p:sp>
        <p:nvSpPr>
          <p:cNvPr id="112" name="Text 9"/>
          <p:cNvSpPr/>
          <p:nvPr/>
        </p:nvSpPr>
        <p:spPr>
          <a:xfrm>
            <a:off x="128016" y="45720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LLM：Large Language Model　QoS：Quality of Service　2L-FLS：兩層框架級排程器，為 ALLSTaR 所測最複雜的演算法　TS 28.100 的 L0 至 L5 沿用 TM Forum 的六級定義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[7] S. K. Mani et al., Enhancing Network Management Using Code Generated by LLMs, ACM HotNets, 2023　[23] M. Elkael et al., ALLSTaR, arXiv:2505.18389, 2025　[24] X. Li et al., AutORAN, arXiv:2603.18604, 2026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[3] 3GPP TS 28.100 V17.1.0, 2022-10　[17] TM Forum, A regional guide to autonomous networks progress, 2025-06</a:t>
            </a:r>
            <a:endParaRPr lang="en-US" sz="6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本研究方法：封閉迴路的策略生成工作流</a:t>
            </a:r>
          </a:p>
        </p:txBody>
      </p:sp>
      <p:sp>
        <p:nvSpPr>
          <p:cNvPr id="103" name="Shape 1"/>
          <p:cNvSpPr/>
          <p:nvPr/>
        </p:nvSpPr>
        <p:spPr>
          <a:xfrm>
            <a:off x="457200" y="1161288"/>
            <a:ext cx="8229600" cy="274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4" name="Shape 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DD8"/>
            </a:solidFill>
            <a:prstDash val="solid"/>
          </a:ln>
        </p:spPr>
      </p:sp>
      <p:sp>
        <p:nvSpPr>
          <p:cNvPr id="105" name="Shape 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6" name="Text 4"/>
          <p:cNvSpPr/>
          <p:nvPr/>
        </p:nvSpPr>
        <p:spPr>
          <a:xfrm>
            <a:off x="548640" y="1207008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策略生成 Agent 依案例資料集生成策略，網路專家 Agent 評估後將扣分回饋為 prompt 修正，兩者構成封閉迴路。</a:t>
            </a:r>
            <a:endParaRPr lang="en-US" sz="1200" dirty="0"/>
          </a:p>
        </p:txBody>
      </p:sp>
      <p:sp>
        <p:nvSpPr>
          <p:cNvPr id="107" name="Shape 5"/>
          <p:cNvSpPr/>
          <p:nvPr/>
        </p:nvSpPr>
        <p:spPr>
          <a:xfrm>
            <a:off x="8686800" y="4800600"/>
            <a:ext cx="292608" cy="29260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8" name="Text 6"/>
          <p:cNvSpPr/>
          <p:nvPr/>
        </p:nvSpPr>
        <p:spPr>
          <a:xfrm>
            <a:off x="868680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09" name="Text 7"/>
          <p:cNvSpPr/>
          <p:nvPr/>
        </p:nvSpPr>
        <p:spPr>
          <a:xfrm>
            <a:off x="457200" y="1719072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兩個 Agent 的職責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策略生成 Agent：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辨識問題型別，檢索案例資料集後生成控制策略。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網路專家 Agent：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以一致標準評估策略，判定扣分根因並修正生成 Agent 的 prompt。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工作流的設計理念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固定契約：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各階段輸入與輸出格式事先定義，Agent 依格式交接。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案例資料集：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3GPP 與 O-RAN 文件及環境規格編製的標註案例，每案含觀測資料、問題型別與參考策略；觀測供檢索，參考策略僅供評估。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與既有研究的差異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修正生成器而非單次產物：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既有研究以錯誤日誌修正當次程式；本方法將扣分歸因至 prompt 段落並修改，改進延續至後續題目 [23][24]。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評估以程式對照標準答案：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不依賴 LLM 互評或部署後實測，五項分數重跑不變且可歸因。</a:t>
            </a:r>
            <a:endParaRPr lang="en-US" sz="1500" dirty="0"/>
          </a:p>
        </p:txBody>
      </p:sp>
      <p:pic>
        <p:nvPicPr>
          <p:cNvPr id="110" name="Image 0" descr="method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828800"/>
            <a:ext cx="3749040" cy="2112264"/>
          </a:xfrm>
          <a:prstGeom prst="rect">
            <a:avLst/>
          </a:prstGeom>
        </p:spPr>
      </p:pic>
      <p:sp>
        <p:nvSpPr>
          <p:cNvPr id="111" name="Text 8"/>
          <p:cNvSpPr/>
          <p:nvPr/>
        </p:nvSpPr>
        <p:spPr>
          <a:xfrm>
            <a:off x="4892040" y="39867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知識來源匯入案例資料集，兩個 Agent 以生成與回饋構成封閉迴路，通過評估的策略方為輸出</a:t>
            </a:r>
            <a:endParaRPr lang="en-US" sz="750" dirty="0"/>
          </a:p>
        </p:txBody>
      </p:sp>
      <p:sp>
        <p:nvSpPr>
          <p:cNvPr id="112" name="Text 9"/>
          <p:cNvSpPr/>
          <p:nvPr/>
        </p:nvSpPr>
        <p:spPr>
          <a:xfrm>
            <a:off x="128016" y="45720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案例資料集：公開網管文件與 AI 生成案例的彙整　網路專家 Agent：即第二章的策略 Judge Agent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架構細節見第二章：方法論流程、策略生成 Agent、策略 Judge Agent 與閉迴路優化。</a:t>
            </a:r>
            <a:endParaRPr lang="en-US" sz="6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1A237E"/>
                </a:solidFill>
                <a:latin typeface="微軟正黑體"/>
                <a:ea typeface="微軟正黑體"/>
                <a:cs typeface="微軟正黑體"/>
              </a:rPr>
              <a:t>方法的效益與全球需求</a:t>
            </a:r>
          </a:p>
        </p:txBody>
      </p:sp>
      <p:sp>
        <p:nvSpPr>
          <p:cNvPr id="103" name="Shape 1"/>
          <p:cNvSpPr/>
          <p:nvPr/>
        </p:nvSpPr>
        <p:spPr>
          <a:xfrm>
            <a:off x="457200" y="1161288"/>
            <a:ext cx="8229600" cy="274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4" name="Shape 2"/>
          <p:cNvSpPr/>
          <p:nvPr/>
        </p:nvSpPr>
        <p:spPr>
          <a:xfrm>
            <a:off x="457200" y="1207008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4CDD8"/>
            </a:solidFill>
            <a:prstDash val="solid"/>
          </a:ln>
        </p:spPr>
      </p:sp>
      <p:sp>
        <p:nvSpPr>
          <p:cNvPr id="105" name="Shape 3"/>
          <p:cNvSpPr/>
          <p:nvPr/>
        </p:nvSpPr>
        <p:spPr>
          <a:xfrm>
            <a:off x="457200" y="1207008"/>
            <a:ext cx="64008" cy="40233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6" name="Text 4"/>
          <p:cNvSpPr/>
          <p:nvPr/>
        </p:nvSpPr>
        <p:spPr>
          <a:xfrm>
            <a:off x="548640" y="1207008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效益為策略生成快且迴路可自我修正；需求端為部署 xApp 的電信商與供應商，2027 年支出估近 7 億美元 [9]。</a:t>
            </a:r>
            <a:endParaRPr lang="en-US" sz="1200" dirty="0"/>
          </a:p>
        </p:txBody>
      </p:sp>
      <p:sp>
        <p:nvSpPr>
          <p:cNvPr id="107" name="Shape 5"/>
          <p:cNvSpPr/>
          <p:nvPr/>
        </p:nvSpPr>
        <p:spPr>
          <a:xfrm>
            <a:off x="8686800" y="4800600"/>
            <a:ext cx="292608" cy="29260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8" name="Text 6"/>
          <p:cNvSpPr/>
          <p:nvPr/>
        </p:nvSpPr>
        <p:spPr>
          <a:xfrm>
            <a:off x="8686800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109" name="Text 7"/>
          <p:cNvSpPr/>
          <p:nvPr/>
        </p:nvSpPr>
        <p:spPr>
          <a:xfrm>
            <a:off x="457200" y="1719072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效益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生成效率：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固定契約與案例資料集使策略生成以分鐘計，取代從頭開發與人工整合 [6][24]。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迴路自我修正：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每筆扣分經根因判定後轉為 prompt 修改，取代人工反覆調校；根因不在 prompt 者僅開單。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成效可歸因、可累積：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改動逐字可重放，同一批題目兩次執行的分差與累積增益可直接量化。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■  全球需求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市場規模：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2027 年底 RIC、xApp 與 rApp 年度投資近 7 億美元，複合成長率逾 125% [9]。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電信商目標：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85% 受訪電信商以 2030 年達 L4 為目標，決策自動化為必經環節 [17]。</a:t>
            </a:r>
            <a:endParaRPr lang="en-US" sz="1500" dirty="0"/>
          </a:p>
          <a:p>
            <a:pPr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21212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供應模式：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xApp 可由第三方供應，改良的生成方式可直接進入交付 [6]。</a:t>
            </a:r>
            <a:endParaRPr lang="en-US" sz="1500" dirty="0"/>
          </a:p>
        </p:txBody>
      </p:sp>
      <p:sp>
        <p:nvSpPr>
          <p:cNvPr id="110" name="Shape 8"/>
          <p:cNvSpPr/>
          <p:nvPr/>
        </p:nvSpPr>
        <p:spPr>
          <a:xfrm>
            <a:off x="4892040" y="1737360"/>
            <a:ext cx="1188720" cy="713232"/>
          </a:xfrm>
          <a:prstGeom prst="roundRect">
            <a:avLst>
              <a:gd name="adj" fmla="val 7692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</p:spPr>
      </p:sp>
      <p:sp>
        <p:nvSpPr>
          <p:cNvPr id="111" name="Text 9"/>
          <p:cNvSpPr/>
          <p:nvPr/>
        </p:nvSpPr>
        <p:spPr>
          <a:xfrm>
            <a:off x="4892040" y="1737360"/>
            <a:ext cx="11887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近 7 億美元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2027 年 RIC、xApp、rApp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年度投資 [9]</a:t>
            </a:r>
            <a:endParaRPr lang="en-US" sz="1300" dirty="0"/>
          </a:p>
        </p:txBody>
      </p:sp>
      <p:sp>
        <p:nvSpPr>
          <p:cNvPr id="112" name="Shape 10"/>
          <p:cNvSpPr/>
          <p:nvPr/>
        </p:nvSpPr>
        <p:spPr>
          <a:xfrm>
            <a:off x="6172200" y="1737360"/>
            <a:ext cx="1188720" cy="713232"/>
          </a:xfrm>
          <a:prstGeom prst="roundRect">
            <a:avLst>
              <a:gd name="adj" fmla="val 7692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</p:spPr>
      </p:sp>
      <p:sp>
        <p:nvSpPr>
          <p:cNvPr id="113" name="Text 11"/>
          <p:cNvSpPr/>
          <p:nvPr/>
        </p:nvSpPr>
        <p:spPr>
          <a:xfrm>
            <a:off x="6172200" y="1737360"/>
            <a:ext cx="11887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逾 125%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2024 至 2027 年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複合成長率 [9]</a:t>
            </a:r>
            <a:endParaRPr lang="en-US" sz="1300" dirty="0"/>
          </a:p>
        </p:txBody>
      </p:sp>
      <p:sp>
        <p:nvSpPr>
          <p:cNvPr id="114" name="Shape 12"/>
          <p:cNvSpPr/>
          <p:nvPr/>
        </p:nvSpPr>
        <p:spPr>
          <a:xfrm>
            <a:off x="7452360" y="1737360"/>
            <a:ext cx="1188720" cy="713232"/>
          </a:xfrm>
          <a:prstGeom prst="roundRect">
            <a:avLst>
              <a:gd name="adj" fmla="val 7692"/>
            </a:avLst>
          </a:prstGeom>
          <a:solidFill>
            <a:srgbClr val="FFF3E0"/>
          </a:solidFill>
          <a:ln w="9525">
            <a:solidFill>
              <a:srgbClr val="FFB74D"/>
            </a:solidFill>
            <a:prstDash val="solid"/>
          </a:ln>
        </p:spPr>
      </p:sp>
      <p:sp>
        <p:nvSpPr>
          <p:cNvPr id="115" name="Text 13"/>
          <p:cNvSpPr/>
          <p:nvPr/>
        </p:nvSpPr>
        <p:spPr>
          <a:xfrm>
            <a:off x="7452360" y="1737360"/>
            <a:ext cx="11887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85%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以 2030 年達 L4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為目標的電信商 [17]</a:t>
            </a:r>
            <a:endParaRPr lang="en-US" sz="1300" dirty="0"/>
          </a:p>
        </p:txBody>
      </p:sp>
      <p:sp>
        <p:nvSpPr>
          <p:cNvPr id="116" name="Text 14"/>
          <p:cNvSpPr/>
          <p:nvPr/>
        </p:nvSpPr>
        <p:spPr>
          <a:xfrm>
            <a:off x="4892040" y="24871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橘色為需求端的目標；前兩者為市場規模</a:t>
            </a:r>
            <a:endParaRPr lang="en-US" sz="750" dirty="0"/>
          </a:p>
        </p:txBody>
      </p:sp>
      <p:sp>
        <p:nvSpPr>
          <p:cNvPr id="117" name="Shape 15"/>
          <p:cNvSpPr/>
          <p:nvPr/>
        </p:nvSpPr>
        <p:spPr>
          <a:xfrm>
            <a:off x="4892040" y="2926080"/>
            <a:ext cx="237744" cy="237744"/>
          </a:xfrm>
          <a:prstGeom prst="ellipse">
            <a:avLst/>
          </a:prstGeom>
          <a:solidFill>
            <a:srgbClr val="1A23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Text 16"/>
          <p:cNvSpPr/>
          <p:nvPr/>
        </p:nvSpPr>
        <p:spPr>
          <a:xfrm>
            <a:off x="4892040" y="2926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19" name="Shape 17"/>
          <p:cNvSpPr/>
          <p:nvPr/>
        </p:nvSpPr>
        <p:spPr>
          <a:xfrm>
            <a:off x="5221224" y="2880360"/>
            <a:ext cx="3419856" cy="329184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20" name="Text 18"/>
          <p:cNvSpPr/>
          <p:nvPr/>
        </p:nvSpPr>
        <p:spPr>
          <a:xfrm>
            <a:off x="5221224" y="2880360"/>
            <a:ext cx="3419856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網路應用供應商　</a:t>
            </a:r>
            <a:pPr algn="ctr" indent="0" marL="0">
              <a:buNone/>
            </a:pPr>
            <a:r>
              <a:rPr lang="en-US" sz="70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以本方法生成 xApp</a:t>
            </a:r>
            <a:endParaRPr lang="en-US" sz="1000" dirty="0"/>
          </a:p>
        </p:txBody>
      </p:sp>
      <p:sp>
        <p:nvSpPr>
          <p:cNvPr id="121" name="Shape 19"/>
          <p:cNvSpPr/>
          <p:nvPr/>
        </p:nvSpPr>
        <p:spPr>
          <a:xfrm>
            <a:off x="5010912" y="3163824"/>
            <a:ext cx="0" cy="100584"/>
          </a:xfrm>
          <a:prstGeom prst="line">
            <a:avLst/>
          </a:prstGeom>
          <a:noFill/>
          <a:ln w="12700">
            <a:solidFill>
              <a:srgbClr val="78909C"/>
            </a:solidFill>
            <a:prstDash val="solid"/>
          </a:ln>
        </p:spPr>
      </p:sp>
      <p:sp>
        <p:nvSpPr>
          <p:cNvPr id="122" name="Shape 20"/>
          <p:cNvSpPr/>
          <p:nvPr/>
        </p:nvSpPr>
        <p:spPr>
          <a:xfrm>
            <a:off x="4892040" y="3310128"/>
            <a:ext cx="237744" cy="237744"/>
          </a:xfrm>
          <a:prstGeom prst="ellipse">
            <a:avLst/>
          </a:prstGeom>
          <a:solidFill>
            <a:srgbClr val="1A23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3" name="Text 21"/>
          <p:cNvSpPr/>
          <p:nvPr/>
        </p:nvSpPr>
        <p:spPr>
          <a:xfrm>
            <a:off x="4892040" y="3310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4" name="Shape 22"/>
          <p:cNvSpPr/>
          <p:nvPr/>
        </p:nvSpPr>
        <p:spPr>
          <a:xfrm>
            <a:off x="5221224" y="3264408"/>
            <a:ext cx="3419856" cy="329184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25" name="Text 23"/>
          <p:cNvSpPr/>
          <p:nvPr/>
        </p:nvSpPr>
        <p:spPr>
          <a:xfrm>
            <a:off x="5221224" y="3264408"/>
            <a:ext cx="3419856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marketplace　</a:t>
            </a:r>
            <a:pPr algn="ctr" indent="0" marL="0">
              <a:buNone/>
            </a:pPr>
            <a:r>
              <a:rPr lang="en-US" sz="70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交付電信商</a:t>
            </a:r>
            <a:endParaRPr lang="en-US" sz="1000" dirty="0"/>
          </a:p>
        </p:txBody>
      </p:sp>
      <p:sp>
        <p:nvSpPr>
          <p:cNvPr id="126" name="Shape 24"/>
          <p:cNvSpPr/>
          <p:nvPr/>
        </p:nvSpPr>
        <p:spPr>
          <a:xfrm>
            <a:off x="5010912" y="3547872"/>
            <a:ext cx="0" cy="100584"/>
          </a:xfrm>
          <a:prstGeom prst="line">
            <a:avLst/>
          </a:prstGeom>
          <a:noFill/>
          <a:ln w="12700">
            <a:solidFill>
              <a:srgbClr val="78909C"/>
            </a:solidFill>
            <a:prstDash val="solid"/>
          </a:ln>
        </p:spPr>
      </p:sp>
      <p:sp>
        <p:nvSpPr>
          <p:cNvPr id="127" name="Shape 25"/>
          <p:cNvSpPr/>
          <p:nvPr/>
        </p:nvSpPr>
        <p:spPr>
          <a:xfrm>
            <a:off x="4892040" y="3694176"/>
            <a:ext cx="237744" cy="237744"/>
          </a:xfrm>
          <a:prstGeom prst="ellipse">
            <a:avLst/>
          </a:prstGeom>
          <a:solidFill>
            <a:srgbClr val="1A23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8" name="Text 26"/>
          <p:cNvSpPr/>
          <p:nvPr/>
        </p:nvSpPr>
        <p:spPr>
          <a:xfrm>
            <a:off x="4892040" y="36941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29" name="Shape 27"/>
          <p:cNvSpPr/>
          <p:nvPr/>
        </p:nvSpPr>
        <p:spPr>
          <a:xfrm>
            <a:off x="5221224" y="3648456"/>
            <a:ext cx="3419856" cy="329184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9525">
            <a:solidFill>
              <a:srgbClr val="C4CDD8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30" name="Text 28"/>
          <p:cNvSpPr/>
          <p:nvPr/>
        </p:nvSpPr>
        <p:spPr>
          <a:xfrm>
            <a:off x="5221224" y="3648456"/>
            <a:ext cx="3419856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電信商的網路　</a:t>
            </a:r>
            <a:pPr algn="ctr" indent="0" marL="0">
              <a:buNone/>
            </a:pPr>
            <a:r>
              <a:rPr lang="en-US" sz="70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部署於 Near-RT RIC</a:t>
            </a:r>
            <a:endParaRPr lang="en-US" sz="1000" dirty="0"/>
          </a:p>
        </p:txBody>
      </p:sp>
      <p:sp>
        <p:nvSpPr>
          <p:cNvPr id="131" name="Shape 29"/>
          <p:cNvSpPr/>
          <p:nvPr/>
        </p:nvSpPr>
        <p:spPr>
          <a:xfrm>
            <a:off x="5010912" y="3931920"/>
            <a:ext cx="0" cy="100584"/>
          </a:xfrm>
          <a:prstGeom prst="line">
            <a:avLst/>
          </a:prstGeom>
          <a:noFill/>
          <a:ln w="12700">
            <a:solidFill>
              <a:srgbClr val="78909C"/>
            </a:solidFill>
            <a:prstDash val="solid"/>
          </a:ln>
        </p:spPr>
      </p:sp>
      <p:sp>
        <p:nvSpPr>
          <p:cNvPr id="132" name="Shape 30"/>
          <p:cNvSpPr/>
          <p:nvPr/>
        </p:nvSpPr>
        <p:spPr>
          <a:xfrm>
            <a:off x="4892040" y="4078224"/>
            <a:ext cx="237744" cy="23774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Text 31"/>
          <p:cNvSpPr/>
          <p:nvPr/>
        </p:nvSpPr>
        <p:spPr>
          <a:xfrm>
            <a:off x="4892040" y="40782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34" name="Shape 32"/>
          <p:cNvSpPr/>
          <p:nvPr/>
        </p:nvSpPr>
        <p:spPr>
          <a:xfrm>
            <a:off x="5221224" y="4032504"/>
            <a:ext cx="3419856" cy="329184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9525">
            <a:solidFill>
              <a:srgbClr val="A5D6A7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15000"/>
              </a:srgbClr>
            </a:outerShdw>
          </a:effectLst>
        </p:spPr>
      </p:sp>
      <p:sp>
        <p:nvSpPr>
          <p:cNvPr id="135" name="Text 33"/>
          <p:cNvSpPr/>
          <p:nvPr/>
        </p:nvSpPr>
        <p:spPr>
          <a:xfrm>
            <a:off x="5221224" y="4032504"/>
            <a:ext cx="3419856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可量測的結果　</a:t>
            </a:r>
            <a:pPr algn="ctr" indent="0" marL="0">
              <a:buNone/>
            </a:pPr>
            <a:r>
              <a:rPr lang="en-US" sz="700" b="1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生成時間、正確率</a:t>
            </a:r>
            <a:endParaRPr lang="en-US" sz="1000" dirty="0"/>
          </a:p>
        </p:txBody>
      </p:sp>
      <p:sp>
        <p:nvSpPr>
          <p:cNvPr id="136" name="Text 34"/>
          <p:cNvSpPr/>
          <p:nvPr/>
        </p:nvSpPr>
        <p:spPr>
          <a:xfrm>
            <a:off x="4892040" y="44348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綠色為本方法要量的產出</a:t>
            </a:r>
            <a:endParaRPr lang="en-US" sz="750" dirty="0"/>
          </a:p>
        </p:txBody>
      </p:sp>
      <p:sp>
        <p:nvSpPr>
          <p:cNvPr id="137" name="Text 35"/>
          <p:cNvSpPr/>
          <p:nvPr/>
        </p:nvSpPr>
        <p:spPr>
          <a:xfrm>
            <a:off x="128016" y="45720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rApp：Non-RT RIC Application　marketplace：xApp 與 rApp 的交付平台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[9] SNS Telecom &amp; IT, RAN Automation, SON, RIC, xApps &amp; rApps in the 5G Era: 2024-2030, 2024-08-28　[17] TM Forum, A regional guide to autonomous networks progress, 2025-06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5F63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[6] M. Hoffmann et al., Open RAN xApps Design and Evaluation, IEEE JSAC（已接受）　[24] X. Li et al., AutORAN, arXiv:2603.18604, 2026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ITLab-Version_20260318-Wai [1786502027559]">
  <a:themeElements>
    <a:clrScheme name="藍色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DAA1EEA-8AB3-4AF8-BC95-6FCCCD8FBD06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bcdbbe34-12f7-4463-910a-3f2ff496ca4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16745</TotalTime>
  <Words>3157</Words>
  <Application>Microsoft Office PowerPoint</Application>
  <PresentationFormat>如螢幕大小 (16:9)</PresentationFormat>
  <Paragraphs>523</Paragraphs>
  <Slides>31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31</vt:i4>
      </vt:variant>
    </vt:vector>
  </HeadingPairs>
  <TitlesOfParts>
    <vt:vector size="36" baseType="lpstr">
      <vt:lpstr>微軟正黑體</vt:lpstr>
      <vt:lpstr>Roboto</vt:lpstr>
      <vt:lpstr>Arial</vt:lpstr>
      <vt:lpstr>Simple Light</vt:lpstr>
      <vt:lpstr>MITLab-Version_20260318-Wai [1786502027559]</vt:lpstr>
      <vt:lpstr>xApp 策略生成</vt:lpstr>
      <vt:lpstr>目錄</vt:lpstr>
      <vt:lpstr>一、背景介紹</vt:lpstr>
      <vt:lpstr>網路自主化的國際趨勢</vt:lpstr>
      <vt:lpstr>自主化分級的產業現況</vt:lpstr>
      <vt:lpstr>網路本身的問題</vt:lpstr>
      <vt:lpstr>網路問題造成的影響</vt:lpstr>
      <vt:lpstr>網路問題的解決方法</vt:lpstr>
      <vt:lpstr>解決方法的限制</vt:lpstr>
      <vt:lpstr>生成網路應用的解決方法目標</vt:lpstr>
      <vt:lpstr>生成網路應用的解決方法效益</vt:lpstr>
      <vt:lpstr>二、生成網路應用的解決方法</vt:lpstr>
      <vt:lpstr>方法論流程設計</vt:lpstr>
      <vt:lpstr>策略生成 Agent 的架構</vt:lpstr>
      <vt:lpstr>策略生成 Agent 知識來源</vt:lpstr>
      <vt:lpstr>策略 Judge Agent</vt:lpstr>
      <vt:lpstr>生成網路應用的閉迴路優化</vt:lpstr>
      <vt:lpstr>監控策略生成的品質</vt:lpstr>
      <vt:lpstr>三、實驗</vt:lpstr>
      <vt:lpstr>實驗環境</vt:lpstr>
      <vt:lpstr>資料集生成</vt:lpstr>
      <vt:lpstr>實驗評估項目</vt:lpstr>
      <vt:lpstr>評估指標</vt:lpstr>
      <vt:lpstr>評估指標：單題品質</vt:lpstr>
      <vt:lpstr>評估指標：成效與成本</vt:lpstr>
      <vt:lpstr>實驗流程</vt:lpstr>
      <vt:lpstr>實驗結果與展示</vt:lpstr>
      <vt:lpstr>結論</vt:lpstr>
      <vt:lpstr>附錄：指標定義</vt:lpstr>
      <vt:lpstr>參考資料（1 / 2）</vt:lpstr>
      <vt:lpstr>參考資料（2 / 2）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xApp 策略生成</dc:title>
  <dc:creator>yihua</dc:creator>
  <cp:lastModifiedBy>耀慶 黃</cp:lastModifiedBy>
  <cp:revision>147</cp:revision>
  <dcterms:modified xsi:type="dcterms:W3CDTF">2026-09-13T06:07:53Z</dcterms:modified>
</cp:coreProperties>
</file>