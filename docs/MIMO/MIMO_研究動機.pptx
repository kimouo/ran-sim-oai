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</c:v>
                </c:pt>
              </c:strCache>
            </c:strRef>
          </c:tx>
          <c:spPr>
            <a:solidFill>
              <a:srgbClr val="4FC8B4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E8ED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8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穿透玻璃</c:v>
                  </c:pt>
                  <c:pt idx="1">
                    <c:v>穿透木板</c:v>
                  </c:pt>
                  <c:pt idx="2">
                    <c:v>穿透混凝土</c:v>
                  </c:pt>
                  <c:pt idx="3">
                    <c:v>波束切換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5.3</c:v>
                </c:pt>
                <c:pt idx="2">
                  <c:v>19</c:v>
                </c:pt>
                <c:pt idx="3">
                  <c:v>18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650" u="none">
                  <a:solidFill>
                    <a:srgbClr val="E8ED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9AA8B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2C38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D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C242E"/>
        </a:solidFill>
        <a:ln>
          <a:noFill/>
        </a:ln>
        <a:effectLst/>
      </c:spPr>
    </c:plotArea>
    <c:plotVisOnly val="1"/>
    <c:dispBlanksAs val="span"/>
  </c:chart>
  <c:spPr>
    <a:solidFill>
      <a:srgbClr val="1C24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我們現行的架構是以 3GPP 公式為基準、由 AI 學習殘差。整條計算鏈的準確度取決於第一環 Path Loss。射線追蹤精度高但每次都要重算;3GPP 公式便宜但只看距離與頻率。本研究以 3GPP 為基準、AI 學修正量,並以實網量測訓練。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頁的 RSRP 式沒有天線增益,這在全向假設下沒問題。但實網量測值是經過天線與波束成形後的結果。實測減公式,殘差同時含環境效應與天線效應,而輸入只有距離和頻率,模型拆不開。用第 15 頁公式代入:同一支手機,不做波束成形 −70 dBm,波束對準 −52 dBm,差 18 dB,與穿一面混凝土牆(19 dB)同量級。天線效應有公式可算,應先扣掉,這就是要先讀 MIMO 規範的原因。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1 / 2   </a:t>
            </a:r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研究目標:以 3GPP + AI 混合模型取代射線追蹤計算 Path Loss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20040" y="658368"/>
            <a:ext cx="8503920" cy="141732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749808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749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7315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現行資料引擎的計算鏈(第 15、16 頁)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73152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35608" y="1005840"/>
            <a:ext cx="86868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7FB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35608" y="1005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Loss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05456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05456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RSRP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072384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3552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73552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41648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41648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CQI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9744" y="1005840"/>
            <a:ext cx="566928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10058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376672" y="100584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7B8C"/>
                </a:solidFill>
              </a:rPr>
              <a:t>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1005840"/>
            <a:ext cx="868680" cy="256032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10058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1353312"/>
            <a:ext cx="8138160" cy="329184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1353312"/>
            <a:ext cx="27432" cy="329184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1353312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 = 32.4 + 17.3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+ 20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 Step 2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RSRP =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PL − 10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12)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 Step 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1737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整條鏈的準確度取決於第一環 PL。現行 PL 為自由空間近似式,僅含距離與頻率,無法反映穿透、反射、繞射。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194560"/>
            <a:ext cx="4160520" cy="269748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228600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76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" y="226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三條路徑的取捨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38862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109728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精度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D7B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對場景資訊的依賴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射線追蹤(Sionna RT)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每次場景或天線變動均須重算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需完整幾何與材質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3GPP 公式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極低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8B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僅需 d、f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7FB3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3GPP + AI 校正(本研究)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以實測校正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推論一次前向傳播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EDF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由實測資料學得</a:t>
                      </a:r>
                      <a:endParaRPr lang="en-US" sz="7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2E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457200" y="42245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目標:給定場景資訊(座標、幾何、材質)與系統組態(天線配置、RAN 參數),由 </a:t>
            </a:r>
            <a:pPr indent="0" marL="0">
              <a:buNone/>
            </a:pPr>
            <a:r>
              <a:rPr lang="en-US" sz="900" i="1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900" baseline="-40000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直接輸出損耗修正量,並以實網量測為訓練標的,使模型於不同場域仍維持精度。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63440" y="2194560"/>
            <a:ext cx="4160520" cy="269748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73168" y="228600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77316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047488" y="2267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模型定義(第 19、20 頁)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800600" y="2542032"/>
            <a:ext cx="3886200" cy="6400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00600" y="2542032"/>
            <a:ext cx="27432" cy="640080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937760" y="2542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3GPP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穿透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反射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Σ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繞射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00600" y="3273552"/>
            <a:ext cx="3886200" cy="640080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800600" y="3273552"/>
            <a:ext cx="27432" cy="640080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937760" y="32735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i="1" dirty="0">
                <a:solidFill>
                  <a:srgbClr val="7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4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PL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3GPP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buNone/>
            </a:pPr>
            <a:r>
              <a:rPr lang="en-US" sz="1100" i="1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  ∂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/∂θ</a:t>
            </a:r>
            <a:pPr indent="0" marL="0">
              <a:buNone/>
            </a:pPr>
            <a:r>
              <a:rPr lang="en-US" sz="1100" baseline="3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ℒ(θ) = (1/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‖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100" baseline="3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4800600" y="40233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公式固定、只更新 </a:t>
            </a:r>
            <a:pPr indent="0" marL="0">
              <a:buNone/>
            </a:pPr>
            <a:r>
              <a:rPr lang="en-US" sz="900" i="1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900" baseline="-40000" dirty="0">
                <a:solidFill>
                  <a:srgbClr val="9A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pPr indent="0" marL="0">
              <a:buNone/>
            </a:pPr>
            <a:r>
              <a:rPr lang="en-US" sz="850" dirty="0">
                <a:solidFill>
                  <a:srgbClr val="4FC8B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青色</a:t>
            </a:r>
            <a:pPr indent="0" marL="0">
              <a:buNone/>
            </a:pPr>
            <a:r>
              <a:rPr lang="en-US" sz="8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AI 應學習的對象:純環境效應。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786384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·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2 / 2   </a:t>
            </a:r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問題:實網量測值內含天線效應,殘差模型會學到錯誤對象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20040" y="658368"/>
            <a:ext cx="8503920" cy="713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749808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749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731520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量測值的物理組成(TR 38.901 §7.5:先算傳播,再套天線場型)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9264"/>
            <a:ext cx="8138160" cy="347472"/>
          </a:xfrm>
          <a:prstGeom prst="rect">
            <a:avLst/>
          </a:prstGeom>
          <a:solidFill>
            <a:srgbClr val="0F151C"/>
          </a:solidFill>
          <a:ln w="12700">
            <a:solidFill>
              <a:srgbClr val="0F15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9264"/>
            <a:ext cx="27432" cy="347472"/>
          </a:xfrm>
          <a:prstGeom prst="rect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969264"/>
            <a:ext cx="7909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RSRP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</a:t>
            </a:r>
            <a:pPr indent="0" marL="0">
              <a:buNone/>
            </a:pPr>
            <a:r>
              <a:rPr lang="en-US" sz="1100" dirty="0">
                <a:solidFill>
                  <a:srgbClr val="7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pPr indent="0" marL="0">
              <a:buNone/>
            </a:pPr>
            <a:r>
              <a:rPr lang="en-US" sz="1100" baseline="-4000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傳播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(θ, φ) + </a:t>
            </a:r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indent="0" marL="0">
              <a:buNone/>
            </a:pPr>
            <a:r>
              <a:rPr lang="en-US" sz="1100" baseline="-400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</a:t>
            </a:r>
            <a:pPr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(beamId, θ, φ)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− 10 log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indent="0" marL="0">
              <a:buNone/>
            </a:pPr>
            <a:r>
              <a:rPr lang="en-US" sz="11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1100" baseline="-400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12)</a:t>
            </a:r>
            <a:pPr indent="0" marL="0">
              <a:buNone/>
            </a:pPr>
            <a:r>
              <a:rPr lang="en-US" sz="7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第 15 頁原式為全向假設;本式補上天線兩項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4160520" cy="2999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55448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量測值是怎麼組成的,公式又算了哪些</a:t>
            </a:r>
            <a:endParaRPr lang="en-US" sz="1000" dirty="0"/>
          </a:p>
        </p:txBody>
      </p:sp>
      <p:pic>
        <p:nvPicPr>
          <p:cNvPr id="14" name="Image 0" descr="bl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3977640" cy="21696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663440" y="1463040"/>
            <a:ext cx="4160520" cy="2999232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1554480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047488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嚴重性:天線效應與牆的損耗同一量級,殘差裡分不出來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17830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 用第 15 頁公式算給你看(同一支手機、同一位置)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19385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假設:P</a:t>
            </a:r>
            <a:pPr indent="0" marL="0">
              <a:buNone/>
            </a:pPr>
            <a:r>
              <a:rPr lang="en-US" sz="750" baseline="-400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Tx</a:t>
            </a:r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=30 dBm、f</a:t>
            </a:r>
            <a:pPr indent="0" marL="0">
              <a:buNone/>
            </a:pPr>
            <a:r>
              <a:rPr lang="en-US" sz="750" baseline="-400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=3.5 GHz、d=50 m、N</a:t>
            </a:r>
            <a:pPr indent="0" marL="0">
              <a:buNone/>
            </a:pPr>
            <a:r>
              <a:rPr lang="en-US" sz="750" baseline="-400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PRB</a:t>
            </a:r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=273、64 單元陣列、手機正對陣列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</a:t>
            </a:r>
            <a:pPr indent="0" marL="0">
              <a:buNone/>
            </a:pPr>
            <a:r>
              <a:rPr lang="en-US" sz="750" baseline="-4000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3GPP</a:t>
            </a:r>
            <a:pPr indent="0" marL="0">
              <a:buNone/>
            </a:pPr>
            <a:r>
              <a:rPr lang="en-US" sz="700" dirty="0">
                <a:solidFill>
                  <a:srgbClr val="7FB3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32.4 + 17.3 log10(50) + 20 log10(3.5) = 72.7 dB;  10 log10(273×12) = 35.2 dB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pPr indent="0" marL="0">
              <a:buNone/>
            </a:pPr>
            <a:r>
              <a:rPr lang="en-US" sz="750" baseline="-4000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</a:t>
            </a:r>
            <a:pPr indent="0" marL="0">
              <a:buNone/>
            </a:pPr>
            <a:r>
              <a:rPr lang="en-US" sz="75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 dBi(正對時,38.901 Table 7.3-1 的 G</a:t>
            </a:r>
            <a:pPr indent="0" marL="0">
              <a:buNone/>
            </a:pPr>
            <a:r>
              <a:rPr lang="en-US" sz="750" baseline="-4000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E,max</a:t>
            </a:r>
            <a:pPr indent="0" marL="0">
              <a:buNone/>
            </a:pPr>
            <a:r>
              <a:rPr lang="en-US" sz="75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800600" y="2697480"/>
            <a:ext cx="1920240" cy="566928"/>
          </a:xfrm>
          <a:prstGeom prst="rect">
            <a:avLst/>
          </a:prstGeom>
          <a:solidFill>
            <a:srgbClr val="0F151C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73752" y="27157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情況 1:beamId = 0,不做波束成形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O-RAN 定義:能量平均送到所有單元,Gbeam = 0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= 30−72.7−35.2+8 = </a:t>
            </a:r>
            <a:pPr indent="0" marL="0">
              <a:buNone/>
            </a:pPr>
            <a:r>
              <a:rPr lang="en-US" sz="75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−70 dBm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812280" y="2697480"/>
            <a:ext cx="1920240" cy="566928"/>
          </a:xfrm>
          <a:prstGeom prst="rect">
            <a:avLst/>
          </a:prstGeom>
          <a:solidFill>
            <a:srgbClr val="0F151C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85432" y="271576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情況 2:波束對準手機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單元同相疊加,Gbeam = 10log10(64) = 18 dB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RSRP = −70 + 18 = </a:t>
            </a:r>
            <a:pPr indent="0" marL="0">
              <a:buNone/>
            </a:pPr>
            <a:r>
              <a:rPr lang="en-US" sz="750" b="1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−52 dBm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3291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d、f 完全相同,y 差 18 dB。模型輸入看不到差在哪。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800600" y="34930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B. 這 18 dB 有多大?和牆比一比(3.5 GHz)</a:t>
            </a:r>
            <a:endParaRPr lang="en-US" sz="8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709160" y="3621024"/>
          <a:ext cx="269748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7452360" y="3639312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青:38.901 Table 7.4.3-1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玻璃 2+0.2f、木 4.85+0.12f、混凝土 5+4f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橘:上方情況 1 與 2 之差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
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殘差多 18 dB:是牆還是波束?模型無從分辨。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20040" y="4553712"/>
            <a:ext cx="8503920" cy="457200"/>
          </a:xfrm>
          <a:prstGeom prst="rect">
            <a:avLst/>
          </a:prstGeom>
          <a:solidFill>
            <a:srgbClr val="1C242E"/>
          </a:solidFill>
          <a:ln w="9525">
            <a:solidFill>
              <a:srgbClr val="2C384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9768" y="4645152"/>
            <a:ext cx="201168" cy="201168"/>
          </a:xfrm>
          <a:prstGeom prst="ellipse">
            <a:avLst/>
          </a:prstGeom>
          <a:solidFill>
            <a:srgbClr val="7FB3FF"/>
          </a:solidFill>
          <a:ln w="12700">
            <a:solidFill>
              <a:srgbClr val="7FB3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29768" y="4645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704088" y="4626864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結論與銜接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828800" y="462686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A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天線效應具解析解</a:t>
            </a:r>
            <a:pPr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,不應由 AI 學習,應自殘差移出、併入基準 b。計算 G_element、G_beam 需先依規範釐清天線單元、陣列幾何、波束識別與權重,此即先探討 MIMO 規範之原因。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7863840" y="50292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D7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 · 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2026-09-28T09:35:31Z</dcterms:created>
  <dcterms:modified xsi:type="dcterms:W3CDTF">2026-09-28T09:35:31Z</dcterms:modified>
</cp:coreProperties>
</file>