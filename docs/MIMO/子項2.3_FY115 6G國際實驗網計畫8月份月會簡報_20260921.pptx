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30"/>
  </p:notesMasterIdLst>
  <p:handoutMasterIdLst>
    <p:handoutMasterId r:id="rId31"/>
  </p:handoutMasterIdLst>
  <p:sldIdLst>
    <p:sldId id="276" r:id="rId2"/>
    <p:sldId id="295" r:id="rId3"/>
    <p:sldId id="2147483417" r:id="rId4"/>
    <p:sldId id="300" r:id="rId5"/>
    <p:sldId id="2147483471" r:id="rId6"/>
    <p:sldId id="2147483462" r:id="rId7"/>
    <p:sldId id="2147474341" r:id="rId8"/>
    <p:sldId id="2147483473" r:id="rId9"/>
    <p:sldId id="2147483431" r:id="rId10"/>
    <p:sldId id="2147483557" r:id="rId11"/>
    <p:sldId id="379" r:id="rId12"/>
    <p:sldId id="2147483474" r:id="rId13"/>
    <p:sldId id="2147483475" r:id="rId14"/>
    <p:sldId id="2147483448" r:id="rId15"/>
    <p:sldId id="2147483579" r:id="rId16"/>
    <p:sldId id="2147483580" r:id="rId17"/>
    <p:sldId id="2147483581" r:id="rId18"/>
    <p:sldId id="2147483582" r:id="rId19"/>
    <p:sldId id="2147483567" r:id="rId20"/>
    <p:sldId id="2147483569" r:id="rId21"/>
    <p:sldId id="2147483573" r:id="rId22"/>
    <p:sldId id="2147483466" r:id="rId23"/>
    <p:sldId id="2147483563" r:id="rId24"/>
    <p:sldId id="2147483437" r:id="rId25"/>
    <p:sldId id="2147483467" r:id="rId26"/>
    <p:sldId id="2147483412" r:id="rId27"/>
    <p:sldId id="2147483578" r:id="rId28"/>
    <p:sldId id="282" r:id="rId29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301CFF2-61FD-43FE-9704-F85CE437DADD}">
          <p14:sldIdLst>
            <p14:sldId id="276"/>
            <p14:sldId id="295"/>
            <p14:sldId id="2147483417"/>
            <p14:sldId id="300"/>
            <p14:sldId id="2147483471"/>
          </p14:sldIdLst>
        </p14:section>
        <p14:section name="Tester" id="{4D0DA671-996B-4BC3-8546-95107521663B}">
          <p14:sldIdLst>
            <p14:sldId id="2147483462"/>
            <p14:sldId id="2147474341"/>
            <p14:sldId id="2147483473"/>
            <p14:sldId id="2147483431"/>
          </p14:sldIdLst>
        </p14:section>
        <p14:section name="網路場域建置" id="{290C195D-D2FD-424F-B324-5156EC22C134}">
          <p14:sldIdLst>
            <p14:sldId id="2147483557"/>
            <p14:sldId id="379"/>
            <p14:sldId id="2147483474"/>
            <p14:sldId id="2147483475"/>
            <p14:sldId id="2147483448"/>
            <p14:sldId id="2147483579"/>
            <p14:sldId id="2147483580"/>
            <p14:sldId id="2147483581"/>
            <p14:sldId id="2147483582"/>
            <p14:sldId id="2147483567"/>
            <p14:sldId id="2147483569"/>
            <p14:sldId id="2147483573"/>
          </p14:sldIdLst>
        </p14:section>
        <p14:section name="App驗證情境建置" id="{FF8AEC2D-91E5-4D27-9621-8C0E3013F36F}">
          <p14:sldIdLst>
            <p14:sldId id="2147483466"/>
            <p14:sldId id="2147483563"/>
            <p14:sldId id="2147483437"/>
          </p14:sldIdLst>
        </p14:section>
        <p14:section name="Open house 戰情室串接" id="{8941CA1B-121E-454B-9683-1A1ACCF27D37}">
          <p14:sldIdLst>
            <p14:sldId id="2147483467"/>
            <p14:sldId id="2147483412"/>
            <p14:sldId id="2147483578"/>
          </p14:sldIdLst>
        </p14:section>
        <p14:section name="結尾" id="{DA331D1B-E506-404E-82E2-A86B556F95EB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CC"/>
    <a:srgbClr val="ECECEC"/>
    <a:srgbClr val="99FFCC"/>
    <a:srgbClr val="FFCCCC"/>
    <a:srgbClr val="00CCFF"/>
    <a:srgbClr val="FFE8CB"/>
    <a:srgbClr val="BBE0E3"/>
    <a:srgbClr val="E9E8E9"/>
    <a:srgbClr val="FFF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80356" autoAdjust="0"/>
  </p:normalViewPr>
  <p:slideViewPr>
    <p:cSldViewPr snapToGrid="0">
      <p:cViewPr varScale="1">
        <p:scale>
          <a:sx n="88" d="100"/>
          <a:sy n="88" d="100"/>
        </p:scale>
        <p:origin x="210" y="3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650701-39C2-4C39-B774-AC0ACA9B5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159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5D6E0B5-C9D1-4321-9F3E-3F5A2FCA6E31}" type="datetimeFigureOut">
              <a:rPr lang="zh-TW" altLang="en-US"/>
              <a:pPr>
                <a:defRPr/>
              </a:pPr>
              <a:t>2026/9/22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6D86CCB-8F76-4AE6-907E-95309338C6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68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/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B72CC4A-8A72-4F63-9AC3-CC57A94DDDA4}" type="slidenum">
              <a:rPr lang="zh-TW" altLang="en-US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149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P2: </a:t>
            </a:r>
            <a:r>
              <a:rPr lang="zh-TW" altLang="en-US" dirty="0"/>
              <a:t>主要</a:t>
            </a:r>
            <a:r>
              <a:rPr lang="en-US" altLang="zh-TW" dirty="0"/>
              <a:t>focus</a:t>
            </a:r>
            <a:r>
              <a:rPr lang="zh-TW" altLang="en-US" dirty="0"/>
              <a:t>在</a:t>
            </a:r>
            <a:r>
              <a:rPr lang="zh-TW" altLang="en-US" dirty="0">
                <a:highlight>
                  <a:srgbClr val="FFFF00"/>
                </a:highlight>
              </a:rPr>
              <a:t>因應商業模式而有新的情境規劃</a:t>
            </a:r>
            <a:endParaRPr lang="en-US" altLang="zh-TW" dirty="0">
              <a:highlight>
                <a:srgbClr val="FFFF00"/>
              </a:highlight>
            </a:endParaRPr>
          </a:p>
          <a:p>
            <a:endParaRPr lang="en-US" altLang="zh-TW" dirty="0">
              <a:highlight>
                <a:srgbClr val="FFFF00"/>
              </a:highlight>
            </a:endParaRPr>
          </a:p>
          <a:p>
            <a:r>
              <a:rPr lang="en-US" altLang="zh-TW" dirty="0"/>
              <a:t>[</a:t>
            </a:r>
            <a:r>
              <a:rPr lang="zh-TW" altLang="en-US" dirty="0"/>
              <a:t>問題</a:t>
            </a:r>
            <a:r>
              <a:rPr lang="en-US" altLang="zh-TW" dirty="0"/>
              <a:t>1]</a:t>
            </a:r>
            <a:br>
              <a:rPr lang="en-US" altLang="zh-TW" dirty="0"/>
            </a:br>
            <a:r>
              <a:rPr lang="zh-TW" altLang="en-US" dirty="0"/>
              <a:t>請補強 </a:t>
            </a:r>
            <a:r>
              <a:rPr lang="en-US" altLang="zh-TW" dirty="0"/>
              <a:t>AI RAN </a:t>
            </a:r>
            <a:r>
              <a:rPr lang="zh-TW" altLang="en-US" dirty="0"/>
              <a:t>驗測內容與 </a:t>
            </a:r>
            <a:r>
              <a:rPr lang="en-US" altLang="zh-TW" dirty="0"/>
              <a:t>6G AI RAN </a:t>
            </a:r>
            <a:r>
              <a:rPr lang="zh-TW" altLang="en-US" dirty="0"/>
              <a:t>國際標準的關聯性說明，明確釐清現行驗測項目與未來 </a:t>
            </a:r>
            <a:r>
              <a:rPr lang="en-US" altLang="zh-TW" dirty="0"/>
              <a:t>AI RAN </a:t>
            </a:r>
            <a:r>
              <a:rPr lang="zh-TW" altLang="en-US" dirty="0"/>
              <a:t>的對應關係。同時，納入對測試場景與驗測需求的影響，提前定義對應驗測項目與情境假設。</a:t>
            </a:r>
            <a:br>
              <a:rPr lang="zh-TW" altLang="en-US" dirty="0"/>
            </a:br>
            <a:br>
              <a:rPr lang="zh-TW" altLang="en-US" dirty="0"/>
            </a:br>
            <a:r>
              <a:rPr lang="en-US" altLang="zh-TW" dirty="0"/>
              <a:t>[</a:t>
            </a:r>
            <a:r>
              <a:rPr lang="zh-TW" altLang="en-US" dirty="0"/>
              <a:t>回覆假設</a:t>
            </a:r>
            <a:r>
              <a:rPr lang="en-US" altLang="zh-TW" dirty="0"/>
              <a:t>]</a:t>
            </a:r>
            <a:br>
              <a:rPr lang="en-US" altLang="zh-TW" dirty="0"/>
            </a:br>
            <a:r>
              <a:rPr lang="zh-TW" altLang="en-US" dirty="0"/>
              <a:t>提問者關切</a:t>
            </a:r>
            <a:r>
              <a:rPr lang="en-US" altLang="zh-TW" dirty="0"/>
              <a:t>:</a:t>
            </a:r>
            <a:r>
              <a:rPr lang="zh-TW" altLang="en-US" dirty="0"/>
              <a:t>現行 </a:t>
            </a:r>
            <a:r>
              <a:rPr lang="en-US" altLang="zh-TW" dirty="0"/>
              <a:t>AI RAN </a:t>
            </a:r>
            <a:r>
              <a:rPr lang="zh-TW" altLang="en-US" dirty="0"/>
              <a:t>驗測投入，是否能銜接未來 </a:t>
            </a:r>
            <a:r>
              <a:rPr lang="en-US" altLang="zh-TW" dirty="0"/>
              <a:t>6G AI RAN </a:t>
            </a:r>
            <a:r>
              <a:rPr lang="zh-TW" altLang="en-US" dirty="0"/>
              <a:t>國際標準</a:t>
            </a:r>
            <a:r>
              <a:rPr lang="en-US" altLang="zh-TW" dirty="0"/>
              <a:t>?</a:t>
            </a:r>
            <a:r>
              <a:rPr lang="zh-TW" altLang="en-US" dirty="0"/>
              <a:t>測試場景與情境是否已預先因應未來需求</a:t>
            </a:r>
            <a:r>
              <a:rPr lang="en-US" altLang="zh-TW" dirty="0"/>
              <a:t>?</a:t>
            </a:r>
            <a:r>
              <a:rPr lang="zh-TW" altLang="en-US" dirty="0"/>
              <a:t>故須說明「現在做得對」「未來跟得上」「情境準備好」三件事，讓投資人安心。</a:t>
            </a:r>
            <a:br>
              <a:rPr lang="zh-TW" altLang="en-US" dirty="0"/>
            </a:br>
            <a:br>
              <a:rPr lang="zh-TW" altLang="en-US" dirty="0"/>
            </a:br>
            <a:r>
              <a:rPr lang="en-US" altLang="zh-TW" dirty="0"/>
              <a:t>[</a:t>
            </a:r>
            <a:r>
              <a:rPr lang="zh-TW" altLang="en-US" dirty="0"/>
              <a:t>回覆邏輯</a:t>
            </a:r>
            <a:r>
              <a:rPr lang="en-US" altLang="zh-TW" dirty="0"/>
              <a:t>1]</a:t>
            </a:r>
            <a:br>
              <a:rPr lang="en-US" altLang="zh-TW" dirty="0"/>
            </a:br>
            <a:r>
              <a:rPr lang="zh-TW" altLang="en-US" dirty="0"/>
              <a:t>現有驗測量能</a:t>
            </a:r>
            <a:r>
              <a:rPr lang="en-US" altLang="zh-TW" dirty="0"/>
              <a:t>(</a:t>
            </a:r>
            <a:r>
              <a:rPr lang="zh-TW" altLang="en-US" dirty="0"/>
              <a:t>以 </a:t>
            </a:r>
            <a:r>
              <a:rPr lang="en-US" altLang="zh-TW" dirty="0"/>
              <a:t>RIC/</a:t>
            </a:r>
            <a:r>
              <a:rPr lang="en-US" altLang="zh-TW" dirty="0" err="1"/>
              <a:t>xApp</a:t>
            </a:r>
            <a:r>
              <a:rPr lang="en-US" altLang="zh-TW" dirty="0"/>
              <a:t>/</a:t>
            </a:r>
            <a:r>
              <a:rPr lang="en-US" altLang="zh-TW" dirty="0" err="1"/>
              <a:t>rApp</a:t>
            </a:r>
            <a:r>
              <a:rPr lang="en-US" altLang="zh-TW" dirty="0"/>
              <a:t> </a:t>
            </a:r>
            <a:r>
              <a:rPr lang="zh-TW" altLang="en-US" dirty="0"/>
              <a:t>為優先標的，依 </a:t>
            </a:r>
            <a:r>
              <a:rPr lang="en-US" altLang="zh-TW" dirty="0"/>
              <a:t>O-RAN </a:t>
            </a:r>
            <a:r>
              <a:rPr lang="zh-TW" altLang="en-US" dirty="0"/>
              <a:t>國際標準</a:t>
            </a:r>
            <a:r>
              <a:rPr lang="en-US" altLang="zh-TW" dirty="0"/>
              <a:t>)→ </a:t>
            </a:r>
            <a:r>
              <a:rPr lang="zh-TW" altLang="en-US" dirty="0"/>
              <a:t>國際標準同步銜接</a:t>
            </a:r>
            <a:r>
              <a:rPr lang="en-US" altLang="zh-TW" dirty="0"/>
              <a:t>(</a:t>
            </a:r>
            <a:r>
              <a:rPr lang="zh-TW" altLang="en-US" dirty="0"/>
              <a:t>追蹤 </a:t>
            </a:r>
            <a:r>
              <a:rPr lang="en-US" altLang="zh-TW" dirty="0"/>
              <a:t>AI RAN Alliance</a:t>
            </a:r>
            <a:r>
              <a:rPr lang="zh-TW" altLang="en-US" dirty="0"/>
              <a:t>，規範發布後陸續評估納入</a:t>
            </a:r>
            <a:r>
              <a:rPr lang="en-US" altLang="zh-TW" dirty="0"/>
              <a:t>)→ </a:t>
            </a:r>
            <a:r>
              <a:rPr lang="zh-TW" altLang="en-US" dirty="0"/>
              <a:t>未來情境超前佈建</a:t>
            </a:r>
            <a:r>
              <a:rPr lang="en-US" altLang="zh-TW" dirty="0"/>
              <a:t>(</a:t>
            </a:r>
            <a:r>
              <a:rPr lang="zh-TW" altLang="en-US" dirty="0"/>
              <a:t>實驗網</a:t>
            </a:r>
            <a:r>
              <a:rPr lang="en-US" altLang="zh-TW" dirty="0"/>
              <a:t>+</a:t>
            </a:r>
            <a:r>
              <a:rPr lang="zh-TW" altLang="en-US" dirty="0"/>
              <a:t>模擬器預先模擬大規模動態場景，並驗 </a:t>
            </a:r>
            <a:r>
              <a:rPr lang="en-US" altLang="zh-TW" dirty="0"/>
              <a:t>AI/ML </a:t>
            </a:r>
            <a:r>
              <a:rPr lang="zh-TW" altLang="en-US" dirty="0"/>
              <a:t>特有指標</a:t>
            </a:r>
            <a:r>
              <a:rPr lang="en-US" altLang="zh-TW" dirty="0"/>
              <a:t>)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[</a:t>
            </a:r>
            <a:r>
              <a:rPr lang="zh-TW" altLang="en-US" dirty="0"/>
              <a:t>回答</a:t>
            </a:r>
            <a:r>
              <a:rPr lang="en-US" altLang="zh-TW" dirty="0"/>
              <a:t>1]</a:t>
            </a:r>
            <a:br>
              <a:rPr lang="en-US" altLang="zh-TW" dirty="0"/>
            </a:br>
            <a:r>
              <a:rPr lang="zh-TW" altLang="en-US" dirty="0"/>
              <a:t>本實驗室目前以 </a:t>
            </a:r>
            <a:r>
              <a:rPr lang="en-US" altLang="zh-TW" dirty="0"/>
              <a:t>RIC </a:t>
            </a:r>
            <a:r>
              <a:rPr lang="zh-TW" altLang="en-US" dirty="0"/>
              <a:t>平台與 </a:t>
            </a:r>
            <a:r>
              <a:rPr lang="en-US" altLang="zh-TW" dirty="0" err="1"/>
              <a:t>xApp</a:t>
            </a:r>
            <a:r>
              <a:rPr lang="en-US" altLang="zh-TW" dirty="0"/>
              <a:t>/</a:t>
            </a:r>
            <a:r>
              <a:rPr lang="en-US" altLang="zh-TW" dirty="0" err="1"/>
              <a:t>rApp</a:t>
            </a:r>
            <a:r>
              <a:rPr lang="en-US" altLang="zh-TW" dirty="0"/>
              <a:t> </a:t>
            </a:r>
            <a:r>
              <a:rPr lang="zh-TW" altLang="en-US" dirty="0"/>
              <a:t>作為 </a:t>
            </a:r>
            <a:r>
              <a:rPr lang="en-US" altLang="zh-TW" dirty="0"/>
              <a:t>AI RAN </a:t>
            </a:r>
            <a:r>
              <a:rPr lang="zh-TW" altLang="en-US" dirty="0"/>
              <a:t>核心元件之現階段優先驗測標的，測試案例皆依循 </a:t>
            </a:r>
            <a:r>
              <a:rPr lang="en-US" altLang="zh-TW" dirty="0"/>
              <a:t>O-RAN </a:t>
            </a:r>
            <a:r>
              <a:rPr lang="zh-TW" altLang="en-US" dirty="0"/>
              <a:t>既有國際標準撰寫</a:t>
            </a:r>
            <a:r>
              <a:rPr lang="en-US" altLang="zh-TW" dirty="0"/>
              <a:t>;</a:t>
            </a:r>
            <a:r>
              <a:rPr lang="zh-TW" altLang="en-US" dirty="0"/>
              <a:t>由於 </a:t>
            </a:r>
            <a:r>
              <a:rPr lang="en-US" altLang="zh-TW" dirty="0"/>
              <a:t>RIC </a:t>
            </a:r>
            <a:r>
              <a:rPr lang="zh-TW" altLang="en-US" dirty="0"/>
              <a:t>平台與 </a:t>
            </a:r>
            <a:r>
              <a:rPr lang="en-US" altLang="zh-TW" dirty="0" err="1"/>
              <a:t>xApp</a:t>
            </a:r>
            <a:r>
              <a:rPr lang="en-US" altLang="zh-TW" dirty="0"/>
              <a:t>/</a:t>
            </a:r>
            <a:r>
              <a:rPr lang="en-US" altLang="zh-TW" dirty="0" err="1"/>
              <a:t>rApp</a:t>
            </a:r>
            <a:r>
              <a:rPr lang="en-US" altLang="zh-TW" dirty="0"/>
              <a:t> </a:t>
            </a:r>
            <a:r>
              <a:rPr lang="zh-TW" altLang="en-US" dirty="0"/>
              <a:t>為 </a:t>
            </a:r>
            <a:r>
              <a:rPr lang="en-US" altLang="zh-TW" dirty="0"/>
              <a:t>6G AI RAN </a:t>
            </a:r>
            <a:r>
              <a:rPr lang="zh-TW" altLang="en-US" dirty="0"/>
              <a:t>預期延續之核心架構，現行驗測能量可作為未來 </a:t>
            </a:r>
            <a:r>
              <a:rPr lang="en-US" altLang="zh-TW" dirty="0"/>
              <a:t>AI RAN </a:t>
            </a:r>
            <a:r>
              <a:rPr lang="zh-TW" altLang="en-US" dirty="0"/>
              <a:t>驗測之基礎。針對 </a:t>
            </a:r>
            <a:r>
              <a:rPr lang="en-US" altLang="zh-TW" dirty="0"/>
              <a:t>AI RAN Alliance </a:t>
            </a:r>
            <a:r>
              <a:rPr lang="zh-TW" altLang="en-US" dirty="0"/>
              <a:t>測試相關工作組尚未發布之測試規範，本實驗室持續追蹤，待其正式公布後即陸續評估納入測試工具開發，使現行驗測項目能順利銜接至未來 </a:t>
            </a:r>
            <a:r>
              <a:rPr lang="en-US" altLang="zh-TW" dirty="0"/>
              <a:t>6G AI RAN</a:t>
            </a:r>
            <a:r>
              <a:rPr lang="zh-TW" altLang="en-US" dirty="0"/>
              <a:t>。測試場景方面，實驗網已部署室內與室外基地台，並以模擬器擴展至 </a:t>
            </a:r>
            <a:r>
              <a:rPr lang="en-US" altLang="zh-TW" dirty="0"/>
              <a:t>200 </a:t>
            </a:r>
            <a:r>
              <a:rPr lang="zh-TW" altLang="en-US" dirty="0"/>
              <a:t>至 </a:t>
            </a:r>
            <a:r>
              <a:rPr lang="en-US" altLang="zh-TW" dirty="0"/>
              <a:t>300 </a:t>
            </a:r>
            <a:r>
              <a:rPr lang="zh-TW" altLang="en-US" dirty="0"/>
              <a:t>台基地台規模，情境假設涵蓋使用者裝置動態移動與多基地台同時傳輸資料，並針對 </a:t>
            </a:r>
            <a:r>
              <a:rPr lang="en-US" altLang="zh-TW" dirty="0"/>
              <a:t>AI/ML </a:t>
            </a:r>
            <a:r>
              <a:rPr lang="zh-TW" altLang="en-US" dirty="0"/>
              <a:t>模型決策準確度、推論延遲與能效優化效益等 </a:t>
            </a:r>
            <a:r>
              <a:rPr lang="en-US" altLang="zh-TW" dirty="0"/>
              <a:t>AI RAN </a:t>
            </a:r>
            <a:r>
              <a:rPr lang="zh-TW" altLang="en-US" dirty="0"/>
              <a:t>特有指標進行驗測，作為未來 </a:t>
            </a:r>
            <a:r>
              <a:rPr lang="en-US" altLang="zh-TW" dirty="0"/>
              <a:t>AI RAN </a:t>
            </a:r>
            <a:r>
              <a:rPr lang="zh-TW" altLang="en-US" dirty="0"/>
              <a:t>驗測項目與情境之預先定義。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===</a:t>
            </a:r>
            <a:br>
              <a:rPr lang="en-US" altLang="zh-TW" dirty="0"/>
            </a:br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5AE93-66EA-4969-8B6F-8FAF56ABEA4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774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D86CCB-8F76-4AE6-907E-95309338C679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9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D86CCB-8F76-4AE6-907E-95309338C679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705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D86CCB-8F76-4AE6-907E-95309338C679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470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本頁說明計畫目標：</a:t>
            </a:r>
            <a:r>
              <a:rPr lang="en-US" altLang="zh-TW" dirty="0"/>
              <a:t>RAN</a:t>
            </a:r>
            <a:r>
              <a:rPr lang="zh-TW" altLang="en-US" dirty="0"/>
              <a:t> </a:t>
            </a:r>
            <a:r>
              <a:rPr lang="en-US" altLang="zh-TW" dirty="0"/>
              <a:t>Emulator </a:t>
            </a:r>
            <a:r>
              <a:rPr lang="zh-TW" altLang="en-US" dirty="0"/>
              <a:t>會與 </a:t>
            </a:r>
            <a:r>
              <a:rPr lang="en-US" altLang="zh-TW" dirty="0"/>
              <a:t>SMO/RIC </a:t>
            </a:r>
            <a:r>
              <a:rPr lang="zh-TW" altLang="en-US" dirty="0"/>
              <a:t>串接，讓 </a:t>
            </a:r>
            <a:r>
              <a:rPr lang="en-US" altLang="zh-TW" dirty="0"/>
              <a:t>SMO/RIC </a:t>
            </a:r>
            <a:r>
              <a:rPr lang="zh-TW" altLang="en-US" dirty="0"/>
              <a:t>底下看起來有大量場域可被管理。例如展示時可呈現 </a:t>
            </a:r>
            <a:r>
              <a:rPr lang="en-US" altLang="zh-TW" dirty="0"/>
              <a:t>100 </a:t>
            </a:r>
            <a:r>
              <a:rPr lang="zh-TW" altLang="en-US" dirty="0"/>
              <a:t>個場域，其中 </a:t>
            </a:r>
            <a:r>
              <a:rPr lang="en-US" altLang="zh-TW" dirty="0"/>
              <a:t>5 </a:t>
            </a:r>
            <a:r>
              <a:rPr lang="zh-TW" altLang="en-US" dirty="0"/>
              <a:t>個是真實場域，另外 </a:t>
            </a:r>
            <a:r>
              <a:rPr lang="en-US" altLang="zh-TW" dirty="0"/>
              <a:t>95 </a:t>
            </a:r>
            <a:r>
              <a:rPr lang="zh-TW" altLang="en-US" dirty="0"/>
              <a:t>個由 </a:t>
            </a:r>
            <a:r>
              <a:rPr lang="en-US" altLang="zh-TW" dirty="0"/>
              <a:t>RAN Emulator </a:t>
            </a:r>
            <a:r>
              <a:rPr lang="zh-TW" altLang="en-US" dirty="0"/>
              <a:t>依據實測資料與校正模型模擬產生。使用方式是先建立或匯入場域拓樸，設定 </a:t>
            </a:r>
            <a:r>
              <a:rPr lang="en-US" altLang="zh-TW" dirty="0"/>
              <a:t>RU/UE</a:t>
            </a:r>
            <a:r>
              <a:rPr lang="zh-TW" altLang="en-US" dirty="0"/>
              <a:t>、流量、移動、</a:t>
            </a:r>
            <a:r>
              <a:rPr lang="en-US" altLang="zh-TW" dirty="0"/>
              <a:t>Tx</a:t>
            </a:r>
            <a:r>
              <a:rPr lang="zh-TW" altLang="en-US" dirty="0"/>
              <a:t> </a:t>
            </a:r>
            <a:r>
              <a:rPr lang="en-US" altLang="zh-TW" dirty="0"/>
              <a:t>Power </a:t>
            </a:r>
            <a:r>
              <a:rPr lang="zh-TW" altLang="en-US" dirty="0"/>
              <a:t>與干擾條件，啟動模擬後透過 </a:t>
            </a:r>
            <a:r>
              <a:rPr lang="en-US" altLang="zh-TW" dirty="0"/>
              <a:t>API </a:t>
            </a:r>
            <a:r>
              <a:rPr lang="zh-TW" altLang="en-US" dirty="0"/>
              <a:t>或 </a:t>
            </a:r>
            <a:r>
              <a:rPr lang="en-US" altLang="zh-TW" dirty="0"/>
              <a:t>Agent </a:t>
            </a:r>
            <a:r>
              <a:rPr lang="zh-TW" altLang="en-US" dirty="0"/>
              <a:t>對接 </a:t>
            </a:r>
            <a:r>
              <a:rPr lang="en-US" altLang="zh-TW" dirty="0"/>
              <a:t>SMO/RIC</a:t>
            </a:r>
            <a:r>
              <a:rPr lang="zh-TW" altLang="en-US" dirty="0"/>
              <a:t>，最後觀察 </a:t>
            </a:r>
            <a:r>
              <a:rPr lang="en-US" altLang="zh-TW" dirty="0"/>
              <a:t>KPI</a:t>
            </a:r>
            <a:r>
              <a:rPr lang="zh-TW" altLang="en-US" dirty="0"/>
              <a:t>、事件與策略下發結果，驗證多場域管理能力。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EC617-3EB3-4F56-98AB-89085A5FAA8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779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12192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4" name="Rectangle 2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53791" y="5059680"/>
            <a:ext cx="6770872" cy="755904"/>
          </a:xfrm>
        </p:spPr>
        <p:txBody>
          <a:bodyPr anchor="b" anchorCtr="0"/>
          <a:lstStyle>
            <a:lvl1pPr marL="0" indent="0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TW" altLang="en-US" sz="2000" dirty="0"/>
              <a:t>簡報單位 簡報人名稱</a:t>
            </a:r>
            <a:r>
              <a:rPr lang="en-US" altLang="zh-TW" sz="2000" dirty="0"/>
              <a:t> </a:t>
            </a:r>
            <a:r>
              <a:rPr lang="zh-TW" altLang="en-US" sz="2000" dirty="0"/>
              <a:t>職稱</a:t>
            </a:r>
            <a:endParaRPr lang="en-US" altLang="zh-TW" sz="2000" dirty="0"/>
          </a:p>
        </p:txBody>
      </p:sp>
      <p:sp>
        <p:nvSpPr>
          <p:cNvPr id="18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853790" y="5902262"/>
            <a:ext cx="2788603" cy="43230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簡報日期</a:t>
            </a:r>
          </a:p>
        </p:txBody>
      </p:sp>
      <p:pic>
        <p:nvPicPr>
          <p:cNvPr id="13" name="Picture 28" descr="itri_CEL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354013"/>
            <a:ext cx="26527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48"/>
          <p:cNvSpPr txBox="1">
            <a:spLocks noChangeArrowheads="1"/>
          </p:cNvSpPr>
          <p:nvPr userDrawn="1"/>
        </p:nvSpPr>
        <p:spPr bwMode="auto">
          <a:xfrm>
            <a:off x="-11500" y="6610192"/>
            <a:ext cx="71219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/>
            <a:r>
              <a:rPr lang="zh-TW" altLang="en-US" sz="1000" dirty="0">
                <a:solidFill>
                  <a:schemeClr val="bg1"/>
                </a:solidFill>
                <a:latin typeface="+mj-ea"/>
                <a:ea typeface="+mj-ea"/>
              </a:rPr>
              <a:t>工業技術研究院機密資料 禁止複製、轉載、外流 </a:t>
            </a:r>
            <a:r>
              <a:rPr lang="en-US" altLang="zh-TW" sz="1000" dirty="0">
                <a:solidFill>
                  <a:schemeClr val="bg1"/>
                </a:solidFill>
                <a:latin typeface="+mj-ea"/>
                <a:ea typeface="+mj-ea"/>
              </a:rPr>
              <a:t>ITRI CONFIDENTIAL DOCUMENT DO NOT COPY OR DISTRIBUTE</a:t>
            </a:r>
          </a:p>
        </p:txBody>
      </p:sp>
      <p:pic>
        <p:nvPicPr>
          <p:cNvPr id="22" name="圖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365" y="254786"/>
            <a:ext cx="682734" cy="31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25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3C6A14A8-08BD-F52A-259C-4C9E3B051C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14808" y="6619876"/>
            <a:ext cx="571500" cy="236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61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1" y="1439864"/>
            <a:ext cx="7981506" cy="4757737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圖片版面配置區 2"/>
          <p:cNvSpPr>
            <a:spLocks noGrp="1"/>
          </p:cNvSpPr>
          <p:nvPr>
            <p:ph type="pic" idx="11"/>
          </p:nvPr>
        </p:nvSpPr>
        <p:spPr>
          <a:xfrm>
            <a:off x="8825023" y="1439864"/>
            <a:ext cx="2822033" cy="47577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7C6C1BB7-F1AE-E019-B421-497BFDC240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30000" y="6619878"/>
            <a:ext cx="7620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63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39865"/>
            <a:ext cx="11037455" cy="2855688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圖片版面配置區 2"/>
          <p:cNvSpPr>
            <a:spLocks noGrp="1"/>
          </p:cNvSpPr>
          <p:nvPr>
            <p:ph type="pic" idx="11"/>
          </p:nvPr>
        </p:nvSpPr>
        <p:spPr>
          <a:xfrm>
            <a:off x="609601" y="4444409"/>
            <a:ext cx="11037456" cy="1753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0FE93D7C-3264-76B3-392A-85BF3C0816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30000" y="6619878"/>
            <a:ext cx="7620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88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2" y="1439864"/>
            <a:ext cx="5473700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86502" y="1439864"/>
            <a:ext cx="5475817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545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010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64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372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12192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601133" y="264920"/>
            <a:ext cx="11045923" cy="941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439864"/>
            <a:ext cx="11037455" cy="47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9743" name="Rectangle 4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30000" y="6619878"/>
            <a:ext cx="7620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1036" name="Text Box 52"/>
          <p:cNvSpPr txBox="1">
            <a:spLocks noChangeArrowheads="1"/>
          </p:cNvSpPr>
          <p:nvPr/>
        </p:nvSpPr>
        <p:spPr bwMode="auto">
          <a:xfrm>
            <a:off x="0" y="7200900"/>
            <a:ext cx="721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zh-TW" altLang="en-US" sz="2400" dirty="0">
                <a:solidFill>
                  <a:schemeClr val="tx1"/>
                </a:solidFill>
                <a:ea typeface="微軟正黑體" panose="020B0604030504040204" pitchFamily="34" charset="-120"/>
              </a:rPr>
              <a:t>建議字型：中文微軟正黑體，英文</a:t>
            </a:r>
            <a:r>
              <a:rPr lang="en-US" altLang="zh-TW" sz="2400" dirty="0">
                <a:solidFill>
                  <a:schemeClr val="tx1"/>
                </a:solidFill>
                <a:ea typeface="微軟正黑體" panose="020B0604030504040204" pitchFamily="34" charset="-120"/>
              </a:rPr>
              <a:t>Arial</a:t>
            </a:r>
          </a:p>
        </p:txBody>
      </p:sp>
      <p:pic>
        <p:nvPicPr>
          <p:cNvPr id="14" name="Picture 28" descr="itri_CEL_A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4178" y="6159948"/>
            <a:ext cx="1476375" cy="3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48"/>
          <p:cNvSpPr txBox="1">
            <a:spLocks noChangeArrowheads="1"/>
          </p:cNvSpPr>
          <p:nvPr userDrawn="1"/>
        </p:nvSpPr>
        <p:spPr bwMode="auto">
          <a:xfrm>
            <a:off x="-11500" y="6610192"/>
            <a:ext cx="71219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/>
            <a:r>
              <a:rPr lang="zh-TW" altLang="en-US" sz="1000" dirty="0">
                <a:solidFill>
                  <a:schemeClr val="bg1"/>
                </a:solidFill>
                <a:latin typeface="+mj-ea"/>
                <a:ea typeface="+mj-ea"/>
              </a:rPr>
              <a:t>工業技術研究院機密資料 禁止複製、轉載、外流 </a:t>
            </a:r>
            <a:r>
              <a:rPr lang="en-US" altLang="zh-TW" sz="1000" dirty="0">
                <a:solidFill>
                  <a:schemeClr val="bg1"/>
                </a:solidFill>
                <a:latin typeface="+mj-ea"/>
                <a:ea typeface="+mj-ea"/>
              </a:rPr>
              <a:t>ITRI CONFIDENTIAL DOCUMENT DO NOT COPY OR DISTRIBUTE</a:t>
            </a:r>
          </a:p>
        </p:txBody>
      </p:sp>
      <p:pic>
        <p:nvPicPr>
          <p:cNvPr id="16" name="圖片 15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365" y="254786"/>
            <a:ext cx="682734" cy="31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03" r:id="rId2"/>
    <p:sldLayoutId id="2147483914" r:id="rId3"/>
    <p:sldLayoutId id="2147483915" r:id="rId4"/>
    <p:sldLayoutId id="2147483905" r:id="rId5"/>
    <p:sldLayoutId id="2147483906" r:id="rId6"/>
    <p:sldLayoutId id="2147483907" r:id="rId7"/>
    <p:sldLayoutId id="2147483908" r:id="rId8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23.png"/><Relationship Id="rId12" Type="http://schemas.openxmlformats.org/officeDocument/2006/relationships/image" Target="../media/image3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6.png"/><Relationship Id="rId5" Type="http://schemas.openxmlformats.org/officeDocument/2006/relationships/image" Target="../media/image33.png"/><Relationship Id="rId10" Type="http://schemas.openxmlformats.org/officeDocument/2006/relationships/image" Target="../media/image45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idx="4294967295"/>
          </p:nvPr>
        </p:nvSpPr>
        <p:spPr>
          <a:xfrm>
            <a:off x="667265" y="2584703"/>
            <a:ext cx="11195221" cy="1219201"/>
          </a:xfrm>
        </p:spPr>
        <p:txBody>
          <a:bodyPr/>
          <a:lstStyle/>
          <a:p>
            <a:pPr algn="ctr"/>
            <a:r>
              <a:rPr lang="en-US" altLang="zh-TW" sz="3600" b="1" dirty="0"/>
              <a:t>FY115 6G</a:t>
            </a:r>
            <a:r>
              <a:rPr lang="zh-TW" altLang="en-US" sz="3600" b="1" dirty="0"/>
              <a:t>與衛星地面設備國際合作暨實驗網計畫</a:t>
            </a:r>
            <a:r>
              <a:rPr lang="en-US" altLang="zh-TW" sz="3600" b="1" dirty="0"/>
              <a:t>(1/4)</a:t>
            </a:r>
            <a:br>
              <a:rPr lang="zh-TW" altLang="en-US" sz="3600" b="1" dirty="0"/>
            </a:br>
            <a:r>
              <a:rPr lang="zh-TW" altLang="en-US" sz="3600" b="1" dirty="0"/>
              <a:t>檢視會議</a:t>
            </a:r>
            <a:endParaRPr lang="zh-TW" altLang="en-US" b="1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2"/>
          </p:nvPr>
        </p:nvSpPr>
        <p:spPr>
          <a:xfrm>
            <a:off x="4870573" y="5716912"/>
            <a:ext cx="2788603" cy="432303"/>
          </a:xfrm>
        </p:spPr>
        <p:txBody>
          <a:bodyPr/>
          <a:lstStyle/>
          <a:p>
            <a:pPr algn="ctr"/>
            <a:r>
              <a:rPr lang="en-US" altLang="zh-TW" sz="2000" b="1" dirty="0">
                <a:latin typeface="+mn-ea"/>
              </a:rPr>
              <a:t>115/09/22</a:t>
            </a:r>
            <a:endParaRPr lang="zh-TW" altLang="en-US" sz="2000" b="1" dirty="0">
              <a:latin typeface="+mn-ea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4E61688-051F-DC6D-7CD6-D1F887BA5D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4808" y="6619876"/>
            <a:ext cx="571500" cy="236538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1456A0-490D-92DC-5C11-6D367A73E2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7" name="標題 4">
            <a:extLst>
              <a:ext uri="{FF2B5EF4-FFF2-40B4-BE49-F238E27FC236}">
                <a16:creationId xmlns:a16="http://schemas.microsoft.com/office/drawing/2014/main" id="{CDAC8F5F-EDDB-A836-BFB8-DEA3A1C052EC}"/>
              </a:ext>
            </a:extLst>
          </p:cNvPr>
          <p:cNvSpPr txBox="1">
            <a:spLocks/>
          </p:cNvSpPr>
          <p:nvPr/>
        </p:nvSpPr>
        <p:spPr>
          <a:xfrm>
            <a:off x="831850" y="1736727"/>
            <a:ext cx="10515600" cy="1772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zh-TW" dirty="0">
                <a:latin typeface="微軟正黑體" panose="020B0604030504040204" pitchFamily="34" charset="-120"/>
              </a:rPr>
              <a:t>2.3</a:t>
            </a:r>
            <a:br>
              <a:rPr kumimoji="0" lang="en-US" altLang="zh-TW" dirty="0">
                <a:latin typeface="微軟正黑體" panose="020B0604030504040204" pitchFamily="34" charset="-120"/>
              </a:rPr>
            </a:br>
            <a:r>
              <a:rPr kumimoji="0" lang="zh-TW" altLang="en-US" dirty="0">
                <a:latin typeface="微軟正黑體" panose="020B0604030504040204" pitchFamily="34" charset="-120"/>
              </a:rPr>
              <a:t>智慧網路實驗網</a:t>
            </a:r>
          </a:p>
        </p:txBody>
      </p:sp>
      <p:sp>
        <p:nvSpPr>
          <p:cNvPr id="8" name="標題 4">
            <a:extLst>
              <a:ext uri="{FF2B5EF4-FFF2-40B4-BE49-F238E27FC236}">
                <a16:creationId xmlns:a16="http://schemas.microsoft.com/office/drawing/2014/main" id="{23606197-7601-D210-487E-AE636767FDAB}"/>
              </a:ext>
            </a:extLst>
          </p:cNvPr>
          <p:cNvSpPr txBox="1">
            <a:spLocks/>
          </p:cNvSpPr>
          <p:nvPr/>
        </p:nvSpPr>
        <p:spPr>
          <a:xfrm>
            <a:off x="838200" y="3860561"/>
            <a:ext cx="10515600" cy="6264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zh-TW" altLang="en-US" sz="2800" dirty="0">
                <a:solidFill>
                  <a:prstClr val="black"/>
                </a:solidFill>
                <a:latin typeface="微軟正黑體" panose="020B0604030504040204" pitchFamily="34" charset="-120"/>
              </a:rPr>
              <a:t>報告人：莊雨樵</a:t>
            </a:r>
            <a:endParaRPr kumimoji="0" lang="en-US" altLang="zh-TW" sz="2800" dirty="0">
              <a:solidFill>
                <a:prstClr val="black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806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3F0C1F5-DABB-4191-9F9C-801D7EBA2098}"/>
              </a:ext>
            </a:extLst>
          </p:cNvPr>
          <p:cNvSpPr/>
          <p:nvPr/>
        </p:nvSpPr>
        <p:spPr>
          <a:xfrm>
            <a:off x="794" y="97059"/>
            <a:ext cx="12190413" cy="575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3200" b="1" dirty="0">
                <a:solidFill>
                  <a:srgbClr val="000099"/>
                </a:solidFill>
                <a:latin typeface="+mj-lt"/>
                <a:ea typeface="+mj-ea"/>
                <a:cs typeface="Calibri" panose="020F0502020204030204" pitchFamily="34" charset="0"/>
              </a:rPr>
              <a:t>會議紀錄暨追蹤事項回覆</a:t>
            </a:r>
            <a:endParaRPr kumimoji="0" lang="zh-TW" altLang="en-US" sz="3200" b="1" i="0" u="none" strike="noStrike" kern="1200" cap="none" spc="0" normalizeH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+mj-ea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7A4323-F789-4026-B4F8-2AFC6176AF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8700378"/>
              </p:ext>
            </p:extLst>
          </p:nvPr>
        </p:nvGraphicFramePr>
        <p:xfrm>
          <a:off x="44450" y="673032"/>
          <a:ext cx="12052300" cy="3459278"/>
        </p:xfrm>
        <a:graphic>
          <a:graphicData uri="http://schemas.openxmlformats.org/drawingml/2006/table">
            <a:tbl>
              <a:tblPr firstRow="1" bandRow="1"/>
              <a:tblGrid>
                <a:gridCol w="711200">
                  <a:extLst>
                    <a:ext uri="{9D8B030D-6E8A-4147-A177-3AD203B41FA5}">
                      <a16:colId xmlns:a16="http://schemas.microsoft.com/office/drawing/2014/main" val="2128863349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750174270"/>
                    </a:ext>
                  </a:extLst>
                </a:gridCol>
                <a:gridCol w="7975600">
                  <a:extLst>
                    <a:ext uri="{9D8B030D-6E8A-4147-A177-3AD203B41FA5}">
                      <a16:colId xmlns:a16="http://schemas.microsoft.com/office/drawing/2014/main" val="2090085305"/>
                    </a:ext>
                  </a:extLst>
                </a:gridCol>
              </a:tblGrid>
              <a:tr h="2676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2000" baseline="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項目</a:t>
                      </a:r>
                      <a:endParaRPr lang="en-US" sz="2000" baseline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sz="2000" baseline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 Items</a:t>
                      </a:r>
                      <a:endParaRPr lang="en-US" sz="2000" baseline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2000" baseline="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執行進度</a:t>
                      </a:r>
                      <a:r>
                        <a:rPr lang="en-US" altLang="zh-TW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2000" baseline="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解決方案</a:t>
                      </a:r>
                      <a:r>
                        <a:rPr lang="en-US" altLang="zh-TW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2000" baseline="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任務分配等說明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703078"/>
                  </a:ext>
                </a:extLst>
              </a:tr>
              <a:tr h="3063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sz="2000" baseline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000" baseline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請規劃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RAN Emulator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產品化發展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Roadmap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，明確</a:t>
                      </a:r>
                      <a:r>
                        <a:rPr lang="zh-TW" altLang="en-US" sz="18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定義產品規格、功能範疇及應用情境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，並朝「固定場域模板」及「彈性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自訂模板」兩類架構發展；固定模板可涵蓋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Urban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Suburban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Rural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Indoor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等代表性場域，並評估鏈結電信營運商實際網路部署資訊，提升</a:t>
                      </a:r>
                      <a:r>
                        <a:rPr lang="zh-TW" altLang="en-US" sz="18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模擬真實性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後續簡報中</a:t>
                      </a:r>
                      <a:r>
                        <a:rPr lang="en-US" altLang="zh-TW" sz="18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RAN Emulator</a:t>
                      </a:r>
                      <a:r>
                        <a:rPr lang="zh-TW" altLang="en-US" sz="18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說明功能模組與規格說明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955350"/>
                  </a:ext>
                </a:extLst>
              </a:tr>
            </a:tbl>
          </a:graphicData>
        </a:graphic>
      </p:graphicFrame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76C83A2F-85C1-4CD5-5AE2-55593EAC1E8A}"/>
              </a:ext>
            </a:extLst>
          </p:cNvPr>
          <p:cNvSpPr txBox="1">
            <a:spLocks/>
          </p:cNvSpPr>
          <p:nvPr/>
        </p:nvSpPr>
        <p:spPr bwMode="auto">
          <a:xfrm>
            <a:off x="11614808" y="6619876"/>
            <a:ext cx="571500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ctr" hangingPunct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1678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2EA6DE-1585-F6A3-A0CA-3A528296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b="1" dirty="0">
                <a:latin typeface="微軟正黑體" panose="020B0604030504040204" pitchFamily="34" charset="-120"/>
              </a:rPr>
              <a:t>2.3</a:t>
            </a:r>
            <a:r>
              <a:rPr kumimoji="0" lang="zh-TW" altLang="en-US" b="1" dirty="0">
                <a:latin typeface="微軟正黑體" panose="020B0604030504040204" pitchFamily="34" charset="-120"/>
              </a:rPr>
              <a:t> 智慧網路實驗網</a:t>
            </a:r>
            <a:endParaRPr lang="zh-TW" altLang="en-US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D153B3-33F6-6D64-486F-F9A2E0451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8280684-3CD4-DE94-10B8-9B812ECB5E50}"/>
              </a:ext>
            </a:extLst>
          </p:cNvPr>
          <p:cNvSpPr/>
          <p:nvPr/>
        </p:nvSpPr>
        <p:spPr>
          <a:xfrm>
            <a:off x="893011" y="1233134"/>
            <a:ext cx="10721797" cy="817802"/>
          </a:xfrm>
          <a:custGeom>
            <a:avLst/>
            <a:gdLst/>
            <a:ahLst/>
            <a:cxnLst/>
            <a:rect l="l" t="t" r="r" b="b"/>
            <a:pathLst>
              <a:path w="19122390" h="1314450">
                <a:moveTo>
                  <a:pt x="0" y="1314066"/>
                </a:moveTo>
                <a:lnTo>
                  <a:pt x="19122290" y="1314066"/>
                </a:lnTo>
                <a:lnTo>
                  <a:pt x="19122290" y="0"/>
                </a:lnTo>
                <a:lnTo>
                  <a:pt x="0" y="0"/>
                </a:lnTo>
                <a:lnTo>
                  <a:pt x="0" y="1314066"/>
                </a:lnTo>
                <a:close/>
              </a:path>
            </a:pathLst>
          </a:custGeom>
          <a:gradFill flip="none" rotWithShape="1">
            <a:gsLst>
              <a:gs pos="22100">
                <a:srgbClr val="C7EEEE"/>
              </a:gs>
              <a:gs pos="0">
                <a:sysClr val="window" lastClr="FFFFFF"/>
              </a:gs>
              <a:gs pos="100000">
                <a:srgbClr val="5BCDCE"/>
              </a:gs>
            </a:gsLst>
            <a:lin ang="10800000" scaled="1"/>
            <a:tileRect/>
          </a:gradFill>
        </p:spPr>
        <p:txBody>
          <a:bodyPr wrap="square" lIns="72000" tIns="72000" rIns="0" bIns="0" rtlCol="0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zh-TW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50A72F9B-08F8-6835-9D5A-A78C02A5ABA9}"/>
              </a:ext>
            </a:extLst>
          </p:cNvPr>
          <p:cNvSpPr/>
          <p:nvPr/>
        </p:nvSpPr>
        <p:spPr>
          <a:xfrm>
            <a:off x="94709" y="993800"/>
            <a:ext cx="1169271" cy="1166582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96A155-459F-21CE-F1B8-6F9DAA8B44B3}"/>
              </a:ext>
            </a:extLst>
          </p:cNvPr>
          <p:cNvSpPr/>
          <p:nvPr/>
        </p:nvSpPr>
        <p:spPr>
          <a:xfrm>
            <a:off x="-88221" y="1253926"/>
            <a:ext cx="15356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115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年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關鍵目標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67040DE-6E33-42C7-B52D-EE4553F95B01}"/>
              </a:ext>
            </a:extLst>
          </p:cNvPr>
          <p:cNvGrpSpPr/>
          <p:nvPr/>
        </p:nvGrpSpPr>
        <p:grpSpPr>
          <a:xfrm>
            <a:off x="83719" y="2203829"/>
            <a:ext cx="7760762" cy="3515921"/>
            <a:chOff x="79579" y="2263351"/>
            <a:chExt cx="7545351" cy="3515921"/>
          </a:xfrm>
        </p:grpSpPr>
        <p:sp>
          <p:nvSpPr>
            <p:cNvPr id="7" name="流程圖: 結束點 20">
              <a:extLst>
                <a:ext uri="{FF2B5EF4-FFF2-40B4-BE49-F238E27FC236}">
                  <a16:creationId xmlns:a16="http://schemas.microsoft.com/office/drawing/2014/main" id="{5FF6EEC8-83F7-A6B3-4049-A515CB62A2BB}"/>
                </a:ext>
              </a:extLst>
            </p:cNvPr>
            <p:cNvSpPr/>
            <p:nvPr/>
          </p:nvSpPr>
          <p:spPr bwMode="auto">
            <a:xfrm>
              <a:off x="147112" y="2263351"/>
              <a:ext cx="2895541" cy="26813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95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115</a:t>
              </a:r>
              <a:r>
                <a:rPr kumimoji="1" lang="zh-TW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年度工作重點</a:t>
              </a:r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0D1574C6-F5AA-136A-FB17-A6EF884B93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7112" y="2523477"/>
              <a:ext cx="739474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448269A-54BB-05C5-85D0-274F6B6FD84B}"/>
                </a:ext>
              </a:extLst>
            </p:cNvPr>
            <p:cNvSpPr txBox="1"/>
            <p:nvPr/>
          </p:nvSpPr>
          <p:spPr>
            <a:xfrm>
              <a:off x="79579" y="2574933"/>
              <a:ext cx="7545351" cy="3204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2575" lvl="0" indent="-282575" algn="just">
                <a:spcBef>
                  <a:spcPts val="300"/>
                </a:spcBef>
                <a:buFont typeface="Wingdings" panose="05000000000000000000" pitchFamily="2" charset="2"/>
                <a:buChar char="n"/>
                <a:defRPr/>
              </a:pPr>
              <a:r>
                <a:rPr lang="zh-TW" altLang="en-US" sz="1400" b="1" dirty="0">
                  <a:solidFill>
                    <a:srgbClr val="000000"/>
                  </a:solidFill>
                  <a:latin typeface="+mj-ea"/>
                  <a:ea typeface="+mj-ea"/>
                  <a:cs typeface="Calibri" panose="020F0502020204030204" pitchFamily="34" charset="0"/>
                </a:rPr>
                <a:t>建置智慧網路驗證場域</a:t>
              </a:r>
              <a:endPara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555625" lvl="1" indent="-198438" algn="just" eaLnBrk="1" hangingPunct="1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微軟正黑體" panose="020B0604030504040204" pitchFamily="34" charset="-120"/>
                <a:buChar char="–"/>
                <a:defRPr/>
              </a:pP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建置涵蓋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SMO/RIC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智慧網路管理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Tester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與 </a:t>
              </a:r>
              <a:r>
                <a:rPr kumimoji="0" lang="en-US" altLang="zh-TW" sz="1400" dirty="0" err="1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xApp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/</a:t>
              </a:r>
              <a:r>
                <a:rPr kumimoji="0" lang="en-US" altLang="zh-TW" sz="1400" dirty="0" err="1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rApp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智慧應用的室內與室外驗證環境，支援端到端智慧場景管理，並完成與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6G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實驗網中控網管中心及核網的對接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282575" indent="-282575" algn="just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Wingdings" panose="05000000000000000000" pitchFamily="2" charset="2"/>
                <a:buChar char="n"/>
                <a:defRPr/>
              </a:pPr>
              <a:r>
                <a:rPr lang="zh-TW" altLang="en-US" sz="1400" b="1" dirty="0">
                  <a:solidFill>
                    <a:srgbClr val="000000"/>
                  </a:solidFill>
                  <a:latin typeface="+mj-ea"/>
                  <a:ea typeface="+mj-ea"/>
                  <a:cs typeface="Calibri" panose="020F0502020204030204" pitchFamily="34" charset="0"/>
                </a:rPr>
                <a:t>發展智慧網路測試技術</a:t>
              </a:r>
              <a:endParaRPr lang="en-US" altLang="zh-TW" sz="1400" b="1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555625" lvl="1" indent="-198438" algn="just" eaLnBrk="1" hangingPunct="1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微軟正黑體" panose="020B0604030504040204" pitchFamily="34" charset="-120"/>
                <a:buChar char="–"/>
                <a:defRPr/>
              </a:pP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依據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3GPP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、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O-RAN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及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AI RAN Alliance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之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AI Use Case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國際案例，發展葉面驗證、資料基礎驗證、智慧程度驗證及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E2E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智慧場景驗證三類測試技術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282575" indent="-282575" algn="just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Wingdings" panose="05000000000000000000" pitchFamily="2" charset="2"/>
                <a:buChar char="n"/>
                <a:defRPr/>
              </a:pPr>
              <a:r>
                <a:rPr lang="zh-TW" altLang="en-US" sz="1400" b="1" dirty="0">
                  <a:solidFill>
                    <a:srgbClr val="000000"/>
                  </a:solidFill>
                  <a:latin typeface="+mj-ea"/>
                  <a:ea typeface="+mj-ea"/>
                  <a:cs typeface="Calibri" panose="020F0502020204030204" pitchFamily="34" charset="0"/>
                </a:rPr>
                <a:t>建構智慧自動化驗證</a:t>
              </a:r>
              <a:r>
                <a:rPr lang="en-US" altLang="zh-TW" sz="1400" b="1" dirty="0">
                  <a:solidFill>
                    <a:srgbClr val="000000"/>
                  </a:solidFill>
                  <a:latin typeface="+mj-ea"/>
                  <a:ea typeface="+mj-ea"/>
                  <a:cs typeface="Calibri" panose="020F0502020204030204" pitchFamily="34" charset="0"/>
                </a:rPr>
                <a:t>Tester</a:t>
              </a:r>
            </a:p>
            <a:p>
              <a:pPr marL="555625" lvl="1" indent="-198438" algn="just" eaLnBrk="1" hangingPunct="1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微軟正黑體" panose="020B0604030504040204" pitchFamily="34" charset="-120"/>
                <a:buChar char="–"/>
                <a:defRPr/>
              </a:pP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開發自動化驗測流程，建立評估環境、條件與指標之系統化管理機制，並整合測試案例執行與數據分析，產出符合國際案例之 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AI 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效能量化報告</a:t>
              </a:r>
              <a:endPara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282575" indent="-282575" algn="just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Wingdings" panose="05000000000000000000" pitchFamily="2" charset="2"/>
                <a:buChar char="n"/>
                <a:defRPr/>
              </a:pPr>
              <a:r>
                <a:rPr lang="zh-TW" altLang="en-US" sz="1400" b="1" dirty="0">
                  <a:solidFill>
                    <a:srgbClr val="000000"/>
                  </a:solidFill>
                  <a:latin typeface="+mj-ea"/>
                  <a:ea typeface="+mj-ea"/>
                  <a:cs typeface="Calibri" panose="020F0502020204030204" pitchFamily="34" charset="0"/>
                </a:rPr>
                <a:t>進行智慧網路情境探索</a:t>
              </a:r>
              <a:endParaRPr lang="en-US" altLang="zh-TW" sz="1400" b="1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555625" lvl="1" indent="-198438" algn="just" eaLnBrk="1" hangingPunct="1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微軟正黑體" panose="020B0604030504040204" pitchFamily="34" charset="-120"/>
                <a:buChar char="–"/>
                <a:defRPr/>
              </a:pPr>
              <a:r>
                <a:rPr kumimoji="0" lang="zh-TW" altLang="en-US" sz="1400" dirty="0">
                  <a:solidFill>
                    <a:prstClr val="black"/>
                  </a:solidFill>
                  <a:latin typeface="+mj-ea"/>
                  <a:ea typeface="+mj-ea"/>
                  <a:cs typeface="Calibri" panose="020F0502020204030204" pitchFamily="34" charset="0"/>
                </a:rPr>
                <a:t>依據標準案例，在院內室內外場域設計並執行情境探索活動，重點針對介面進行驗證</a:t>
              </a:r>
              <a:endPara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endParaRPr>
            </a:p>
            <a:p>
              <a:pPr marL="555625" lvl="1" indent="-198438" algn="just" eaLnBrk="1" hangingPunct="1">
                <a:lnSpc>
                  <a:spcPct val="110000"/>
                </a:lnSpc>
                <a:spcBef>
                  <a:spcPts val="300"/>
                </a:spcBef>
                <a:buClr>
                  <a:prstClr val="black"/>
                </a:buClr>
                <a:buFont typeface="微軟正黑體" panose="020B0604030504040204" pitchFamily="34" charset="-120"/>
                <a:buChar char="–"/>
                <a:defRPr/>
              </a:pPr>
              <a:endPara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endParaRPr>
            </a:p>
          </p:txBody>
        </p:sp>
      </p:grpSp>
      <p:sp>
        <p:nvSpPr>
          <p:cNvPr id="38" name="object 4">
            <a:extLst>
              <a:ext uri="{FF2B5EF4-FFF2-40B4-BE49-F238E27FC236}">
                <a16:creationId xmlns:a16="http://schemas.microsoft.com/office/drawing/2014/main" id="{7CD78ED6-71D4-4159-6CF8-6F0A001E7866}"/>
              </a:ext>
            </a:extLst>
          </p:cNvPr>
          <p:cNvSpPr/>
          <p:nvPr/>
        </p:nvSpPr>
        <p:spPr>
          <a:xfrm>
            <a:off x="1651528" y="1276581"/>
            <a:ext cx="9555255" cy="712603"/>
          </a:xfrm>
          <a:custGeom>
            <a:avLst/>
            <a:gdLst/>
            <a:ahLst/>
            <a:cxnLst/>
            <a:rect l="l" t="t" r="r" b="b"/>
            <a:pathLst>
              <a:path w="19122390" h="1314450">
                <a:moveTo>
                  <a:pt x="0" y="1314066"/>
                </a:moveTo>
                <a:lnTo>
                  <a:pt x="19122290" y="1314066"/>
                </a:lnTo>
                <a:lnTo>
                  <a:pt x="19122290" y="0"/>
                </a:lnTo>
                <a:lnTo>
                  <a:pt x="0" y="0"/>
                </a:lnTo>
                <a:lnTo>
                  <a:pt x="0" y="1314066"/>
                </a:lnTo>
                <a:close/>
              </a:path>
            </a:pathLst>
          </a:custGeom>
          <a:noFill/>
        </p:spPr>
        <p:txBody>
          <a:bodyPr wrap="square" lIns="72000" tIns="72000" rIns="0" bIns="0" rtlCol="0" anchor="ctr"/>
          <a:lstStyle/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建構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6G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智慧網路自動化驗證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Tester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，對齊 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3GPP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、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O-RAN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及 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AI RAN Alliance 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之 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AI Use Case 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國際案例，發展智慧網路管理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Tester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（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SMO/RIC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）與智慧應用（</a:t>
            </a:r>
            <a:r>
              <a:rPr lang="en-US" altLang="zh-TW" b="1" dirty="0" err="1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xApp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/rApp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）之驗證技術，打造具國際水準之驗測能量，邁向 </a:t>
            </a:r>
            <a:r>
              <a:rPr lang="en-US" altLang="zh-TW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AI RAN Alliance </a:t>
            </a:r>
            <a:r>
              <a:rPr lang="zh-TW" altLang="en-US" b="1" dirty="0">
                <a:solidFill>
                  <a:srgbClr val="000000"/>
                </a:solidFill>
                <a:latin typeface="+mn-ea"/>
                <a:ea typeface="+mn-ea"/>
                <a:cs typeface="Calibri" panose="020F0502020204030204" pitchFamily="34" charset="0"/>
                <a:sym typeface="Arial"/>
              </a:rPr>
              <a:t>認證實驗室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Calibri" panose="020F0502020204030204" pitchFamily="34" charset="0"/>
              <a:sym typeface="Arial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0B5F1210-7368-8D45-F66E-9F52B0A03C22}"/>
              </a:ext>
            </a:extLst>
          </p:cNvPr>
          <p:cNvGrpSpPr/>
          <p:nvPr/>
        </p:nvGrpSpPr>
        <p:grpSpPr>
          <a:xfrm>
            <a:off x="8215938" y="2160382"/>
            <a:ext cx="3515995" cy="4343009"/>
            <a:chOff x="8057677" y="2156273"/>
            <a:chExt cx="3515995" cy="4343009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F8E3946E-DDB0-447D-4175-484B9F303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7677" y="2156273"/>
              <a:ext cx="3515995" cy="3353785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C0CCDEF-A5A7-48B7-2F8F-7950304EB36D}"/>
                </a:ext>
              </a:extLst>
            </p:cNvPr>
            <p:cNvSpPr/>
            <p:nvPr/>
          </p:nvSpPr>
          <p:spPr bwMode="auto">
            <a:xfrm>
              <a:off x="8057677" y="5788008"/>
              <a:ext cx="3307729" cy="70267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6" name="箭號: 上-下雙向 25">
              <a:extLst>
                <a:ext uri="{FF2B5EF4-FFF2-40B4-BE49-F238E27FC236}">
                  <a16:creationId xmlns:a16="http://schemas.microsoft.com/office/drawing/2014/main" id="{179A81C8-87C3-60D8-F560-C2C1AD5BE112}"/>
                </a:ext>
              </a:extLst>
            </p:cNvPr>
            <p:cNvSpPr/>
            <p:nvPr/>
          </p:nvSpPr>
          <p:spPr bwMode="auto">
            <a:xfrm>
              <a:off x="9076527" y="5331508"/>
              <a:ext cx="325024" cy="432912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" name="箭號: 上-下雙向 2">
              <a:extLst>
                <a:ext uri="{FF2B5EF4-FFF2-40B4-BE49-F238E27FC236}">
                  <a16:creationId xmlns:a16="http://schemas.microsoft.com/office/drawing/2014/main" id="{AE3428C6-8BB0-E4EC-4361-8E4ACC53D2FD}"/>
                </a:ext>
              </a:extLst>
            </p:cNvPr>
            <p:cNvSpPr/>
            <p:nvPr/>
          </p:nvSpPr>
          <p:spPr bwMode="auto">
            <a:xfrm>
              <a:off x="10273046" y="5331508"/>
              <a:ext cx="325024" cy="432912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DEB41AFA-23BC-D731-F059-D6747FE4F7F1}"/>
                </a:ext>
              </a:extLst>
            </p:cNvPr>
            <p:cNvGrpSpPr/>
            <p:nvPr/>
          </p:nvGrpSpPr>
          <p:grpSpPr>
            <a:xfrm>
              <a:off x="8130829" y="5653329"/>
              <a:ext cx="860089" cy="843838"/>
              <a:chOff x="8057677" y="5723600"/>
              <a:chExt cx="893428" cy="872165"/>
            </a:xfrm>
          </p:grpSpPr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3A6E599-B714-005E-FC41-B63088C8351F}"/>
                  </a:ext>
                </a:extLst>
              </p:cNvPr>
              <p:cNvSpPr txBox="1"/>
              <p:nvPr/>
            </p:nvSpPr>
            <p:spPr>
              <a:xfrm>
                <a:off x="8057677" y="6341849"/>
                <a:ext cx="89342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05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室內</a:t>
                </a:r>
                <a:r>
                  <a:rPr kumimoji="1" lang="zh-TW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基地台</a:t>
                </a:r>
              </a:p>
            </p:txBody>
          </p:sp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E84546-BA2D-956E-15B6-AD7580CB0E30}"/>
                  </a:ext>
                </a:extLst>
              </p:cNvPr>
              <p:cNvSpPr txBox="1"/>
              <p:nvPr/>
            </p:nvSpPr>
            <p:spPr>
              <a:xfrm>
                <a:off x="8219404" y="5723600"/>
                <a:ext cx="5669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5" name="圖片 14">
                <a:extLst>
                  <a:ext uri="{FF2B5EF4-FFF2-40B4-BE49-F238E27FC236}">
                    <a16:creationId xmlns:a16="http://schemas.microsoft.com/office/drawing/2014/main" id="{6323255E-FDEB-5675-F51C-5CC19ACF93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0777" y="5884039"/>
                <a:ext cx="482318" cy="482318"/>
              </a:xfrm>
              <a:prstGeom prst="rect">
                <a:avLst/>
              </a:prstGeom>
            </p:spPr>
          </p:pic>
          <p:pic>
            <p:nvPicPr>
              <p:cNvPr id="21" name="圖片 20">
                <a:extLst>
                  <a:ext uri="{FF2B5EF4-FFF2-40B4-BE49-F238E27FC236}">
                    <a16:creationId xmlns:a16="http://schemas.microsoft.com/office/drawing/2014/main" id="{4FA34D5C-681E-928E-4438-EAA7404C5B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71286" y="6194799"/>
                <a:ext cx="210593" cy="210593"/>
              </a:xfrm>
              <a:prstGeom prst="rect">
                <a:avLst/>
              </a:prstGeom>
            </p:spPr>
          </p:pic>
        </p:grp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560CF4AA-AD7F-E5EF-B713-6FA370FE8679}"/>
                </a:ext>
              </a:extLst>
            </p:cNvPr>
            <p:cNvGrpSpPr/>
            <p:nvPr/>
          </p:nvGrpSpPr>
          <p:grpSpPr>
            <a:xfrm>
              <a:off x="8957689" y="5651349"/>
              <a:ext cx="1159141" cy="847933"/>
              <a:chOff x="8775287" y="5719644"/>
              <a:chExt cx="1204072" cy="876397"/>
            </a:xfrm>
          </p:grpSpPr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7FD4520-8284-B553-862F-D9C2139B4CEE}"/>
                  </a:ext>
                </a:extLst>
              </p:cNvPr>
              <p:cNvSpPr txBox="1"/>
              <p:nvPr/>
            </p:nvSpPr>
            <p:spPr>
              <a:xfrm>
                <a:off x="9051772" y="5719644"/>
                <a:ext cx="5669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168DF134-842C-3E76-E7D5-DBBC2F540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2070" r="33267"/>
              <a:stretch/>
            </p:blipFill>
            <p:spPr>
              <a:xfrm>
                <a:off x="9112832" y="5953753"/>
                <a:ext cx="410467" cy="563725"/>
              </a:xfrm>
              <a:prstGeom prst="rect">
                <a:avLst/>
              </a:prstGeom>
            </p:spPr>
          </p:pic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BA9E74D-F82D-668B-0654-FE0BD663B0D3}"/>
                  </a:ext>
                </a:extLst>
              </p:cNvPr>
              <p:cNvSpPr txBox="1"/>
              <p:nvPr/>
            </p:nvSpPr>
            <p:spPr>
              <a:xfrm>
                <a:off x="8775287" y="6342125"/>
                <a:ext cx="12040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05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室外</a:t>
                </a:r>
                <a:r>
                  <a:rPr kumimoji="1" lang="zh-TW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基地台</a:t>
                </a:r>
              </a:p>
            </p:txBody>
          </p:sp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12C363F9-4E98-8623-96BC-E2C26D35FE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2070" r="33267"/>
              <a:stretch/>
            </p:blipFill>
            <p:spPr>
              <a:xfrm>
                <a:off x="9429893" y="6146557"/>
                <a:ext cx="212605" cy="291987"/>
              </a:xfrm>
              <a:prstGeom prst="rect">
                <a:avLst/>
              </a:prstGeom>
            </p:spPr>
          </p:pic>
        </p:grp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5CC04A07-5A5C-6FFB-17BA-FDED41CCB44E}"/>
                </a:ext>
              </a:extLst>
            </p:cNvPr>
            <p:cNvGrpSpPr/>
            <p:nvPr/>
          </p:nvGrpSpPr>
          <p:grpSpPr>
            <a:xfrm>
              <a:off x="10061917" y="5641686"/>
              <a:ext cx="1197392" cy="848995"/>
              <a:chOff x="9959559" y="5712127"/>
              <a:chExt cx="1243806" cy="877495"/>
            </a:xfrm>
          </p:grpSpPr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F3ADF02-8035-6333-7007-3673671B453C}"/>
                  </a:ext>
                </a:extLst>
              </p:cNvPr>
              <p:cNvSpPr txBox="1"/>
              <p:nvPr/>
            </p:nvSpPr>
            <p:spPr>
              <a:xfrm>
                <a:off x="10217627" y="5712127"/>
                <a:ext cx="5669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0D9567F0-443B-46A0-EB4F-26618EF41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2070" r="33267"/>
              <a:stretch/>
            </p:blipFill>
            <p:spPr>
              <a:xfrm>
                <a:off x="10171536" y="5933442"/>
                <a:ext cx="410467" cy="563725"/>
              </a:xfrm>
              <a:prstGeom prst="rect">
                <a:avLst/>
              </a:prstGeom>
            </p:spPr>
          </p:pic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9D59226E-D6EB-8F0B-65DA-4455BCCF56F4}"/>
                  </a:ext>
                </a:extLst>
              </p:cNvPr>
              <p:cNvSpPr txBox="1"/>
              <p:nvPr/>
            </p:nvSpPr>
            <p:spPr>
              <a:xfrm>
                <a:off x="9959559" y="6335706"/>
                <a:ext cx="12040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05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異質網路</a:t>
                </a:r>
                <a:r>
                  <a:rPr kumimoji="1" lang="zh-TW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基地台</a:t>
                </a:r>
              </a:p>
            </p:txBody>
          </p:sp>
          <p:pic>
            <p:nvPicPr>
              <p:cNvPr id="51" name="圖片 50">
                <a:extLst>
                  <a:ext uri="{FF2B5EF4-FFF2-40B4-BE49-F238E27FC236}">
                    <a16:creationId xmlns:a16="http://schemas.microsoft.com/office/drawing/2014/main" id="{EBB7A9A5-CC58-516A-BCD0-3CC4F3655E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2070" r="33267"/>
              <a:stretch/>
            </p:blipFill>
            <p:spPr>
              <a:xfrm>
                <a:off x="10990760" y="6189996"/>
                <a:ext cx="212605" cy="291987"/>
              </a:xfrm>
              <a:prstGeom prst="rect">
                <a:avLst/>
              </a:prstGeom>
            </p:spPr>
          </p:pic>
          <p:pic>
            <p:nvPicPr>
              <p:cNvPr id="55" name="圖片 54">
                <a:extLst>
                  <a:ext uri="{FF2B5EF4-FFF2-40B4-BE49-F238E27FC236}">
                    <a16:creationId xmlns:a16="http://schemas.microsoft.com/office/drawing/2014/main" id="{B656665D-5231-BF47-9B38-E7ABC595E7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84916" y="5925184"/>
                <a:ext cx="425920" cy="425920"/>
              </a:xfrm>
              <a:prstGeom prst="rect">
                <a:avLst/>
              </a:prstGeom>
            </p:spPr>
          </p:pic>
          <p:pic>
            <p:nvPicPr>
              <p:cNvPr id="56" name="圖片 55">
                <a:extLst>
                  <a:ext uri="{FF2B5EF4-FFF2-40B4-BE49-F238E27FC236}">
                    <a16:creationId xmlns:a16="http://schemas.microsoft.com/office/drawing/2014/main" id="{9B1A274C-2DA2-C8F6-C7EC-FEC0E7B1B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0183" y="6185407"/>
                <a:ext cx="210593" cy="210593"/>
              </a:xfrm>
              <a:prstGeom prst="rect">
                <a:avLst/>
              </a:prstGeom>
            </p:spPr>
          </p:pic>
        </p:grpSp>
      </p:grpSp>
      <p:sp>
        <p:nvSpPr>
          <p:cNvPr id="33" name="流程圖: 結束點 20">
            <a:extLst>
              <a:ext uri="{FF2B5EF4-FFF2-40B4-BE49-F238E27FC236}">
                <a16:creationId xmlns:a16="http://schemas.microsoft.com/office/drawing/2014/main" id="{9B8B5EF1-F8F7-453E-974A-DFADE11B737F}"/>
              </a:ext>
            </a:extLst>
          </p:cNvPr>
          <p:cNvSpPr/>
          <p:nvPr/>
        </p:nvSpPr>
        <p:spPr bwMode="auto">
          <a:xfrm>
            <a:off x="138674" y="5499247"/>
            <a:ext cx="2952022" cy="26210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0C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600" b="1" kern="0" dirty="0">
                <a:solidFill>
                  <a:srgbClr val="FFFFFF"/>
                </a:solidFill>
                <a:latin typeface="+mn-lt"/>
                <a:ea typeface="+mn-ea"/>
              </a:rPr>
              <a:t>預期效益</a:t>
            </a:r>
            <a:endParaRPr kumimoji="1" lang="zh-TW" altLang="en-US" sz="1600" b="1" i="0" u="none" strike="noStrike" kern="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4" name="直線接點 7">
            <a:extLst>
              <a:ext uri="{FF2B5EF4-FFF2-40B4-BE49-F238E27FC236}">
                <a16:creationId xmlns:a16="http://schemas.microsoft.com/office/drawing/2014/main" id="{ADEF2883-8F56-4248-88C9-BCFD624DDF9D}"/>
              </a:ext>
            </a:extLst>
          </p:cNvPr>
          <p:cNvCxnSpPr>
            <a:cxnSpLocks/>
          </p:cNvCxnSpPr>
          <p:nvPr/>
        </p:nvCxnSpPr>
        <p:spPr bwMode="auto">
          <a:xfrm>
            <a:off x="138674" y="5745882"/>
            <a:ext cx="757225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36" name="TextBox 9">
            <a:extLst>
              <a:ext uri="{FF2B5EF4-FFF2-40B4-BE49-F238E27FC236}">
                <a16:creationId xmlns:a16="http://schemas.microsoft.com/office/drawing/2014/main" id="{45EDEFFA-D188-4C40-8D6D-CDEC19863ACA}"/>
              </a:ext>
            </a:extLst>
          </p:cNvPr>
          <p:cNvSpPr txBox="1"/>
          <p:nvPr/>
        </p:nvSpPr>
        <p:spPr>
          <a:xfrm>
            <a:off x="66796" y="5749384"/>
            <a:ext cx="80012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TW" altLang="en-US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與國內基地台設備商（智宏網）、</a:t>
            </a:r>
            <a:r>
              <a: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O-RAN </a:t>
            </a:r>
            <a:r>
              <a:rPr kumimoji="0" lang="zh-TW" altLang="en-US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系統整合商（和碩）及智慧化應用商（現觀科技）合作，針對其 </a:t>
            </a:r>
            <a:r>
              <a: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SMO/RIC Tester</a:t>
            </a:r>
            <a:r>
              <a:rPr kumimoji="0" lang="zh-TW" altLang="en-US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及 </a:t>
            </a:r>
            <a:r>
              <a:rPr kumimoji="0" lang="en-US" altLang="zh-TW" sz="1400" dirty="0" err="1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xApp</a:t>
            </a:r>
            <a:r>
              <a: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/</a:t>
            </a:r>
            <a:r>
              <a:rPr kumimoji="0" lang="en-US" altLang="zh-TW" sz="1400" dirty="0" err="1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rApp</a:t>
            </a:r>
            <a:r>
              <a: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 </a:t>
            </a:r>
            <a:r>
              <a:rPr kumimoji="0" lang="zh-TW" altLang="en-US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應用，依國際標準進行驗測，並產出量化報告，協助廠商優化產品並接軌國際案例，累積國際標準之驗測實績與技術能量，邁向 </a:t>
            </a:r>
            <a:r>
              <a:rPr kumimoji="0" lang="en-US" altLang="zh-TW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AI RAN Alliance </a:t>
            </a:r>
            <a:r>
              <a:rPr kumimoji="0" lang="zh-TW" altLang="en-US" sz="1400" dirty="0">
                <a:solidFill>
                  <a:prstClr val="black"/>
                </a:solidFill>
                <a:latin typeface="+mj-ea"/>
                <a:ea typeface="+mj-ea"/>
                <a:cs typeface="Calibri" panose="020F0502020204030204" pitchFamily="34" charset="0"/>
              </a:rPr>
              <a:t>認證實驗室</a:t>
            </a:r>
            <a:endParaRPr kumimoji="0" lang="en-US" altLang="zh-TW" sz="1400" dirty="0">
              <a:solidFill>
                <a:prstClr val="black"/>
              </a:solidFill>
              <a:latin typeface="+mj-ea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7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A617F9-6888-5802-9D99-B757BF328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514626"/>
              </p:ext>
            </p:extLst>
          </p:nvPr>
        </p:nvGraphicFramePr>
        <p:xfrm>
          <a:off x="53471" y="1165406"/>
          <a:ext cx="12079963" cy="4527188"/>
        </p:xfrm>
        <a:graphic>
          <a:graphicData uri="http://schemas.openxmlformats.org/drawingml/2006/table">
            <a:tbl>
              <a:tblPr firstRow="1" bandRow="1"/>
              <a:tblGrid>
                <a:gridCol w="3218335">
                  <a:extLst>
                    <a:ext uri="{9D8B030D-6E8A-4147-A177-3AD203B41FA5}">
                      <a16:colId xmlns:a16="http://schemas.microsoft.com/office/drawing/2014/main" val="2090790670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4228511867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371327498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2431213696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1600597952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4059256719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3152144740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132719770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905428315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2025383644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3813294347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30650747"/>
                    </a:ext>
                  </a:extLst>
                </a:gridCol>
                <a:gridCol w="738469">
                  <a:extLst>
                    <a:ext uri="{9D8B030D-6E8A-4147-A177-3AD203B41FA5}">
                      <a16:colId xmlns:a16="http://schemas.microsoft.com/office/drawing/2014/main" val="972958343"/>
                    </a:ext>
                  </a:extLst>
                </a:gridCol>
              </a:tblGrid>
              <a:tr h="495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TW" altLang="en-US" dirty="0"/>
                        <a:t>工作項目 </a:t>
                      </a:r>
                      <a:r>
                        <a:rPr lang="en-US" altLang="zh-TW" dirty="0"/>
                        <a:t>/ </a:t>
                      </a:r>
                      <a:r>
                        <a:rPr lang="zh-TW" altLang="en-US" dirty="0"/>
                        <a:t>負責人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19808"/>
                  </a:ext>
                </a:extLst>
              </a:tr>
              <a:tr h="4131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全自動化驗證 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Tester</a:t>
                      </a:r>
                      <a:endParaRPr lang="zh-TW" altLang="en-US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199187"/>
                  </a:ext>
                </a:extLst>
              </a:tr>
              <a:tr h="4131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驗證 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Tester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設計與開發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雨樵、柏鈞</a:t>
                      </a:r>
                      <a:endParaRPr lang="en-US" altLang="zh-TW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mpd="sng">
                      <a:solidFill>
                        <a:srgbClr val="FFC000"/>
                      </a:solidFill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mpd="sng">
                      <a:solidFill>
                        <a:srgbClr val="FFC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78901"/>
                  </a:ext>
                </a:extLst>
              </a:tr>
              <a:tr h="4131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網路場域</a:t>
                      </a:r>
                      <a:endParaRPr lang="en-US" altLang="zh-TW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491275"/>
                  </a:ext>
                </a:extLst>
              </a:tr>
              <a:tr h="413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場域建置與開發 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恆劭、柏鈞</a:t>
                      </a:r>
                      <a:endParaRPr lang="en-US" altLang="zh-TW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708754"/>
                  </a:ext>
                </a:extLst>
              </a:tr>
              <a:tr h="371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效能驗證情境</a:t>
                      </a:r>
                      <a:endParaRPr lang="en-US" altLang="zh-TW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79074"/>
                  </a:ext>
                </a:extLst>
              </a:tr>
              <a:tr h="395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效能驗證情境開發 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彥廷、國晃</a:t>
                      </a:r>
                      <a:endParaRPr lang="en-US" altLang="zh-TW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330742"/>
                  </a:ext>
                </a:extLst>
              </a:tr>
              <a:tr h="4131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Open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house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戰情室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049323"/>
                  </a:ext>
                </a:extLst>
              </a:tr>
              <a:tr h="4131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共通性測試平台顯示規劃與接入 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雨樵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mpd="sng">
                      <a:solidFill>
                        <a:srgbClr val="FFC000"/>
                      </a:solidFill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288459"/>
                  </a:ext>
                </a:extLst>
              </a:tr>
              <a:tr h="7850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共通性測試平台數據對接與遠端觸發</a:t>
                      </a:r>
                      <a:r>
                        <a:rPr lang="en-US" altLang="zh-TW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/ </a:t>
                      </a:r>
                      <a:r>
                        <a:rPr lang="zh-TW" altLang="en-US" sz="1400" b="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柏鈞</a:t>
                      </a:r>
                      <a:endParaRPr lang="en-US" altLang="zh-TW" sz="140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C000"/>
                      </a:solidFill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678908"/>
                  </a:ext>
                </a:extLst>
              </a:tr>
            </a:tbl>
          </a:graphicData>
        </a:graphic>
      </p:graphicFrame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4B2DB7A3-05DA-A443-0801-CDCA473FC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619878"/>
            <a:ext cx="762000" cy="238125"/>
          </a:xfrm>
        </p:spPr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71FFAD-F905-4792-971B-681FA4F61CA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pPr marL="0" marR="0" lvl="0" indent="0" algn="r" defTabSz="914400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2C867ED9-D278-14D7-A1DE-C45F43C0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90" y="12700"/>
            <a:ext cx="11045923" cy="941580"/>
          </a:xfrm>
        </p:spPr>
        <p:txBody>
          <a:bodyPr/>
          <a:lstStyle/>
          <a:p>
            <a:r>
              <a:rPr kumimoji="0" lang="en-US" altLang="zh-TW" b="1" dirty="0">
                <a:cs typeface="Times New Roman" panose="02020603050405020304" pitchFamily="18" charset="0"/>
              </a:rPr>
              <a:t>2.3</a:t>
            </a:r>
            <a:r>
              <a:rPr kumimoji="0" lang="zh-TW" altLang="en-US" b="1" dirty="0">
                <a:cs typeface="Times New Roman" panose="02020603050405020304" pitchFamily="18" charset="0"/>
              </a:rPr>
              <a:t> 智慧網路實驗網</a:t>
            </a:r>
            <a:endParaRPr lang="zh-TW" altLang="en-US" b="1" dirty="0"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BAF2858-EF4F-1E15-9740-841C619F90DC}"/>
              </a:ext>
            </a:extLst>
          </p:cNvPr>
          <p:cNvSpPr txBox="1"/>
          <p:nvPr/>
        </p:nvSpPr>
        <p:spPr>
          <a:xfrm>
            <a:off x="5245121" y="90359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Q1</a:t>
            </a: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BFB6214-44E9-BC89-1F14-F32D19A5C78E}"/>
              </a:ext>
            </a:extLst>
          </p:cNvPr>
          <p:cNvSpPr txBox="1"/>
          <p:nvPr/>
        </p:nvSpPr>
        <p:spPr>
          <a:xfrm>
            <a:off x="7481612" y="90172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Q2</a:t>
            </a: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F41C3A-4A0F-B485-E386-CE87B502DA4D}"/>
              </a:ext>
            </a:extLst>
          </p:cNvPr>
          <p:cNvSpPr txBox="1"/>
          <p:nvPr/>
        </p:nvSpPr>
        <p:spPr>
          <a:xfrm>
            <a:off x="9690490" y="903145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Q3</a:t>
            </a: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63FAF4-B771-A1F9-C2E9-623013D490C3}"/>
              </a:ext>
            </a:extLst>
          </p:cNvPr>
          <p:cNvSpPr txBox="1"/>
          <p:nvPr/>
        </p:nvSpPr>
        <p:spPr>
          <a:xfrm>
            <a:off x="11784815" y="90225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Q4</a:t>
            </a: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05D15746-8CDE-7A14-EBB3-81D3A4757425}"/>
              </a:ext>
            </a:extLst>
          </p:cNvPr>
          <p:cNvGrpSpPr/>
          <p:nvPr/>
        </p:nvGrpSpPr>
        <p:grpSpPr>
          <a:xfrm>
            <a:off x="4073839" y="4589221"/>
            <a:ext cx="2110209" cy="264419"/>
            <a:chOff x="4114027" y="3393760"/>
            <a:chExt cx="9641573" cy="242085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5495501-57F1-DE0E-84AD-1F0976C9A7EB}"/>
                </a:ext>
              </a:extLst>
            </p:cNvPr>
            <p:cNvSpPr/>
            <p:nvPr/>
          </p:nvSpPr>
          <p:spPr bwMode="auto">
            <a:xfrm>
              <a:off x="4114027" y="3393760"/>
              <a:ext cx="9641573" cy="242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智慧網路實驗室</a:t>
              </a: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GUI</a:t>
              </a:r>
              <a:r>
                <a:rPr lang="zh-TW" altLang="en-US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設計</a:t>
              </a:r>
              <a:endPara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DCFA522-1B26-3007-D293-5E52E6454F6C}"/>
              </a:ext>
            </a:extLst>
          </p:cNvPr>
          <p:cNvCxnSpPr>
            <a:cxnSpLocks/>
          </p:cNvCxnSpPr>
          <p:nvPr/>
        </p:nvCxnSpPr>
        <p:spPr bwMode="auto">
          <a:xfrm flipV="1">
            <a:off x="9769705" y="901723"/>
            <a:ext cx="0" cy="502939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61EB713-CFC9-4931-9587-579F3D7E1C77}"/>
              </a:ext>
            </a:extLst>
          </p:cNvPr>
          <p:cNvGrpSpPr/>
          <p:nvPr/>
        </p:nvGrpSpPr>
        <p:grpSpPr>
          <a:xfrm>
            <a:off x="5571822" y="2121106"/>
            <a:ext cx="2056483" cy="362436"/>
            <a:chOff x="11906717" y="3822190"/>
            <a:chExt cx="3944578" cy="21672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D1DA4A5-0578-35EF-E07C-8B21DA9B18EE}"/>
                </a:ext>
              </a:extLst>
            </p:cNvPr>
            <p:cNvSpPr/>
            <p:nvPr/>
          </p:nvSpPr>
          <p:spPr bwMode="auto">
            <a:xfrm>
              <a:off x="11906717" y="3822190"/>
              <a:ext cx="3944578" cy="2167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Near RT RIC</a:t>
              </a:r>
            </a:p>
            <a:p>
              <a:pPr algn="ctr" eaLnBrk="1" hangingPunct="1">
                <a:defRPr/>
              </a:pPr>
              <a:r>
                <a:rPr kumimoji="1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軟正黑體"/>
                  <a:cs typeface="Times New Roman" panose="02020603050405020304" pitchFamily="18" charset="0"/>
                </a:rPr>
                <a:t>(</a:t>
              </a:r>
              <a:r>
                <a:rPr kumimoji="1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軟正黑體"/>
                  <a:cs typeface="Times New Roman" panose="02020603050405020304" pitchFamily="18" charset="0"/>
                </a:rPr>
                <a:t>介面驗證</a:t>
              </a:r>
              <a:r>
                <a:rPr kumimoji="1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軟正黑體"/>
                  <a:cs typeface="Times New Roman" panose="02020603050405020304" pitchFamily="18" charset="0"/>
                </a:rPr>
                <a:t>)</a:t>
              </a:r>
              <a:endPara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68AB3206-F745-571B-6E2A-246A906C1DE3}"/>
              </a:ext>
            </a:extLst>
          </p:cNvPr>
          <p:cNvSpPr/>
          <p:nvPr/>
        </p:nvSpPr>
        <p:spPr bwMode="auto">
          <a:xfrm>
            <a:off x="7726111" y="2109735"/>
            <a:ext cx="1448606" cy="3702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Non-Near RT RIC</a:t>
            </a:r>
          </a:p>
          <a:p>
            <a:pPr algn="ctr" eaLnBrk="1" hangingPunct="1"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(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介面驗證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)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7A562B15-99F5-319D-F532-7D5E63CDFEA3}"/>
              </a:ext>
            </a:extLst>
          </p:cNvPr>
          <p:cNvGrpSpPr/>
          <p:nvPr/>
        </p:nvGrpSpPr>
        <p:grpSpPr>
          <a:xfrm>
            <a:off x="3328491" y="2130670"/>
            <a:ext cx="2072101" cy="324707"/>
            <a:chOff x="11906717" y="3822190"/>
            <a:chExt cx="3944578" cy="21672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B7CBD97-F444-4791-F853-9690BB70CA26}"/>
                </a:ext>
              </a:extLst>
            </p:cNvPr>
            <p:cNvSpPr/>
            <p:nvPr/>
          </p:nvSpPr>
          <p:spPr bwMode="auto">
            <a:xfrm>
              <a:off x="11906717" y="3822190"/>
              <a:ext cx="3944578" cy="2167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Test Case Study</a:t>
              </a:r>
              <a:endPara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C6776AC1-0137-100D-AD82-102FEF3A36BD}"/>
              </a:ext>
            </a:extLst>
          </p:cNvPr>
          <p:cNvGrpSpPr/>
          <p:nvPr/>
        </p:nvGrpSpPr>
        <p:grpSpPr>
          <a:xfrm>
            <a:off x="9259823" y="2114602"/>
            <a:ext cx="1314574" cy="353476"/>
            <a:chOff x="11906717" y="3822190"/>
            <a:chExt cx="3944578" cy="216720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DE86D78-F20B-73E8-3F6A-F6002C68EBDA}"/>
                </a:ext>
              </a:extLst>
            </p:cNvPr>
            <p:cNvSpPr/>
            <p:nvPr/>
          </p:nvSpPr>
          <p:spPr bwMode="auto">
            <a:xfrm>
              <a:off x="11906717" y="3822190"/>
              <a:ext cx="3944578" cy="2167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App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(</a:t>
              </a:r>
              <a:r>
                <a:rPr lang="zh-TW" altLang="en-US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效能驗證</a:t>
              </a: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)</a:t>
              </a:r>
              <a:endPara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A6E7C675-77DD-CDEA-DF92-05C3056B389E}"/>
              </a:ext>
            </a:extLst>
          </p:cNvPr>
          <p:cNvGrpSpPr/>
          <p:nvPr/>
        </p:nvGrpSpPr>
        <p:grpSpPr>
          <a:xfrm>
            <a:off x="10742438" y="2101902"/>
            <a:ext cx="1314574" cy="362749"/>
            <a:chOff x="11906717" y="3822190"/>
            <a:chExt cx="3944578" cy="21672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CFC806A-C87B-DD54-6652-AF04AAD30BBA}"/>
                </a:ext>
              </a:extLst>
            </p:cNvPr>
            <p:cNvSpPr/>
            <p:nvPr/>
          </p:nvSpPr>
          <p:spPr bwMode="auto">
            <a:xfrm>
              <a:off x="11906717" y="3822190"/>
              <a:ext cx="3944578" cy="2167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SMO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軟正黑體"/>
                  <a:cs typeface="Times New Roman" panose="02020603050405020304" pitchFamily="18" charset="0"/>
                </a:rPr>
                <a:t>(</a:t>
              </a:r>
              <a:r>
                <a:rPr kumimoji="1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軟正黑體"/>
                  <a:cs typeface="Times New Roman" panose="02020603050405020304" pitchFamily="18" charset="0"/>
                </a:rPr>
                <a:t>介面驗證</a:t>
              </a:r>
              <a:r>
                <a:rPr kumimoji="1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軟正黑體"/>
                  <a:cs typeface="Times New Roman" panose="02020603050405020304" pitchFamily="18" charset="0"/>
                </a:rPr>
                <a:t>)</a:t>
              </a:r>
              <a:endPara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DB8F8063-F2E3-4C1F-A5FF-09E4565F8C60}"/>
              </a:ext>
            </a:extLst>
          </p:cNvPr>
          <p:cNvSpPr/>
          <p:nvPr/>
        </p:nvSpPr>
        <p:spPr bwMode="auto">
          <a:xfrm>
            <a:off x="4106072" y="3007424"/>
            <a:ext cx="2072101" cy="2167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室內場域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6E16023-8374-9459-EE5B-44980FCDF957}"/>
              </a:ext>
            </a:extLst>
          </p:cNvPr>
          <p:cNvSpPr/>
          <p:nvPr/>
        </p:nvSpPr>
        <p:spPr bwMode="auto">
          <a:xfrm>
            <a:off x="6349403" y="3007424"/>
            <a:ext cx="2072101" cy="2167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室外場域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AE1E835-7E49-CA1B-7603-0E9A1998D20D}"/>
              </a:ext>
            </a:extLst>
          </p:cNvPr>
          <p:cNvSpPr/>
          <p:nvPr/>
        </p:nvSpPr>
        <p:spPr bwMode="auto">
          <a:xfrm>
            <a:off x="8541192" y="3003825"/>
            <a:ext cx="3475438" cy="2167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RAN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 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Emulator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59FC459-4532-479D-9C50-CC3451B7C45D}"/>
              </a:ext>
            </a:extLst>
          </p:cNvPr>
          <p:cNvSpPr/>
          <p:nvPr/>
        </p:nvSpPr>
        <p:spPr bwMode="auto">
          <a:xfrm>
            <a:off x="4828107" y="3759718"/>
            <a:ext cx="2293824" cy="264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室內驗證</a:t>
            </a:r>
            <a:r>
              <a:rPr lang="zh-TW" altLang="en-US" sz="12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環境開發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C1BC0AC-8420-858A-981A-B203DBCD1D56}"/>
              </a:ext>
            </a:extLst>
          </p:cNvPr>
          <p:cNvSpPr/>
          <p:nvPr/>
        </p:nvSpPr>
        <p:spPr bwMode="auto">
          <a:xfrm>
            <a:off x="7201147" y="3759718"/>
            <a:ext cx="1973568" cy="2386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室外驗證</a:t>
            </a:r>
            <a:r>
              <a:rPr lang="zh-TW" altLang="en-US" sz="12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環境開發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AA27697-3D7C-A7DF-B8E1-8EF34976E4F3}"/>
              </a:ext>
            </a:extLst>
          </p:cNvPr>
          <p:cNvSpPr/>
          <p:nvPr/>
        </p:nvSpPr>
        <p:spPr bwMode="auto">
          <a:xfrm>
            <a:off x="10670952" y="3733993"/>
            <a:ext cx="1472921" cy="2644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SON App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 驗證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(</a:t>
            </a:r>
            <a:r>
              <a:rPr lang="en-US" altLang="zh-TW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RAN</a:t>
            </a:r>
            <a:r>
              <a:rPr lang="zh-TW" altLang="en-US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 </a:t>
            </a:r>
            <a:r>
              <a:rPr lang="en-US" altLang="zh-TW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Emulator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)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DD5AD655-246C-12DA-815C-A05CE81CA151}"/>
              </a:ext>
            </a:extLst>
          </p:cNvPr>
          <p:cNvGrpSpPr/>
          <p:nvPr/>
        </p:nvGrpSpPr>
        <p:grpSpPr>
          <a:xfrm>
            <a:off x="7000322" y="4996960"/>
            <a:ext cx="671086" cy="619124"/>
            <a:chOff x="182280" y="3390006"/>
            <a:chExt cx="9641573" cy="242085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555FB804-9799-31F5-6901-0CC9CAD80537}"/>
                </a:ext>
              </a:extLst>
            </p:cNvPr>
            <p:cNvSpPr/>
            <p:nvPr/>
          </p:nvSpPr>
          <p:spPr bwMode="auto">
            <a:xfrm>
              <a:off x="182280" y="3390006"/>
              <a:ext cx="9641573" cy="242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0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Near RT RIC Tester</a:t>
              </a:r>
              <a:endPara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80635849-0ED4-D93B-12F2-469735C4CB9C}"/>
              </a:ext>
            </a:extLst>
          </p:cNvPr>
          <p:cNvGrpSpPr/>
          <p:nvPr/>
        </p:nvGrpSpPr>
        <p:grpSpPr>
          <a:xfrm>
            <a:off x="6289971" y="4602825"/>
            <a:ext cx="5752304" cy="264419"/>
            <a:chOff x="4114027" y="3393760"/>
            <a:chExt cx="9641573" cy="242085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E9550094-EC4C-5047-7575-B5EAAACB306F}"/>
                </a:ext>
              </a:extLst>
            </p:cNvPr>
            <p:cNvSpPr/>
            <p:nvPr/>
          </p:nvSpPr>
          <p:spPr bwMode="auto">
            <a:xfrm>
              <a:off x="4114027" y="3393760"/>
              <a:ext cx="9641573" cy="242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智慧網路實驗室</a:t>
              </a:r>
              <a:r>
                <a:rPr lang="en-US" altLang="zh-TW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GUI</a:t>
              </a:r>
              <a:r>
                <a:rPr lang="zh-TW" altLang="en-US" sz="12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開發與整合</a:t>
              </a:r>
              <a:endPara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CB1B8D97-1331-F2E9-1F67-D75F995BEFC8}"/>
              </a:ext>
            </a:extLst>
          </p:cNvPr>
          <p:cNvGrpSpPr/>
          <p:nvPr/>
        </p:nvGrpSpPr>
        <p:grpSpPr>
          <a:xfrm>
            <a:off x="8463361" y="4996960"/>
            <a:ext cx="629587" cy="619125"/>
            <a:chOff x="182280" y="3380910"/>
            <a:chExt cx="8925846" cy="242085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BA8357E2-7000-0F67-3D7A-2202BBB07A11}"/>
                </a:ext>
              </a:extLst>
            </p:cNvPr>
            <p:cNvSpPr/>
            <p:nvPr/>
          </p:nvSpPr>
          <p:spPr bwMode="auto">
            <a:xfrm>
              <a:off x="182280" y="3380910"/>
              <a:ext cx="8925846" cy="242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TW" sz="10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Non RT RIC</a:t>
              </a:r>
              <a:endPara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0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Tester</a:t>
              </a:r>
              <a:endPara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sp>
        <p:nvSpPr>
          <p:cNvPr id="130" name="矩形 129">
            <a:extLst>
              <a:ext uri="{FF2B5EF4-FFF2-40B4-BE49-F238E27FC236}">
                <a16:creationId xmlns:a16="http://schemas.microsoft.com/office/drawing/2014/main" id="{695CFB27-EF46-B8E5-C058-69C4AF3D059F}"/>
              </a:ext>
            </a:extLst>
          </p:cNvPr>
          <p:cNvSpPr/>
          <p:nvPr/>
        </p:nvSpPr>
        <p:spPr bwMode="auto">
          <a:xfrm>
            <a:off x="9954760" y="4996960"/>
            <a:ext cx="641014" cy="619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App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Tester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693FDC76-A9EF-ACAF-9DC1-A5AB5E1239B9}"/>
              </a:ext>
            </a:extLst>
          </p:cNvPr>
          <p:cNvGrpSpPr/>
          <p:nvPr/>
        </p:nvGrpSpPr>
        <p:grpSpPr>
          <a:xfrm>
            <a:off x="11457586" y="5078731"/>
            <a:ext cx="641014" cy="492580"/>
            <a:chOff x="11505713" y="4655781"/>
            <a:chExt cx="641014" cy="492580"/>
          </a:xfrm>
        </p:grpSpPr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B1AE2E18-290A-2760-B1E9-74B7A973F903}"/>
                </a:ext>
              </a:extLst>
            </p:cNvPr>
            <p:cNvSpPr/>
            <p:nvPr/>
          </p:nvSpPr>
          <p:spPr bwMode="auto">
            <a:xfrm>
              <a:off x="11505713" y="4655781"/>
              <a:ext cx="641014" cy="492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0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SMO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000" b="1" dirty="0">
                  <a:solidFill>
                    <a:srgbClr val="000000"/>
                  </a:solidFill>
                  <a:latin typeface="Arial"/>
                  <a:ea typeface="微軟正黑體"/>
                  <a:cs typeface="Times New Roman" panose="02020603050405020304" pitchFamily="18" charset="0"/>
                </a:rPr>
                <a:t>Tester</a:t>
              </a:r>
              <a:endPara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E1DEC15-1F73-6596-4509-F55F17C806CE}"/>
              </a:ext>
            </a:extLst>
          </p:cNvPr>
          <p:cNvSpPr/>
          <p:nvPr/>
        </p:nvSpPr>
        <p:spPr bwMode="auto">
          <a:xfrm>
            <a:off x="9301582" y="3711491"/>
            <a:ext cx="1306356" cy="3329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展示情境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優化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(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室內</a:t>
            </a:r>
            <a:r>
              <a:rPr lang="en-US" altLang="zh-TW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/</a:t>
            </a:r>
            <a:r>
              <a:rPr lang="zh-TW" altLang="en-US" sz="1000" b="1" dirty="0">
                <a:solidFill>
                  <a:srgbClr val="000000"/>
                </a:solidFill>
                <a:latin typeface="Arial"/>
                <a:ea typeface="微軟正黑體"/>
                <a:cs typeface="Times New Roman" panose="02020603050405020304" pitchFamily="18" charset="0"/>
              </a:rPr>
              <a:t>室外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/>
                <a:cs typeface="Times New Roman" panose="02020603050405020304" pitchFamily="18" charset="0"/>
              </a:rPr>
              <a:t>)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軟正黑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03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A57B0-8983-8567-C87A-743B8869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E270DF-D1E5-7A5D-6804-4680011E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06500"/>
            <a:ext cx="11037455" cy="4991101"/>
          </a:xfrm>
        </p:spPr>
        <p:txBody>
          <a:bodyPr/>
          <a:lstStyle/>
          <a:p>
            <a:r>
              <a:rPr lang="zh-TW" altLang="en-US" dirty="0"/>
              <a:t>全自動化驗證 </a:t>
            </a:r>
            <a:r>
              <a:rPr lang="en-US" altLang="zh-TW" dirty="0"/>
              <a:t>Tester</a:t>
            </a:r>
            <a:r>
              <a:rPr lang="zh-TW" altLang="en-US" dirty="0"/>
              <a:t> 開發</a:t>
            </a:r>
            <a:endParaRPr lang="en-US" altLang="zh-TW" dirty="0"/>
          </a:p>
          <a:p>
            <a:pPr lvl="1"/>
            <a:r>
              <a:rPr lang="en-US" altLang="zh-TW" dirty="0"/>
              <a:t>IM</a:t>
            </a:r>
            <a:r>
              <a:rPr lang="zh-TW" altLang="en-US" dirty="0"/>
              <a:t> </a:t>
            </a:r>
            <a:r>
              <a:rPr lang="en-US" altLang="zh-TW" dirty="0"/>
              <a:t>App</a:t>
            </a:r>
            <a:r>
              <a:rPr lang="zh-TW" altLang="en-US" dirty="0"/>
              <a:t>效能驗證</a:t>
            </a:r>
            <a:r>
              <a:rPr lang="en-US" altLang="zh-TW" dirty="0"/>
              <a:t>Tester</a:t>
            </a:r>
          </a:p>
          <a:p>
            <a:r>
              <a:rPr lang="zh-TW" alt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網路場域建置</a:t>
            </a:r>
            <a:endParaRPr lang="en-US" altLang="zh-TW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en-US" altLang="zh-TW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RAN</a:t>
            </a:r>
            <a:r>
              <a:rPr lang="zh-TW" alt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Emulator</a:t>
            </a:r>
          </a:p>
          <a:p>
            <a:r>
              <a:rPr lang="en-US" altLang="zh-TW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zh-TW" altLang="en-US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驗證情境建置</a:t>
            </a:r>
            <a:endParaRPr lang="en-US" altLang="zh-TW" sz="3200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TW" altLang="en-US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展示情境優化（室內場域）</a:t>
            </a:r>
            <a:endParaRPr lang="en-US" altLang="zh-TW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3200" b="0" kern="12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Openhouse</a:t>
            </a:r>
            <a:r>
              <a:rPr lang="zh-TW" altLang="en-US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戰情室串接</a:t>
            </a:r>
            <a:endParaRPr lang="en-US" altLang="zh-TW" sz="3200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925466-D59D-4853-3413-4159CE0C8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27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3A61BC-28AE-FF0D-BB22-D07C18D6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3" y="187569"/>
            <a:ext cx="11045923" cy="1018931"/>
          </a:xfrm>
        </p:spPr>
        <p:txBody>
          <a:bodyPr/>
          <a:lstStyle/>
          <a:p>
            <a:r>
              <a:rPr lang="zh-TW" altLang="en-US" sz="3600" b="0" kern="1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全自動化驗證 </a:t>
            </a:r>
            <a:r>
              <a:rPr lang="en-US" altLang="zh-TW" sz="3600" b="0" kern="1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Tester</a:t>
            </a:r>
            <a:r>
              <a:rPr lang="zh-TW" altLang="en-US" kern="1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altLang="en-US" dirty="0"/>
              <a:t>架構圖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AA6A20-A3BC-5C6E-1ADC-7FF5E7DD7D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7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93F3AEEC-F813-AE92-0627-A2A52E532581}"/>
              </a:ext>
            </a:extLst>
          </p:cNvPr>
          <p:cNvSpPr txBox="1"/>
          <p:nvPr/>
        </p:nvSpPr>
        <p:spPr>
          <a:xfrm>
            <a:off x="1217676" y="1271815"/>
            <a:ext cx="5614416" cy="3130222"/>
          </a:xfrm>
          <a:prstGeom prst="roundRect">
            <a:avLst>
              <a:gd name="adj" fmla="val 5495"/>
            </a:avLst>
          </a:prstGeom>
          <a:solidFill>
            <a:srgbClr val="FBF4E5"/>
          </a:solidFill>
          <a:ln w="12700">
            <a:solidFill>
              <a:srgbClr val="3A3A3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7B65ADD-1BC5-F7E3-7BC9-FE8611A75C61}"/>
              </a:ext>
            </a:extLst>
          </p:cNvPr>
          <p:cNvSpPr txBox="1"/>
          <p:nvPr/>
        </p:nvSpPr>
        <p:spPr>
          <a:xfrm>
            <a:off x="2177796" y="1363255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智慧網路驗證平台</a:t>
            </a:r>
            <a:endParaRPr lang="en-US" sz="18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6DE31AC-B3F9-5883-F73E-783F7BED0E73}"/>
              </a:ext>
            </a:extLst>
          </p:cNvPr>
          <p:cNvSpPr txBox="1"/>
          <p:nvPr/>
        </p:nvSpPr>
        <p:spPr>
          <a:xfrm>
            <a:off x="275844" y="2113063"/>
            <a:ext cx="758952" cy="539496"/>
          </a:xfrm>
          <a:prstGeom prst="roundRect">
            <a:avLst>
              <a:gd name="adj" fmla="val 1355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(User)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DF6459BA-E1DE-BE09-A051-5A07F1CEDF00}"/>
              </a:ext>
            </a:extLst>
          </p:cNvPr>
          <p:cNvSpPr txBox="1"/>
          <p:nvPr/>
        </p:nvSpPr>
        <p:spPr>
          <a:xfrm>
            <a:off x="1464564" y="2113063"/>
            <a:ext cx="1344168" cy="539496"/>
          </a:xfrm>
          <a:prstGeom prst="roundRect">
            <a:avLst>
              <a:gd name="adj" fmla="val 13559"/>
            </a:avLst>
          </a:prstGeom>
          <a:solidFill>
            <a:srgbClr val="F8C4CA"/>
          </a:solidFill>
          <a:ln w="12700">
            <a:solidFill>
              <a:srgbClr val="D9505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前端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(Web Frontend)</a:t>
            </a:r>
            <a:endParaRPr lang="en-US" sz="12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05D9E341-87DC-0DAC-A81E-ACBEF19172F6}"/>
              </a:ext>
            </a:extLst>
          </p:cNvPr>
          <p:cNvSpPr txBox="1"/>
          <p:nvPr/>
        </p:nvSpPr>
        <p:spPr>
          <a:xfrm>
            <a:off x="3165348" y="2113063"/>
            <a:ext cx="1307592" cy="539496"/>
          </a:xfrm>
          <a:prstGeom prst="roundRect">
            <a:avLst>
              <a:gd name="adj" fmla="val 13559"/>
            </a:avLst>
          </a:prstGeom>
          <a:solidFill>
            <a:srgbClr val="F8C4CA"/>
          </a:solidFill>
          <a:ln w="12700">
            <a:solidFill>
              <a:srgbClr val="D9505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後端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(Web Backend)</a:t>
            </a:r>
            <a:endParaRPr lang="en-US" sz="12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3D7DBB6-41A3-9D6F-216E-280EF7F8153C}"/>
              </a:ext>
            </a:extLst>
          </p:cNvPr>
          <p:cNvSpPr txBox="1"/>
          <p:nvPr/>
        </p:nvSpPr>
        <p:spPr>
          <a:xfrm>
            <a:off x="1757172" y="2981743"/>
            <a:ext cx="1408176" cy="685800"/>
          </a:xfrm>
          <a:prstGeom prst="can">
            <a:avLst/>
          </a:prstGeom>
          <a:solidFill>
            <a:srgbClr val="3A6FBF"/>
          </a:solidFill>
          <a:ln w="12700">
            <a:solidFill>
              <a:srgbClr val="1E4E9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(Database)</a:t>
            </a:r>
            <a:endParaRPr lang="en-US" sz="12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13C78A2E-9C8B-ABD7-24BD-A18C7ADEC107}"/>
              </a:ext>
            </a:extLst>
          </p:cNvPr>
          <p:cNvSpPr txBox="1"/>
          <p:nvPr/>
        </p:nvSpPr>
        <p:spPr>
          <a:xfrm>
            <a:off x="4875276" y="1354111"/>
            <a:ext cx="1773936" cy="2971800"/>
          </a:xfrm>
          <a:prstGeom prst="roundRect">
            <a:avLst>
              <a:gd name="adj" fmla="val 6186"/>
            </a:avLst>
          </a:prstGeom>
          <a:solidFill>
            <a:srgbClr val="E4F0FB"/>
          </a:solidFill>
          <a:ln w="12700">
            <a:solidFill>
              <a:srgbClr val="2E6FB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35721F6-FD6F-720D-2F77-59AF8860D5EE}"/>
              </a:ext>
            </a:extLst>
          </p:cNvPr>
          <p:cNvSpPr txBox="1"/>
          <p:nvPr/>
        </p:nvSpPr>
        <p:spPr>
          <a:xfrm>
            <a:off x="4920996" y="1408975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測試功能模組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(Tester Function)</a:t>
            </a:r>
            <a:endParaRPr lang="en-US" sz="12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0EFD13A2-BC8A-F054-EED5-759E6FA1489F}"/>
              </a:ext>
            </a:extLst>
          </p:cNvPr>
          <p:cNvSpPr txBox="1"/>
          <p:nvPr/>
        </p:nvSpPr>
        <p:spPr>
          <a:xfrm>
            <a:off x="5012436" y="1829599"/>
            <a:ext cx="1499616" cy="402336"/>
          </a:xfrm>
          <a:prstGeom prst="roundRect">
            <a:avLst>
              <a:gd name="adj" fmla="val 18182"/>
            </a:avLst>
          </a:prstGeom>
          <a:solidFill>
            <a:srgbClr val="BBD8F1"/>
          </a:solidFill>
          <a:ln w="12700">
            <a:solidFill>
              <a:srgbClr val="2E6FB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測試案例控制器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(Test Case Controller)</a:t>
            </a:r>
            <a:endParaRPr lang="en-US" sz="12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19488432-6050-C772-BDED-9B96157FE0B3}"/>
              </a:ext>
            </a:extLst>
          </p:cNvPr>
          <p:cNvSpPr txBox="1"/>
          <p:nvPr/>
        </p:nvSpPr>
        <p:spPr>
          <a:xfrm>
            <a:off x="5012436" y="2332519"/>
            <a:ext cx="1499616" cy="1892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5B93C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1FCF6703-1850-C646-0FE7-3289F8C2E690}"/>
              </a:ext>
            </a:extLst>
          </p:cNvPr>
          <p:cNvSpPr txBox="1"/>
          <p:nvPr/>
        </p:nvSpPr>
        <p:spPr>
          <a:xfrm>
            <a:off x="5012436" y="2369095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測試指標</a:t>
            </a:r>
            <a:endParaRPr lang="en-US" sz="12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A54A55D4-9CBA-0F42-3D23-EFE335086036}"/>
              </a:ext>
            </a:extLst>
          </p:cNvPr>
          <p:cNvSpPr txBox="1"/>
          <p:nvPr/>
        </p:nvSpPr>
        <p:spPr>
          <a:xfrm>
            <a:off x="5103876" y="2643415"/>
            <a:ext cx="1325880" cy="219456"/>
          </a:xfrm>
          <a:prstGeom prst="roundRect">
            <a:avLst>
              <a:gd name="adj" fmla="val 25000"/>
            </a:avLst>
          </a:prstGeom>
          <a:solidFill>
            <a:srgbClr val="C7DEF3"/>
          </a:solidFill>
          <a:ln w="12700">
            <a:solidFill>
              <a:srgbClr val="5B93C9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頻譜效率</a:t>
            </a:r>
            <a:endParaRPr lang="en-US" sz="10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00A99B8C-9CBD-1397-FD55-B37768FED40D}"/>
              </a:ext>
            </a:extLst>
          </p:cNvPr>
          <p:cNvSpPr txBox="1"/>
          <p:nvPr/>
        </p:nvSpPr>
        <p:spPr>
          <a:xfrm>
            <a:off x="5103876" y="2904019"/>
            <a:ext cx="1325880" cy="219456"/>
          </a:xfrm>
          <a:prstGeom prst="roundRect">
            <a:avLst>
              <a:gd name="adj" fmla="val 25000"/>
            </a:avLst>
          </a:prstGeom>
          <a:solidFill>
            <a:srgbClr val="C7DEF3"/>
          </a:solidFill>
          <a:ln w="12700">
            <a:solidFill>
              <a:srgbClr val="5B93C9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傳輸速率</a:t>
            </a:r>
            <a:endParaRPr lang="en-US" sz="10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F95029DA-E2D5-4C03-7FDC-873F3A922477}"/>
              </a:ext>
            </a:extLst>
          </p:cNvPr>
          <p:cNvSpPr txBox="1"/>
          <p:nvPr/>
        </p:nvSpPr>
        <p:spPr>
          <a:xfrm>
            <a:off x="5103876" y="3164623"/>
            <a:ext cx="1325880" cy="219456"/>
          </a:xfrm>
          <a:prstGeom prst="roundRect">
            <a:avLst>
              <a:gd name="adj" fmla="val 25000"/>
            </a:avLst>
          </a:prstGeom>
          <a:solidFill>
            <a:srgbClr val="C7DEF3"/>
          </a:solidFill>
          <a:ln w="12700">
            <a:solidFill>
              <a:srgbClr val="5B93C9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資源效率</a:t>
            </a:r>
            <a:endParaRPr lang="en-US" sz="100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9D6FF9F1-2DD2-8962-B77A-E8025CC64E17}"/>
              </a:ext>
            </a:extLst>
          </p:cNvPr>
          <p:cNvSpPr txBox="1"/>
          <p:nvPr/>
        </p:nvSpPr>
        <p:spPr>
          <a:xfrm>
            <a:off x="5103876" y="3425227"/>
            <a:ext cx="1325880" cy="219456"/>
          </a:xfrm>
          <a:prstGeom prst="roundRect">
            <a:avLst>
              <a:gd name="adj" fmla="val 25000"/>
            </a:avLst>
          </a:prstGeom>
          <a:solidFill>
            <a:srgbClr val="C7DEF3"/>
          </a:solidFill>
          <a:ln w="12700">
            <a:solidFill>
              <a:srgbClr val="5B93C9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節能效益</a:t>
            </a:r>
            <a:endParaRPr lang="en-US" sz="1000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0A3FBEB3-92E4-4A5D-E519-4CA46E68A275}"/>
              </a:ext>
            </a:extLst>
          </p:cNvPr>
          <p:cNvSpPr txBox="1"/>
          <p:nvPr/>
        </p:nvSpPr>
        <p:spPr>
          <a:xfrm>
            <a:off x="5103876" y="3685831"/>
            <a:ext cx="1325880" cy="219456"/>
          </a:xfrm>
          <a:prstGeom prst="roundRect">
            <a:avLst>
              <a:gd name="adj" fmla="val 25000"/>
            </a:avLst>
          </a:prstGeom>
          <a:solidFill>
            <a:srgbClr val="C7DEF3"/>
          </a:solidFill>
          <a:ln w="12700">
            <a:solidFill>
              <a:srgbClr val="5B93C9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服務體驗</a:t>
            </a:r>
            <a:endParaRPr lang="en-US" sz="10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2262A8B5-6C59-A779-51D8-4C414EBA274D}"/>
              </a:ext>
            </a:extLst>
          </p:cNvPr>
          <p:cNvSpPr txBox="1"/>
          <p:nvPr/>
        </p:nvSpPr>
        <p:spPr>
          <a:xfrm>
            <a:off x="5103876" y="3946435"/>
            <a:ext cx="1325880" cy="219456"/>
          </a:xfrm>
          <a:prstGeom prst="roundRect">
            <a:avLst>
              <a:gd name="adj" fmla="val 25000"/>
            </a:avLst>
          </a:prstGeom>
          <a:solidFill>
            <a:srgbClr val="C7DEF3"/>
          </a:solidFill>
          <a:ln w="12700">
            <a:solidFill>
              <a:srgbClr val="5B93C9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其他指標</a:t>
            </a:r>
            <a:endParaRPr lang="en-US" sz="10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9D5A2321-8572-3CA1-DC35-1C6FD3960E26}"/>
              </a:ext>
            </a:extLst>
          </p:cNvPr>
          <p:cNvSpPr txBox="1"/>
          <p:nvPr/>
        </p:nvSpPr>
        <p:spPr>
          <a:xfrm>
            <a:off x="7728204" y="1271815"/>
            <a:ext cx="4050792" cy="3182112"/>
          </a:xfrm>
          <a:prstGeom prst="roundRect">
            <a:avLst>
              <a:gd name="adj" fmla="val 4310"/>
            </a:avLst>
          </a:prstGeom>
          <a:solidFill>
            <a:srgbClr val="EAEAEA"/>
          </a:solidFill>
          <a:ln w="12700">
            <a:solidFill>
              <a:srgbClr val="33333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B3693255-B2AF-4B6C-ED68-E82EB33EDDF6}"/>
              </a:ext>
            </a:extLst>
          </p:cNvPr>
          <p:cNvSpPr txBox="1"/>
          <p:nvPr/>
        </p:nvSpPr>
        <p:spPr>
          <a:xfrm>
            <a:off x="7728204" y="1326679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驗證組態（隨測試案例切換）</a:t>
            </a:r>
            <a:endParaRPr lang="en-US" sz="160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A79FF1E8-2172-2389-7D11-4E0BD11AD791}"/>
              </a:ext>
            </a:extLst>
          </p:cNvPr>
          <p:cNvSpPr txBox="1"/>
          <p:nvPr/>
        </p:nvSpPr>
        <p:spPr>
          <a:xfrm>
            <a:off x="7837932" y="1646719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F0781B9-FCBF-EB11-CC5F-A08277555CA6}"/>
              </a:ext>
            </a:extLst>
          </p:cNvPr>
          <p:cNvSpPr txBox="1"/>
          <p:nvPr/>
        </p:nvSpPr>
        <p:spPr>
          <a:xfrm>
            <a:off x="7929372" y="1683295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</a:t>
            </a:r>
            <a:endParaRPr lang="en-US" sz="1300" dirty="0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872FB42E-AB6C-EF8F-1C32-E331D4D1C1B5}"/>
              </a:ext>
            </a:extLst>
          </p:cNvPr>
          <p:cNvSpPr txBox="1"/>
          <p:nvPr/>
        </p:nvSpPr>
        <p:spPr>
          <a:xfrm>
            <a:off x="9300972" y="1683295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BDCC8"/>
          </a:solidFill>
          <a:ln w="12700">
            <a:solidFill>
              <a:srgbClr val="E0682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6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DUT</a:t>
            </a:r>
            <a:endParaRPr lang="en-US" sz="1300" dirty="0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B0B0F747-CEEA-4FF2-0750-DCE7E5B61B2B}"/>
              </a:ext>
            </a:extLst>
          </p:cNvPr>
          <p:cNvSpPr txBox="1"/>
          <p:nvPr/>
        </p:nvSpPr>
        <p:spPr>
          <a:xfrm>
            <a:off x="10343388" y="1683295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400" dirty="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0523F85A-10E6-2956-00ED-28462DC647FB}"/>
              </a:ext>
            </a:extLst>
          </p:cNvPr>
          <p:cNvSpPr txBox="1"/>
          <p:nvPr/>
        </p:nvSpPr>
        <p:spPr>
          <a:xfrm>
            <a:off x="10581132" y="1683295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D7E9F8"/>
          </a:solidFill>
          <a:ln w="12700">
            <a:solidFill>
              <a:srgbClr val="2E7BC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F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</a:t>
            </a:r>
            <a:endParaRPr lang="en-US" sz="1200" dirty="0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EADC16AD-EB11-E5DF-788A-AE928BBB3E08}"/>
              </a:ext>
            </a:extLst>
          </p:cNvPr>
          <p:cNvSpPr txBox="1"/>
          <p:nvPr/>
        </p:nvSpPr>
        <p:spPr>
          <a:xfrm>
            <a:off x="7837932" y="2145067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0C4A375F-0B02-6F12-8322-2DD9C78C46C8}"/>
              </a:ext>
            </a:extLst>
          </p:cNvPr>
          <p:cNvSpPr txBox="1"/>
          <p:nvPr/>
        </p:nvSpPr>
        <p:spPr>
          <a:xfrm>
            <a:off x="7929372" y="2181643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Near-RT RIC</a:t>
            </a:r>
            <a:endParaRPr lang="en-US" sz="130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AE20A626-3D34-6C87-3887-66761E4D57C6}"/>
              </a:ext>
            </a:extLst>
          </p:cNvPr>
          <p:cNvSpPr txBox="1"/>
          <p:nvPr/>
        </p:nvSpPr>
        <p:spPr>
          <a:xfrm>
            <a:off x="9300972" y="2181643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BDCC8"/>
          </a:solidFill>
          <a:ln w="12700">
            <a:solidFill>
              <a:srgbClr val="E0682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6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DUT</a:t>
            </a:r>
            <a:endParaRPr lang="en-US" sz="130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EFBC43F0-8637-6947-ADDE-BB7481F01F49}"/>
              </a:ext>
            </a:extLst>
          </p:cNvPr>
          <p:cNvSpPr txBox="1"/>
          <p:nvPr/>
        </p:nvSpPr>
        <p:spPr>
          <a:xfrm>
            <a:off x="10343388" y="2181643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40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06369C8F-303E-DE75-AA53-485FAE134781}"/>
              </a:ext>
            </a:extLst>
          </p:cNvPr>
          <p:cNvSpPr txBox="1"/>
          <p:nvPr/>
        </p:nvSpPr>
        <p:spPr>
          <a:xfrm>
            <a:off x="10581132" y="2181643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D7E9F8"/>
          </a:solidFill>
          <a:ln w="12700">
            <a:solidFill>
              <a:srgbClr val="2E7BC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F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</a:t>
            </a:r>
            <a:endParaRPr lang="en-US" sz="120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C355AB1C-F514-A10E-DA24-8C315D7C3F16}"/>
              </a:ext>
            </a:extLst>
          </p:cNvPr>
          <p:cNvSpPr txBox="1"/>
          <p:nvPr/>
        </p:nvSpPr>
        <p:spPr>
          <a:xfrm>
            <a:off x="7837932" y="2643415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6BD43B7F-6231-1AA0-6976-2603FE6DC3E3}"/>
              </a:ext>
            </a:extLst>
          </p:cNvPr>
          <p:cNvSpPr txBox="1"/>
          <p:nvPr/>
        </p:nvSpPr>
        <p:spPr>
          <a:xfrm>
            <a:off x="7929372" y="2679991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Non-RT RIC</a:t>
            </a:r>
            <a:endParaRPr lang="en-US" sz="130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2DC4C4FB-4365-8350-D375-0B8DFCA09E9C}"/>
              </a:ext>
            </a:extLst>
          </p:cNvPr>
          <p:cNvSpPr txBox="1"/>
          <p:nvPr/>
        </p:nvSpPr>
        <p:spPr>
          <a:xfrm>
            <a:off x="9300972" y="2679991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BDCC8"/>
          </a:solidFill>
          <a:ln w="12700">
            <a:solidFill>
              <a:srgbClr val="E0682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6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DUT</a:t>
            </a:r>
            <a:endParaRPr lang="en-US" sz="1300" dirty="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C1DE3ADF-1080-55A5-8C7B-2D0378801E0E}"/>
              </a:ext>
            </a:extLst>
          </p:cNvPr>
          <p:cNvSpPr txBox="1"/>
          <p:nvPr/>
        </p:nvSpPr>
        <p:spPr>
          <a:xfrm>
            <a:off x="10343388" y="2679991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400" dirty="0"/>
          </a:p>
        </p:txBody>
      </p:sp>
      <p:sp>
        <p:nvSpPr>
          <p:cNvPr id="63" name="Text 40">
            <a:extLst>
              <a:ext uri="{FF2B5EF4-FFF2-40B4-BE49-F238E27FC236}">
                <a16:creationId xmlns:a16="http://schemas.microsoft.com/office/drawing/2014/main" id="{29C689AB-20ED-BDA4-A707-1FB8148E0637}"/>
              </a:ext>
            </a:extLst>
          </p:cNvPr>
          <p:cNvSpPr txBox="1"/>
          <p:nvPr/>
        </p:nvSpPr>
        <p:spPr>
          <a:xfrm>
            <a:off x="10581132" y="2679991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D7E9F8"/>
          </a:solidFill>
          <a:ln w="12700">
            <a:solidFill>
              <a:srgbClr val="2E7BC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F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</a:t>
            </a:r>
            <a:endParaRPr lang="en-US" sz="1200" dirty="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4F6C01E0-3C42-26BA-1871-13897BF95EEB}"/>
              </a:ext>
            </a:extLst>
          </p:cNvPr>
          <p:cNvSpPr txBox="1"/>
          <p:nvPr/>
        </p:nvSpPr>
        <p:spPr>
          <a:xfrm>
            <a:off x="7837932" y="3141763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5" name="Text 42">
            <a:extLst>
              <a:ext uri="{FF2B5EF4-FFF2-40B4-BE49-F238E27FC236}">
                <a16:creationId xmlns:a16="http://schemas.microsoft.com/office/drawing/2014/main" id="{9B65B457-9D48-4BCC-7142-4D7213880B9C}"/>
              </a:ext>
            </a:extLst>
          </p:cNvPr>
          <p:cNvSpPr txBox="1"/>
          <p:nvPr/>
        </p:nvSpPr>
        <p:spPr>
          <a:xfrm>
            <a:off x="7929372" y="3178339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xApp</a:t>
            </a:r>
            <a:endParaRPr lang="en-US" sz="1300" dirty="0"/>
          </a:p>
        </p:txBody>
      </p:sp>
      <p:sp>
        <p:nvSpPr>
          <p:cNvPr id="66" name="Text 43">
            <a:extLst>
              <a:ext uri="{FF2B5EF4-FFF2-40B4-BE49-F238E27FC236}">
                <a16:creationId xmlns:a16="http://schemas.microsoft.com/office/drawing/2014/main" id="{D83787B6-187E-4C57-B77A-D88C01D2E273}"/>
              </a:ext>
            </a:extLst>
          </p:cNvPr>
          <p:cNvSpPr txBox="1"/>
          <p:nvPr/>
        </p:nvSpPr>
        <p:spPr>
          <a:xfrm>
            <a:off x="9300972" y="3178339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BDCC8"/>
          </a:solidFill>
          <a:ln w="12700">
            <a:solidFill>
              <a:srgbClr val="E0682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6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DUT</a:t>
            </a:r>
            <a:endParaRPr lang="en-US" sz="1300" dirty="0"/>
          </a:p>
        </p:txBody>
      </p:sp>
      <p:sp>
        <p:nvSpPr>
          <p:cNvPr id="67" name="Text 44">
            <a:extLst>
              <a:ext uri="{FF2B5EF4-FFF2-40B4-BE49-F238E27FC236}">
                <a16:creationId xmlns:a16="http://schemas.microsoft.com/office/drawing/2014/main" id="{87942327-C256-860D-3C57-F180E171674C}"/>
              </a:ext>
            </a:extLst>
          </p:cNvPr>
          <p:cNvSpPr txBox="1"/>
          <p:nvPr/>
        </p:nvSpPr>
        <p:spPr>
          <a:xfrm>
            <a:off x="10343388" y="3178339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400" dirty="0"/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744340FE-7022-4E35-7A33-42BBA5911219}"/>
              </a:ext>
            </a:extLst>
          </p:cNvPr>
          <p:cNvSpPr txBox="1"/>
          <p:nvPr/>
        </p:nvSpPr>
        <p:spPr>
          <a:xfrm>
            <a:off x="10581132" y="3178339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D7E9F8"/>
          </a:solidFill>
          <a:ln w="12700">
            <a:solidFill>
              <a:srgbClr val="2E7BC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F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</a:t>
            </a:r>
            <a:endParaRPr lang="en-US" sz="1200" dirty="0"/>
          </a:p>
        </p:txBody>
      </p:sp>
      <p:sp>
        <p:nvSpPr>
          <p:cNvPr id="69" name="Text 46">
            <a:extLst>
              <a:ext uri="{FF2B5EF4-FFF2-40B4-BE49-F238E27FC236}">
                <a16:creationId xmlns:a16="http://schemas.microsoft.com/office/drawing/2014/main" id="{041E449F-A677-BBAE-DB3E-B60960ED2777}"/>
              </a:ext>
            </a:extLst>
          </p:cNvPr>
          <p:cNvSpPr txBox="1"/>
          <p:nvPr/>
        </p:nvSpPr>
        <p:spPr>
          <a:xfrm>
            <a:off x="7837932" y="3640111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FAB28E3C-CB15-F803-A2C1-56624D1D87EA}"/>
              </a:ext>
            </a:extLst>
          </p:cNvPr>
          <p:cNvSpPr txBox="1"/>
          <p:nvPr/>
        </p:nvSpPr>
        <p:spPr>
          <a:xfrm>
            <a:off x="7929372" y="3676687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rApp</a:t>
            </a:r>
            <a:endParaRPr lang="en-US" sz="1300" dirty="0"/>
          </a:p>
        </p:txBody>
      </p:sp>
      <p:sp>
        <p:nvSpPr>
          <p:cNvPr id="71" name="Text 48">
            <a:extLst>
              <a:ext uri="{FF2B5EF4-FFF2-40B4-BE49-F238E27FC236}">
                <a16:creationId xmlns:a16="http://schemas.microsoft.com/office/drawing/2014/main" id="{49C6218F-F747-906B-106B-875C73160002}"/>
              </a:ext>
            </a:extLst>
          </p:cNvPr>
          <p:cNvSpPr txBox="1"/>
          <p:nvPr/>
        </p:nvSpPr>
        <p:spPr>
          <a:xfrm>
            <a:off x="9300972" y="3676687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BDCC8"/>
          </a:solidFill>
          <a:ln w="12700">
            <a:solidFill>
              <a:srgbClr val="E0682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6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DUT</a:t>
            </a:r>
            <a:endParaRPr lang="en-US" sz="1300" dirty="0"/>
          </a:p>
        </p:txBody>
      </p:sp>
      <p:sp>
        <p:nvSpPr>
          <p:cNvPr id="72" name="Text 49">
            <a:extLst>
              <a:ext uri="{FF2B5EF4-FFF2-40B4-BE49-F238E27FC236}">
                <a16:creationId xmlns:a16="http://schemas.microsoft.com/office/drawing/2014/main" id="{FA869207-40B6-992E-26E4-A3F958074EE0}"/>
              </a:ext>
            </a:extLst>
          </p:cNvPr>
          <p:cNvSpPr txBox="1"/>
          <p:nvPr/>
        </p:nvSpPr>
        <p:spPr>
          <a:xfrm>
            <a:off x="10343388" y="3676687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400" dirty="0"/>
          </a:p>
        </p:txBody>
      </p:sp>
      <p:sp>
        <p:nvSpPr>
          <p:cNvPr id="73" name="Text 50">
            <a:extLst>
              <a:ext uri="{FF2B5EF4-FFF2-40B4-BE49-F238E27FC236}">
                <a16:creationId xmlns:a16="http://schemas.microsoft.com/office/drawing/2014/main" id="{EDA49B1B-AC4D-8B56-CECE-29C6B011DC64}"/>
              </a:ext>
            </a:extLst>
          </p:cNvPr>
          <p:cNvSpPr txBox="1"/>
          <p:nvPr/>
        </p:nvSpPr>
        <p:spPr>
          <a:xfrm>
            <a:off x="10581132" y="3676687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D7E9F8"/>
          </a:solidFill>
          <a:ln w="12700">
            <a:solidFill>
              <a:srgbClr val="2E7BC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F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</a:t>
            </a:r>
            <a:endParaRPr lang="en-US" sz="1200" dirty="0"/>
          </a:p>
        </p:txBody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D7457FBF-105D-F220-A0AC-CD00A6DA8445}"/>
              </a:ext>
            </a:extLst>
          </p:cNvPr>
          <p:cNvSpPr txBox="1"/>
          <p:nvPr/>
        </p:nvSpPr>
        <p:spPr>
          <a:xfrm>
            <a:off x="7837932" y="410645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每個元件皆可選為受測對象或測試環境</a:t>
            </a:r>
            <a:endParaRPr lang="en-US" sz="1200" dirty="0"/>
          </a:p>
        </p:txBody>
      </p:sp>
      <p:sp>
        <p:nvSpPr>
          <p:cNvPr id="75" name="Text 52">
            <a:extLst>
              <a:ext uri="{FF2B5EF4-FFF2-40B4-BE49-F238E27FC236}">
                <a16:creationId xmlns:a16="http://schemas.microsoft.com/office/drawing/2014/main" id="{AE788BFD-F574-AEFF-C7DD-BFF66B91E883}"/>
              </a:ext>
            </a:extLst>
          </p:cNvPr>
          <p:cNvSpPr txBox="1"/>
          <p:nvPr/>
        </p:nvSpPr>
        <p:spPr>
          <a:xfrm>
            <a:off x="5561076" y="4956847"/>
            <a:ext cx="1325880" cy="749808"/>
          </a:xfrm>
          <a:prstGeom prst="roundRect">
            <a:avLst>
              <a:gd name="adj" fmla="val 12195"/>
            </a:avLst>
          </a:prstGeom>
          <a:solidFill>
            <a:srgbClr val="D6E8F7"/>
          </a:solidFill>
          <a:ln w="12700">
            <a:solidFill>
              <a:srgbClr val="2E6FB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76" name="Image 0" descr="preencoded.png">
            <a:extLst>
              <a:ext uri="{FF2B5EF4-FFF2-40B4-BE49-F238E27FC236}">
                <a16:creationId xmlns:a16="http://schemas.microsoft.com/office/drawing/2014/main" id="{A55FE24B-5E76-A5A6-5DE0-4E13C8B4C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228" y="5176303"/>
            <a:ext cx="310896" cy="310896"/>
          </a:xfrm>
          <a:prstGeom prst="rect">
            <a:avLst/>
          </a:prstGeom>
        </p:spPr>
      </p:pic>
      <p:sp>
        <p:nvSpPr>
          <p:cNvPr id="77" name="Text 53">
            <a:extLst>
              <a:ext uri="{FF2B5EF4-FFF2-40B4-BE49-F238E27FC236}">
                <a16:creationId xmlns:a16="http://schemas.microsoft.com/office/drawing/2014/main" id="{8A2BF930-F2EB-A09F-657C-41B32BBB2A0F}"/>
              </a:ext>
            </a:extLst>
          </p:cNvPr>
          <p:cNvSpPr txBox="1"/>
          <p:nvPr/>
        </p:nvSpPr>
        <p:spPr>
          <a:xfrm>
            <a:off x="5963412" y="5002567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模擬器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(UE Emulator)</a:t>
            </a:r>
            <a:endParaRPr lang="en-US" sz="1200" dirty="0"/>
          </a:p>
        </p:txBody>
      </p:sp>
      <p:sp>
        <p:nvSpPr>
          <p:cNvPr id="78" name="Text 54">
            <a:extLst>
              <a:ext uri="{FF2B5EF4-FFF2-40B4-BE49-F238E27FC236}">
                <a16:creationId xmlns:a16="http://schemas.microsoft.com/office/drawing/2014/main" id="{E1F41500-7367-5DEA-D22A-D025051E73B3}"/>
              </a:ext>
            </a:extLst>
          </p:cNvPr>
          <p:cNvSpPr txBox="1"/>
          <p:nvPr/>
        </p:nvSpPr>
        <p:spPr>
          <a:xfrm>
            <a:off x="7115556" y="4956847"/>
            <a:ext cx="1389888" cy="749808"/>
          </a:xfrm>
          <a:prstGeom prst="roundRect">
            <a:avLst>
              <a:gd name="adj" fmla="val 12195"/>
            </a:avLst>
          </a:prstGeom>
          <a:solidFill>
            <a:srgbClr val="D6E8F7"/>
          </a:solidFill>
          <a:ln w="12700">
            <a:solidFill>
              <a:srgbClr val="2E6FB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79" name="Image 1" descr="preencoded.png">
            <a:extLst>
              <a:ext uri="{FF2B5EF4-FFF2-40B4-BE49-F238E27FC236}">
                <a16:creationId xmlns:a16="http://schemas.microsoft.com/office/drawing/2014/main" id="{8CB0DA65-5CBF-5CB3-EF1D-863F09B41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708" y="5176303"/>
            <a:ext cx="310896" cy="310896"/>
          </a:xfrm>
          <a:prstGeom prst="rect">
            <a:avLst/>
          </a:prstGeom>
        </p:spPr>
      </p:pic>
      <p:sp>
        <p:nvSpPr>
          <p:cNvPr id="80" name="Text 55">
            <a:extLst>
              <a:ext uri="{FF2B5EF4-FFF2-40B4-BE49-F238E27FC236}">
                <a16:creationId xmlns:a16="http://schemas.microsoft.com/office/drawing/2014/main" id="{F126C8D0-E49E-4338-594E-54034BACE397}"/>
              </a:ext>
            </a:extLst>
          </p:cNvPr>
          <p:cNvSpPr txBox="1"/>
          <p:nvPr/>
        </p:nvSpPr>
        <p:spPr>
          <a:xfrm>
            <a:off x="7517892" y="5002567"/>
            <a:ext cx="950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 模擬器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(RAN Emulator)</a:t>
            </a:r>
            <a:endParaRPr lang="en-US" sz="1200" dirty="0"/>
          </a:p>
        </p:txBody>
      </p:sp>
      <p:sp>
        <p:nvSpPr>
          <p:cNvPr id="81" name="Text 56">
            <a:extLst>
              <a:ext uri="{FF2B5EF4-FFF2-40B4-BE49-F238E27FC236}">
                <a16:creationId xmlns:a16="http://schemas.microsoft.com/office/drawing/2014/main" id="{5CD27C15-F609-D789-83B5-331945BD52E9}"/>
              </a:ext>
            </a:extLst>
          </p:cNvPr>
          <p:cNvSpPr txBox="1"/>
          <p:nvPr/>
        </p:nvSpPr>
        <p:spPr>
          <a:xfrm>
            <a:off x="8724900" y="4956847"/>
            <a:ext cx="1389888" cy="749808"/>
          </a:xfrm>
          <a:prstGeom prst="roundRect">
            <a:avLst>
              <a:gd name="adj" fmla="val 12195"/>
            </a:avLst>
          </a:prstGeom>
          <a:solidFill>
            <a:srgbClr val="D6E8F7"/>
          </a:solidFill>
          <a:ln w="12700">
            <a:solidFill>
              <a:srgbClr val="2E6FB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82" name="Image 2" descr="preencoded.png">
            <a:extLst>
              <a:ext uri="{FF2B5EF4-FFF2-40B4-BE49-F238E27FC236}">
                <a16:creationId xmlns:a16="http://schemas.microsoft.com/office/drawing/2014/main" id="{1D9D20CE-15FC-0BC3-2F30-FB649B1CA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8052" y="5176303"/>
            <a:ext cx="310896" cy="310896"/>
          </a:xfrm>
          <a:prstGeom prst="rect">
            <a:avLst/>
          </a:prstGeom>
        </p:spPr>
      </p:pic>
      <p:sp>
        <p:nvSpPr>
          <p:cNvPr id="83" name="Text 57">
            <a:extLst>
              <a:ext uri="{FF2B5EF4-FFF2-40B4-BE49-F238E27FC236}">
                <a16:creationId xmlns:a16="http://schemas.microsoft.com/office/drawing/2014/main" id="{E0839101-AA9D-96D0-6148-A25D946435C0}"/>
              </a:ext>
            </a:extLst>
          </p:cNvPr>
          <p:cNvSpPr txBox="1"/>
          <p:nvPr/>
        </p:nvSpPr>
        <p:spPr>
          <a:xfrm>
            <a:off x="9127236" y="5002567"/>
            <a:ext cx="950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5GC 模擬器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(5GC Emulator)</a:t>
            </a:r>
            <a:endParaRPr lang="en-US" sz="1200" dirty="0"/>
          </a:p>
        </p:txBody>
      </p:sp>
      <p:sp>
        <p:nvSpPr>
          <p:cNvPr id="84" name="Text 58">
            <a:extLst>
              <a:ext uri="{FF2B5EF4-FFF2-40B4-BE49-F238E27FC236}">
                <a16:creationId xmlns:a16="http://schemas.microsoft.com/office/drawing/2014/main" id="{3620D2E2-9403-AA25-DA39-1E03426F7A66}"/>
              </a:ext>
            </a:extLst>
          </p:cNvPr>
          <p:cNvSpPr txBox="1"/>
          <p:nvPr/>
        </p:nvSpPr>
        <p:spPr>
          <a:xfrm>
            <a:off x="10315956" y="4956847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D6E8F7"/>
          </a:solidFill>
          <a:ln w="12700">
            <a:solidFill>
              <a:srgbClr val="2E6FB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85" name="Image 3" descr="preencoded.png">
            <a:extLst>
              <a:ext uri="{FF2B5EF4-FFF2-40B4-BE49-F238E27FC236}">
                <a16:creationId xmlns:a16="http://schemas.microsoft.com/office/drawing/2014/main" id="{2B075E5C-FAC9-6E34-AAF2-60F69D2EC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820" y="5167159"/>
            <a:ext cx="292608" cy="292608"/>
          </a:xfrm>
          <a:prstGeom prst="rect">
            <a:avLst/>
          </a:prstGeom>
        </p:spPr>
      </p:pic>
      <p:sp>
        <p:nvSpPr>
          <p:cNvPr id="86" name="Text 59">
            <a:extLst>
              <a:ext uri="{FF2B5EF4-FFF2-40B4-BE49-F238E27FC236}">
                <a16:creationId xmlns:a16="http://schemas.microsoft.com/office/drawing/2014/main" id="{5DB83E1A-687C-970E-695D-A89116627BB0}"/>
              </a:ext>
            </a:extLst>
          </p:cNvPr>
          <p:cNvSpPr txBox="1"/>
          <p:nvPr/>
        </p:nvSpPr>
        <p:spPr>
          <a:xfrm>
            <a:off x="10681716" y="4984279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應用服務</a:t>
            </a:r>
            <a:endParaRPr lang="en-US" sz="12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(Application Service)</a:t>
            </a:r>
            <a:endParaRPr lang="en-US" sz="1200" dirty="0"/>
          </a:p>
        </p:txBody>
      </p:sp>
      <p:sp>
        <p:nvSpPr>
          <p:cNvPr id="87" name="Text 60">
            <a:extLst>
              <a:ext uri="{FF2B5EF4-FFF2-40B4-BE49-F238E27FC236}">
                <a16:creationId xmlns:a16="http://schemas.microsoft.com/office/drawing/2014/main" id="{29FB7AB4-8249-B7E4-1804-1A4D74D06DEA}"/>
              </a:ext>
            </a:extLst>
          </p:cNvPr>
          <p:cNvSpPr txBox="1"/>
          <p:nvPr/>
        </p:nvSpPr>
        <p:spPr>
          <a:xfrm>
            <a:off x="11047476" y="5441479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iPerf</a:t>
            </a:r>
            <a:endParaRPr lang="en-US" sz="1000" dirty="0"/>
          </a:p>
        </p:txBody>
      </p:sp>
      <p:sp>
        <p:nvSpPr>
          <p:cNvPr id="88" name="Shape 61">
            <a:extLst>
              <a:ext uri="{FF2B5EF4-FFF2-40B4-BE49-F238E27FC236}">
                <a16:creationId xmlns:a16="http://schemas.microsoft.com/office/drawing/2014/main" id="{4FE91FEC-263A-2765-3BAB-EE647B81410B}"/>
              </a:ext>
            </a:extLst>
          </p:cNvPr>
          <p:cNvSpPr/>
          <p:nvPr/>
        </p:nvSpPr>
        <p:spPr>
          <a:xfrm>
            <a:off x="6886956" y="5331751"/>
            <a:ext cx="22860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Shape 62">
            <a:extLst>
              <a:ext uri="{FF2B5EF4-FFF2-40B4-BE49-F238E27FC236}">
                <a16:creationId xmlns:a16="http://schemas.microsoft.com/office/drawing/2014/main" id="{38748464-E9F9-DC42-173E-10D5C6838166}"/>
              </a:ext>
            </a:extLst>
          </p:cNvPr>
          <p:cNvSpPr/>
          <p:nvPr/>
        </p:nvSpPr>
        <p:spPr>
          <a:xfrm>
            <a:off x="8505444" y="5331751"/>
            <a:ext cx="219456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Shape 63">
            <a:extLst>
              <a:ext uri="{FF2B5EF4-FFF2-40B4-BE49-F238E27FC236}">
                <a16:creationId xmlns:a16="http://schemas.microsoft.com/office/drawing/2014/main" id="{A4E3C320-2077-94B6-F259-C6D280A652B9}"/>
              </a:ext>
            </a:extLst>
          </p:cNvPr>
          <p:cNvSpPr/>
          <p:nvPr/>
        </p:nvSpPr>
        <p:spPr>
          <a:xfrm>
            <a:off x="10114788" y="5331751"/>
            <a:ext cx="201168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Text 64">
            <a:extLst>
              <a:ext uri="{FF2B5EF4-FFF2-40B4-BE49-F238E27FC236}">
                <a16:creationId xmlns:a16="http://schemas.microsoft.com/office/drawing/2014/main" id="{403410B6-D6EE-FCF5-79BF-DD4EB1C759EC}"/>
              </a:ext>
            </a:extLst>
          </p:cNvPr>
          <p:cNvSpPr txBox="1"/>
          <p:nvPr/>
        </p:nvSpPr>
        <p:spPr>
          <a:xfrm>
            <a:off x="303276" y="4548341"/>
            <a:ext cx="4224528" cy="1892808"/>
          </a:xfrm>
          <a:prstGeom prst="roundRect">
            <a:avLst>
              <a:gd name="adj" fmla="val 7246"/>
            </a:avLst>
          </a:prstGeom>
          <a:solidFill>
            <a:srgbClr val="EAF5E4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2" name="Text 65">
            <a:extLst>
              <a:ext uri="{FF2B5EF4-FFF2-40B4-BE49-F238E27FC236}">
                <a16:creationId xmlns:a16="http://schemas.microsoft.com/office/drawing/2014/main" id="{E2DF0AED-8C3B-1ECE-9805-44986A80BC0A}"/>
              </a:ext>
            </a:extLst>
          </p:cNvPr>
          <p:cNvSpPr txBox="1"/>
          <p:nvPr/>
        </p:nvSpPr>
        <p:spPr>
          <a:xfrm>
            <a:off x="303276" y="4603205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共通性測試平台</a:t>
            </a:r>
            <a:endParaRPr lang="en-US" sz="1600" dirty="0"/>
          </a:p>
        </p:txBody>
      </p:sp>
      <p:sp>
        <p:nvSpPr>
          <p:cNvPr id="93" name="Text 66">
            <a:extLst>
              <a:ext uri="{FF2B5EF4-FFF2-40B4-BE49-F238E27FC236}">
                <a16:creationId xmlns:a16="http://schemas.microsoft.com/office/drawing/2014/main" id="{699824E8-D39A-1268-23AE-B3F277F01C0A}"/>
              </a:ext>
            </a:extLst>
          </p:cNvPr>
          <p:cNvSpPr txBox="1"/>
          <p:nvPr/>
        </p:nvSpPr>
        <p:spPr>
          <a:xfrm>
            <a:off x="376428" y="4877525"/>
            <a:ext cx="1645920" cy="1014984"/>
          </a:xfrm>
          <a:prstGeom prst="roundRect">
            <a:avLst>
              <a:gd name="adj" fmla="val 900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4" name="Text 67">
            <a:extLst>
              <a:ext uri="{FF2B5EF4-FFF2-40B4-BE49-F238E27FC236}">
                <a16:creationId xmlns:a16="http://schemas.microsoft.com/office/drawing/2014/main" id="{0C251F76-183C-A319-9AB9-9492C290557E}"/>
              </a:ext>
            </a:extLst>
          </p:cNvPr>
          <p:cNvSpPr txBox="1"/>
          <p:nvPr/>
        </p:nvSpPr>
        <p:spPr>
          <a:xfrm>
            <a:off x="376428" y="4914101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GUI 介面</a:t>
            </a:r>
            <a:endParaRPr lang="en-US" sz="1200" dirty="0"/>
          </a:p>
        </p:txBody>
      </p:sp>
      <p:sp>
        <p:nvSpPr>
          <p:cNvPr id="95" name="Text 68">
            <a:extLst>
              <a:ext uri="{FF2B5EF4-FFF2-40B4-BE49-F238E27FC236}">
                <a16:creationId xmlns:a16="http://schemas.microsoft.com/office/drawing/2014/main" id="{EA58DFDB-7830-DB35-756B-0A3A9DB8825E}"/>
              </a:ext>
            </a:extLst>
          </p:cNvPr>
          <p:cNvSpPr txBox="1"/>
          <p:nvPr/>
        </p:nvSpPr>
        <p:spPr>
          <a:xfrm>
            <a:off x="458724" y="5188421"/>
            <a:ext cx="713232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前端介面</a:t>
            </a:r>
            <a:endParaRPr lang="en-US" sz="1200" dirty="0"/>
          </a:p>
        </p:txBody>
      </p:sp>
      <p:sp>
        <p:nvSpPr>
          <p:cNvPr id="96" name="Text 69">
            <a:extLst>
              <a:ext uri="{FF2B5EF4-FFF2-40B4-BE49-F238E27FC236}">
                <a16:creationId xmlns:a16="http://schemas.microsoft.com/office/drawing/2014/main" id="{10DC6F87-D6A8-2F79-D443-75BCD1547B8A}"/>
              </a:ext>
            </a:extLst>
          </p:cNvPr>
          <p:cNvSpPr txBox="1"/>
          <p:nvPr/>
        </p:nvSpPr>
        <p:spPr>
          <a:xfrm>
            <a:off x="1226820" y="5188421"/>
            <a:ext cx="713232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後端介面</a:t>
            </a:r>
            <a:endParaRPr lang="en-US" sz="1200" dirty="0"/>
          </a:p>
        </p:txBody>
      </p:sp>
      <p:sp>
        <p:nvSpPr>
          <p:cNvPr id="97" name="Text 70">
            <a:extLst>
              <a:ext uri="{FF2B5EF4-FFF2-40B4-BE49-F238E27FC236}">
                <a16:creationId xmlns:a16="http://schemas.microsoft.com/office/drawing/2014/main" id="{E2C9A241-4FDE-A8BE-BF87-1C61DDF4CF2B}"/>
              </a:ext>
            </a:extLst>
          </p:cNvPr>
          <p:cNvSpPr txBox="1"/>
          <p:nvPr/>
        </p:nvSpPr>
        <p:spPr>
          <a:xfrm>
            <a:off x="2113788" y="4877525"/>
            <a:ext cx="2322576" cy="1014984"/>
          </a:xfrm>
          <a:prstGeom prst="roundRect">
            <a:avLst>
              <a:gd name="adj" fmla="val 9009"/>
            </a:avLst>
          </a:prstGeom>
          <a:solidFill>
            <a:srgbClr val="E3F1DD"/>
          </a:solidFill>
          <a:ln w="12700">
            <a:solidFill>
              <a:srgbClr val="4E9A4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8" name="Text 71">
            <a:extLst>
              <a:ext uri="{FF2B5EF4-FFF2-40B4-BE49-F238E27FC236}">
                <a16:creationId xmlns:a16="http://schemas.microsoft.com/office/drawing/2014/main" id="{C694021A-E2A3-D511-E654-19CE32E5ADD9}"/>
              </a:ext>
            </a:extLst>
          </p:cNvPr>
          <p:cNvSpPr txBox="1"/>
          <p:nvPr/>
        </p:nvSpPr>
        <p:spPr>
          <a:xfrm>
            <a:off x="2113788" y="4914101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Tester 管理</a:t>
            </a:r>
            <a:endParaRPr lang="en-US" sz="1200" dirty="0"/>
          </a:p>
        </p:txBody>
      </p:sp>
      <p:sp>
        <p:nvSpPr>
          <p:cNvPr id="99" name="Text 72">
            <a:extLst>
              <a:ext uri="{FF2B5EF4-FFF2-40B4-BE49-F238E27FC236}">
                <a16:creationId xmlns:a16="http://schemas.microsoft.com/office/drawing/2014/main" id="{C8D63C41-6AD8-3E1E-186A-88BB8F992ACE}"/>
              </a:ext>
            </a:extLst>
          </p:cNvPr>
          <p:cNvSpPr txBox="1"/>
          <p:nvPr/>
        </p:nvSpPr>
        <p:spPr>
          <a:xfrm>
            <a:off x="2186940" y="5188421"/>
            <a:ext cx="12984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 Tester</a:t>
            </a:r>
            <a:endParaRPr lang="en-US" sz="850" dirty="0"/>
          </a:p>
        </p:txBody>
      </p:sp>
      <p:sp>
        <p:nvSpPr>
          <p:cNvPr id="100" name="Text 73">
            <a:extLst>
              <a:ext uri="{FF2B5EF4-FFF2-40B4-BE49-F238E27FC236}">
                <a16:creationId xmlns:a16="http://schemas.microsoft.com/office/drawing/2014/main" id="{80AD4BF2-A175-7FB2-3748-2B5690C108F1}"/>
              </a:ext>
            </a:extLst>
          </p:cNvPr>
          <p:cNvSpPr txBox="1"/>
          <p:nvPr/>
        </p:nvSpPr>
        <p:spPr>
          <a:xfrm>
            <a:off x="2186940" y="5426165"/>
            <a:ext cx="12984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Near-RT RIC Tester</a:t>
            </a:r>
            <a:endParaRPr lang="en-US" sz="850" dirty="0"/>
          </a:p>
        </p:txBody>
      </p:sp>
      <p:sp>
        <p:nvSpPr>
          <p:cNvPr id="101" name="Text 74">
            <a:extLst>
              <a:ext uri="{FF2B5EF4-FFF2-40B4-BE49-F238E27FC236}">
                <a16:creationId xmlns:a16="http://schemas.microsoft.com/office/drawing/2014/main" id="{3833861F-6FE2-37D7-D87B-F0F6F98A7A71}"/>
              </a:ext>
            </a:extLst>
          </p:cNvPr>
          <p:cNvSpPr txBox="1"/>
          <p:nvPr/>
        </p:nvSpPr>
        <p:spPr>
          <a:xfrm>
            <a:off x="2186940" y="5663909"/>
            <a:ext cx="12984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Non-RT RIC Tester</a:t>
            </a:r>
            <a:endParaRPr lang="en-US" sz="850" dirty="0"/>
          </a:p>
        </p:txBody>
      </p:sp>
      <p:sp>
        <p:nvSpPr>
          <p:cNvPr id="102" name="Text 75">
            <a:extLst>
              <a:ext uri="{FF2B5EF4-FFF2-40B4-BE49-F238E27FC236}">
                <a16:creationId xmlns:a16="http://schemas.microsoft.com/office/drawing/2014/main" id="{E8E3A08A-D6F3-EA31-954F-68E27DE3303E}"/>
              </a:ext>
            </a:extLst>
          </p:cNvPr>
          <p:cNvSpPr txBox="1"/>
          <p:nvPr/>
        </p:nvSpPr>
        <p:spPr>
          <a:xfrm>
            <a:off x="3558540" y="5188421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xApp Tester</a:t>
            </a:r>
            <a:endParaRPr lang="en-US" sz="900" dirty="0"/>
          </a:p>
        </p:txBody>
      </p:sp>
      <p:sp>
        <p:nvSpPr>
          <p:cNvPr id="103" name="Text 76">
            <a:extLst>
              <a:ext uri="{FF2B5EF4-FFF2-40B4-BE49-F238E27FC236}">
                <a16:creationId xmlns:a16="http://schemas.microsoft.com/office/drawing/2014/main" id="{2AEFADC3-45F9-0ACE-2F34-8D0E155C999E}"/>
              </a:ext>
            </a:extLst>
          </p:cNvPr>
          <p:cNvSpPr txBox="1"/>
          <p:nvPr/>
        </p:nvSpPr>
        <p:spPr>
          <a:xfrm>
            <a:off x="3558540" y="5545037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rApp Tester</a:t>
            </a:r>
            <a:endParaRPr lang="en-US" sz="900" dirty="0"/>
          </a:p>
        </p:txBody>
      </p:sp>
      <p:sp>
        <p:nvSpPr>
          <p:cNvPr id="104" name="Text 77">
            <a:extLst>
              <a:ext uri="{FF2B5EF4-FFF2-40B4-BE49-F238E27FC236}">
                <a16:creationId xmlns:a16="http://schemas.microsoft.com/office/drawing/2014/main" id="{956FAE54-F259-A754-59B7-F43E915E6420}"/>
              </a:ext>
            </a:extLst>
          </p:cNvPr>
          <p:cNvSpPr txBox="1"/>
          <p:nvPr/>
        </p:nvSpPr>
        <p:spPr>
          <a:xfrm>
            <a:off x="376428" y="5965661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05" name="Image 4" descr="preencoded.png">
            <a:extLst>
              <a:ext uri="{FF2B5EF4-FFF2-40B4-BE49-F238E27FC236}">
                <a16:creationId xmlns:a16="http://schemas.microsoft.com/office/drawing/2014/main" id="{991098AC-C7D6-0F12-5948-1B46AC392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" y="6075389"/>
            <a:ext cx="182880" cy="182880"/>
          </a:xfrm>
          <a:prstGeom prst="rect">
            <a:avLst/>
          </a:prstGeom>
        </p:spPr>
      </p:pic>
      <p:sp>
        <p:nvSpPr>
          <p:cNvPr id="106" name="Text 78">
            <a:extLst>
              <a:ext uri="{FF2B5EF4-FFF2-40B4-BE49-F238E27FC236}">
                <a16:creationId xmlns:a16="http://schemas.microsoft.com/office/drawing/2014/main" id="{73218365-A222-EFB5-6D63-69729ACED871}"/>
              </a:ext>
            </a:extLst>
          </p:cNvPr>
          <p:cNvSpPr txBox="1"/>
          <p:nvPr/>
        </p:nvSpPr>
        <p:spPr>
          <a:xfrm>
            <a:off x="650748" y="5965661"/>
            <a:ext cx="42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00" dirty="0"/>
          </a:p>
        </p:txBody>
      </p:sp>
      <p:sp>
        <p:nvSpPr>
          <p:cNvPr id="107" name="Text 79">
            <a:extLst>
              <a:ext uri="{FF2B5EF4-FFF2-40B4-BE49-F238E27FC236}">
                <a16:creationId xmlns:a16="http://schemas.microsoft.com/office/drawing/2014/main" id="{C0D58EA5-1D89-8292-F28E-5ED279E62A91}"/>
              </a:ext>
            </a:extLst>
          </p:cNvPr>
          <p:cNvSpPr txBox="1"/>
          <p:nvPr/>
        </p:nvSpPr>
        <p:spPr>
          <a:xfrm>
            <a:off x="1162812" y="5965661"/>
            <a:ext cx="96926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08" name="Image 5" descr="preencoded.png">
            <a:extLst>
              <a:ext uri="{FF2B5EF4-FFF2-40B4-BE49-F238E27FC236}">
                <a16:creationId xmlns:a16="http://schemas.microsoft.com/office/drawing/2014/main" id="{04BB6BD9-D9C2-6247-5373-6099E251C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676" y="6075389"/>
            <a:ext cx="182880" cy="182880"/>
          </a:xfrm>
          <a:prstGeom prst="rect">
            <a:avLst/>
          </a:prstGeom>
        </p:spPr>
      </p:pic>
      <p:sp>
        <p:nvSpPr>
          <p:cNvPr id="109" name="Text 80">
            <a:extLst>
              <a:ext uri="{FF2B5EF4-FFF2-40B4-BE49-F238E27FC236}">
                <a16:creationId xmlns:a16="http://schemas.microsoft.com/office/drawing/2014/main" id="{3279158B-CB58-DBA8-CAF3-70EBEB7CBC62}"/>
              </a:ext>
            </a:extLst>
          </p:cNvPr>
          <p:cNvSpPr txBox="1"/>
          <p:nvPr/>
        </p:nvSpPr>
        <p:spPr>
          <a:xfrm>
            <a:off x="1437132" y="5965661"/>
            <a:ext cx="667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使用者管理</a:t>
            </a:r>
            <a:endParaRPr lang="en-US" sz="950" dirty="0"/>
          </a:p>
        </p:txBody>
      </p:sp>
      <p:sp>
        <p:nvSpPr>
          <p:cNvPr id="110" name="Text 81">
            <a:extLst>
              <a:ext uri="{FF2B5EF4-FFF2-40B4-BE49-F238E27FC236}">
                <a16:creationId xmlns:a16="http://schemas.microsoft.com/office/drawing/2014/main" id="{EC03DB0A-A680-4D01-C81C-C2C293120A4D}"/>
              </a:ext>
            </a:extLst>
          </p:cNvPr>
          <p:cNvSpPr txBox="1"/>
          <p:nvPr/>
        </p:nvSpPr>
        <p:spPr>
          <a:xfrm>
            <a:off x="2205228" y="5965661"/>
            <a:ext cx="10881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11" name="Image 6" descr="preencoded.png">
            <a:extLst>
              <a:ext uri="{FF2B5EF4-FFF2-40B4-BE49-F238E27FC236}">
                <a16:creationId xmlns:a16="http://schemas.microsoft.com/office/drawing/2014/main" id="{81D9C54B-DEBE-3D92-750D-C1675E17A6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0092" y="6075389"/>
            <a:ext cx="182880" cy="182880"/>
          </a:xfrm>
          <a:prstGeom prst="rect">
            <a:avLst/>
          </a:prstGeom>
        </p:spPr>
      </p:pic>
      <p:sp>
        <p:nvSpPr>
          <p:cNvPr id="112" name="Text 82">
            <a:extLst>
              <a:ext uri="{FF2B5EF4-FFF2-40B4-BE49-F238E27FC236}">
                <a16:creationId xmlns:a16="http://schemas.microsoft.com/office/drawing/2014/main" id="{E8E8E8F6-A752-02B2-46C5-B2C65FCF9173}"/>
              </a:ext>
            </a:extLst>
          </p:cNvPr>
          <p:cNvSpPr txBox="1"/>
          <p:nvPr/>
        </p:nvSpPr>
        <p:spPr>
          <a:xfrm>
            <a:off x="2479548" y="5965661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測試案例管理</a:t>
            </a:r>
            <a:endParaRPr lang="en-US" sz="950" dirty="0"/>
          </a:p>
        </p:txBody>
      </p:sp>
      <p:sp>
        <p:nvSpPr>
          <p:cNvPr id="113" name="Text 83">
            <a:extLst>
              <a:ext uri="{FF2B5EF4-FFF2-40B4-BE49-F238E27FC236}">
                <a16:creationId xmlns:a16="http://schemas.microsoft.com/office/drawing/2014/main" id="{CBD4E579-8FD4-2674-A740-3BD5C9AEF31C}"/>
              </a:ext>
            </a:extLst>
          </p:cNvPr>
          <p:cNvSpPr txBox="1"/>
          <p:nvPr/>
        </p:nvSpPr>
        <p:spPr>
          <a:xfrm>
            <a:off x="3366516" y="5965661"/>
            <a:ext cx="10881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14" name="Image 7" descr="preencoded.png">
            <a:extLst>
              <a:ext uri="{FF2B5EF4-FFF2-40B4-BE49-F238E27FC236}">
                <a16:creationId xmlns:a16="http://schemas.microsoft.com/office/drawing/2014/main" id="{6B76D409-7A36-4312-B0EF-0A5C4A78EA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1380" y="6075389"/>
            <a:ext cx="182880" cy="182880"/>
          </a:xfrm>
          <a:prstGeom prst="rect">
            <a:avLst/>
          </a:prstGeom>
        </p:spPr>
      </p:pic>
      <p:sp>
        <p:nvSpPr>
          <p:cNvPr id="115" name="Text 84">
            <a:extLst>
              <a:ext uri="{FF2B5EF4-FFF2-40B4-BE49-F238E27FC236}">
                <a16:creationId xmlns:a16="http://schemas.microsoft.com/office/drawing/2014/main" id="{884A53A0-5D10-66C3-3443-DDE9B66D490B}"/>
              </a:ext>
            </a:extLst>
          </p:cNvPr>
          <p:cNvSpPr txBox="1"/>
          <p:nvPr/>
        </p:nvSpPr>
        <p:spPr>
          <a:xfrm>
            <a:off x="3640836" y="5965661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測試專案管理</a:t>
            </a:r>
            <a:endParaRPr lang="en-US" sz="950" dirty="0"/>
          </a:p>
        </p:txBody>
      </p:sp>
      <p:sp>
        <p:nvSpPr>
          <p:cNvPr id="116" name="Shape 108">
            <a:extLst>
              <a:ext uri="{FF2B5EF4-FFF2-40B4-BE49-F238E27FC236}">
                <a16:creationId xmlns:a16="http://schemas.microsoft.com/office/drawing/2014/main" id="{5BCEE6C3-E6E3-C08C-8336-D36665886CE4}"/>
              </a:ext>
            </a:extLst>
          </p:cNvPr>
          <p:cNvSpPr/>
          <p:nvPr/>
        </p:nvSpPr>
        <p:spPr>
          <a:xfrm>
            <a:off x="1034796" y="2387383"/>
            <a:ext cx="429768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Shape 109">
            <a:extLst>
              <a:ext uri="{FF2B5EF4-FFF2-40B4-BE49-F238E27FC236}">
                <a16:creationId xmlns:a16="http://schemas.microsoft.com/office/drawing/2014/main" id="{5ABB1958-4066-3220-92F9-D29E9D5CCF1A}"/>
              </a:ext>
            </a:extLst>
          </p:cNvPr>
          <p:cNvSpPr/>
          <p:nvPr/>
        </p:nvSpPr>
        <p:spPr>
          <a:xfrm>
            <a:off x="2808732" y="2387383"/>
            <a:ext cx="356616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Shape 110">
            <a:extLst>
              <a:ext uri="{FF2B5EF4-FFF2-40B4-BE49-F238E27FC236}">
                <a16:creationId xmlns:a16="http://schemas.microsoft.com/office/drawing/2014/main" id="{592F8930-6CC6-6CEC-A90F-3FBCCB0860EA}"/>
              </a:ext>
            </a:extLst>
          </p:cNvPr>
          <p:cNvSpPr/>
          <p:nvPr/>
        </p:nvSpPr>
        <p:spPr>
          <a:xfrm>
            <a:off x="3823716" y="1971331"/>
            <a:ext cx="0" cy="14173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Shape 111">
            <a:extLst>
              <a:ext uri="{FF2B5EF4-FFF2-40B4-BE49-F238E27FC236}">
                <a16:creationId xmlns:a16="http://schemas.microsoft.com/office/drawing/2014/main" id="{24E199EB-D1D8-13D2-F5E6-39B362EC5942}"/>
              </a:ext>
            </a:extLst>
          </p:cNvPr>
          <p:cNvSpPr/>
          <p:nvPr/>
        </p:nvSpPr>
        <p:spPr>
          <a:xfrm>
            <a:off x="3823716" y="1971331"/>
            <a:ext cx="118872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Shape 112">
            <a:extLst>
              <a:ext uri="{FF2B5EF4-FFF2-40B4-BE49-F238E27FC236}">
                <a16:creationId xmlns:a16="http://schemas.microsoft.com/office/drawing/2014/main" id="{356F6787-D219-6C2B-1C87-28AF7DCCFB78}"/>
              </a:ext>
            </a:extLst>
          </p:cNvPr>
          <p:cNvSpPr/>
          <p:nvPr/>
        </p:nvSpPr>
        <p:spPr>
          <a:xfrm>
            <a:off x="3823715" y="2652559"/>
            <a:ext cx="2613" cy="68580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Shape 113">
            <a:extLst>
              <a:ext uri="{FF2B5EF4-FFF2-40B4-BE49-F238E27FC236}">
                <a16:creationId xmlns:a16="http://schemas.microsoft.com/office/drawing/2014/main" id="{E192B106-34D4-2BF9-7D0F-9B02069D0DF1}"/>
              </a:ext>
            </a:extLst>
          </p:cNvPr>
          <p:cNvSpPr/>
          <p:nvPr/>
        </p:nvSpPr>
        <p:spPr>
          <a:xfrm>
            <a:off x="3165348" y="3324643"/>
            <a:ext cx="658368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Shape 114">
            <a:extLst>
              <a:ext uri="{FF2B5EF4-FFF2-40B4-BE49-F238E27FC236}">
                <a16:creationId xmlns:a16="http://schemas.microsoft.com/office/drawing/2014/main" id="{C8E8C610-3092-3C7F-E629-5EFDD2369DEB}"/>
              </a:ext>
            </a:extLst>
          </p:cNvPr>
          <p:cNvSpPr/>
          <p:nvPr/>
        </p:nvSpPr>
        <p:spPr>
          <a:xfrm>
            <a:off x="4500372" y="4792255"/>
            <a:ext cx="22860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Shape 115">
            <a:extLst>
              <a:ext uri="{FF2B5EF4-FFF2-40B4-BE49-F238E27FC236}">
                <a16:creationId xmlns:a16="http://schemas.microsoft.com/office/drawing/2014/main" id="{1CC5BDC8-792F-1B6A-2FEC-6ACFD72BBA10}"/>
              </a:ext>
            </a:extLst>
          </p:cNvPr>
          <p:cNvSpPr/>
          <p:nvPr/>
        </p:nvSpPr>
        <p:spPr>
          <a:xfrm>
            <a:off x="4728972" y="1971331"/>
            <a:ext cx="0" cy="282092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Shape 118">
            <a:extLst>
              <a:ext uri="{FF2B5EF4-FFF2-40B4-BE49-F238E27FC236}">
                <a16:creationId xmlns:a16="http://schemas.microsoft.com/office/drawing/2014/main" id="{D27505E4-2551-259E-0F65-3677D42426EA}"/>
              </a:ext>
            </a:extLst>
          </p:cNvPr>
          <p:cNvSpPr/>
          <p:nvPr/>
        </p:nvSpPr>
        <p:spPr>
          <a:xfrm flipV="1">
            <a:off x="6512052" y="2012479"/>
            <a:ext cx="603504" cy="914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Shape 119">
            <a:extLst>
              <a:ext uri="{FF2B5EF4-FFF2-40B4-BE49-F238E27FC236}">
                <a16:creationId xmlns:a16="http://schemas.microsoft.com/office/drawing/2014/main" id="{69BFCBD2-AE44-B48E-5D17-219E1122F15F}"/>
              </a:ext>
            </a:extLst>
          </p:cNvPr>
          <p:cNvSpPr/>
          <p:nvPr/>
        </p:nvSpPr>
        <p:spPr>
          <a:xfrm flipH="1">
            <a:off x="7115556" y="2012479"/>
            <a:ext cx="0" cy="96926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Shape 120">
            <a:extLst>
              <a:ext uri="{FF2B5EF4-FFF2-40B4-BE49-F238E27FC236}">
                <a16:creationId xmlns:a16="http://schemas.microsoft.com/office/drawing/2014/main" id="{E5701572-BF13-D1C8-ED87-A0CE3DBC8D4A}"/>
              </a:ext>
            </a:extLst>
          </p:cNvPr>
          <p:cNvSpPr/>
          <p:nvPr/>
        </p:nvSpPr>
        <p:spPr>
          <a:xfrm>
            <a:off x="7115556" y="2981743"/>
            <a:ext cx="612648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Text 121">
            <a:extLst>
              <a:ext uri="{FF2B5EF4-FFF2-40B4-BE49-F238E27FC236}">
                <a16:creationId xmlns:a16="http://schemas.microsoft.com/office/drawing/2014/main" id="{6BC59401-2A59-6DFC-9E92-D33EC7987590}"/>
              </a:ext>
            </a:extLst>
          </p:cNvPr>
          <p:cNvSpPr txBox="1"/>
          <p:nvPr/>
        </p:nvSpPr>
        <p:spPr>
          <a:xfrm>
            <a:off x="6886956" y="3009175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測試控制／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資料收集</a:t>
            </a:r>
            <a:endParaRPr lang="en-US" sz="1000" dirty="0"/>
          </a:p>
        </p:txBody>
      </p:sp>
      <p:sp>
        <p:nvSpPr>
          <p:cNvPr id="130" name="Shape 122">
            <a:extLst>
              <a:ext uri="{FF2B5EF4-FFF2-40B4-BE49-F238E27FC236}">
                <a16:creationId xmlns:a16="http://schemas.microsoft.com/office/drawing/2014/main" id="{2F05C5B4-C02F-643F-AE77-2793D1EEDFE1}"/>
              </a:ext>
            </a:extLst>
          </p:cNvPr>
          <p:cNvSpPr/>
          <p:nvPr/>
        </p:nvSpPr>
        <p:spPr>
          <a:xfrm>
            <a:off x="8596884" y="4453927"/>
            <a:ext cx="0" cy="32004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Shape 123">
            <a:extLst>
              <a:ext uri="{FF2B5EF4-FFF2-40B4-BE49-F238E27FC236}">
                <a16:creationId xmlns:a16="http://schemas.microsoft.com/office/drawing/2014/main" id="{77902FFA-95AF-E128-A7A8-C1E6EA5D73A0}"/>
              </a:ext>
            </a:extLst>
          </p:cNvPr>
          <p:cNvSpPr/>
          <p:nvPr/>
        </p:nvSpPr>
        <p:spPr>
          <a:xfrm>
            <a:off x="7810500" y="4773967"/>
            <a:ext cx="786384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Shape 124">
            <a:extLst>
              <a:ext uri="{FF2B5EF4-FFF2-40B4-BE49-F238E27FC236}">
                <a16:creationId xmlns:a16="http://schemas.microsoft.com/office/drawing/2014/main" id="{A4414A11-5471-714B-A5EC-4520150535F1}"/>
              </a:ext>
            </a:extLst>
          </p:cNvPr>
          <p:cNvSpPr/>
          <p:nvPr/>
        </p:nvSpPr>
        <p:spPr>
          <a:xfrm>
            <a:off x="7810500" y="4773967"/>
            <a:ext cx="0" cy="18288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3" name="Text 125">
            <a:extLst>
              <a:ext uri="{FF2B5EF4-FFF2-40B4-BE49-F238E27FC236}">
                <a16:creationId xmlns:a16="http://schemas.microsoft.com/office/drawing/2014/main" id="{57BA9648-3785-4D5F-FAF4-EAB8AD6C10B7}"/>
              </a:ext>
            </a:extLst>
          </p:cNvPr>
          <p:cNvSpPr txBox="1"/>
          <p:nvPr/>
        </p:nvSpPr>
        <p:spPr>
          <a:xfrm>
            <a:off x="8688324" y="453622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控制／觀測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90169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F46E99-8771-3728-AEC3-E3E78811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latin typeface="+mj-ea"/>
              </a:rPr>
              <a:t>室內</a:t>
            </a:r>
            <a:r>
              <a:rPr lang="en-US" altLang="zh-TW" dirty="0">
                <a:latin typeface="+mj-ea"/>
              </a:rPr>
              <a:t>App</a:t>
            </a:r>
            <a:r>
              <a:rPr lang="zh-TW" altLang="en-US" dirty="0">
                <a:latin typeface="+mj-ea"/>
              </a:rPr>
              <a:t>效能驗證</a:t>
            </a:r>
            <a:r>
              <a:rPr lang="en-US" altLang="zh-TW" dirty="0">
                <a:latin typeface="+mj-ea"/>
              </a:rPr>
              <a:t>Tester</a:t>
            </a:r>
            <a:r>
              <a:rPr lang="zh-TW" altLang="en-US" dirty="0">
                <a:latin typeface="+mj-ea"/>
              </a:rPr>
              <a:t> 架構</a:t>
            </a:r>
            <a:endParaRPr kumimoji="1" lang="zh-TW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52EB3C-F299-BA3C-2F60-6804475D47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8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2B3B1BE8-DD8E-CECC-9608-48E9B7F3176A}"/>
              </a:ext>
            </a:extLst>
          </p:cNvPr>
          <p:cNvGrpSpPr/>
          <p:nvPr/>
        </p:nvGrpSpPr>
        <p:grpSpPr>
          <a:xfrm>
            <a:off x="285650" y="1364343"/>
            <a:ext cx="11676888" cy="4919472"/>
            <a:chOff x="228600" y="1371600"/>
            <a:chExt cx="11676888" cy="4919472"/>
          </a:xfrm>
        </p:grpSpPr>
        <p:pic>
          <p:nvPicPr>
            <p:cNvPr id="15" name="Image 0" descr="preencoded.png">
              <a:extLst>
                <a:ext uri="{FF2B5EF4-FFF2-40B4-BE49-F238E27FC236}">
                  <a16:creationId xmlns:a16="http://schemas.microsoft.com/office/drawing/2014/main" id="{C1CB1FFA-8A17-B47D-B4AD-C2351A964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040" y="2907792"/>
              <a:ext cx="566928" cy="566928"/>
            </a:xfrm>
            <a:prstGeom prst="rect">
              <a:avLst/>
            </a:prstGeom>
          </p:spPr>
        </p:pic>
        <p:pic>
          <p:nvPicPr>
            <p:cNvPr id="16" name="Image 1" descr="preencoded.png">
              <a:extLst>
                <a:ext uri="{FF2B5EF4-FFF2-40B4-BE49-F238E27FC236}">
                  <a16:creationId xmlns:a16="http://schemas.microsoft.com/office/drawing/2014/main" id="{87304CB2-EB5A-4DFF-2993-B54C83BFE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672" y="3017520"/>
              <a:ext cx="676656" cy="676656"/>
            </a:xfrm>
            <a:prstGeom prst="rect">
              <a:avLst/>
            </a:prstGeom>
          </p:spPr>
        </p:pic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6849F774-06E6-D87F-A246-8B12167A141C}"/>
                </a:ext>
              </a:extLst>
            </p:cNvPr>
            <p:cNvSpPr txBox="1"/>
            <p:nvPr/>
          </p:nvSpPr>
          <p:spPr>
            <a:xfrm>
              <a:off x="228600" y="3767328"/>
              <a:ext cx="1371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網管人員</a:t>
              </a:r>
              <a:endParaRPr lang="en-US" sz="1600" dirty="0"/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BA4DA331-D5D7-F981-662E-AF759F3C7968}"/>
                </a:ext>
              </a:extLst>
            </p:cNvPr>
            <p:cNvSpPr txBox="1"/>
            <p:nvPr/>
          </p:nvSpPr>
          <p:spPr>
            <a:xfrm>
              <a:off x="1280160" y="2651760"/>
              <a:ext cx="1554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選取測試案例、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啟動測試</a:t>
              </a:r>
              <a:endParaRPr lang="en-US" sz="1300" dirty="0"/>
            </a:p>
          </p:txBody>
        </p:sp>
        <p:sp>
          <p:nvSpPr>
            <p:cNvPr id="19" name="Shape 6">
              <a:extLst>
                <a:ext uri="{FF2B5EF4-FFF2-40B4-BE49-F238E27FC236}">
                  <a16:creationId xmlns:a16="http://schemas.microsoft.com/office/drawing/2014/main" id="{FB31BCFC-6842-7B82-5A30-FCFFF8BDD7F1}"/>
                </a:ext>
              </a:extLst>
            </p:cNvPr>
            <p:cNvSpPr/>
            <p:nvPr/>
          </p:nvSpPr>
          <p:spPr>
            <a:xfrm>
              <a:off x="1490472" y="3255264"/>
              <a:ext cx="1234440" cy="0"/>
            </a:xfrm>
            <a:prstGeom prst="line">
              <a:avLst/>
            </a:prstGeom>
            <a:noFill/>
            <a:ln w="31750">
              <a:solidFill>
                <a:srgbClr val="1E4E8C"/>
              </a:solidFill>
              <a:prstDash val="solid"/>
              <a:tailEnd type="triangle"/>
            </a:ln>
          </p:spPr>
        </p:sp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57A244D9-D416-F8AE-C471-A6C9EB609F86}"/>
                </a:ext>
              </a:extLst>
            </p:cNvPr>
            <p:cNvSpPr/>
            <p:nvPr/>
          </p:nvSpPr>
          <p:spPr>
            <a:xfrm>
              <a:off x="2788920" y="1371600"/>
              <a:ext cx="3063240" cy="4069080"/>
            </a:xfrm>
            <a:prstGeom prst="roundRect">
              <a:avLst>
                <a:gd name="adj" fmla="val 2985"/>
              </a:avLst>
            </a:prstGeom>
            <a:solidFill>
              <a:srgbClr val="D6ECFA"/>
            </a:solidFill>
            <a:ln w="12700">
              <a:solidFill>
                <a:srgbClr val="1D4E89"/>
              </a:solidFill>
              <a:prstDash val="solid"/>
            </a:ln>
          </p:spPr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207483BE-B943-C4BF-8F6C-2ED8253CE4B8}"/>
                </a:ext>
              </a:extLst>
            </p:cNvPr>
            <p:cNvSpPr/>
            <p:nvPr/>
          </p:nvSpPr>
          <p:spPr>
            <a:xfrm>
              <a:off x="2788920" y="1371600"/>
              <a:ext cx="3063240" cy="484632"/>
            </a:xfrm>
            <a:prstGeom prst="roundRect">
              <a:avLst>
                <a:gd name="adj" fmla="val 18868"/>
              </a:avLst>
            </a:prstGeom>
            <a:solidFill>
              <a:srgbClr val="1D4E89"/>
            </a:solidFill>
            <a:ln w="12700">
              <a:solidFill>
                <a:srgbClr val="1D4E89"/>
              </a:solidFill>
              <a:prstDash val="solid"/>
            </a:ln>
          </p:spPr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9F261CDD-D298-C5A8-10AC-46680B407ED5}"/>
                </a:ext>
              </a:extLst>
            </p:cNvPr>
            <p:cNvSpPr/>
            <p:nvPr/>
          </p:nvSpPr>
          <p:spPr>
            <a:xfrm>
              <a:off x="2788920" y="1613916"/>
              <a:ext cx="3063240" cy="242316"/>
            </a:xfrm>
            <a:prstGeom prst="rect">
              <a:avLst/>
            </a:prstGeom>
            <a:solidFill>
              <a:srgbClr val="1D4E89"/>
            </a:solidFill>
            <a:ln w="12700">
              <a:solidFill>
                <a:srgbClr val="1D4E89"/>
              </a:solidFill>
              <a:prstDash val="solid"/>
            </a:ln>
          </p:spPr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BFB89A4B-49C3-C498-575E-C587AC80968B}"/>
                </a:ext>
              </a:extLst>
            </p:cNvPr>
            <p:cNvSpPr txBox="1"/>
            <p:nvPr/>
          </p:nvSpPr>
          <p:spPr>
            <a:xfrm>
              <a:off x="2788920" y="1371600"/>
              <a:ext cx="3063240" cy="4846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IM App 效能驗證 Tester</a:t>
              </a:r>
              <a:endParaRPr lang="en-US" sz="1700" dirty="0"/>
            </a:p>
          </p:txBody>
        </p:sp>
        <p:sp>
          <p:nvSpPr>
            <p:cNvPr id="24" name="Shape 11">
              <a:extLst>
                <a:ext uri="{FF2B5EF4-FFF2-40B4-BE49-F238E27FC236}">
                  <a16:creationId xmlns:a16="http://schemas.microsoft.com/office/drawing/2014/main" id="{704BFAD9-83CB-1E3B-26EE-1682EB5ED915}"/>
                </a:ext>
              </a:extLst>
            </p:cNvPr>
            <p:cNvSpPr/>
            <p:nvPr/>
          </p:nvSpPr>
          <p:spPr>
            <a:xfrm>
              <a:off x="3017520" y="2048256"/>
              <a:ext cx="2606040" cy="77724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12700">
              <a:solidFill>
                <a:srgbClr val="9DC3E6"/>
              </a:solidFill>
              <a:prstDash val="solid"/>
            </a:ln>
          </p:spPr>
        </p:sp>
        <p:pic>
          <p:nvPicPr>
            <p:cNvPr id="25" name="Image 2" descr="preencoded.png">
              <a:extLst>
                <a:ext uri="{FF2B5EF4-FFF2-40B4-BE49-F238E27FC236}">
                  <a16:creationId xmlns:a16="http://schemas.microsoft.com/office/drawing/2014/main" id="{FD6A68D7-1142-5BF7-BBFD-19F8C35B8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2968" y="2208276"/>
              <a:ext cx="457200" cy="457200"/>
            </a:xfrm>
            <a:prstGeom prst="rect">
              <a:avLst/>
            </a:prstGeom>
          </p:spPr>
        </p:pic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427432F9-8BE5-B798-CDCD-989757713795}"/>
                </a:ext>
              </a:extLst>
            </p:cNvPr>
            <p:cNvSpPr txBox="1"/>
            <p:nvPr/>
          </p:nvSpPr>
          <p:spPr>
            <a:xfrm>
              <a:off x="3822192" y="2189988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測試案例庫</a:t>
              </a:r>
              <a:endParaRPr lang="en-US" sz="1600" dirty="0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79EA2C5E-A1C8-85FE-4E93-0F94AF8659A7}"/>
                </a:ext>
              </a:extLst>
            </p:cNvPr>
            <p:cNvSpPr txBox="1"/>
            <p:nvPr/>
          </p:nvSpPr>
          <p:spPr>
            <a:xfrm>
              <a:off x="3822192" y="2482596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A4A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預先編寫的測試案例</a:t>
              </a:r>
              <a:endParaRPr lang="en-US" sz="1200" dirty="0"/>
            </a:p>
          </p:txBody>
        </p:sp>
        <p:sp>
          <p:nvSpPr>
            <p:cNvPr id="28" name="Shape 14">
              <a:extLst>
                <a:ext uri="{FF2B5EF4-FFF2-40B4-BE49-F238E27FC236}">
                  <a16:creationId xmlns:a16="http://schemas.microsoft.com/office/drawing/2014/main" id="{C99DA50C-A6AB-8F8D-A7B6-E56494B6F488}"/>
                </a:ext>
              </a:extLst>
            </p:cNvPr>
            <p:cNvSpPr/>
            <p:nvPr/>
          </p:nvSpPr>
          <p:spPr>
            <a:xfrm>
              <a:off x="3017520" y="3145536"/>
              <a:ext cx="2606040" cy="786384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 w="12700">
              <a:solidFill>
                <a:srgbClr val="9DC3E6"/>
              </a:solidFill>
              <a:prstDash val="solid"/>
            </a:ln>
          </p:spPr>
        </p:sp>
        <p:pic>
          <p:nvPicPr>
            <p:cNvPr id="29" name="Image 3" descr="preencoded.png">
              <a:extLst>
                <a:ext uri="{FF2B5EF4-FFF2-40B4-BE49-F238E27FC236}">
                  <a16:creationId xmlns:a16="http://schemas.microsoft.com/office/drawing/2014/main" id="{1227AE37-8799-234D-61BB-9B658A1EB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2968" y="3310128"/>
              <a:ext cx="457200" cy="457200"/>
            </a:xfrm>
            <a:prstGeom prst="rect">
              <a:avLst/>
            </a:prstGeom>
          </p:spPr>
        </p:pic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01E0041A-76D1-7933-F2E0-083A044AA7D0}"/>
                </a:ext>
              </a:extLst>
            </p:cNvPr>
            <p:cNvSpPr txBox="1"/>
            <p:nvPr/>
          </p:nvSpPr>
          <p:spPr>
            <a:xfrm>
              <a:off x="3822192" y="3291840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測試執行</a:t>
              </a:r>
              <a:endParaRPr lang="en-US" sz="1600" dirty="0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6C1BE9FA-5477-45D5-AF6E-4C92F663FA76}"/>
                </a:ext>
              </a:extLst>
            </p:cNvPr>
            <p:cNvSpPr txBox="1"/>
            <p:nvPr/>
          </p:nvSpPr>
          <p:spPr>
            <a:xfrm>
              <a:off x="3822192" y="3584448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A4A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控制載具、上架 App</a:t>
              </a:r>
              <a:endParaRPr lang="en-US" sz="1200" dirty="0"/>
            </a:p>
          </p:txBody>
        </p:sp>
        <p:sp>
          <p:nvSpPr>
            <p:cNvPr id="32" name="Shape 17">
              <a:extLst>
                <a:ext uri="{FF2B5EF4-FFF2-40B4-BE49-F238E27FC236}">
                  <a16:creationId xmlns:a16="http://schemas.microsoft.com/office/drawing/2014/main" id="{A5626CF7-1FDA-A103-A146-32A4F1E477D7}"/>
                </a:ext>
              </a:extLst>
            </p:cNvPr>
            <p:cNvSpPr/>
            <p:nvPr/>
          </p:nvSpPr>
          <p:spPr>
            <a:xfrm>
              <a:off x="3017520" y="4242816"/>
              <a:ext cx="2606040" cy="96012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2700">
              <a:solidFill>
                <a:srgbClr val="9DC3E6"/>
              </a:solidFill>
              <a:prstDash val="solid"/>
            </a:ln>
          </p:spPr>
        </p:sp>
        <p:pic>
          <p:nvPicPr>
            <p:cNvPr id="33" name="Image 4" descr="preencoded.png">
              <a:extLst>
                <a:ext uri="{FF2B5EF4-FFF2-40B4-BE49-F238E27FC236}">
                  <a16:creationId xmlns:a16="http://schemas.microsoft.com/office/drawing/2014/main" id="{8066BD94-B520-5E14-8C99-93C778B70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72968" y="4494276"/>
              <a:ext cx="457200" cy="457200"/>
            </a:xfrm>
            <a:prstGeom prst="rect">
              <a:avLst/>
            </a:prstGeom>
          </p:spPr>
        </p:pic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33D775CE-06E5-B204-B5A0-9AB041F38198}"/>
                </a:ext>
              </a:extLst>
            </p:cNvPr>
            <p:cNvSpPr txBox="1"/>
            <p:nvPr/>
          </p:nvSpPr>
          <p:spPr>
            <a:xfrm>
              <a:off x="3822192" y="4375404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效能驗證</a:t>
              </a:r>
              <a:endParaRPr lang="en-US" sz="1600" dirty="0"/>
            </a:p>
          </p:txBody>
        </p:sp>
        <p:sp>
          <p:nvSpPr>
            <p:cNvPr id="35" name="Text 19">
              <a:extLst>
                <a:ext uri="{FF2B5EF4-FFF2-40B4-BE49-F238E27FC236}">
                  <a16:creationId xmlns:a16="http://schemas.microsoft.com/office/drawing/2014/main" id="{95730571-1B45-87BE-F782-331D555EAC5A}"/>
                </a:ext>
              </a:extLst>
            </p:cNvPr>
            <p:cNvSpPr txBox="1"/>
            <p:nvPr/>
          </p:nvSpPr>
          <p:spPr>
            <a:xfrm>
              <a:off x="3822192" y="4668012"/>
              <a:ext cx="1737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A4A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彙整觀測資料、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A4A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比較優化前後效能</a:t>
              </a:r>
              <a:endParaRPr lang="en-US" sz="1200" dirty="0"/>
            </a:p>
          </p:txBody>
        </p:sp>
        <p:sp>
          <p:nvSpPr>
            <p:cNvPr id="36" name="Shape 20">
              <a:extLst>
                <a:ext uri="{FF2B5EF4-FFF2-40B4-BE49-F238E27FC236}">
                  <a16:creationId xmlns:a16="http://schemas.microsoft.com/office/drawing/2014/main" id="{4495F416-EBFC-2E77-321F-C6E1EEB817F6}"/>
                </a:ext>
              </a:extLst>
            </p:cNvPr>
            <p:cNvSpPr/>
            <p:nvPr/>
          </p:nvSpPr>
          <p:spPr>
            <a:xfrm>
              <a:off x="4320540" y="2862072"/>
              <a:ext cx="0" cy="246888"/>
            </a:xfrm>
            <a:prstGeom prst="line">
              <a:avLst/>
            </a:prstGeom>
            <a:noFill/>
            <a:ln w="31750">
              <a:solidFill>
                <a:srgbClr val="8FC1E9"/>
              </a:solidFill>
              <a:prstDash val="solid"/>
              <a:tailEnd type="triangle"/>
            </a:ln>
          </p:spPr>
        </p:sp>
        <p:sp>
          <p:nvSpPr>
            <p:cNvPr id="37" name="Shape 21">
              <a:extLst>
                <a:ext uri="{FF2B5EF4-FFF2-40B4-BE49-F238E27FC236}">
                  <a16:creationId xmlns:a16="http://schemas.microsoft.com/office/drawing/2014/main" id="{9EE7E206-6FE9-F5C8-F9E7-5DE73D2CC2C8}"/>
                </a:ext>
              </a:extLst>
            </p:cNvPr>
            <p:cNvSpPr/>
            <p:nvPr/>
          </p:nvSpPr>
          <p:spPr>
            <a:xfrm>
              <a:off x="4320540" y="3968496"/>
              <a:ext cx="0" cy="237744"/>
            </a:xfrm>
            <a:prstGeom prst="line">
              <a:avLst/>
            </a:prstGeom>
            <a:noFill/>
            <a:ln w="31750">
              <a:solidFill>
                <a:srgbClr val="8FC1E9"/>
              </a:solidFill>
              <a:prstDash val="solid"/>
              <a:tailEnd type="triangle"/>
            </a:ln>
          </p:spPr>
        </p:sp>
        <p:sp>
          <p:nvSpPr>
            <p:cNvPr id="38" name="Shape 22">
              <a:extLst>
                <a:ext uri="{FF2B5EF4-FFF2-40B4-BE49-F238E27FC236}">
                  <a16:creationId xmlns:a16="http://schemas.microsoft.com/office/drawing/2014/main" id="{B1F08B77-187C-74B4-8717-594255425829}"/>
                </a:ext>
              </a:extLst>
            </p:cNvPr>
            <p:cNvSpPr/>
            <p:nvPr/>
          </p:nvSpPr>
          <p:spPr>
            <a:xfrm>
              <a:off x="6986016" y="1636776"/>
              <a:ext cx="2029968" cy="1856232"/>
            </a:xfrm>
            <a:prstGeom prst="roundRect">
              <a:avLst>
                <a:gd name="adj" fmla="val 4926"/>
              </a:avLst>
            </a:prstGeom>
            <a:solidFill>
              <a:srgbClr val="D9F2EE"/>
            </a:solidFill>
            <a:ln w="12700">
              <a:solidFill>
                <a:srgbClr val="1F7A6D"/>
              </a:solidFill>
              <a:prstDash val="solid"/>
            </a:ln>
          </p:spPr>
        </p:sp>
        <p:sp>
          <p:nvSpPr>
            <p:cNvPr id="39" name="Shape 23">
              <a:extLst>
                <a:ext uri="{FF2B5EF4-FFF2-40B4-BE49-F238E27FC236}">
                  <a16:creationId xmlns:a16="http://schemas.microsoft.com/office/drawing/2014/main" id="{8DF82B3E-63E4-4931-E1F6-60E6D33A6E52}"/>
                </a:ext>
              </a:extLst>
            </p:cNvPr>
            <p:cNvSpPr/>
            <p:nvPr/>
          </p:nvSpPr>
          <p:spPr>
            <a:xfrm>
              <a:off x="6986016" y="1636776"/>
              <a:ext cx="2029968" cy="411480"/>
            </a:xfrm>
            <a:prstGeom prst="roundRect">
              <a:avLst>
                <a:gd name="adj" fmla="val 22222"/>
              </a:avLst>
            </a:prstGeom>
            <a:solidFill>
              <a:srgbClr val="1F7A6D"/>
            </a:solidFill>
            <a:ln w="12700">
              <a:solidFill>
                <a:srgbClr val="1F7A6D"/>
              </a:solidFill>
              <a:prstDash val="solid"/>
            </a:ln>
          </p:spPr>
        </p:sp>
        <p:sp>
          <p:nvSpPr>
            <p:cNvPr id="40" name="Shape 24">
              <a:extLst>
                <a:ext uri="{FF2B5EF4-FFF2-40B4-BE49-F238E27FC236}">
                  <a16:creationId xmlns:a16="http://schemas.microsoft.com/office/drawing/2014/main" id="{2923567A-C73F-29C2-2A42-59D0AFEA2748}"/>
                </a:ext>
              </a:extLst>
            </p:cNvPr>
            <p:cNvSpPr/>
            <p:nvPr/>
          </p:nvSpPr>
          <p:spPr>
            <a:xfrm>
              <a:off x="6986016" y="1842516"/>
              <a:ext cx="2029968" cy="205740"/>
            </a:xfrm>
            <a:prstGeom prst="rect">
              <a:avLst/>
            </a:prstGeom>
            <a:solidFill>
              <a:srgbClr val="1F7A6D"/>
            </a:solidFill>
            <a:ln w="12700">
              <a:solidFill>
                <a:srgbClr val="1F7A6D"/>
              </a:solidFill>
              <a:prstDash val="solid"/>
            </a:ln>
          </p:spPr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09801C17-D334-6199-8491-610FFCC7B706}"/>
                </a:ext>
              </a:extLst>
            </p:cNvPr>
            <p:cNvSpPr txBox="1"/>
            <p:nvPr/>
          </p:nvSpPr>
          <p:spPr>
            <a:xfrm>
              <a:off x="6986016" y="1636776"/>
              <a:ext cx="20299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AMR MGT 系統</a:t>
              </a:r>
              <a:endParaRPr lang="en-US" sz="1600" dirty="0"/>
            </a:p>
          </p:txBody>
        </p:sp>
        <p:pic>
          <p:nvPicPr>
            <p:cNvPr id="42" name="Image 5" descr="preencoded.png">
              <a:extLst>
                <a:ext uri="{FF2B5EF4-FFF2-40B4-BE49-F238E27FC236}">
                  <a16:creationId xmlns:a16="http://schemas.microsoft.com/office/drawing/2014/main" id="{5C82BC5C-41CF-6FB6-F8E3-1CEBA8471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16952" y="2185416"/>
              <a:ext cx="768096" cy="768096"/>
            </a:xfrm>
            <a:prstGeom prst="rect">
              <a:avLst/>
            </a:prstGeom>
          </p:spPr>
        </p:pic>
        <p:pic>
          <p:nvPicPr>
            <p:cNvPr id="43" name="Image 6" descr="preencoded.png">
              <a:extLst>
                <a:ext uri="{FF2B5EF4-FFF2-40B4-BE49-F238E27FC236}">
                  <a16:creationId xmlns:a16="http://schemas.microsoft.com/office/drawing/2014/main" id="{59388458-1BBD-5396-8004-69273A723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65592" y="2624328"/>
              <a:ext cx="329184" cy="329184"/>
            </a:xfrm>
            <a:prstGeom prst="rect">
              <a:avLst/>
            </a:prstGeom>
          </p:spPr>
        </p:pic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9F48EE08-092F-B712-B917-13FF092AB915}"/>
                </a:ext>
              </a:extLst>
            </p:cNvPr>
            <p:cNvSpPr txBox="1"/>
            <p:nvPr/>
          </p:nvSpPr>
          <p:spPr>
            <a:xfrm>
              <a:off x="6986016" y="3035808"/>
              <a:ext cx="20299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載具任務與路徑控制</a:t>
              </a:r>
              <a:endParaRPr lang="en-US" sz="1300" dirty="0"/>
            </a:p>
          </p:txBody>
        </p:sp>
        <p:sp>
          <p:nvSpPr>
            <p:cNvPr id="45" name="Shape 27">
              <a:extLst>
                <a:ext uri="{FF2B5EF4-FFF2-40B4-BE49-F238E27FC236}">
                  <a16:creationId xmlns:a16="http://schemas.microsoft.com/office/drawing/2014/main" id="{7AF881E5-C41F-3DFC-79B7-47197AE193F3}"/>
                </a:ext>
              </a:extLst>
            </p:cNvPr>
            <p:cNvSpPr/>
            <p:nvPr/>
          </p:nvSpPr>
          <p:spPr>
            <a:xfrm>
              <a:off x="5852160" y="3127248"/>
              <a:ext cx="1133856" cy="0"/>
            </a:xfrm>
            <a:prstGeom prst="line">
              <a:avLst/>
            </a:prstGeom>
            <a:noFill/>
            <a:ln w="31750">
              <a:solidFill>
                <a:srgbClr val="1E4E8C"/>
              </a:solidFill>
              <a:prstDash val="solid"/>
              <a:tailEnd type="triangle"/>
            </a:ln>
          </p:spPr>
        </p:sp>
        <p:sp>
          <p:nvSpPr>
            <p:cNvPr id="46" name="Text 28">
              <a:extLst>
                <a:ext uri="{FF2B5EF4-FFF2-40B4-BE49-F238E27FC236}">
                  <a16:creationId xmlns:a16="http://schemas.microsoft.com/office/drawing/2014/main" id="{71D493BE-67F7-98A1-261E-3DE682E2B003}"/>
                </a:ext>
              </a:extLst>
            </p:cNvPr>
            <p:cNvSpPr txBox="1"/>
            <p:nvPr/>
          </p:nvSpPr>
          <p:spPr>
            <a:xfrm>
              <a:off x="5870448" y="278892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呼叫載具控制</a:t>
              </a:r>
              <a:endParaRPr lang="en-US" sz="1200" dirty="0"/>
            </a:p>
          </p:txBody>
        </p:sp>
        <p:sp>
          <p:nvSpPr>
            <p:cNvPr id="47" name="Shape 29">
              <a:extLst>
                <a:ext uri="{FF2B5EF4-FFF2-40B4-BE49-F238E27FC236}">
                  <a16:creationId xmlns:a16="http://schemas.microsoft.com/office/drawing/2014/main" id="{A7E22585-E7F0-12FC-0337-0D332DC69402}"/>
                </a:ext>
              </a:extLst>
            </p:cNvPr>
            <p:cNvSpPr/>
            <p:nvPr/>
          </p:nvSpPr>
          <p:spPr>
            <a:xfrm>
              <a:off x="10021824" y="1636776"/>
              <a:ext cx="1883664" cy="1856232"/>
            </a:xfrm>
            <a:prstGeom prst="roundRect">
              <a:avLst>
                <a:gd name="adj" fmla="val 4926"/>
              </a:avLst>
            </a:prstGeom>
            <a:solidFill>
              <a:srgbClr val="F4F6F8"/>
            </a:solidFill>
            <a:ln w="12700">
              <a:solidFill>
                <a:srgbClr val="2A9D8F"/>
              </a:solidFill>
              <a:prstDash val="solid"/>
            </a:ln>
          </p:spPr>
        </p:sp>
        <p:sp>
          <p:nvSpPr>
            <p:cNvPr id="48" name="Shape 30">
              <a:extLst>
                <a:ext uri="{FF2B5EF4-FFF2-40B4-BE49-F238E27FC236}">
                  <a16:creationId xmlns:a16="http://schemas.microsoft.com/office/drawing/2014/main" id="{044C8AED-0255-7FC2-87FA-12A3DA7B10CD}"/>
                </a:ext>
              </a:extLst>
            </p:cNvPr>
            <p:cNvSpPr/>
            <p:nvPr/>
          </p:nvSpPr>
          <p:spPr>
            <a:xfrm>
              <a:off x="10021824" y="1636776"/>
              <a:ext cx="1883664" cy="411480"/>
            </a:xfrm>
            <a:prstGeom prst="roundRect">
              <a:avLst>
                <a:gd name="adj" fmla="val 22222"/>
              </a:avLst>
            </a:prstGeom>
            <a:solidFill>
              <a:srgbClr val="2A9D8F"/>
            </a:solidFill>
            <a:ln w="12700">
              <a:solidFill>
                <a:srgbClr val="2A9D8F"/>
              </a:solidFill>
              <a:prstDash val="solid"/>
            </a:ln>
          </p:spPr>
        </p:sp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A1AEAE01-1E1A-57EE-74CA-FE62539B6179}"/>
                </a:ext>
              </a:extLst>
            </p:cNvPr>
            <p:cNvSpPr/>
            <p:nvPr/>
          </p:nvSpPr>
          <p:spPr>
            <a:xfrm>
              <a:off x="10021824" y="1842516"/>
              <a:ext cx="1883664" cy="205740"/>
            </a:xfrm>
            <a:prstGeom prst="rect">
              <a:avLst/>
            </a:prstGeom>
            <a:solidFill>
              <a:srgbClr val="2A9D8F"/>
            </a:solidFill>
            <a:ln w="12700">
              <a:solidFill>
                <a:srgbClr val="2A9D8F"/>
              </a:solidFill>
              <a:prstDash val="solid"/>
            </a:ln>
          </p:spPr>
        </p:sp>
        <p:sp>
          <p:nvSpPr>
            <p:cNvPr id="50" name="Text 32">
              <a:extLst>
                <a:ext uri="{FF2B5EF4-FFF2-40B4-BE49-F238E27FC236}">
                  <a16:creationId xmlns:a16="http://schemas.microsoft.com/office/drawing/2014/main" id="{6AC426B2-8C9F-069E-9B51-D2E791011809}"/>
                </a:ext>
              </a:extLst>
            </p:cNvPr>
            <p:cNvSpPr txBox="1"/>
            <p:nvPr/>
          </p:nvSpPr>
          <p:spPr>
            <a:xfrm>
              <a:off x="10021824" y="1636776"/>
              <a:ext cx="188366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AMR</a:t>
              </a:r>
              <a:endParaRPr lang="en-US" sz="1700" dirty="0"/>
            </a:p>
          </p:txBody>
        </p:sp>
        <p:sp>
          <p:nvSpPr>
            <p:cNvPr id="51" name="Shape 33">
              <a:extLst>
                <a:ext uri="{FF2B5EF4-FFF2-40B4-BE49-F238E27FC236}">
                  <a16:creationId xmlns:a16="http://schemas.microsoft.com/office/drawing/2014/main" id="{04339107-F0E4-8F63-44F0-8A762E8F5438}"/>
                </a:ext>
              </a:extLst>
            </p:cNvPr>
            <p:cNvSpPr/>
            <p:nvPr/>
          </p:nvSpPr>
          <p:spPr>
            <a:xfrm>
              <a:off x="10113264" y="2112264"/>
              <a:ext cx="1700784" cy="914400"/>
            </a:xfrm>
            <a:prstGeom prst="rect">
              <a:avLst/>
            </a:prstGeom>
            <a:solidFill>
              <a:srgbClr val="EDEDED"/>
            </a:solidFill>
            <a:ln w="12700">
              <a:solidFill>
                <a:srgbClr val="EDEDED"/>
              </a:solidFill>
              <a:prstDash val="solid"/>
            </a:ln>
          </p:spPr>
        </p:sp>
        <p:sp>
          <p:nvSpPr>
            <p:cNvPr id="52" name="Shape 34">
              <a:extLst>
                <a:ext uri="{FF2B5EF4-FFF2-40B4-BE49-F238E27FC236}">
                  <a16:creationId xmlns:a16="http://schemas.microsoft.com/office/drawing/2014/main" id="{678A8C42-2B53-CC63-B611-2930C43DE2A6}"/>
                </a:ext>
              </a:extLst>
            </p:cNvPr>
            <p:cNvSpPr/>
            <p:nvPr/>
          </p:nvSpPr>
          <p:spPr>
            <a:xfrm>
              <a:off x="10168128" y="2157984"/>
              <a:ext cx="310896" cy="237744"/>
            </a:xfrm>
            <a:prstGeom prst="rect">
              <a:avLst/>
            </a:prstGeom>
            <a:solidFill>
              <a:srgbClr val="C9CED6"/>
            </a:solidFill>
            <a:ln w="12700">
              <a:solidFill>
                <a:srgbClr val="C9CED6"/>
              </a:solidFill>
              <a:prstDash val="solid"/>
            </a:ln>
          </p:spPr>
        </p:sp>
        <p:sp>
          <p:nvSpPr>
            <p:cNvPr id="53" name="Shape 35">
              <a:extLst>
                <a:ext uri="{FF2B5EF4-FFF2-40B4-BE49-F238E27FC236}">
                  <a16:creationId xmlns:a16="http://schemas.microsoft.com/office/drawing/2014/main" id="{56FBDF74-485A-7C28-5ACF-79E97422D171}"/>
                </a:ext>
              </a:extLst>
            </p:cNvPr>
            <p:cNvSpPr/>
            <p:nvPr/>
          </p:nvSpPr>
          <p:spPr>
            <a:xfrm>
              <a:off x="10552176" y="2157984"/>
              <a:ext cx="310896" cy="237744"/>
            </a:xfrm>
            <a:prstGeom prst="rect">
              <a:avLst/>
            </a:prstGeom>
            <a:solidFill>
              <a:srgbClr val="C9CED6"/>
            </a:solidFill>
            <a:ln w="12700">
              <a:solidFill>
                <a:srgbClr val="C9CED6"/>
              </a:solidFill>
              <a:prstDash val="solid"/>
            </a:ln>
          </p:spPr>
        </p:sp>
        <p:sp>
          <p:nvSpPr>
            <p:cNvPr id="54" name="Shape 36">
              <a:extLst>
                <a:ext uri="{FF2B5EF4-FFF2-40B4-BE49-F238E27FC236}">
                  <a16:creationId xmlns:a16="http://schemas.microsoft.com/office/drawing/2014/main" id="{F733ADBB-31AD-94BB-0A45-9B62946D4DE6}"/>
                </a:ext>
              </a:extLst>
            </p:cNvPr>
            <p:cNvSpPr/>
            <p:nvPr/>
          </p:nvSpPr>
          <p:spPr>
            <a:xfrm>
              <a:off x="11411712" y="2157984"/>
              <a:ext cx="347472" cy="237744"/>
            </a:xfrm>
            <a:prstGeom prst="rect">
              <a:avLst/>
            </a:prstGeom>
            <a:solidFill>
              <a:srgbClr val="C9CED6"/>
            </a:solidFill>
            <a:ln w="12700">
              <a:solidFill>
                <a:srgbClr val="C9CED6"/>
              </a:solidFill>
              <a:prstDash val="solid"/>
            </a:ln>
          </p:spPr>
        </p:sp>
        <p:sp>
          <p:nvSpPr>
            <p:cNvPr id="55" name="Shape 37">
              <a:extLst>
                <a:ext uri="{FF2B5EF4-FFF2-40B4-BE49-F238E27FC236}">
                  <a16:creationId xmlns:a16="http://schemas.microsoft.com/office/drawing/2014/main" id="{85927E10-C78B-BE80-E703-408FD493A62B}"/>
                </a:ext>
              </a:extLst>
            </p:cNvPr>
            <p:cNvSpPr/>
            <p:nvPr/>
          </p:nvSpPr>
          <p:spPr>
            <a:xfrm>
              <a:off x="10387584" y="2615184"/>
              <a:ext cx="530352" cy="237744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2700">
              <a:solidFill>
                <a:srgbClr val="3A4A6B"/>
              </a:solidFill>
              <a:prstDash val="solid"/>
            </a:ln>
          </p:spPr>
        </p:sp>
        <p:sp>
          <p:nvSpPr>
            <p:cNvPr id="56" name="Shape 38">
              <a:extLst>
                <a:ext uri="{FF2B5EF4-FFF2-40B4-BE49-F238E27FC236}">
                  <a16:creationId xmlns:a16="http://schemas.microsoft.com/office/drawing/2014/main" id="{EC04C587-FF7C-3AFC-BFC4-51EBF6BAD0E0}"/>
                </a:ext>
              </a:extLst>
            </p:cNvPr>
            <p:cNvSpPr/>
            <p:nvPr/>
          </p:nvSpPr>
          <p:spPr>
            <a:xfrm>
              <a:off x="10552176" y="2523744"/>
              <a:ext cx="201168" cy="91440"/>
            </a:xfrm>
            <a:prstGeom prst="rect">
              <a:avLst/>
            </a:prstGeom>
            <a:solidFill>
              <a:srgbClr val="3A4A6B"/>
            </a:solidFill>
            <a:ln w="12700">
              <a:solidFill>
                <a:srgbClr val="3A4A6B"/>
              </a:solidFill>
              <a:prstDash val="solid"/>
            </a:ln>
          </p:spPr>
        </p:sp>
        <p:sp>
          <p:nvSpPr>
            <p:cNvPr id="57" name="Shape 39">
              <a:extLst>
                <a:ext uri="{FF2B5EF4-FFF2-40B4-BE49-F238E27FC236}">
                  <a16:creationId xmlns:a16="http://schemas.microsoft.com/office/drawing/2014/main" id="{48CD885C-0C94-DA30-0504-93BC4F6BA942}"/>
                </a:ext>
              </a:extLst>
            </p:cNvPr>
            <p:cNvSpPr/>
            <p:nvPr/>
          </p:nvSpPr>
          <p:spPr>
            <a:xfrm>
              <a:off x="10442448" y="2807208"/>
              <a:ext cx="118872" cy="118872"/>
            </a:xfrm>
            <a:prstGeom prst="ellipse">
              <a:avLst/>
            </a:prstGeom>
            <a:solidFill>
              <a:srgbClr val="2C2C2C"/>
            </a:solidFill>
            <a:ln w="12700">
              <a:solidFill>
                <a:srgbClr val="2C2C2C"/>
              </a:solidFill>
              <a:prstDash val="solid"/>
            </a:ln>
          </p:spPr>
        </p:sp>
        <p:sp>
          <p:nvSpPr>
            <p:cNvPr id="58" name="Shape 40">
              <a:extLst>
                <a:ext uri="{FF2B5EF4-FFF2-40B4-BE49-F238E27FC236}">
                  <a16:creationId xmlns:a16="http://schemas.microsoft.com/office/drawing/2014/main" id="{6CF900C0-486B-896C-1C0C-346B28B25B63}"/>
                </a:ext>
              </a:extLst>
            </p:cNvPr>
            <p:cNvSpPr/>
            <p:nvPr/>
          </p:nvSpPr>
          <p:spPr>
            <a:xfrm>
              <a:off x="10744200" y="2807208"/>
              <a:ext cx="118872" cy="118872"/>
            </a:xfrm>
            <a:prstGeom prst="ellipse">
              <a:avLst/>
            </a:prstGeom>
            <a:solidFill>
              <a:srgbClr val="2C2C2C"/>
            </a:solidFill>
            <a:ln w="12700">
              <a:solidFill>
                <a:srgbClr val="2C2C2C"/>
              </a:solidFill>
              <a:prstDash val="solid"/>
            </a:ln>
          </p:spPr>
        </p:sp>
        <p:sp>
          <p:nvSpPr>
            <p:cNvPr id="59" name="Shape 41">
              <a:extLst>
                <a:ext uri="{FF2B5EF4-FFF2-40B4-BE49-F238E27FC236}">
                  <a16:creationId xmlns:a16="http://schemas.microsoft.com/office/drawing/2014/main" id="{66DD1B7E-B762-CAF7-A6CC-835BD3802D51}"/>
                </a:ext>
              </a:extLst>
            </p:cNvPr>
            <p:cNvSpPr/>
            <p:nvPr/>
          </p:nvSpPr>
          <p:spPr>
            <a:xfrm>
              <a:off x="10954512" y="2752344"/>
              <a:ext cx="384048" cy="0"/>
            </a:xfrm>
            <a:prstGeom prst="line">
              <a:avLst/>
            </a:prstGeom>
            <a:noFill/>
            <a:ln w="19050">
              <a:solidFill>
                <a:srgbClr val="2A9D8F"/>
              </a:solidFill>
              <a:prstDash val="dash"/>
            </a:ln>
          </p:spPr>
        </p:sp>
        <p:sp>
          <p:nvSpPr>
            <p:cNvPr id="60" name="Shape 42">
              <a:extLst>
                <a:ext uri="{FF2B5EF4-FFF2-40B4-BE49-F238E27FC236}">
                  <a16:creationId xmlns:a16="http://schemas.microsoft.com/office/drawing/2014/main" id="{4B435E0F-92B9-1512-5A30-B5A7877E8B68}"/>
                </a:ext>
              </a:extLst>
            </p:cNvPr>
            <p:cNvSpPr/>
            <p:nvPr/>
          </p:nvSpPr>
          <p:spPr>
            <a:xfrm>
              <a:off x="11338560" y="2569464"/>
              <a:ext cx="0" cy="182880"/>
            </a:xfrm>
            <a:prstGeom prst="line">
              <a:avLst/>
            </a:prstGeom>
            <a:noFill/>
            <a:ln w="19050">
              <a:solidFill>
                <a:srgbClr val="2A9D8F"/>
              </a:solidFill>
              <a:prstDash val="dash"/>
              <a:headEnd type="triangle"/>
            </a:ln>
          </p:spPr>
        </p:sp>
        <p:pic>
          <p:nvPicPr>
            <p:cNvPr id="61" name="Image 7" descr="preencoded.png">
              <a:extLst>
                <a:ext uri="{FF2B5EF4-FFF2-40B4-BE49-F238E27FC236}">
                  <a16:creationId xmlns:a16="http://schemas.microsoft.com/office/drawing/2014/main" id="{4FEC9C35-8586-894F-2CBE-F0E3B33DD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47120" y="2313432"/>
              <a:ext cx="182880" cy="182880"/>
            </a:xfrm>
            <a:prstGeom prst="rect">
              <a:avLst/>
            </a:prstGeom>
          </p:spPr>
        </p:pic>
        <p:sp>
          <p:nvSpPr>
            <p:cNvPr id="62" name="Text 43">
              <a:extLst>
                <a:ext uri="{FF2B5EF4-FFF2-40B4-BE49-F238E27FC236}">
                  <a16:creationId xmlns:a16="http://schemas.microsoft.com/office/drawing/2014/main" id="{E8F41271-7AF9-6EFA-DAD9-B2DE249FF3A9}"/>
                </a:ext>
              </a:extLst>
            </p:cNvPr>
            <p:cNvSpPr txBox="1"/>
            <p:nvPr/>
          </p:nvSpPr>
          <p:spPr>
            <a:xfrm>
              <a:off x="10021824" y="3072384"/>
              <a:ext cx="188366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執行測試路徑</a:t>
              </a:r>
              <a:endParaRPr lang="en-US" sz="1300" dirty="0"/>
            </a:p>
          </p:txBody>
        </p:sp>
        <p:sp>
          <p:nvSpPr>
            <p:cNvPr id="63" name="Shape 44">
              <a:extLst>
                <a:ext uri="{FF2B5EF4-FFF2-40B4-BE49-F238E27FC236}">
                  <a16:creationId xmlns:a16="http://schemas.microsoft.com/office/drawing/2014/main" id="{DFB1DEB6-CDFA-87AA-DAC2-C743CF70DE7F}"/>
                </a:ext>
              </a:extLst>
            </p:cNvPr>
            <p:cNvSpPr/>
            <p:nvPr/>
          </p:nvSpPr>
          <p:spPr>
            <a:xfrm>
              <a:off x="9015984" y="2560320"/>
              <a:ext cx="1005840" cy="0"/>
            </a:xfrm>
            <a:prstGeom prst="line">
              <a:avLst/>
            </a:prstGeom>
            <a:noFill/>
            <a:ln w="31750">
              <a:solidFill>
                <a:srgbClr val="1E4E8C"/>
              </a:solidFill>
              <a:prstDash val="solid"/>
              <a:tailEnd type="triangle"/>
            </a:ln>
          </p:spPr>
        </p:sp>
        <p:sp>
          <p:nvSpPr>
            <p:cNvPr id="64" name="Text 45">
              <a:extLst>
                <a:ext uri="{FF2B5EF4-FFF2-40B4-BE49-F238E27FC236}">
                  <a16:creationId xmlns:a16="http://schemas.microsoft.com/office/drawing/2014/main" id="{5F82C196-415D-1BEC-B230-4F0ADE8E0447}"/>
                </a:ext>
              </a:extLst>
            </p:cNvPr>
            <p:cNvSpPr txBox="1"/>
            <p:nvPr/>
          </p:nvSpPr>
          <p:spPr>
            <a:xfrm>
              <a:off x="9015984" y="2231136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控制 AMR</a:t>
              </a:r>
              <a:endParaRPr lang="en-US" sz="1200" dirty="0"/>
            </a:p>
          </p:txBody>
        </p:sp>
        <p:sp>
          <p:nvSpPr>
            <p:cNvPr id="65" name="Shape 46">
              <a:extLst>
                <a:ext uri="{FF2B5EF4-FFF2-40B4-BE49-F238E27FC236}">
                  <a16:creationId xmlns:a16="http://schemas.microsoft.com/office/drawing/2014/main" id="{38CC022C-3FCE-1292-2FCE-F8D86B47E295}"/>
                </a:ext>
              </a:extLst>
            </p:cNvPr>
            <p:cNvSpPr/>
            <p:nvPr/>
          </p:nvSpPr>
          <p:spPr>
            <a:xfrm>
              <a:off x="7854696" y="3831336"/>
              <a:ext cx="2441448" cy="1591056"/>
            </a:xfrm>
            <a:prstGeom prst="roundRect">
              <a:avLst>
                <a:gd name="adj" fmla="val 5747"/>
              </a:avLst>
            </a:prstGeom>
            <a:solidFill>
              <a:srgbClr val="E6E2F4"/>
            </a:solidFill>
            <a:ln w="12700">
              <a:solidFill>
                <a:srgbClr val="6E63B8"/>
              </a:solidFill>
              <a:prstDash val="solid"/>
            </a:ln>
          </p:spPr>
        </p:sp>
        <p:sp>
          <p:nvSpPr>
            <p:cNvPr id="66" name="Shape 47">
              <a:extLst>
                <a:ext uri="{FF2B5EF4-FFF2-40B4-BE49-F238E27FC236}">
                  <a16:creationId xmlns:a16="http://schemas.microsoft.com/office/drawing/2014/main" id="{EE2AD137-E139-05A3-3BC9-88CA17C60CE6}"/>
                </a:ext>
              </a:extLst>
            </p:cNvPr>
            <p:cNvSpPr/>
            <p:nvPr/>
          </p:nvSpPr>
          <p:spPr>
            <a:xfrm>
              <a:off x="7854696" y="3831336"/>
              <a:ext cx="2441448" cy="384048"/>
            </a:xfrm>
            <a:prstGeom prst="roundRect">
              <a:avLst>
                <a:gd name="adj" fmla="val 23810"/>
              </a:avLst>
            </a:prstGeom>
            <a:solidFill>
              <a:srgbClr val="6E63B8"/>
            </a:solidFill>
            <a:ln w="12700">
              <a:solidFill>
                <a:srgbClr val="6E63B8"/>
              </a:solidFill>
              <a:prstDash val="solid"/>
            </a:ln>
          </p:spPr>
        </p:sp>
        <p:sp>
          <p:nvSpPr>
            <p:cNvPr id="67" name="Shape 48">
              <a:extLst>
                <a:ext uri="{FF2B5EF4-FFF2-40B4-BE49-F238E27FC236}">
                  <a16:creationId xmlns:a16="http://schemas.microsoft.com/office/drawing/2014/main" id="{ED1C7003-F284-8A25-F698-C3F2EAC9149F}"/>
                </a:ext>
              </a:extLst>
            </p:cNvPr>
            <p:cNvSpPr/>
            <p:nvPr/>
          </p:nvSpPr>
          <p:spPr>
            <a:xfrm>
              <a:off x="7854696" y="4023360"/>
              <a:ext cx="2441448" cy="192024"/>
            </a:xfrm>
            <a:prstGeom prst="rect">
              <a:avLst/>
            </a:prstGeom>
            <a:solidFill>
              <a:srgbClr val="6E63B8"/>
            </a:solidFill>
            <a:ln w="12700">
              <a:solidFill>
                <a:srgbClr val="6E63B8"/>
              </a:solidFill>
              <a:prstDash val="solid"/>
            </a:ln>
          </p:spPr>
        </p:sp>
        <p:sp>
          <p:nvSpPr>
            <p:cNvPr id="68" name="Text 49">
              <a:extLst>
                <a:ext uri="{FF2B5EF4-FFF2-40B4-BE49-F238E27FC236}">
                  <a16:creationId xmlns:a16="http://schemas.microsoft.com/office/drawing/2014/main" id="{F0798E36-D8C5-C465-B683-54F5AAE9DE74}"/>
                </a:ext>
              </a:extLst>
            </p:cNvPr>
            <p:cNvSpPr txBox="1"/>
            <p:nvPr/>
          </p:nvSpPr>
          <p:spPr>
            <a:xfrm>
              <a:off x="7854696" y="3831336"/>
              <a:ext cx="24414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RIC</a:t>
              </a:r>
              <a:endParaRPr lang="en-US" sz="1700" dirty="0"/>
            </a:p>
          </p:txBody>
        </p:sp>
        <p:sp>
          <p:nvSpPr>
            <p:cNvPr id="69" name="Shape 50">
              <a:extLst>
                <a:ext uri="{FF2B5EF4-FFF2-40B4-BE49-F238E27FC236}">
                  <a16:creationId xmlns:a16="http://schemas.microsoft.com/office/drawing/2014/main" id="{8F119891-BFBE-13BC-779A-1C3BD81B5290}"/>
                </a:ext>
              </a:extLst>
            </p:cNvPr>
            <p:cNvSpPr/>
            <p:nvPr/>
          </p:nvSpPr>
          <p:spPr>
            <a:xfrm>
              <a:off x="8037576" y="4288536"/>
              <a:ext cx="105156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2700">
              <a:solidFill>
                <a:srgbClr val="C9C3E6"/>
              </a:solidFill>
              <a:prstDash val="solid"/>
            </a:ln>
          </p:spPr>
        </p:sp>
        <p:pic>
          <p:nvPicPr>
            <p:cNvPr id="70" name="Image 8" descr="preencoded.png">
              <a:extLst>
                <a:ext uri="{FF2B5EF4-FFF2-40B4-BE49-F238E27FC236}">
                  <a16:creationId xmlns:a16="http://schemas.microsoft.com/office/drawing/2014/main" id="{58872944-74E9-9EE4-CEE3-95B08E8DB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4756" y="4379976"/>
              <a:ext cx="457200" cy="457200"/>
            </a:xfrm>
            <a:prstGeom prst="rect">
              <a:avLst/>
            </a:prstGeom>
          </p:spPr>
        </p:pic>
        <p:sp>
          <p:nvSpPr>
            <p:cNvPr id="71" name="Text 51">
              <a:extLst>
                <a:ext uri="{FF2B5EF4-FFF2-40B4-BE49-F238E27FC236}">
                  <a16:creationId xmlns:a16="http://schemas.microsoft.com/office/drawing/2014/main" id="{2969F282-DEA9-2C7C-464D-561E48049E4E}"/>
                </a:ext>
              </a:extLst>
            </p:cNvPr>
            <p:cNvSpPr txBox="1"/>
            <p:nvPr/>
          </p:nvSpPr>
          <p:spPr>
            <a:xfrm>
              <a:off x="8037576" y="4910328"/>
              <a:ext cx="10515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IM App</a:t>
              </a:r>
              <a:endParaRPr lang="en-US" sz="1400" dirty="0"/>
            </a:p>
          </p:txBody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02C19903-BEC3-45AF-A009-D07B056C27B4}"/>
                </a:ext>
              </a:extLst>
            </p:cNvPr>
            <p:cNvSpPr/>
            <p:nvPr/>
          </p:nvSpPr>
          <p:spPr>
            <a:xfrm>
              <a:off x="9226296" y="4288536"/>
              <a:ext cx="896112" cy="1024128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2700">
              <a:solidFill>
                <a:srgbClr val="C9C3E6"/>
              </a:solidFill>
              <a:prstDash val="solid"/>
            </a:ln>
          </p:spPr>
        </p:sp>
        <p:pic>
          <p:nvPicPr>
            <p:cNvPr id="73" name="Image 9" descr="preencoded.png">
              <a:extLst>
                <a:ext uri="{FF2B5EF4-FFF2-40B4-BE49-F238E27FC236}">
                  <a16:creationId xmlns:a16="http://schemas.microsoft.com/office/drawing/2014/main" id="{FB2E19D6-FA7E-4C38-E969-29F4CE271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45752" y="4379976"/>
              <a:ext cx="457200" cy="457200"/>
            </a:xfrm>
            <a:prstGeom prst="rect">
              <a:avLst/>
            </a:prstGeom>
          </p:spPr>
        </p:pic>
        <p:sp>
          <p:nvSpPr>
            <p:cNvPr id="74" name="Text 53">
              <a:extLst>
                <a:ext uri="{FF2B5EF4-FFF2-40B4-BE49-F238E27FC236}">
                  <a16:creationId xmlns:a16="http://schemas.microsoft.com/office/drawing/2014/main" id="{98E338E6-B79B-B5DB-202C-5173DDC4B6FB}"/>
                </a:ext>
              </a:extLst>
            </p:cNvPr>
            <p:cNvSpPr txBox="1"/>
            <p:nvPr/>
          </p:nvSpPr>
          <p:spPr>
            <a:xfrm>
              <a:off x="9226296" y="4910328"/>
              <a:ext cx="8961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網路觀測資料</a:t>
              </a:r>
              <a:endParaRPr lang="en-US" sz="1100" dirty="0"/>
            </a:p>
          </p:txBody>
        </p:sp>
        <p:sp>
          <p:nvSpPr>
            <p:cNvPr id="75" name="Shape 54">
              <a:extLst>
                <a:ext uri="{FF2B5EF4-FFF2-40B4-BE49-F238E27FC236}">
                  <a16:creationId xmlns:a16="http://schemas.microsoft.com/office/drawing/2014/main" id="{1D7ED7AC-EE0A-5915-02B7-C41408326554}"/>
                </a:ext>
              </a:extLst>
            </p:cNvPr>
            <p:cNvSpPr/>
            <p:nvPr/>
          </p:nvSpPr>
          <p:spPr>
            <a:xfrm>
              <a:off x="5852160" y="4389120"/>
              <a:ext cx="2002536" cy="0"/>
            </a:xfrm>
            <a:prstGeom prst="line">
              <a:avLst/>
            </a:prstGeom>
            <a:noFill/>
            <a:ln w="31750">
              <a:solidFill>
                <a:srgbClr val="1E4E8C"/>
              </a:solidFill>
              <a:prstDash val="solid"/>
              <a:tailEnd type="triangle"/>
            </a:ln>
          </p:spPr>
        </p:sp>
        <p:sp>
          <p:nvSpPr>
            <p:cNvPr id="76" name="Text 55">
              <a:extLst>
                <a:ext uri="{FF2B5EF4-FFF2-40B4-BE49-F238E27FC236}">
                  <a16:creationId xmlns:a16="http://schemas.microsoft.com/office/drawing/2014/main" id="{34FB3E48-1EC2-C6AD-9CED-5D0CE57C9BAC}"/>
                </a:ext>
              </a:extLst>
            </p:cNvPr>
            <p:cNvSpPr txBox="1"/>
            <p:nvPr/>
          </p:nvSpPr>
          <p:spPr>
            <a:xfrm>
              <a:off x="5852160" y="4059936"/>
              <a:ext cx="20025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上架 IM App</a:t>
              </a:r>
              <a:endParaRPr lang="en-US" sz="1200" dirty="0"/>
            </a:p>
          </p:txBody>
        </p:sp>
        <p:sp>
          <p:nvSpPr>
            <p:cNvPr id="77" name="Shape 56">
              <a:extLst>
                <a:ext uri="{FF2B5EF4-FFF2-40B4-BE49-F238E27FC236}">
                  <a16:creationId xmlns:a16="http://schemas.microsoft.com/office/drawing/2014/main" id="{87B0F1D0-066B-AA33-B7E2-D13AA414B6DD}"/>
                </a:ext>
              </a:extLst>
            </p:cNvPr>
            <p:cNvSpPr/>
            <p:nvPr/>
          </p:nvSpPr>
          <p:spPr>
            <a:xfrm>
              <a:off x="5852160" y="4782312"/>
              <a:ext cx="2002536" cy="0"/>
            </a:xfrm>
            <a:prstGeom prst="line">
              <a:avLst/>
            </a:prstGeom>
            <a:noFill/>
            <a:ln w="31750">
              <a:solidFill>
                <a:srgbClr val="2A9D8F"/>
              </a:solidFill>
              <a:prstDash val="dash"/>
              <a:headEnd type="triangle"/>
            </a:ln>
          </p:spPr>
        </p:sp>
        <p:sp>
          <p:nvSpPr>
            <p:cNvPr id="78" name="Text 57">
              <a:extLst>
                <a:ext uri="{FF2B5EF4-FFF2-40B4-BE49-F238E27FC236}">
                  <a16:creationId xmlns:a16="http://schemas.microsoft.com/office/drawing/2014/main" id="{5B6C5C04-3249-0F48-DA23-EADDA129A045}"/>
                </a:ext>
              </a:extLst>
            </p:cNvPr>
            <p:cNvSpPr txBox="1"/>
            <p:nvPr/>
          </p:nvSpPr>
          <p:spPr>
            <a:xfrm>
              <a:off x="5852160" y="4846320"/>
              <a:ext cx="20025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回傳觀測資料</a:t>
              </a:r>
              <a:endParaRPr lang="en-US" sz="1200" dirty="0"/>
            </a:p>
          </p:txBody>
        </p:sp>
        <p:sp>
          <p:nvSpPr>
            <p:cNvPr id="79" name="Shape 58">
              <a:extLst>
                <a:ext uri="{FF2B5EF4-FFF2-40B4-BE49-F238E27FC236}">
                  <a16:creationId xmlns:a16="http://schemas.microsoft.com/office/drawing/2014/main" id="{F6F308C8-A9DB-E940-9CDE-F6793660E589}"/>
                </a:ext>
              </a:extLst>
            </p:cNvPr>
            <p:cNvSpPr/>
            <p:nvPr/>
          </p:nvSpPr>
          <p:spPr>
            <a:xfrm>
              <a:off x="292608" y="5596128"/>
              <a:ext cx="2615184" cy="694944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2700">
              <a:solidFill>
                <a:srgbClr val="9DC3E6"/>
              </a:solidFill>
              <a:prstDash val="solid"/>
            </a:ln>
          </p:spPr>
        </p:sp>
        <p:sp>
          <p:nvSpPr>
            <p:cNvPr id="80" name="Shape 59">
              <a:extLst>
                <a:ext uri="{FF2B5EF4-FFF2-40B4-BE49-F238E27FC236}">
                  <a16:creationId xmlns:a16="http://schemas.microsoft.com/office/drawing/2014/main" id="{D2C7FFDB-93ED-4006-FE1B-69590EFA84A3}"/>
                </a:ext>
              </a:extLst>
            </p:cNvPr>
            <p:cNvSpPr/>
            <p:nvPr/>
          </p:nvSpPr>
          <p:spPr>
            <a:xfrm>
              <a:off x="457200" y="5815584"/>
              <a:ext cx="685800" cy="0"/>
            </a:xfrm>
            <a:prstGeom prst="line">
              <a:avLst/>
            </a:prstGeom>
            <a:noFill/>
            <a:ln w="31750">
              <a:solidFill>
                <a:srgbClr val="1E4E8C"/>
              </a:solidFill>
              <a:prstDash val="solid"/>
              <a:tailEnd type="triangle"/>
            </a:ln>
          </p:spPr>
        </p:sp>
        <p:sp>
          <p:nvSpPr>
            <p:cNvPr id="81" name="Text 60">
              <a:extLst>
                <a:ext uri="{FF2B5EF4-FFF2-40B4-BE49-F238E27FC236}">
                  <a16:creationId xmlns:a16="http://schemas.microsoft.com/office/drawing/2014/main" id="{A54C2734-2B27-F431-E65F-4B1ECA94CB6E}"/>
                </a:ext>
              </a:extLst>
            </p:cNvPr>
            <p:cNvSpPr txBox="1"/>
            <p:nvPr/>
          </p:nvSpPr>
          <p:spPr>
            <a:xfrm>
              <a:off x="1280160" y="5696712"/>
              <a:ext cx="15544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實線：操作與控制</a:t>
              </a:r>
              <a:endParaRPr lang="en-US" sz="1200" dirty="0"/>
            </a:p>
          </p:txBody>
        </p:sp>
        <p:sp>
          <p:nvSpPr>
            <p:cNvPr id="82" name="Shape 61">
              <a:extLst>
                <a:ext uri="{FF2B5EF4-FFF2-40B4-BE49-F238E27FC236}">
                  <a16:creationId xmlns:a16="http://schemas.microsoft.com/office/drawing/2014/main" id="{0D4C0D54-0EFD-6D3D-8B14-F3E268B7C90C}"/>
                </a:ext>
              </a:extLst>
            </p:cNvPr>
            <p:cNvSpPr/>
            <p:nvPr/>
          </p:nvSpPr>
          <p:spPr>
            <a:xfrm>
              <a:off x="457200" y="6089904"/>
              <a:ext cx="685800" cy="0"/>
            </a:xfrm>
            <a:prstGeom prst="line">
              <a:avLst/>
            </a:prstGeom>
            <a:noFill/>
            <a:ln w="31750">
              <a:solidFill>
                <a:srgbClr val="2A9D8F"/>
              </a:solidFill>
              <a:prstDash val="dash"/>
              <a:tailEnd type="triangle"/>
            </a:ln>
          </p:spPr>
        </p:sp>
        <p:sp>
          <p:nvSpPr>
            <p:cNvPr id="83" name="Text 62">
              <a:extLst>
                <a:ext uri="{FF2B5EF4-FFF2-40B4-BE49-F238E27FC236}">
                  <a16:creationId xmlns:a16="http://schemas.microsoft.com/office/drawing/2014/main" id="{AB164E00-7DAB-49B1-6B9A-969073630C57}"/>
                </a:ext>
              </a:extLst>
            </p:cNvPr>
            <p:cNvSpPr txBox="1"/>
            <p:nvPr/>
          </p:nvSpPr>
          <p:spPr>
            <a:xfrm>
              <a:off x="1280160" y="5971032"/>
              <a:ext cx="15544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虛線：觀測資料回傳</a:t>
              </a:r>
              <a:endParaRPr lang="en-US" sz="1200" dirty="0"/>
            </a:p>
          </p:txBody>
        </p:sp>
      </p:grpSp>
      <p:sp>
        <p:nvSpPr>
          <p:cNvPr id="86" name="矩形 85">
            <a:extLst>
              <a:ext uri="{FF2B5EF4-FFF2-40B4-BE49-F238E27FC236}">
                <a16:creationId xmlns:a16="http://schemas.microsoft.com/office/drawing/2014/main" id="{F77764B2-8814-A2FB-395F-8FDE2EF86A25}"/>
              </a:ext>
            </a:extLst>
          </p:cNvPr>
          <p:cNvSpPr/>
          <p:nvPr/>
        </p:nvSpPr>
        <p:spPr bwMode="auto">
          <a:xfrm>
            <a:off x="7783285" y="3622912"/>
            <a:ext cx="1605644" cy="1965960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Arial" charset="0"/>
                <a:ea typeface="新細明體" pitchFamily="18" charset="-120"/>
              </a:rPr>
              <a:t>DUT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highlight>
                <a:srgbClr val="FFFF00"/>
              </a:highlight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543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74C254-9AE1-9393-D426-B875E161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室內</a:t>
            </a:r>
            <a:r>
              <a:rPr lang="en-US" altLang="zh-TW" dirty="0">
                <a:latin typeface="+mj-ea"/>
              </a:rPr>
              <a:t>App</a:t>
            </a:r>
            <a:r>
              <a:rPr lang="zh-TW" altLang="en-US" dirty="0">
                <a:latin typeface="+mj-ea"/>
              </a:rPr>
              <a:t>效能驗證</a:t>
            </a:r>
            <a:r>
              <a:rPr lang="en-US" altLang="zh-TW" dirty="0">
                <a:latin typeface="+mj-ea"/>
              </a:rPr>
              <a:t>Tester</a:t>
            </a:r>
            <a:r>
              <a:rPr lang="zh-TW" altLang="en-US" dirty="0">
                <a:latin typeface="+mj-ea"/>
              </a:rPr>
              <a:t> 運作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729264-88AA-3600-4D7C-03D75DA6BB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>
                <a:latin typeface="+mj-ea"/>
                <a:ea typeface="+mj-ea"/>
              </a:rPr>
              <a:pPr>
                <a:defRPr/>
              </a:pPr>
              <a:t>9</a:t>
            </a:fld>
            <a:endParaRPr lang="en-US" altLang="zh-TW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CEDC3B5-C30F-0E71-47EF-B3DDC6404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5371" y="1059543"/>
            <a:ext cx="6052565" cy="1052945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  <a:cs typeface="Calibri" panose="020F0502020204030204" pitchFamily="34" charset="0"/>
              </a:rPr>
              <a:t>Tester </a:t>
            </a:r>
            <a:r>
              <a:rPr lang="zh-TW" altLang="en-US" sz="1800" dirty="0">
                <a:latin typeface="+mj-ea"/>
                <a:ea typeface="+mj-ea"/>
                <a:cs typeface="Calibri" panose="020F0502020204030204" pitchFamily="34" charset="0"/>
              </a:rPr>
              <a:t>執行測試腳本，控制 </a:t>
            </a:r>
            <a:r>
              <a:rPr lang="en-US" altLang="zh-TW" sz="1800" dirty="0">
                <a:latin typeface="+mj-ea"/>
                <a:ea typeface="+mj-ea"/>
                <a:cs typeface="Calibri" panose="020F0502020204030204" pitchFamily="34" charset="0"/>
              </a:rPr>
              <a:t>AMR</a:t>
            </a:r>
            <a:r>
              <a:rPr lang="zh-TW" altLang="en-US" sz="1800" dirty="0">
                <a:latin typeface="+mj-ea"/>
                <a:ea typeface="+mj-ea"/>
                <a:cs typeface="Calibri" panose="020F0502020204030204" pitchFamily="34" charset="0"/>
              </a:rPr>
              <a:t>、上架 </a:t>
            </a:r>
            <a:r>
              <a:rPr lang="en-US" altLang="zh-TW" sz="1800" dirty="0">
                <a:latin typeface="+mj-ea"/>
                <a:ea typeface="+mj-ea"/>
                <a:cs typeface="Calibri" panose="020F0502020204030204" pitchFamily="34" charset="0"/>
              </a:rPr>
              <a:t>IM App </a:t>
            </a:r>
            <a:r>
              <a:rPr lang="zh-TW" altLang="en-US" sz="1800" dirty="0">
                <a:latin typeface="+mj-ea"/>
                <a:ea typeface="+mj-ea"/>
                <a:cs typeface="Calibri" panose="020F0502020204030204" pitchFamily="34" charset="0"/>
              </a:rPr>
              <a:t>並取得 </a:t>
            </a:r>
            <a:r>
              <a:rPr lang="en-US" altLang="zh-TW" sz="1800" dirty="0">
                <a:latin typeface="+mj-ea"/>
                <a:ea typeface="+mj-ea"/>
                <a:cs typeface="Calibri" panose="020F0502020204030204" pitchFamily="34" charset="0"/>
              </a:rPr>
              <a:t>RIC </a:t>
            </a:r>
            <a:r>
              <a:rPr lang="zh-TW" altLang="en-US" sz="1800" dirty="0">
                <a:latin typeface="+mj-ea"/>
                <a:ea typeface="+mj-ea"/>
                <a:cs typeface="Calibri" panose="020F0502020204030204" pitchFamily="34" charset="0"/>
              </a:rPr>
              <a:t>量測，比較干擾優化前後的通訊效能。</a:t>
            </a:r>
            <a:endParaRPr lang="en-US" altLang="zh-TW" sz="1800" dirty="0">
              <a:latin typeface="+mj-ea"/>
              <a:ea typeface="+mj-ea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+mj-ea"/>
                <a:ea typeface="+mj-ea"/>
                <a:cs typeface="Calibri" panose="020F0502020204030204" pitchFamily="34" charset="0"/>
              </a:rPr>
              <a:t>共兩個案例 </a:t>
            </a:r>
            <a:r>
              <a:rPr lang="en-US" altLang="zh-TW" sz="1800" dirty="0">
                <a:latin typeface="+mj-ea"/>
                <a:ea typeface="+mj-ea"/>
                <a:cs typeface="Calibri" panose="020F0502020204030204" pitchFamily="34" charset="0"/>
              </a:rPr>
              <a:t>(</a:t>
            </a:r>
            <a:r>
              <a:rPr lang="en-US" altLang="zh-TW" sz="1800" dirty="0"/>
              <a:t>AMR </a:t>
            </a:r>
            <a:r>
              <a:rPr lang="zh-TW" altLang="en-US" sz="1800" dirty="0"/>
              <a:t>通過干擾區、</a:t>
            </a:r>
            <a:r>
              <a:rPr lang="en-US" altLang="zh-TW" sz="1800" dirty="0"/>
              <a:t>AMR </a:t>
            </a:r>
            <a:r>
              <a:rPr lang="zh-TW" altLang="en-US" sz="1800" dirty="0"/>
              <a:t>停留干擾區</a:t>
            </a:r>
            <a:r>
              <a:rPr lang="en-US" altLang="zh-TW" sz="1800" dirty="0">
                <a:latin typeface="+mj-ea"/>
                <a:ea typeface="+mj-ea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E582761F-69DF-7035-3ED6-5B8999482E33}"/>
              </a:ext>
            </a:extLst>
          </p:cNvPr>
          <p:cNvSpPr/>
          <p:nvPr/>
        </p:nvSpPr>
        <p:spPr>
          <a:xfrm>
            <a:off x="11221575" y="536448"/>
            <a:ext cx="676656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7F7742D7-65CB-FF0B-3902-00DE863846F1}"/>
              </a:ext>
            </a:extLst>
          </p:cNvPr>
          <p:cNvSpPr txBox="1"/>
          <p:nvPr/>
        </p:nvSpPr>
        <p:spPr>
          <a:xfrm>
            <a:off x="11194143" y="5547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RESTRICTED</a:t>
            </a:r>
            <a:endParaRPr lang="en-US" sz="9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22CE51EA-800D-B9F9-7AEB-B71D32E4B2BB}"/>
              </a:ext>
            </a:extLst>
          </p:cNvPr>
          <p:cNvSpPr/>
          <p:nvPr/>
        </p:nvSpPr>
        <p:spPr>
          <a:xfrm>
            <a:off x="367647" y="1130808"/>
            <a:ext cx="5266944" cy="2276856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 w="12700">
            <a:solidFill>
              <a:srgbClr val="C5D9EE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FF37F464-97ED-E9D8-A16E-9209650E9E11}"/>
              </a:ext>
            </a:extLst>
          </p:cNvPr>
          <p:cNvSpPr/>
          <p:nvPr/>
        </p:nvSpPr>
        <p:spPr>
          <a:xfrm>
            <a:off x="395079" y="966216"/>
            <a:ext cx="1143000" cy="329184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251BEA7E-60D0-05FE-4A91-C9BA2B4AFE06}"/>
              </a:ext>
            </a:extLst>
          </p:cNvPr>
          <p:cNvSpPr txBox="1"/>
          <p:nvPr/>
        </p:nvSpPr>
        <p:spPr>
          <a:xfrm>
            <a:off x="395079" y="9662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</a:t>
            </a:r>
            <a:endParaRPr lang="en-US" sz="20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43618147-186C-7D33-04BC-C4900557AA57}"/>
              </a:ext>
            </a:extLst>
          </p:cNvPr>
          <p:cNvSpPr/>
          <p:nvPr/>
        </p:nvSpPr>
        <p:spPr>
          <a:xfrm>
            <a:off x="468231" y="1350264"/>
            <a:ext cx="5093208" cy="420624"/>
          </a:xfrm>
          <a:prstGeom prst="roundRect">
            <a:avLst>
              <a:gd name="adj" fmla="val 13043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353C6703-860F-F476-E08C-CE466B5EB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35" y="1432560"/>
            <a:ext cx="256032" cy="256032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:a16="http://schemas.microsoft.com/office/drawing/2014/main" id="{1DB56DF0-5F70-D8E3-BFE1-E599BD640190}"/>
              </a:ext>
            </a:extLst>
          </p:cNvPr>
          <p:cNvSpPr txBox="1"/>
          <p:nvPr/>
        </p:nvSpPr>
        <p:spPr>
          <a:xfrm>
            <a:off x="962007" y="13502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 App 效能驗證</a:t>
            </a:r>
            <a:endParaRPr lang="en-US" sz="17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2373905-5ECD-0332-CA2C-6E0A0066BCA7}"/>
              </a:ext>
            </a:extLst>
          </p:cNvPr>
          <p:cNvSpPr txBox="1"/>
          <p:nvPr/>
        </p:nvSpPr>
        <p:spPr>
          <a:xfrm>
            <a:off x="614535" y="1871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設定情境與驗證目標</a:t>
            </a:r>
            <a:endParaRPr lang="en-US" sz="1200" dirty="0"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93A36120-C004-06FF-AA37-461A5B056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8616"/>
              </p:ext>
            </p:extLst>
          </p:nvPr>
        </p:nvGraphicFramePr>
        <p:xfrm>
          <a:off x="477375" y="2154936"/>
          <a:ext cx="5001768" cy="111556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測試情境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TC01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AMR 通過干擾區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SINR / 吞吐量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TC02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AMR 停留干擾區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SINR / 吞吐量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10">
            <a:extLst>
              <a:ext uri="{FF2B5EF4-FFF2-40B4-BE49-F238E27FC236}">
                <a16:creationId xmlns:a16="http://schemas.microsoft.com/office/drawing/2014/main" id="{49D9085B-E58D-E86F-069F-74A078ED89C3}"/>
              </a:ext>
            </a:extLst>
          </p:cNvPr>
          <p:cNvSpPr/>
          <p:nvPr/>
        </p:nvSpPr>
        <p:spPr>
          <a:xfrm>
            <a:off x="2580495" y="3444240"/>
            <a:ext cx="585216" cy="438912"/>
          </a:xfrm>
          <a:prstGeom prst="downArrow">
            <a:avLst/>
          </a:prstGeom>
          <a:solidFill>
            <a:srgbClr val="C9E3F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A52CD744-D970-1FBE-1DC9-046D68808CE2}"/>
              </a:ext>
            </a:extLst>
          </p:cNvPr>
          <p:cNvSpPr/>
          <p:nvPr/>
        </p:nvSpPr>
        <p:spPr>
          <a:xfrm>
            <a:off x="367647" y="3828288"/>
            <a:ext cx="5266944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C5D9EE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E259BD94-E776-4160-9AF4-6AA5D8E3006B}"/>
              </a:ext>
            </a:extLst>
          </p:cNvPr>
          <p:cNvSpPr/>
          <p:nvPr/>
        </p:nvSpPr>
        <p:spPr>
          <a:xfrm>
            <a:off x="395079" y="3645408"/>
            <a:ext cx="1143000" cy="329184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3152810F-0EA7-8B13-9A51-A1F06378BBDC}"/>
              </a:ext>
            </a:extLst>
          </p:cNvPr>
          <p:cNvSpPr txBox="1"/>
          <p:nvPr/>
        </p:nvSpPr>
        <p:spPr>
          <a:xfrm>
            <a:off x="395079" y="364540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測試腳本</a:t>
            </a:r>
            <a:endParaRPr lang="en-US" sz="20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9931EAC6-B561-893D-2EF2-4FCB716EA924}"/>
              </a:ext>
            </a:extLst>
          </p:cNvPr>
          <p:cNvSpPr/>
          <p:nvPr/>
        </p:nvSpPr>
        <p:spPr>
          <a:xfrm>
            <a:off x="468231" y="4011168"/>
            <a:ext cx="5093208" cy="448056"/>
          </a:xfrm>
          <a:prstGeom prst="roundRect">
            <a:avLst>
              <a:gd name="adj" fmla="val 12245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C091488B-66D3-EC01-6633-5EFCFF8FD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107180"/>
            <a:ext cx="256032" cy="256032"/>
          </a:xfrm>
          <a:prstGeom prst="rect">
            <a:avLst/>
          </a:prstGeom>
        </p:spPr>
      </p:pic>
      <p:sp>
        <p:nvSpPr>
          <p:cNvPr id="36" name="Text 15">
            <a:extLst>
              <a:ext uri="{FF2B5EF4-FFF2-40B4-BE49-F238E27FC236}">
                <a16:creationId xmlns:a16="http://schemas.microsoft.com/office/drawing/2014/main" id="{CF6FDEF6-DA44-F24B-EF3F-E35D0C1A6A7B}"/>
              </a:ext>
            </a:extLst>
          </p:cNvPr>
          <p:cNvSpPr txBox="1"/>
          <p:nvPr/>
        </p:nvSpPr>
        <p:spPr>
          <a:xfrm>
            <a:off x="962007" y="4011168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AMR 室內干擾測試</a:t>
            </a:r>
            <a:endParaRPr lang="en-US" sz="170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533B9371-F7D3-6AAD-5CC1-73884A77DFF3}"/>
              </a:ext>
            </a:extLst>
          </p:cNvPr>
          <p:cNvSpPr/>
          <p:nvPr/>
        </p:nvSpPr>
        <p:spPr>
          <a:xfrm>
            <a:off x="4244703" y="4120896"/>
            <a:ext cx="1133856" cy="283464"/>
          </a:xfrm>
          <a:prstGeom prst="roundRect">
            <a:avLst>
              <a:gd name="adj" fmla="val 16129"/>
            </a:avLst>
          </a:prstGeom>
          <a:solidFill>
            <a:srgbClr val="1E6FD9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0E82FC44-E2D6-E3A8-1767-950F07A8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015" y="4194048"/>
            <a:ext cx="128016" cy="128016"/>
          </a:xfrm>
          <a:prstGeom prst="rect">
            <a:avLst/>
          </a:prstGeom>
        </p:spPr>
      </p:pic>
      <p:sp>
        <p:nvSpPr>
          <p:cNvPr id="39" name="Text 17">
            <a:extLst>
              <a:ext uri="{FF2B5EF4-FFF2-40B4-BE49-F238E27FC236}">
                <a16:creationId xmlns:a16="http://schemas.microsoft.com/office/drawing/2014/main" id="{B3C17913-AB87-1F2C-E4B4-49D64301366D}"/>
              </a:ext>
            </a:extLst>
          </p:cNvPr>
          <p:cNvSpPr txBox="1"/>
          <p:nvPr/>
        </p:nvSpPr>
        <p:spPr>
          <a:xfrm>
            <a:off x="4656183" y="4120896"/>
            <a:ext cx="685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執行測試</a:t>
            </a:r>
            <a:endParaRPr lang="en-US" sz="12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C3CBF1EB-305F-BF46-E1AA-2900F73CA1FD}"/>
              </a:ext>
            </a:extLst>
          </p:cNvPr>
          <p:cNvSpPr/>
          <p:nvPr/>
        </p:nvSpPr>
        <p:spPr>
          <a:xfrm>
            <a:off x="660255" y="4564380"/>
            <a:ext cx="201168" cy="20116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C940C290-6634-BF26-D962-38EE97DB8E8F}"/>
              </a:ext>
            </a:extLst>
          </p:cNvPr>
          <p:cNvSpPr txBox="1"/>
          <p:nvPr/>
        </p:nvSpPr>
        <p:spPr>
          <a:xfrm>
            <a:off x="660255" y="45643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73162878-4F23-8169-0B2A-741B5939CC41}"/>
              </a:ext>
            </a:extLst>
          </p:cNvPr>
          <p:cNvSpPr txBox="1"/>
          <p:nvPr/>
        </p:nvSpPr>
        <p:spPr>
          <a:xfrm>
            <a:off x="980295" y="452323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上架 IM App 至 RIC</a:t>
            </a:r>
            <a:endParaRPr lang="en-US" sz="1200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E328A528-4444-4581-3708-370B8A28A6A4}"/>
              </a:ext>
            </a:extLst>
          </p:cNvPr>
          <p:cNvSpPr/>
          <p:nvPr/>
        </p:nvSpPr>
        <p:spPr>
          <a:xfrm>
            <a:off x="559671" y="4806696"/>
            <a:ext cx="4919472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987EDFFA-E8C1-4F8F-D8BF-F65FC0A5591A}"/>
              </a:ext>
            </a:extLst>
          </p:cNvPr>
          <p:cNvSpPr/>
          <p:nvPr/>
        </p:nvSpPr>
        <p:spPr>
          <a:xfrm>
            <a:off x="660255" y="4847844"/>
            <a:ext cx="201168" cy="20116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D916D785-18C7-4353-983B-695282BEE8CB}"/>
              </a:ext>
            </a:extLst>
          </p:cNvPr>
          <p:cNvSpPr txBox="1"/>
          <p:nvPr/>
        </p:nvSpPr>
        <p:spPr>
          <a:xfrm>
            <a:off x="660255" y="48478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F9FDA76D-682C-94B2-AD88-F08A8707C207}"/>
              </a:ext>
            </a:extLst>
          </p:cNvPr>
          <p:cNvSpPr txBox="1"/>
          <p:nvPr/>
        </p:nvSpPr>
        <p:spPr>
          <a:xfrm>
            <a:off x="980295" y="4806696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AMR MGT 啟動路徑</a:t>
            </a:r>
            <a:endParaRPr lang="en-US" sz="1200" dirty="0"/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44BAB76C-D8FA-576D-6A14-D1611F1F44CC}"/>
              </a:ext>
            </a:extLst>
          </p:cNvPr>
          <p:cNvSpPr/>
          <p:nvPr/>
        </p:nvSpPr>
        <p:spPr>
          <a:xfrm>
            <a:off x="559671" y="5090160"/>
            <a:ext cx="4919472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60BC34F3-A819-553F-43F5-C034BCC081FF}"/>
              </a:ext>
            </a:extLst>
          </p:cNvPr>
          <p:cNvSpPr/>
          <p:nvPr/>
        </p:nvSpPr>
        <p:spPr>
          <a:xfrm>
            <a:off x="660255" y="5131308"/>
            <a:ext cx="201168" cy="20116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14F3FCF6-728E-968F-2CE2-74DF87D7F134}"/>
              </a:ext>
            </a:extLst>
          </p:cNvPr>
          <p:cNvSpPr txBox="1"/>
          <p:nvPr/>
        </p:nvSpPr>
        <p:spPr>
          <a:xfrm>
            <a:off x="660255" y="51313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F5ADE685-A433-3888-5E31-16EA1AE7581D}"/>
              </a:ext>
            </a:extLst>
          </p:cNvPr>
          <p:cNvSpPr txBox="1"/>
          <p:nvPr/>
        </p:nvSpPr>
        <p:spPr>
          <a:xfrm>
            <a:off x="980295" y="509016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 關閉：執行並蒐集量測</a:t>
            </a:r>
            <a:endParaRPr lang="en-US" sz="12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AEDDD8EE-CAA9-8838-0CCC-C07771F18C66}"/>
              </a:ext>
            </a:extLst>
          </p:cNvPr>
          <p:cNvSpPr/>
          <p:nvPr/>
        </p:nvSpPr>
        <p:spPr>
          <a:xfrm>
            <a:off x="559671" y="5373624"/>
            <a:ext cx="4919472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7190E6C1-5784-8FBA-31F0-AED3FFD7D32B}"/>
              </a:ext>
            </a:extLst>
          </p:cNvPr>
          <p:cNvSpPr/>
          <p:nvPr/>
        </p:nvSpPr>
        <p:spPr>
          <a:xfrm>
            <a:off x="660255" y="5414772"/>
            <a:ext cx="201168" cy="20116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D97893BF-A1BD-BB80-381A-90CC2F493625}"/>
              </a:ext>
            </a:extLst>
          </p:cNvPr>
          <p:cNvSpPr txBox="1"/>
          <p:nvPr/>
        </p:nvSpPr>
        <p:spPr>
          <a:xfrm>
            <a:off x="660255" y="54147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18468D92-66A1-53BB-8117-074FA5A91C63}"/>
              </a:ext>
            </a:extLst>
          </p:cNvPr>
          <p:cNvSpPr txBox="1"/>
          <p:nvPr/>
        </p:nvSpPr>
        <p:spPr>
          <a:xfrm>
            <a:off x="980295" y="5373624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 啟用：重跑並蒐集量測</a:t>
            </a:r>
            <a:endParaRPr lang="en-US" sz="1200" dirty="0"/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4FE62326-8474-BA92-B064-3531B5966A11}"/>
              </a:ext>
            </a:extLst>
          </p:cNvPr>
          <p:cNvSpPr/>
          <p:nvPr/>
        </p:nvSpPr>
        <p:spPr>
          <a:xfrm>
            <a:off x="559671" y="5657088"/>
            <a:ext cx="4919472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BFFC1C0E-A538-6AA4-EF67-8AD7147C50AD}"/>
              </a:ext>
            </a:extLst>
          </p:cNvPr>
          <p:cNvSpPr/>
          <p:nvPr/>
        </p:nvSpPr>
        <p:spPr>
          <a:xfrm>
            <a:off x="660255" y="5698236"/>
            <a:ext cx="201168" cy="20116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9AA14AB3-5F9B-8A40-1B13-6FC6759B84C9}"/>
              </a:ext>
            </a:extLst>
          </p:cNvPr>
          <p:cNvSpPr txBox="1"/>
          <p:nvPr/>
        </p:nvSpPr>
        <p:spPr>
          <a:xfrm>
            <a:off x="660255" y="56982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334B5CB1-207F-0B30-F719-A4909A4F5563}"/>
              </a:ext>
            </a:extLst>
          </p:cNvPr>
          <p:cNvSpPr txBox="1"/>
          <p:nvPr/>
        </p:nvSpPr>
        <p:spPr>
          <a:xfrm>
            <a:off x="980295" y="5657088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彙整路徑與 RIC 量測資料</a:t>
            </a:r>
            <a:endParaRPr lang="en-US" sz="1200" dirty="0"/>
          </a:p>
        </p:txBody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6395E967-C21D-F72E-AF70-462C4CDC019E}"/>
              </a:ext>
            </a:extLst>
          </p:cNvPr>
          <p:cNvSpPr/>
          <p:nvPr/>
        </p:nvSpPr>
        <p:spPr>
          <a:xfrm>
            <a:off x="477375" y="6013704"/>
            <a:ext cx="5001768" cy="320040"/>
          </a:xfrm>
          <a:prstGeom prst="roundRect">
            <a:avLst>
              <a:gd name="adj" fmla="val 11429"/>
            </a:avLst>
          </a:prstGeom>
          <a:solidFill>
            <a:srgbClr val="DCEBF9"/>
          </a:solidFill>
          <a:ln w="12700">
            <a:solidFill>
              <a:srgbClr val="DCEB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34878353-F8A2-E998-0A20-49EBAC665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35" y="6082284"/>
            <a:ext cx="182880" cy="182880"/>
          </a:xfrm>
          <a:prstGeom prst="rect">
            <a:avLst/>
          </a:prstGeom>
        </p:spPr>
      </p:pic>
      <p:sp>
        <p:nvSpPr>
          <p:cNvPr id="61" name="Text 38">
            <a:extLst>
              <a:ext uri="{FF2B5EF4-FFF2-40B4-BE49-F238E27FC236}">
                <a16:creationId xmlns:a16="http://schemas.microsoft.com/office/drawing/2014/main" id="{7B51591A-FA26-0776-8F35-70070B687254}"/>
              </a:ext>
            </a:extLst>
          </p:cNvPr>
          <p:cNvSpPr txBox="1"/>
          <p:nvPr/>
        </p:nvSpPr>
        <p:spPr>
          <a:xfrm>
            <a:off x="907143" y="60137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相同路徑與負載，比較優化前後效能</a:t>
            </a:r>
            <a:endParaRPr lang="en-US" sz="1200" dirty="0"/>
          </a:p>
        </p:txBody>
      </p:sp>
      <p:sp>
        <p:nvSpPr>
          <p:cNvPr id="62" name="Shape 39">
            <a:extLst>
              <a:ext uri="{FF2B5EF4-FFF2-40B4-BE49-F238E27FC236}">
                <a16:creationId xmlns:a16="http://schemas.microsoft.com/office/drawing/2014/main" id="{5A80438F-8651-0556-27D8-3F741F7EC632}"/>
              </a:ext>
            </a:extLst>
          </p:cNvPr>
          <p:cNvSpPr/>
          <p:nvPr/>
        </p:nvSpPr>
        <p:spPr>
          <a:xfrm>
            <a:off x="5680311" y="4751832"/>
            <a:ext cx="384048" cy="420624"/>
          </a:xfrm>
          <a:prstGeom prst="rightArrow">
            <a:avLst/>
          </a:prstGeom>
          <a:solidFill>
            <a:srgbClr val="C9E3F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41">
            <a:extLst>
              <a:ext uri="{FF2B5EF4-FFF2-40B4-BE49-F238E27FC236}">
                <a16:creationId xmlns:a16="http://schemas.microsoft.com/office/drawing/2014/main" id="{3AF5AB97-C6EC-4974-5069-1CDC23E7C828}"/>
              </a:ext>
            </a:extLst>
          </p:cNvPr>
          <p:cNvSpPr/>
          <p:nvPr/>
        </p:nvSpPr>
        <p:spPr>
          <a:xfrm>
            <a:off x="6027783" y="2566416"/>
            <a:ext cx="5833872" cy="3694176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C5D9EE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72" name="Shape 42">
            <a:extLst>
              <a:ext uri="{FF2B5EF4-FFF2-40B4-BE49-F238E27FC236}">
                <a16:creationId xmlns:a16="http://schemas.microsoft.com/office/drawing/2014/main" id="{5B73B56C-FAF2-6129-1112-F12BF058AF92}"/>
              </a:ext>
            </a:extLst>
          </p:cNvPr>
          <p:cNvSpPr/>
          <p:nvPr/>
        </p:nvSpPr>
        <p:spPr>
          <a:xfrm>
            <a:off x="6027783" y="2392680"/>
            <a:ext cx="1143000" cy="329184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73" name="Text 43">
            <a:extLst>
              <a:ext uri="{FF2B5EF4-FFF2-40B4-BE49-F238E27FC236}">
                <a16:creationId xmlns:a16="http://schemas.microsoft.com/office/drawing/2014/main" id="{8E96B3B6-24E3-008A-49B3-5901DEE822FB}"/>
              </a:ext>
            </a:extLst>
          </p:cNvPr>
          <p:cNvSpPr txBox="1"/>
          <p:nvPr/>
        </p:nvSpPr>
        <p:spPr>
          <a:xfrm>
            <a:off x="6027783" y="23926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測試報告</a:t>
            </a:r>
            <a:endParaRPr lang="en-US" sz="2000" dirty="0"/>
          </a:p>
        </p:txBody>
      </p:sp>
      <p:sp>
        <p:nvSpPr>
          <p:cNvPr id="3075" name="Shape 44">
            <a:extLst>
              <a:ext uri="{FF2B5EF4-FFF2-40B4-BE49-F238E27FC236}">
                <a16:creationId xmlns:a16="http://schemas.microsoft.com/office/drawing/2014/main" id="{84315EA5-41A5-9665-43B0-E638BFD42305}"/>
              </a:ext>
            </a:extLst>
          </p:cNvPr>
          <p:cNvSpPr/>
          <p:nvPr/>
        </p:nvSpPr>
        <p:spPr>
          <a:xfrm>
            <a:off x="6091791" y="2694432"/>
            <a:ext cx="5742432" cy="356616"/>
          </a:xfrm>
          <a:prstGeom prst="roundRect">
            <a:avLst>
              <a:gd name="adj" fmla="val 12821"/>
            </a:avLst>
          </a:prstGeom>
          <a:solidFill>
            <a:srgbClr val="DCEBF9"/>
          </a:solidFill>
          <a:ln w="12700">
            <a:solidFill>
              <a:srgbClr val="DCEB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077" name="Image 4" descr="preencoded.png">
            <a:extLst>
              <a:ext uri="{FF2B5EF4-FFF2-40B4-BE49-F238E27FC236}">
                <a16:creationId xmlns:a16="http://schemas.microsoft.com/office/drawing/2014/main" id="{054725A0-9903-3745-C67B-E75E433A8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663" y="2753868"/>
            <a:ext cx="237744" cy="237744"/>
          </a:xfrm>
          <a:prstGeom prst="rect">
            <a:avLst/>
          </a:prstGeom>
        </p:spPr>
      </p:pic>
      <p:sp>
        <p:nvSpPr>
          <p:cNvPr id="3079" name="Text 45">
            <a:extLst>
              <a:ext uri="{FF2B5EF4-FFF2-40B4-BE49-F238E27FC236}">
                <a16:creationId xmlns:a16="http://schemas.microsoft.com/office/drawing/2014/main" id="{14D63557-D303-138B-8F10-F4086E57579F}"/>
              </a:ext>
            </a:extLst>
          </p:cNvPr>
          <p:cNvSpPr txBox="1"/>
          <p:nvPr/>
        </p:nvSpPr>
        <p:spPr>
          <a:xfrm>
            <a:off x="6539847" y="269443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AMR 路徑與通訊品質</a:t>
            </a:r>
            <a:endParaRPr lang="en-US" sz="1500" dirty="0"/>
          </a:p>
        </p:txBody>
      </p:sp>
      <p:pic>
        <p:nvPicPr>
          <p:cNvPr id="3080" name="Image 5" descr="/home/claude/report_crop.png">
            <a:extLst>
              <a:ext uri="{FF2B5EF4-FFF2-40B4-BE49-F238E27FC236}">
                <a16:creationId xmlns:a16="http://schemas.microsoft.com/office/drawing/2014/main" id="{E3FBF962-57B1-3BAA-6C08-4304762A8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9223" y="3069336"/>
            <a:ext cx="5660136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8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A57B0-8983-8567-C87A-743B8869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E270DF-D1E5-7A5D-6804-4680011E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06500"/>
            <a:ext cx="11037455" cy="4991101"/>
          </a:xfrm>
        </p:spPr>
        <p:txBody>
          <a:bodyPr/>
          <a:lstStyle/>
          <a:p>
            <a:r>
              <a:rPr lang="zh-TW" altLang="en-US" dirty="0">
                <a:solidFill>
                  <a:srgbClr val="CCCCCC"/>
                </a:solidFill>
              </a:rPr>
              <a:t>全自動化驗證 </a:t>
            </a:r>
            <a:r>
              <a:rPr lang="en-US" altLang="zh-TW" dirty="0">
                <a:solidFill>
                  <a:srgbClr val="CCCCCC"/>
                </a:solidFill>
              </a:rPr>
              <a:t>Tester</a:t>
            </a:r>
            <a:r>
              <a:rPr lang="zh-TW" altLang="en-US" dirty="0">
                <a:solidFill>
                  <a:srgbClr val="CCCCCC"/>
                </a:solidFill>
              </a:rPr>
              <a:t> 開發</a:t>
            </a:r>
            <a:endParaRPr lang="en-US" altLang="zh-TW" dirty="0">
              <a:solidFill>
                <a:srgbClr val="CCCCCC"/>
              </a:solidFill>
            </a:endParaRPr>
          </a:p>
          <a:p>
            <a:pPr lvl="1"/>
            <a:r>
              <a:rPr lang="en-US" altLang="zh-TW" dirty="0">
                <a:solidFill>
                  <a:srgbClr val="CCCCCC"/>
                </a:solidFill>
              </a:rPr>
              <a:t>IM</a:t>
            </a:r>
            <a:r>
              <a:rPr lang="zh-TW" altLang="en-US" dirty="0">
                <a:solidFill>
                  <a:srgbClr val="CCCCCC"/>
                </a:solidFill>
              </a:rPr>
              <a:t> </a:t>
            </a:r>
            <a:r>
              <a:rPr lang="en-US" altLang="zh-TW" dirty="0">
                <a:solidFill>
                  <a:srgbClr val="CCCCCC"/>
                </a:solidFill>
              </a:rPr>
              <a:t>App</a:t>
            </a:r>
            <a:r>
              <a:rPr lang="zh-TW" altLang="en-US" dirty="0">
                <a:solidFill>
                  <a:srgbClr val="CCCCCC"/>
                </a:solidFill>
              </a:rPr>
              <a:t>效能驗證</a:t>
            </a:r>
            <a:r>
              <a:rPr lang="en-US" altLang="zh-TW" dirty="0">
                <a:solidFill>
                  <a:srgbClr val="CCCCCC"/>
                </a:solidFill>
              </a:rPr>
              <a:t>Tester</a:t>
            </a:r>
          </a:p>
          <a:p>
            <a:r>
              <a:rPr lang="zh-TW" altLang="en-US" dirty="0"/>
              <a:t>網路場域建置</a:t>
            </a:r>
            <a:endParaRPr lang="en-US" altLang="zh-TW" dirty="0"/>
          </a:p>
          <a:p>
            <a:pPr lvl="1"/>
            <a:r>
              <a:rPr lang="en-US" altLang="zh-TW" dirty="0"/>
              <a:t>RAN</a:t>
            </a:r>
            <a:r>
              <a:rPr lang="zh-TW" altLang="en-US" dirty="0"/>
              <a:t> </a:t>
            </a:r>
            <a:r>
              <a:rPr lang="en-US" altLang="zh-TW" dirty="0"/>
              <a:t>Emulator</a:t>
            </a:r>
          </a:p>
          <a:p>
            <a:r>
              <a:rPr lang="en-US" altLang="zh-TW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zh-TW" altLang="en-US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驗證情境建置</a:t>
            </a:r>
            <a:endParaRPr lang="en-US" altLang="zh-TW" sz="3200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TW" altLang="en-US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展示情境優化（室內場域）</a:t>
            </a:r>
            <a:endParaRPr lang="en-US" altLang="zh-TW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3200" b="0" kern="12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Openhouse</a:t>
            </a:r>
            <a:r>
              <a:rPr lang="zh-TW" altLang="en-US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戰情室串接</a:t>
            </a:r>
            <a:endParaRPr lang="en-US" altLang="zh-TW" sz="3200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925466-D59D-4853-3413-4159CE0C8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10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96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FD9353-20F1-4F34-961C-9E7BB96A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222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7F2DC-E91D-417C-912F-9F12DF7AAA3E}" type="slidenum">
              <a:rPr lang="zh-TW" altLang="en-US" smtClean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BA4E456-D381-4B5F-B28D-29176B62F9E5}"/>
              </a:ext>
            </a:extLst>
          </p:cNvPr>
          <p:cNvSpPr/>
          <p:nvPr/>
        </p:nvSpPr>
        <p:spPr>
          <a:xfrm>
            <a:off x="594360" y="1195484"/>
            <a:ext cx="11018520" cy="2423160"/>
          </a:xfrm>
          <a:prstGeom prst="roundRect">
            <a:avLst/>
          </a:prstGeom>
          <a:solidFill>
            <a:srgbClr val="F6FAFE"/>
          </a:solidFill>
          <a:ln w="15240">
            <a:solidFill>
              <a:srgbClr val="BB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9715E94A-FBBE-4B18-8E05-32AB5BA8C262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3346196" y="1862996"/>
            <a:ext cx="2743708" cy="657211"/>
          </a:xfrm>
          <a:prstGeom prst="line">
            <a:avLst/>
          </a:prstGeom>
          <a:ln w="1651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1">
            <a:extLst>
              <a:ext uri="{FF2B5EF4-FFF2-40B4-BE49-F238E27FC236}">
                <a16:creationId xmlns:a16="http://schemas.microsoft.com/office/drawing/2014/main" id="{E3446049-30AD-4467-9705-7F1E5CC0CAB0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6085332" y="1862996"/>
            <a:ext cx="4572" cy="697818"/>
          </a:xfrm>
          <a:prstGeom prst="line">
            <a:avLst/>
          </a:prstGeom>
          <a:ln w="1651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5AF4449B-A805-4C1F-853B-76ED2D2D5D73}"/>
              </a:ext>
            </a:extLst>
          </p:cNvPr>
          <p:cNvSpPr/>
          <p:nvPr/>
        </p:nvSpPr>
        <p:spPr>
          <a:xfrm>
            <a:off x="4969764" y="1296068"/>
            <a:ext cx="2240280" cy="566928"/>
          </a:xfrm>
          <a:prstGeom prst="roundRect">
            <a:avLst/>
          </a:prstGeom>
          <a:solidFill>
            <a:srgbClr val="0E5970"/>
          </a:solidFill>
          <a:ln w="15240">
            <a:solidFill>
              <a:srgbClr val="0E5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 / RIC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管理平台</a:t>
            </a: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BFC6FC68-F715-4357-A45B-A38EAA1BF3CF}"/>
              </a:ext>
            </a:extLst>
          </p:cNvPr>
          <p:cNvSpPr/>
          <p:nvPr/>
        </p:nvSpPr>
        <p:spPr>
          <a:xfrm>
            <a:off x="2317496" y="2520207"/>
            <a:ext cx="20574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1300" b="1" dirty="0" err="1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真實</a:t>
            </a:r>
            <a:r>
              <a:rPr lang="zh-TW" alt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室內</a:t>
            </a:r>
            <a:r>
              <a:rPr sz="1300" b="1" dirty="0" err="1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場域</a:t>
            </a:r>
            <a:r>
              <a:rPr sz="1300" b="1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300" b="1" dirty="0">
              <a:solidFill>
                <a:srgbClr val="1E2A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sz="1300" b="1" dirty="0" err="1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實體</a:t>
            </a:r>
            <a:r>
              <a:rPr sz="1300" b="1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 / UE / KPI</a:t>
            </a: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941FAE6B-8174-4F60-AE44-704D647ECB00}"/>
              </a:ext>
            </a:extLst>
          </p:cNvPr>
          <p:cNvSpPr/>
          <p:nvPr/>
        </p:nvSpPr>
        <p:spPr>
          <a:xfrm>
            <a:off x="4942332" y="2560814"/>
            <a:ext cx="22860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真實室外</a:t>
            </a: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場域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實體 </a:t>
            </a:r>
            <a:r>
              <a:rPr kumimoji="0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 / UE / KPI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EF9AEF1A-92C1-47E6-8CB5-A068477AEA3F}"/>
              </a:ext>
            </a:extLst>
          </p:cNvPr>
          <p:cNvSpPr txBox="1"/>
          <p:nvPr/>
        </p:nvSpPr>
        <p:spPr>
          <a:xfrm>
            <a:off x="8154162" y="1413633"/>
            <a:ext cx="810478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核心目標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3B6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1244B6C0-D1B1-4EAD-8629-CE45B722A144}"/>
              </a:ext>
            </a:extLst>
          </p:cNvPr>
          <p:cNvSpPr txBox="1"/>
          <p:nvPr/>
        </p:nvSpPr>
        <p:spPr>
          <a:xfrm>
            <a:off x="8520544" y="1768621"/>
            <a:ext cx="3064904" cy="637097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>
                <a:solidFill>
                  <a:srgbClr val="1E2A35"/>
                </a:solidFill>
                <a:latin typeface="Microsoft JhengHei"/>
              </a:defRPr>
            </a:pPr>
            <a:r>
              <a:rPr kumimoji="0" lang="zh-TW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為進一步支援大規模、多情境的網路驗證需求，並降低實體網路環境建置成本，因此發展 </a:t>
            </a:r>
            <a:r>
              <a:rPr kumimoji="0" lang="en-US" altLang="zh-TW" sz="1300" b="0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 Emulator</a:t>
            </a:r>
            <a:r>
              <a:rPr kumimoji="0" lang="zh-TW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。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20">
            <a:extLst>
              <a:ext uri="{FF2B5EF4-FFF2-40B4-BE49-F238E27FC236}">
                <a16:creationId xmlns:a16="http://schemas.microsoft.com/office/drawing/2014/main" id="{C9F1CF24-FFB5-4830-A6AA-D31F6A2D1884}"/>
              </a:ext>
            </a:extLst>
          </p:cNvPr>
          <p:cNvSpPr/>
          <p:nvPr/>
        </p:nvSpPr>
        <p:spPr>
          <a:xfrm>
            <a:off x="594360" y="4208118"/>
            <a:ext cx="110185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Connector 21">
            <a:extLst>
              <a:ext uri="{FF2B5EF4-FFF2-40B4-BE49-F238E27FC236}">
                <a16:creationId xmlns:a16="http://schemas.microsoft.com/office/drawing/2014/main" id="{6DDC1D59-C008-4C0B-80BD-2F272ABFC77D}"/>
              </a:ext>
            </a:extLst>
          </p:cNvPr>
          <p:cNvCxnSpPr/>
          <p:nvPr/>
        </p:nvCxnSpPr>
        <p:spPr>
          <a:xfrm>
            <a:off x="2286000" y="5264250"/>
            <a:ext cx="667512" cy="0"/>
          </a:xfrm>
          <a:prstGeom prst="line">
            <a:avLst/>
          </a:prstGeom>
          <a:ln w="1778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2">
            <a:extLst>
              <a:ext uri="{FF2B5EF4-FFF2-40B4-BE49-F238E27FC236}">
                <a16:creationId xmlns:a16="http://schemas.microsoft.com/office/drawing/2014/main" id="{55AA541B-34FB-47CB-9D4F-7C5E0869E8BF}"/>
              </a:ext>
            </a:extLst>
          </p:cNvPr>
          <p:cNvCxnSpPr/>
          <p:nvPr/>
        </p:nvCxnSpPr>
        <p:spPr>
          <a:xfrm>
            <a:off x="4480560" y="5264250"/>
            <a:ext cx="667512" cy="0"/>
          </a:xfrm>
          <a:prstGeom prst="line">
            <a:avLst/>
          </a:prstGeom>
          <a:ln w="1778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3">
            <a:extLst>
              <a:ext uri="{FF2B5EF4-FFF2-40B4-BE49-F238E27FC236}">
                <a16:creationId xmlns:a16="http://schemas.microsoft.com/office/drawing/2014/main" id="{E39AA53F-1676-4659-95F2-720E5CD132DD}"/>
              </a:ext>
            </a:extLst>
          </p:cNvPr>
          <p:cNvCxnSpPr/>
          <p:nvPr/>
        </p:nvCxnSpPr>
        <p:spPr>
          <a:xfrm>
            <a:off x="6675120" y="5264250"/>
            <a:ext cx="667512" cy="0"/>
          </a:xfrm>
          <a:prstGeom prst="line">
            <a:avLst/>
          </a:prstGeom>
          <a:ln w="1778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4">
            <a:extLst>
              <a:ext uri="{FF2B5EF4-FFF2-40B4-BE49-F238E27FC236}">
                <a16:creationId xmlns:a16="http://schemas.microsoft.com/office/drawing/2014/main" id="{F654C1D5-586F-4AD5-8B99-FFE05CB48257}"/>
              </a:ext>
            </a:extLst>
          </p:cNvPr>
          <p:cNvCxnSpPr/>
          <p:nvPr/>
        </p:nvCxnSpPr>
        <p:spPr>
          <a:xfrm>
            <a:off x="8869680" y="5264250"/>
            <a:ext cx="667512" cy="0"/>
          </a:xfrm>
          <a:prstGeom prst="line">
            <a:avLst/>
          </a:prstGeom>
          <a:ln w="1778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37408B14-D2AA-4568-8B00-1EE6CD3053FC}"/>
              </a:ext>
            </a:extLst>
          </p:cNvPr>
          <p:cNvSpPr/>
          <p:nvPr/>
        </p:nvSpPr>
        <p:spPr>
          <a:xfrm>
            <a:off x="868680" y="4573878"/>
            <a:ext cx="347472" cy="347472"/>
          </a:xfrm>
          <a:prstGeom prst="roundRect">
            <a:avLst/>
          </a:prstGeom>
          <a:solidFill>
            <a:srgbClr val="0E5970"/>
          </a:solidFill>
          <a:ln w="15240">
            <a:solidFill>
              <a:srgbClr val="0E5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06760B99-8838-4D10-B0F6-1D14D822631E}"/>
              </a:ext>
            </a:extLst>
          </p:cNvPr>
          <p:cNvSpPr txBox="1"/>
          <p:nvPr/>
        </p:nvSpPr>
        <p:spPr>
          <a:xfrm>
            <a:off x="1307592" y="4546445"/>
            <a:ext cx="759182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建立場景</a:t>
            </a: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4C25240A-7169-403E-859F-907F88BA4FB8}"/>
              </a:ext>
            </a:extLst>
          </p:cNvPr>
          <p:cNvSpPr/>
          <p:nvPr/>
        </p:nvSpPr>
        <p:spPr>
          <a:xfrm>
            <a:off x="868680" y="5026506"/>
            <a:ext cx="1664208" cy="822960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A5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選擇/匯入場域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設定 RU、UE 與位置</a:t>
            </a:r>
          </a:p>
        </p:txBody>
      </p:sp>
      <p:sp>
        <p:nvSpPr>
          <p:cNvPr id="27" name="Rounded Rectangle 28">
            <a:extLst>
              <a:ext uri="{FF2B5EF4-FFF2-40B4-BE49-F238E27FC236}">
                <a16:creationId xmlns:a16="http://schemas.microsoft.com/office/drawing/2014/main" id="{8CEBE5E9-17C9-45CA-B5D2-FFEC04A10AFB}"/>
              </a:ext>
            </a:extLst>
          </p:cNvPr>
          <p:cNvSpPr/>
          <p:nvPr/>
        </p:nvSpPr>
        <p:spPr>
          <a:xfrm>
            <a:off x="3063240" y="4573878"/>
            <a:ext cx="347472" cy="347472"/>
          </a:xfrm>
          <a:prstGeom prst="roundRect">
            <a:avLst/>
          </a:prstGeom>
          <a:solidFill>
            <a:srgbClr val="0B5EA8"/>
          </a:solidFill>
          <a:ln w="15240">
            <a:solidFill>
              <a:srgbClr val="0B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8" name="TextBox 29">
            <a:extLst>
              <a:ext uri="{FF2B5EF4-FFF2-40B4-BE49-F238E27FC236}">
                <a16:creationId xmlns:a16="http://schemas.microsoft.com/office/drawing/2014/main" id="{AF788F79-0476-4E9C-9308-35BFF8B7598B}"/>
              </a:ext>
            </a:extLst>
          </p:cNvPr>
          <p:cNvSpPr txBox="1"/>
          <p:nvPr/>
        </p:nvSpPr>
        <p:spPr>
          <a:xfrm>
            <a:off x="3502152" y="4546445"/>
            <a:ext cx="759182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設定條件</a:t>
            </a:r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7CB06FED-3426-4881-9D2D-9FA133D6F942}"/>
              </a:ext>
            </a:extLst>
          </p:cNvPr>
          <p:cNvSpPr/>
          <p:nvPr/>
        </p:nvSpPr>
        <p:spPr>
          <a:xfrm>
            <a:off x="3063240" y="5026506"/>
            <a:ext cx="1664208" cy="822960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A5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流量、移動路徑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 Power、干擾</a:t>
            </a:r>
          </a:p>
        </p:txBody>
      </p:sp>
      <p:sp>
        <p:nvSpPr>
          <p:cNvPr id="30" name="Rounded Rectangle 31">
            <a:extLst>
              <a:ext uri="{FF2B5EF4-FFF2-40B4-BE49-F238E27FC236}">
                <a16:creationId xmlns:a16="http://schemas.microsoft.com/office/drawing/2014/main" id="{27D3E043-1DCF-4736-8E3E-37DD4857F834}"/>
              </a:ext>
            </a:extLst>
          </p:cNvPr>
          <p:cNvSpPr/>
          <p:nvPr/>
        </p:nvSpPr>
        <p:spPr>
          <a:xfrm>
            <a:off x="5257800" y="4573878"/>
            <a:ext cx="347472" cy="347472"/>
          </a:xfrm>
          <a:prstGeom prst="roundRect">
            <a:avLst/>
          </a:prstGeom>
          <a:solidFill>
            <a:srgbClr val="5D4FB3"/>
          </a:solidFill>
          <a:ln w="15240">
            <a:solidFill>
              <a:srgbClr val="5D4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35A46A97-AF1C-48F2-87A7-31C1AC362848}"/>
              </a:ext>
            </a:extLst>
          </p:cNvPr>
          <p:cNvSpPr txBox="1"/>
          <p:nvPr/>
        </p:nvSpPr>
        <p:spPr>
          <a:xfrm>
            <a:off x="5696712" y="4546445"/>
            <a:ext cx="759182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啟動模擬</a:t>
            </a:r>
          </a:p>
        </p:txBody>
      </p:sp>
      <p:sp>
        <p:nvSpPr>
          <p:cNvPr id="32" name="Rounded Rectangle 33">
            <a:extLst>
              <a:ext uri="{FF2B5EF4-FFF2-40B4-BE49-F238E27FC236}">
                <a16:creationId xmlns:a16="http://schemas.microsoft.com/office/drawing/2014/main" id="{AAC2D33E-C858-4C6D-8B1F-4857B9D0CFD8}"/>
              </a:ext>
            </a:extLst>
          </p:cNvPr>
          <p:cNvSpPr/>
          <p:nvPr/>
        </p:nvSpPr>
        <p:spPr>
          <a:xfrm>
            <a:off x="5257800" y="5026506"/>
            <a:ext cx="1664208" cy="822960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A5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Radio Simulation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產生 KPI 與事件</a:t>
            </a:r>
          </a:p>
        </p:txBody>
      </p:sp>
      <p:sp>
        <p:nvSpPr>
          <p:cNvPr id="33" name="Rounded Rectangle 34">
            <a:extLst>
              <a:ext uri="{FF2B5EF4-FFF2-40B4-BE49-F238E27FC236}">
                <a16:creationId xmlns:a16="http://schemas.microsoft.com/office/drawing/2014/main" id="{57BB1BD4-DEBD-4DE4-9B35-854ADEAE6011}"/>
              </a:ext>
            </a:extLst>
          </p:cNvPr>
          <p:cNvSpPr/>
          <p:nvPr/>
        </p:nvSpPr>
        <p:spPr>
          <a:xfrm>
            <a:off x="7452360" y="4573878"/>
            <a:ext cx="347472" cy="347472"/>
          </a:xfrm>
          <a:prstGeom prst="roundRect">
            <a:avLst/>
          </a:prstGeom>
          <a:solidFill>
            <a:srgbClr val="F39C12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TextBox 35">
            <a:extLst>
              <a:ext uri="{FF2B5EF4-FFF2-40B4-BE49-F238E27FC236}">
                <a16:creationId xmlns:a16="http://schemas.microsoft.com/office/drawing/2014/main" id="{6698D5F5-ABD4-4ED6-AE4F-C87E74ABAA61}"/>
              </a:ext>
            </a:extLst>
          </p:cNvPr>
          <p:cNvSpPr txBox="1"/>
          <p:nvPr/>
        </p:nvSpPr>
        <p:spPr>
          <a:xfrm>
            <a:off x="7891272" y="4546445"/>
            <a:ext cx="759182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串接平台</a:t>
            </a:r>
          </a:p>
        </p:txBody>
      </p:sp>
      <p:sp>
        <p:nvSpPr>
          <p:cNvPr id="35" name="Rounded Rectangle 36">
            <a:extLst>
              <a:ext uri="{FF2B5EF4-FFF2-40B4-BE49-F238E27FC236}">
                <a16:creationId xmlns:a16="http://schemas.microsoft.com/office/drawing/2014/main" id="{7EF9E651-434B-4F20-957F-B32CA44FEB6B}"/>
              </a:ext>
            </a:extLst>
          </p:cNvPr>
          <p:cNvSpPr/>
          <p:nvPr/>
        </p:nvSpPr>
        <p:spPr>
          <a:xfrm>
            <a:off x="7452360" y="5026506"/>
            <a:ext cx="1664208" cy="822960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A5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透過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 / 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上報給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SMO/RIC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150" dirty="0">
                <a:solidFill>
                  <a:srgbClr val="1E2A3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或經由</a:t>
            </a:r>
            <a:r>
              <a:rPr lang="en-US" altLang="zh-TW" sz="1150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SMO/RIC</a:t>
            </a:r>
            <a:r>
              <a:rPr lang="zh-TW" altLang="en-US" sz="1150" dirty="0">
                <a:solidFill>
                  <a:srgbClr val="1E2A3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進行基站控制與管理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ounded Rectangle 37">
            <a:extLst>
              <a:ext uri="{FF2B5EF4-FFF2-40B4-BE49-F238E27FC236}">
                <a16:creationId xmlns:a16="http://schemas.microsoft.com/office/drawing/2014/main" id="{944A4289-D486-4EAF-B604-C7629FAF9C88}"/>
              </a:ext>
            </a:extLst>
          </p:cNvPr>
          <p:cNvSpPr/>
          <p:nvPr/>
        </p:nvSpPr>
        <p:spPr>
          <a:xfrm>
            <a:off x="9646920" y="4573878"/>
            <a:ext cx="347472" cy="347472"/>
          </a:xfrm>
          <a:prstGeom prst="roundRect">
            <a:avLst/>
          </a:prstGeom>
          <a:solidFill>
            <a:srgbClr val="25A65A"/>
          </a:solidFill>
          <a:ln w="15240">
            <a:solidFill>
              <a:srgbClr val="25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7" name="TextBox 38">
            <a:extLst>
              <a:ext uri="{FF2B5EF4-FFF2-40B4-BE49-F238E27FC236}">
                <a16:creationId xmlns:a16="http://schemas.microsoft.com/office/drawing/2014/main" id="{08E88356-81FA-43BF-B293-8955267A5A58}"/>
              </a:ext>
            </a:extLst>
          </p:cNvPr>
          <p:cNvSpPr txBox="1"/>
          <p:nvPr/>
        </p:nvSpPr>
        <p:spPr>
          <a:xfrm>
            <a:off x="10085832" y="4546445"/>
            <a:ext cx="759182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驗證結果</a:t>
            </a:r>
          </a:p>
        </p:txBody>
      </p:sp>
      <p:sp>
        <p:nvSpPr>
          <p:cNvPr id="38" name="Rounded Rectangle 39">
            <a:extLst>
              <a:ext uri="{FF2B5EF4-FFF2-40B4-BE49-F238E27FC236}">
                <a16:creationId xmlns:a16="http://schemas.microsoft.com/office/drawing/2014/main" id="{4A099147-B331-4C0B-8E65-3044821CA98D}"/>
              </a:ext>
            </a:extLst>
          </p:cNvPr>
          <p:cNvSpPr/>
          <p:nvPr/>
        </p:nvSpPr>
        <p:spPr>
          <a:xfrm>
            <a:off x="9646920" y="5026506"/>
            <a:ext cx="1664208" cy="822960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A5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觀察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KPI </a:t>
            </a:r>
            <a:r>
              <a:rPr kumimoji="0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趨勢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驗證管理策略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1D80ED60-F2C8-4F67-AE1B-24306A4B55CD}"/>
              </a:ext>
            </a:extLst>
          </p:cNvPr>
          <p:cNvSpPr txBox="1"/>
          <p:nvPr/>
        </p:nvSpPr>
        <p:spPr>
          <a:xfrm>
            <a:off x="594360" y="841248"/>
            <a:ext cx="1304203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b="1" dirty="0">
                <a:solidFill>
                  <a:srgbClr val="003B6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核心目標</a:t>
            </a:r>
            <a:endParaRPr b="1" dirty="0">
              <a:solidFill>
                <a:srgbClr val="003B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D45FE8B2-DB05-4A79-B68A-B4527F31D22C}"/>
              </a:ext>
            </a:extLst>
          </p:cNvPr>
          <p:cNvSpPr txBox="1"/>
          <p:nvPr/>
        </p:nvSpPr>
        <p:spPr>
          <a:xfrm>
            <a:off x="594360" y="3870536"/>
            <a:ext cx="1201611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使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用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方式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3B6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6">
            <a:extLst>
              <a:ext uri="{FF2B5EF4-FFF2-40B4-BE49-F238E27FC236}">
                <a16:creationId xmlns:a16="http://schemas.microsoft.com/office/drawing/2014/main" id="{E67C3158-AA38-606A-298E-0857A275DD65}"/>
              </a:ext>
            </a:extLst>
          </p:cNvPr>
          <p:cNvSpPr/>
          <p:nvPr/>
        </p:nvSpPr>
        <p:spPr>
          <a:xfrm>
            <a:off x="7708392" y="2557160"/>
            <a:ext cx="2286000" cy="784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虛擬</a:t>
            </a: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場域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1E2A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 Emulator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虛擬基站</a:t>
            </a:r>
            <a:r>
              <a:rPr lang="en-US" altLang="zh-TW" sz="1300" b="1" dirty="0">
                <a:solidFill>
                  <a:srgbClr val="1E2A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</a:t>
            </a:r>
            <a:r>
              <a:rPr lang="zh-TW" altLang="en-US" sz="1300" b="1" dirty="0">
                <a:solidFill>
                  <a:srgbClr val="1E2A3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台</a:t>
            </a:r>
            <a:endParaRPr kumimoji="0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1E2A35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Connector 11">
            <a:extLst>
              <a:ext uri="{FF2B5EF4-FFF2-40B4-BE49-F238E27FC236}">
                <a16:creationId xmlns:a16="http://schemas.microsoft.com/office/drawing/2014/main" id="{901A23F7-F23D-39BA-A780-E6CAD6F02B6D}"/>
              </a:ext>
            </a:extLst>
          </p:cNvPr>
          <p:cNvCxnSpPr>
            <a:cxnSpLocks/>
            <a:stCxn id="13" idx="2"/>
            <a:endCxn id="2" idx="0"/>
          </p:cNvCxnSpPr>
          <p:nvPr/>
        </p:nvCxnSpPr>
        <p:spPr>
          <a:xfrm>
            <a:off x="6089904" y="1862996"/>
            <a:ext cx="2761488" cy="694164"/>
          </a:xfrm>
          <a:prstGeom prst="line">
            <a:avLst/>
          </a:prstGeom>
          <a:ln w="1651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標題 1">
            <a:extLst>
              <a:ext uri="{FF2B5EF4-FFF2-40B4-BE49-F238E27FC236}">
                <a16:creationId xmlns:a16="http://schemas.microsoft.com/office/drawing/2014/main" id="{56BB6168-E42C-D3C5-D1D8-27CDF5A8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3" y="264920"/>
            <a:ext cx="11045923" cy="561911"/>
          </a:xfrm>
        </p:spPr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RAN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Emulator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D468026C-E1B1-C185-30FC-3C1CD975886A}"/>
              </a:ext>
            </a:extLst>
          </p:cNvPr>
          <p:cNvCxnSpPr>
            <a:cxnSpLocks/>
            <a:stCxn id="35" idx="2"/>
            <a:endCxn id="32" idx="2"/>
          </p:cNvCxnSpPr>
          <p:nvPr/>
        </p:nvCxnSpPr>
        <p:spPr bwMode="auto">
          <a:xfrm rot="5400000">
            <a:off x="7187184" y="4752186"/>
            <a:ext cx="12700" cy="2194560"/>
          </a:xfrm>
          <a:prstGeom prst="bentConnector3">
            <a:avLst>
              <a:gd name="adj1" fmla="val 1800000"/>
            </a:avLst>
          </a:prstGeom>
          <a:ln w="17780">
            <a:solidFill>
              <a:srgbClr val="3C64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17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D6677C-79A8-9A03-B601-4FC03347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 Emulator</a:t>
            </a:r>
            <a:r>
              <a:rPr lang="zh-TW" altLang="en-US" dirty="0"/>
              <a:t> 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055C9B-704C-AF79-6802-EB8A957531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12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pSp>
        <p:nvGrpSpPr>
          <p:cNvPr id="283" name="群組 282">
            <a:extLst>
              <a:ext uri="{FF2B5EF4-FFF2-40B4-BE49-F238E27FC236}">
                <a16:creationId xmlns:a16="http://schemas.microsoft.com/office/drawing/2014/main" id="{FA37F4F8-E9CD-46AF-228A-2DBD6325C90A}"/>
              </a:ext>
            </a:extLst>
          </p:cNvPr>
          <p:cNvGrpSpPr/>
          <p:nvPr/>
        </p:nvGrpSpPr>
        <p:grpSpPr>
          <a:xfrm>
            <a:off x="322077" y="952500"/>
            <a:ext cx="11445380" cy="5143500"/>
            <a:chOff x="283464" y="704088"/>
            <a:chExt cx="11622024" cy="5449824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D8495CCC-BB77-90F2-1792-D38516990ADB}"/>
                </a:ext>
              </a:extLst>
            </p:cNvPr>
            <p:cNvSpPr/>
            <p:nvPr/>
          </p:nvSpPr>
          <p:spPr>
            <a:xfrm>
              <a:off x="283464" y="704088"/>
              <a:ext cx="612648" cy="2286000"/>
            </a:xfrm>
            <a:prstGeom prst="roundRect">
              <a:avLst>
                <a:gd name="adj" fmla="val 14925"/>
              </a:avLst>
            </a:prstGeom>
            <a:solidFill>
              <a:srgbClr val="1B3C7A"/>
            </a:solidFill>
            <a:ln w="12700">
              <a:solidFill>
                <a:srgbClr val="1B3C7A"/>
              </a:solidFill>
              <a:prstDash val="solid"/>
            </a:ln>
          </p:spPr>
        </p:sp>
        <p:sp>
          <p:nvSpPr>
            <p:cNvPr id="147" name="Text 5">
              <a:extLst>
                <a:ext uri="{FF2B5EF4-FFF2-40B4-BE49-F238E27FC236}">
                  <a16:creationId xmlns:a16="http://schemas.microsoft.com/office/drawing/2014/main" id="{E7B2A4B2-9F00-4147-5FE5-04FA0801F20F}"/>
                </a:ext>
              </a:extLst>
            </p:cNvPr>
            <p:cNvSpPr txBox="1"/>
            <p:nvPr/>
          </p:nvSpPr>
          <p:spPr>
            <a:xfrm>
              <a:off x="283464" y="704088"/>
              <a:ext cx="612648" cy="228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2200" dirty="0"/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理</a:t>
              </a:r>
              <a:endParaRPr lang="en-US" sz="2200" dirty="0"/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層</a:t>
              </a:r>
              <a:endParaRPr lang="en-US" sz="2200" dirty="0"/>
            </a:p>
          </p:txBody>
        </p:sp>
        <p:sp>
          <p:nvSpPr>
            <p:cNvPr id="148" name="Shape 6">
              <a:extLst>
                <a:ext uri="{FF2B5EF4-FFF2-40B4-BE49-F238E27FC236}">
                  <a16:creationId xmlns:a16="http://schemas.microsoft.com/office/drawing/2014/main" id="{13250FBC-2EDE-F646-D637-367249238855}"/>
                </a:ext>
              </a:extLst>
            </p:cNvPr>
            <p:cNvSpPr/>
            <p:nvPr/>
          </p:nvSpPr>
          <p:spPr>
            <a:xfrm>
              <a:off x="283464" y="3529584"/>
              <a:ext cx="612648" cy="2624328"/>
            </a:xfrm>
            <a:prstGeom prst="roundRect">
              <a:avLst>
                <a:gd name="adj" fmla="val 14925"/>
              </a:avLst>
            </a:prstGeom>
            <a:solidFill>
              <a:srgbClr val="1F7A68"/>
            </a:solidFill>
            <a:ln w="12700">
              <a:solidFill>
                <a:srgbClr val="1F7A68"/>
              </a:solidFill>
              <a:prstDash val="solid"/>
            </a:ln>
          </p:spPr>
        </p:sp>
        <p:sp>
          <p:nvSpPr>
            <p:cNvPr id="149" name="Text 7">
              <a:extLst>
                <a:ext uri="{FF2B5EF4-FFF2-40B4-BE49-F238E27FC236}">
                  <a16:creationId xmlns:a16="http://schemas.microsoft.com/office/drawing/2014/main" id="{14829429-FAA3-E5CA-0054-F7C406ED54E5}"/>
                </a:ext>
              </a:extLst>
            </p:cNvPr>
            <p:cNvSpPr txBox="1"/>
            <p:nvPr/>
          </p:nvSpPr>
          <p:spPr>
            <a:xfrm>
              <a:off x="283464" y="3529584"/>
              <a:ext cx="612648" cy="2624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</a:t>
              </a:r>
              <a:endParaRPr lang="en-US" sz="2200" dirty="0"/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行</a:t>
              </a:r>
              <a:endParaRPr lang="en-US" sz="2200" dirty="0"/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層</a:t>
              </a:r>
              <a:endParaRPr lang="en-US" sz="2200" dirty="0"/>
            </a:p>
          </p:txBody>
        </p:sp>
        <p:sp>
          <p:nvSpPr>
            <p:cNvPr id="150" name="Shape 8">
              <a:extLst>
                <a:ext uri="{FF2B5EF4-FFF2-40B4-BE49-F238E27FC236}">
                  <a16:creationId xmlns:a16="http://schemas.microsoft.com/office/drawing/2014/main" id="{CCAB05AA-6D62-0093-3184-3AC0D1D92D7F}"/>
                </a:ext>
              </a:extLst>
            </p:cNvPr>
            <p:cNvSpPr/>
            <p:nvPr/>
          </p:nvSpPr>
          <p:spPr>
            <a:xfrm>
              <a:off x="1005840" y="704088"/>
              <a:ext cx="7315200" cy="2286000"/>
            </a:xfrm>
            <a:prstGeom prst="roundRect">
              <a:avLst>
                <a:gd name="adj" fmla="val 4000"/>
              </a:avLst>
            </a:prstGeom>
            <a:solidFill>
              <a:srgbClr val="E4F0FA"/>
            </a:solidFill>
            <a:ln w="19050">
              <a:solidFill>
                <a:srgbClr val="3F6DB5"/>
              </a:solidFill>
              <a:prstDash val="solid"/>
            </a:ln>
          </p:spPr>
        </p:sp>
        <p:sp>
          <p:nvSpPr>
            <p:cNvPr id="151" name="Text 9">
              <a:extLst>
                <a:ext uri="{FF2B5EF4-FFF2-40B4-BE49-F238E27FC236}">
                  <a16:creationId xmlns:a16="http://schemas.microsoft.com/office/drawing/2014/main" id="{B24FB0D0-2D64-9085-8591-EA6106C19323}"/>
                </a:ext>
              </a:extLst>
            </p:cNvPr>
            <p:cNvSpPr txBox="1"/>
            <p:nvPr/>
          </p:nvSpPr>
          <p:spPr>
            <a:xfrm>
              <a:off x="1005840" y="795528"/>
              <a:ext cx="7315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i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RAN Emulator MGT 管理系統</a:t>
              </a:r>
              <a:endParaRPr lang="en-US" sz="1800" dirty="0"/>
            </a:p>
          </p:txBody>
        </p:sp>
        <p:sp>
          <p:nvSpPr>
            <p:cNvPr id="152" name="Shape 10">
              <a:extLst>
                <a:ext uri="{FF2B5EF4-FFF2-40B4-BE49-F238E27FC236}">
                  <a16:creationId xmlns:a16="http://schemas.microsoft.com/office/drawing/2014/main" id="{5EAE7634-49A1-EEBA-7A22-C47EA8B5068A}"/>
                </a:ext>
              </a:extLst>
            </p:cNvPr>
            <p:cNvSpPr/>
            <p:nvPr/>
          </p:nvSpPr>
          <p:spPr>
            <a:xfrm>
              <a:off x="1188720" y="1170432"/>
              <a:ext cx="2225040" cy="169164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2700">
              <a:solidFill>
                <a:srgbClr val="6F9BD6"/>
              </a:solidFill>
              <a:prstDash val="solid"/>
            </a:ln>
          </p:spPr>
        </p:sp>
        <p:pic>
          <p:nvPicPr>
            <p:cNvPr id="153" name="Image 0" descr="preencoded.png">
              <a:extLst>
                <a:ext uri="{FF2B5EF4-FFF2-40B4-BE49-F238E27FC236}">
                  <a16:creationId xmlns:a16="http://schemas.microsoft.com/office/drawing/2014/main" id="{BD627CA9-5F47-67D0-0F95-96991EFBB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0160" y="1741932"/>
              <a:ext cx="548640" cy="548640"/>
            </a:xfrm>
            <a:prstGeom prst="rect">
              <a:avLst/>
            </a:prstGeom>
          </p:spPr>
        </p:pic>
        <p:sp>
          <p:nvSpPr>
            <p:cNvPr id="154" name="Text 11">
              <a:extLst>
                <a:ext uri="{FF2B5EF4-FFF2-40B4-BE49-F238E27FC236}">
                  <a16:creationId xmlns:a16="http://schemas.microsoft.com/office/drawing/2014/main" id="{CDD24DE8-EA4B-2968-4427-3C22D5C352D6}"/>
                </a:ext>
              </a:extLst>
            </p:cNvPr>
            <p:cNvSpPr txBox="1"/>
            <p:nvPr/>
          </p:nvSpPr>
          <p:spPr>
            <a:xfrm>
              <a:off x="1920240" y="1741932"/>
              <a:ext cx="14386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環境管理</a:t>
              </a:r>
              <a:endParaRPr lang="en-US" sz="1600" dirty="0"/>
            </a:p>
          </p:txBody>
        </p:sp>
        <p:sp>
          <p:nvSpPr>
            <p:cNvPr id="155" name="Text 12">
              <a:extLst>
                <a:ext uri="{FF2B5EF4-FFF2-40B4-BE49-F238E27FC236}">
                  <a16:creationId xmlns:a16="http://schemas.microsoft.com/office/drawing/2014/main" id="{5E8A2B77-CEDD-13DF-6453-88B82B656339}"/>
                </a:ext>
              </a:extLst>
            </p:cNvPr>
            <p:cNvSpPr txBox="1"/>
            <p:nvPr/>
          </p:nvSpPr>
          <p:spPr>
            <a:xfrm>
              <a:off x="1920240" y="2071116"/>
              <a:ext cx="1438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圖資匯入、地圖範本</a:t>
              </a:r>
              <a:endParaRPr lang="en-US" sz="1150" dirty="0"/>
            </a:p>
          </p:txBody>
        </p:sp>
        <p:sp>
          <p:nvSpPr>
            <p:cNvPr id="156" name="Shape 13">
              <a:extLst>
                <a:ext uri="{FF2B5EF4-FFF2-40B4-BE49-F238E27FC236}">
                  <a16:creationId xmlns:a16="http://schemas.microsoft.com/office/drawing/2014/main" id="{68A4DE41-F7CB-E1CA-DDE6-7004F2C2ED68}"/>
                </a:ext>
              </a:extLst>
            </p:cNvPr>
            <p:cNvSpPr/>
            <p:nvPr/>
          </p:nvSpPr>
          <p:spPr>
            <a:xfrm>
              <a:off x="3550920" y="1170432"/>
              <a:ext cx="2225040" cy="169164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2700">
              <a:solidFill>
                <a:srgbClr val="6F9BD6"/>
              </a:solidFill>
              <a:prstDash val="solid"/>
            </a:ln>
          </p:spPr>
        </p:sp>
        <p:pic>
          <p:nvPicPr>
            <p:cNvPr id="157" name="Image 1" descr="preencoded.png">
              <a:extLst>
                <a:ext uri="{FF2B5EF4-FFF2-40B4-BE49-F238E27FC236}">
                  <a16:creationId xmlns:a16="http://schemas.microsoft.com/office/drawing/2014/main" id="{4CC65E0E-5856-2FF5-2C32-3AF3A4105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4656" y="1280160"/>
              <a:ext cx="384048" cy="384048"/>
            </a:xfrm>
            <a:prstGeom prst="rect">
              <a:avLst/>
            </a:prstGeom>
          </p:spPr>
        </p:pic>
        <p:pic>
          <p:nvPicPr>
            <p:cNvPr id="158" name="Image 2" descr="preencoded.png">
              <a:extLst>
                <a:ext uri="{FF2B5EF4-FFF2-40B4-BE49-F238E27FC236}">
                  <a16:creationId xmlns:a16="http://schemas.microsoft.com/office/drawing/2014/main" id="{56904EAA-F019-6421-3197-86206B5AE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3800" y="1810512"/>
              <a:ext cx="365760" cy="365760"/>
            </a:xfrm>
            <a:prstGeom prst="rect">
              <a:avLst/>
            </a:prstGeom>
          </p:spPr>
        </p:pic>
        <p:pic>
          <p:nvPicPr>
            <p:cNvPr id="159" name="Image 3" descr="preencoded.png">
              <a:extLst>
                <a:ext uri="{FF2B5EF4-FFF2-40B4-BE49-F238E27FC236}">
                  <a16:creationId xmlns:a16="http://schemas.microsoft.com/office/drawing/2014/main" id="{794441E3-C500-DE0B-FC65-0A48FC3F1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33800" y="2359152"/>
              <a:ext cx="365760" cy="365760"/>
            </a:xfrm>
            <a:prstGeom prst="rect">
              <a:avLst/>
            </a:prstGeom>
          </p:spPr>
        </p:pic>
        <p:sp>
          <p:nvSpPr>
            <p:cNvPr id="160" name="Text 14">
              <a:extLst>
                <a:ext uri="{FF2B5EF4-FFF2-40B4-BE49-F238E27FC236}">
                  <a16:creationId xmlns:a16="http://schemas.microsoft.com/office/drawing/2014/main" id="{C572347C-8E37-F3AF-ECD2-3AC06569C84B}"/>
                </a:ext>
              </a:extLst>
            </p:cNvPr>
            <p:cNvSpPr txBox="1"/>
            <p:nvPr/>
          </p:nvSpPr>
          <p:spPr>
            <a:xfrm>
              <a:off x="4282440" y="1632204"/>
              <a:ext cx="14386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設備管理</a:t>
              </a:r>
              <a:endParaRPr lang="en-US" sz="1600" dirty="0"/>
            </a:p>
          </p:txBody>
        </p:sp>
        <p:sp>
          <p:nvSpPr>
            <p:cNvPr id="161" name="Text 15">
              <a:extLst>
                <a:ext uri="{FF2B5EF4-FFF2-40B4-BE49-F238E27FC236}">
                  <a16:creationId xmlns:a16="http://schemas.microsoft.com/office/drawing/2014/main" id="{A6323E75-14FD-23B5-8DA8-DB0D6BC71B1B}"/>
                </a:ext>
              </a:extLst>
            </p:cNvPr>
            <p:cNvSpPr txBox="1"/>
            <p:nvPr/>
          </p:nvSpPr>
          <p:spPr>
            <a:xfrm>
              <a:off x="4282440" y="1961388"/>
              <a:ext cx="1438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基站與終端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類型、廠牌、模型</a:t>
              </a:r>
              <a:endParaRPr lang="en-US" sz="1150" dirty="0"/>
            </a:p>
          </p:txBody>
        </p:sp>
        <p:sp>
          <p:nvSpPr>
            <p:cNvPr id="162" name="Shape 16">
              <a:extLst>
                <a:ext uri="{FF2B5EF4-FFF2-40B4-BE49-F238E27FC236}">
                  <a16:creationId xmlns:a16="http://schemas.microsoft.com/office/drawing/2014/main" id="{82FDBE01-A499-9762-85BA-A525A1F24B81}"/>
                </a:ext>
              </a:extLst>
            </p:cNvPr>
            <p:cNvSpPr/>
            <p:nvPr/>
          </p:nvSpPr>
          <p:spPr>
            <a:xfrm>
              <a:off x="5913120" y="1170432"/>
              <a:ext cx="2225040" cy="169164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2700">
              <a:solidFill>
                <a:srgbClr val="6F9BD6"/>
              </a:solidFill>
              <a:prstDash val="solid"/>
            </a:ln>
          </p:spPr>
        </p:sp>
        <p:pic>
          <p:nvPicPr>
            <p:cNvPr id="163" name="Image 4" descr="preencoded.png">
              <a:extLst>
                <a:ext uri="{FF2B5EF4-FFF2-40B4-BE49-F238E27FC236}">
                  <a16:creationId xmlns:a16="http://schemas.microsoft.com/office/drawing/2014/main" id="{61A7A8B9-DAD8-F724-74D5-E3269EBCE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04560" y="1741932"/>
              <a:ext cx="548640" cy="548640"/>
            </a:xfrm>
            <a:prstGeom prst="rect">
              <a:avLst/>
            </a:prstGeom>
          </p:spPr>
        </p:pic>
        <p:sp>
          <p:nvSpPr>
            <p:cNvPr id="164" name="Text 17">
              <a:extLst>
                <a:ext uri="{FF2B5EF4-FFF2-40B4-BE49-F238E27FC236}">
                  <a16:creationId xmlns:a16="http://schemas.microsoft.com/office/drawing/2014/main" id="{0270845A-B4DC-51A9-2307-C15CFD2CB070}"/>
                </a:ext>
              </a:extLst>
            </p:cNvPr>
            <p:cNvSpPr txBox="1"/>
            <p:nvPr/>
          </p:nvSpPr>
          <p:spPr>
            <a:xfrm>
              <a:off x="6644640" y="1741932"/>
              <a:ext cx="14386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情境管理</a:t>
              </a:r>
              <a:endParaRPr lang="en-US" sz="1600" dirty="0"/>
            </a:p>
          </p:txBody>
        </p:sp>
        <p:sp>
          <p:nvSpPr>
            <p:cNvPr id="165" name="Text 18">
              <a:extLst>
                <a:ext uri="{FF2B5EF4-FFF2-40B4-BE49-F238E27FC236}">
                  <a16:creationId xmlns:a16="http://schemas.microsoft.com/office/drawing/2014/main" id="{78D3EE16-BEB7-1475-DC32-680A75193272}"/>
                </a:ext>
              </a:extLst>
            </p:cNvPr>
            <p:cNvSpPr txBox="1"/>
            <p:nvPr/>
          </p:nvSpPr>
          <p:spPr>
            <a:xfrm>
              <a:off x="6644640" y="2071116"/>
              <a:ext cx="1438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情境配置、任務控制</a:t>
              </a:r>
              <a:endParaRPr lang="en-US" sz="1150" dirty="0"/>
            </a:p>
          </p:txBody>
        </p:sp>
        <p:sp>
          <p:nvSpPr>
            <p:cNvPr id="166" name="Shape 19">
              <a:extLst>
                <a:ext uri="{FF2B5EF4-FFF2-40B4-BE49-F238E27FC236}">
                  <a16:creationId xmlns:a16="http://schemas.microsoft.com/office/drawing/2014/main" id="{F78C8FD0-DE20-DB71-C903-C0143273A883}"/>
                </a:ext>
              </a:extLst>
            </p:cNvPr>
            <p:cNvSpPr/>
            <p:nvPr/>
          </p:nvSpPr>
          <p:spPr>
            <a:xfrm>
              <a:off x="8458200" y="704088"/>
              <a:ext cx="3447288" cy="2286000"/>
            </a:xfrm>
            <a:prstGeom prst="roundRect">
              <a:avLst>
                <a:gd name="adj" fmla="val 4000"/>
              </a:avLst>
            </a:prstGeom>
            <a:solidFill>
              <a:srgbClr val="EEE8F8"/>
            </a:solidFill>
            <a:ln w="19050">
              <a:solidFill>
                <a:srgbClr val="8F6CC9"/>
              </a:solidFill>
              <a:prstDash val="solid"/>
            </a:ln>
          </p:spPr>
        </p:sp>
        <p:sp>
          <p:nvSpPr>
            <p:cNvPr id="167" name="Text 20">
              <a:extLst>
                <a:ext uri="{FF2B5EF4-FFF2-40B4-BE49-F238E27FC236}">
                  <a16:creationId xmlns:a16="http://schemas.microsoft.com/office/drawing/2014/main" id="{42876C07-A9B0-CE97-E4FC-4A27B9171C4F}"/>
                </a:ext>
              </a:extLst>
            </p:cNvPr>
            <p:cNvSpPr txBox="1"/>
            <p:nvPr/>
          </p:nvSpPr>
          <p:spPr>
            <a:xfrm>
              <a:off x="8458200" y="795528"/>
              <a:ext cx="344728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B2F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智慧網路管理平台</a:t>
              </a:r>
              <a:endParaRPr lang="en-US" sz="1800" dirty="0"/>
            </a:p>
          </p:txBody>
        </p:sp>
        <p:sp>
          <p:nvSpPr>
            <p:cNvPr id="168" name="Shape 21">
              <a:extLst>
                <a:ext uri="{FF2B5EF4-FFF2-40B4-BE49-F238E27FC236}">
                  <a16:creationId xmlns:a16="http://schemas.microsoft.com/office/drawing/2014/main" id="{E59CD173-81B6-23EB-5925-86CAD93B1886}"/>
                </a:ext>
              </a:extLst>
            </p:cNvPr>
            <p:cNvSpPr/>
            <p:nvPr/>
          </p:nvSpPr>
          <p:spPr>
            <a:xfrm>
              <a:off x="8641080" y="1207008"/>
              <a:ext cx="1449324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12700">
              <a:solidFill>
                <a:srgbClr val="B9A6DF"/>
              </a:solidFill>
              <a:prstDash val="solid"/>
            </a:ln>
          </p:spPr>
        </p:sp>
        <p:sp>
          <p:nvSpPr>
            <p:cNvPr id="169" name="Text 22">
              <a:extLst>
                <a:ext uri="{FF2B5EF4-FFF2-40B4-BE49-F238E27FC236}">
                  <a16:creationId xmlns:a16="http://schemas.microsoft.com/office/drawing/2014/main" id="{7B48D24E-84F4-61AC-F873-EAE71FCB7B4A}"/>
                </a:ext>
              </a:extLst>
            </p:cNvPr>
            <p:cNvSpPr txBox="1"/>
            <p:nvPr/>
          </p:nvSpPr>
          <p:spPr>
            <a:xfrm>
              <a:off x="8641080" y="1280160"/>
              <a:ext cx="144932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B2F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SMO</a:t>
              </a:r>
              <a:endParaRPr lang="en-US" sz="2000" dirty="0"/>
            </a:p>
          </p:txBody>
        </p:sp>
        <p:pic>
          <p:nvPicPr>
            <p:cNvPr id="170" name="Image 5" descr="preencoded.png">
              <a:extLst>
                <a:ext uri="{FF2B5EF4-FFF2-40B4-BE49-F238E27FC236}">
                  <a16:creationId xmlns:a16="http://schemas.microsoft.com/office/drawing/2014/main" id="{BA261DB0-C6F7-573B-9366-5E179FD65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63990" y="1709928"/>
              <a:ext cx="566928" cy="566928"/>
            </a:xfrm>
            <a:prstGeom prst="rect">
              <a:avLst/>
            </a:prstGeom>
          </p:spPr>
        </p:pic>
        <p:pic>
          <p:nvPicPr>
            <p:cNvPr id="171" name="Image 6" descr="preencoded.png">
              <a:extLst>
                <a:ext uri="{FF2B5EF4-FFF2-40B4-BE49-F238E27FC236}">
                  <a16:creationId xmlns:a16="http://schemas.microsoft.com/office/drawing/2014/main" id="{9F4332BB-51D9-6F28-B974-B040D5EBB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20606" y="1993392"/>
              <a:ext cx="310896" cy="310896"/>
            </a:xfrm>
            <a:prstGeom prst="rect">
              <a:avLst/>
            </a:prstGeom>
          </p:spPr>
        </p:pic>
        <p:sp>
          <p:nvSpPr>
            <p:cNvPr id="172" name="Shape 23">
              <a:extLst>
                <a:ext uri="{FF2B5EF4-FFF2-40B4-BE49-F238E27FC236}">
                  <a16:creationId xmlns:a16="http://schemas.microsoft.com/office/drawing/2014/main" id="{E6BBE6EC-8F03-CD4D-E603-32D5E19E0497}"/>
                </a:ext>
              </a:extLst>
            </p:cNvPr>
            <p:cNvSpPr/>
            <p:nvPr/>
          </p:nvSpPr>
          <p:spPr>
            <a:xfrm>
              <a:off x="9137142" y="2478024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2F6FD0"/>
              </a:solidFill>
              <a:prstDash val="solid"/>
            </a:ln>
          </p:spPr>
        </p:sp>
        <p:sp>
          <p:nvSpPr>
            <p:cNvPr id="173" name="Text 24">
              <a:extLst>
                <a:ext uri="{FF2B5EF4-FFF2-40B4-BE49-F238E27FC236}">
                  <a16:creationId xmlns:a16="http://schemas.microsoft.com/office/drawing/2014/main" id="{A48F2441-8EBB-B0F5-348F-AFF18C7E086D}"/>
                </a:ext>
              </a:extLst>
            </p:cNvPr>
            <p:cNvSpPr txBox="1"/>
            <p:nvPr/>
          </p:nvSpPr>
          <p:spPr>
            <a:xfrm>
              <a:off x="9137142" y="247802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O1</a:t>
              </a:r>
              <a:endParaRPr lang="en-US" sz="1100" dirty="0"/>
            </a:p>
          </p:txBody>
        </p:sp>
        <p:sp>
          <p:nvSpPr>
            <p:cNvPr id="174" name="Text 25">
              <a:extLst>
                <a:ext uri="{FF2B5EF4-FFF2-40B4-BE49-F238E27FC236}">
                  <a16:creationId xmlns:a16="http://schemas.microsoft.com/office/drawing/2014/main" id="{81753CAD-CA91-3902-50AD-3E267D168D42}"/>
                </a:ext>
              </a:extLst>
            </p:cNvPr>
            <p:cNvSpPr txBox="1"/>
            <p:nvPr/>
          </p:nvSpPr>
          <p:spPr>
            <a:xfrm>
              <a:off x="8817102" y="2706624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配置／量測</a:t>
              </a:r>
              <a:endParaRPr lang="en-US" sz="1200" dirty="0"/>
            </a:p>
          </p:txBody>
        </p:sp>
        <p:sp>
          <p:nvSpPr>
            <p:cNvPr id="175" name="Shape 26">
              <a:extLst>
                <a:ext uri="{FF2B5EF4-FFF2-40B4-BE49-F238E27FC236}">
                  <a16:creationId xmlns:a16="http://schemas.microsoft.com/office/drawing/2014/main" id="{E80DF3F2-7157-0A5E-5C3A-E5D93804E747}"/>
                </a:ext>
              </a:extLst>
            </p:cNvPr>
            <p:cNvSpPr/>
            <p:nvPr/>
          </p:nvSpPr>
          <p:spPr>
            <a:xfrm>
              <a:off x="10273284" y="1207008"/>
              <a:ext cx="1449324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12700">
              <a:solidFill>
                <a:srgbClr val="B9A6DF"/>
              </a:solidFill>
              <a:prstDash val="solid"/>
            </a:ln>
          </p:spPr>
        </p:sp>
        <p:sp>
          <p:nvSpPr>
            <p:cNvPr id="176" name="Text 27">
              <a:extLst>
                <a:ext uri="{FF2B5EF4-FFF2-40B4-BE49-F238E27FC236}">
                  <a16:creationId xmlns:a16="http://schemas.microsoft.com/office/drawing/2014/main" id="{C0364020-4988-01C6-5797-868A6C71187F}"/>
                </a:ext>
              </a:extLst>
            </p:cNvPr>
            <p:cNvSpPr txBox="1"/>
            <p:nvPr/>
          </p:nvSpPr>
          <p:spPr>
            <a:xfrm>
              <a:off x="10273284" y="1280160"/>
              <a:ext cx="144932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B2F6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RIC</a:t>
              </a:r>
              <a:endParaRPr lang="en-US" sz="2000" dirty="0"/>
            </a:p>
          </p:txBody>
        </p:sp>
        <p:pic>
          <p:nvPicPr>
            <p:cNvPr id="177" name="Image 7" descr="preencoded.png">
              <a:extLst>
                <a:ext uri="{FF2B5EF4-FFF2-40B4-BE49-F238E27FC236}">
                  <a16:creationId xmlns:a16="http://schemas.microsoft.com/office/drawing/2014/main" id="{1947D84E-E449-21CA-102E-BE0098C6B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96194" y="1709928"/>
              <a:ext cx="566928" cy="566928"/>
            </a:xfrm>
            <a:prstGeom prst="rect">
              <a:avLst/>
            </a:prstGeom>
          </p:spPr>
        </p:pic>
        <p:pic>
          <p:nvPicPr>
            <p:cNvPr id="178" name="Image 8" descr="preencoded.png">
              <a:extLst>
                <a:ext uri="{FF2B5EF4-FFF2-40B4-BE49-F238E27FC236}">
                  <a16:creationId xmlns:a16="http://schemas.microsoft.com/office/drawing/2014/main" id="{92CB00A6-35E1-6A62-FA0E-E34D0AD5C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52810" y="1993392"/>
              <a:ext cx="310896" cy="310896"/>
            </a:xfrm>
            <a:prstGeom prst="rect">
              <a:avLst/>
            </a:prstGeom>
          </p:spPr>
        </p:pic>
        <p:sp>
          <p:nvSpPr>
            <p:cNvPr id="179" name="Shape 28">
              <a:extLst>
                <a:ext uri="{FF2B5EF4-FFF2-40B4-BE49-F238E27FC236}">
                  <a16:creationId xmlns:a16="http://schemas.microsoft.com/office/drawing/2014/main" id="{B1FDBDDF-E582-C457-039B-8481B3950760}"/>
                </a:ext>
              </a:extLst>
            </p:cNvPr>
            <p:cNvSpPr/>
            <p:nvPr/>
          </p:nvSpPr>
          <p:spPr>
            <a:xfrm>
              <a:off x="10769346" y="2478024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1F8F6E"/>
              </a:solidFill>
              <a:prstDash val="solid"/>
            </a:ln>
          </p:spPr>
        </p:sp>
        <p:sp>
          <p:nvSpPr>
            <p:cNvPr id="180" name="Text 29">
              <a:extLst>
                <a:ext uri="{FF2B5EF4-FFF2-40B4-BE49-F238E27FC236}">
                  <a16:creationId xmlns:a16="http://schemas.microsoft.com/office/drawing/2014/main" id="{5CF504B9-4795-FC71-4758-344220350177}"/>
                </a:ext>
              </a:extLst>
            </p:cNvPr>
            <p:cNvSpPr txBox="1"/>
            <p:nvPr/>
          </p:nvSpPr>
          <p:spPr>
            <a:xfrm>
              <a:off x="10769346" y="247802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E2</a:t>
              </a:r>
              <a:endParaRPr lang="en-US" sz="1100" dirty="0"/>
            </a:p>
          </p:txBody>
        </p:sp>
        <p:sp>
          <p:nvSpPr>
            <p:cNvPr id="181" name="Text 30">
              <a:extLst>
                <a:ext uri="{FF2B5EF4-FFF2-40B4-BE49-F238E27FC236}">
                  <a16:creationId xmlns:a16="http://schemas.microsoft.com/office/drawing/2014/main" id="{65C379A0-407C-B20C-56B8-308779714C79}"/>
                </a:ext>
              </a:extLst>
            </p:cNvPr>
            <p:cNvSpPr txBox="1"/>
            <p:nvPr/>
          </p:nvSpPr>
          <p:spPr>
            <a:xfrm>
              <a:off x="10449306" y="2706624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控制／量測</a:t>
              </a:r>
              <a:endParaRPr lang="en-US" sz="1200" dirty="0"/>
            </a:p>
          </p:txBody>
        </p:sp>
        <p:sp>
          <p:nvSpPr>
            <p:cNvPr id="182" name="Shape 31">
              <a:extLst>
                <a:ext uri="{FF2B5EF4-FFF2-40B4-BE49-F238E27FC236}">
                  <a16:creationId xmlns:a16="http://schemas.microsoft.com/office/drawing/2014/main" id="{349A1938-06AC-04A5-5435-B9B7B4DDF3D7}"/>
                </a:ext>
              </a:extLst>
            </p:cNvPr>
            <p:cNvSpPr/>
            <p:nvPr/>
          </p:nvSpPr>
          <p:spPr>
            <a:xfrm>
              <a:off x="1005840" y="3529584"/>
              <a:ext cx="10899648" cy="2624328"/>
            </a:xfrm>
            <a:prstGeom prst="roundRect">
              <a:avLst>
                <a:gd name="adj" fmla="val 3484"/>
              </a:avLst>
            </a:prstGeom>
            <a:solidFill>
              <a:srgbClr val="E4F6F1"/>
            </a:solidFill>
            <a:ln w="19050">
              <a:solidFill>
                <a:srgbClr val="2AA089"/>
              </a:solidFill>
              <a:prstDash val="solid"/>
            </a:ln>
          </p:spPr>
        </p:sp>
        <p:sp>
          <p:nvSpPr>
            <p:cNvPr id="183" name="Shape 32">
              <a:extLst>
                <a:ext uri="{FF2B5EF4-FFF2-40B4-BE49-F238E27FC236}">
                  <a16:creationId xmlns:a16="http://schemas.microsoft.com/office/drawing/2014/main" id="{EB83E2DE-93E4-6672-D49A-329FA50B3689}"/>
                </a:ext>
              </a:extLst>
            </p:cNvPr>
            <p:cNvSpPr/>
            <p:nvPr/>
          </p:nvSpPr>
          <p:spPr>
            <a:xfrm>
              <a:off x="1280160" y="3630168"/>
              <a:ext cx="2788920" cy="1764792"/>
            </a:xfrm>
            <a:prstGeom prst="roundRect">
              <a:avLst>
                <a:gd name="adj" fmla="val 3109"/>
              </a:avLst>
            </a:prstGeom>
            <a:solidFill>
              <a:srgbClr val="FFFFFF"/>
            </a:solidFill>
            <a:ln w="12700">
              <a:solidFill>
                <a:srgbClr val="2AA089"/>
              </a:solidFill>
              <a:prstDash val="solid"/>
            </a:ln>
          </p:spPr>
        </p:sp>
        <p:sp>
          <p:nvSpPr>
            <p:cNvPr id="184" name="Text 33">
              <a:extLst>
                <a:ext uri="{FF2B5EF4-FFF2-40B4-BE49-F238E27FC236}">
                  <a16:creationId xmlns:a16="http://schemas.microsoft.com/office/drawing/2014/main" id="{AAB88379-CCC2-492B-F774-9ED3A31BE79B}"/>
                </a:ext>
              </a:extLst>
            </p:cNvPr>
            <p:cNvSpPr txBox="1"/>
            <p:nvPr/>
          </p:nvSpPr>
          <p:spPr>
            <a:xfrm>
              <a:off x="1280160" y="367588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RAN Emulator #1</a:t>
              </a:r>
              <a:endParaRPr lang="en-US" sz="1500" dirty="0"/>
            </a:p>
          </p:txBody>
        </p:sp>
        <p:sp>
          <p:nvSpPr>
            <p:cNvPr id="185" name="Text 34">
              <a:extLst>
                <a:ext uri="{FF2B5EF4-FFF2-40B4-BE49-F238E27FC236}">
                  <a16:creationId xmlns:a16="http://schemas.microsoft.com/office/drawing/2014/main" id="{EBB054ED-5318-8EF3-0D77-D81D8287667D}"/>
                </a:ext>
              </a:extLst>
            </p:cNvPr>
            <p:cNvSpPr txBox="1"/>
            <p:nvPr/>
          </p:nvSpPr>
          <p:spPr>
            <a:xfrm>
              <a:off x="1280160" y="3913632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工廠搬運情境</a:t>
              </a:r>
              <a:endParaRPr lang="en-US" sz="1200" dirty="0"/>
            </a:p>
          </p:txBody>
        </p:sp>
        <p:sp>
          <p:nvSpPr>
            <p:cNvPr id="186" name="Shape 35">
              <a:extLst>
                <a:ext uri="{FF2B5EF4-FFF2-40B4-BE49-F238E27FC236}">
                  <a16:creationId xmlns:a16="http://schemas.microsoft.com/office/drawing/2014/main" id="{4D6E8AFF-24AA-4FEE-762A-9E34CA025CEA}"/>
                </a:ext>
              </a:extLst>
            </p:cNvPr>
            <p:cNvSpPr/>
            <p:nvPr/>
          </p:nvSpPr>
          <p:spPr>
            <a:xfrm>
              <a:off x="1389888" y="4142232"/>
              <a:ext cx="2569464" cy="822960"/>
            </a:xfrm>
            <a:prstGeom prst="rect">
              <a:avLst/>
            </a:prstGeom>
            <a:solidFill>
              <a:srgbClr val="F4F4F4"/>
            </a:solidFill>
            <a:ln w="19050">
              <a:solidFill>
                <a:srgbClr val="8C8C8C"/>
              </a:solidFill>
              <a:prstDash val="solid"/>
            </a:ln>
          </p:spPr>
        </p:sp>
        <p:sp>
          <p:nvSpPr>
            <p:cNvPr id="187" name="Shape 36">
              <a:extLst>
                <a:ext uri="{FF2B5EF4-FFF2-40B4-BE49-F238E27FC236}">
                  <a16:creationId xmlns:a16="http://schemas.microsoft.com/office/drawing/2014/main" id="{2B8D724E-42BB-B8F4-CFCC-5A7D3940DEC9}"/>
                </a:ext>
              </a:extLst>
            </p:cNvPr>
            <p:cNvSpPr/>
            <p:nvPr/>
          </p:nvSpPr>
          <p:spPr>
            <a:xfrm>
              <a:off x="2779776" y="4169664"/>
              <a:ext cx="182880" cy="109728"/>
            </a:xfrm>
            <a:prstGeom prst="rect">
              <a:avLst/>
            </a:prstGeom>
            <a:solidFill>
              <a:srgbClr val="D5D5D5"/>
            </a:solidFill>
            <a:ln w="12700">
              <a:solidFill>
                <a:srgbClr val="D5D5D5"/>
              </a:solidFill>
              <a:prstDash val="solid"/>
            </a:ln>
          </p:spPr>
        </p:sp>
        <p:sp>
          <p:nvSpPr>
            <p:cNvPr id="188" name="Shape 37">
              <a:extLst>
                <a:ext uri="{FF2B5EF4-FFF2-40B4-BE49-F238E27FC236}">
                  <a16:creationId xmlns:a16="http://schemas.microsoft.com/office/drawing/2014/main" id="{ECB53CF4-705A-17AC-11D4-B1D9B4B60E27}"/>
                </a:ext>
              </a:extLst>
            </p:cNvPr>
            <p:cNvSpPr/>
            <p:nvPr/>
          </p:nvSpPr>
          <p:spPr>
            <a:xfrm>
              <a:off x="2999232" y="4169664"/>
              <a:ext cx="182880" cy="109728"/>
            </a:xfrm>
            <a:prstGeom prst="rect">
              <a:avLst/>
            </a:prstGeom>
            <a:solidFill>
              <a:srgbClr val="D5D5D5"/>
            </a:solidFill>
            <a:ln w="12700">
              <a:solidFill>
                <a:srgbClr val="D5D5D5"/>
              </a:solidFill>
              <a:prstDash val="solid"/>
            </a:ln>
          </p:spPr>
        </p:sp>
        <p:sp>
          <p:nvSpPr>
            <p:cNvPr id="189" name="Shape 38">
              <a:extLst>
                <a:ext uri="{FF2B5EF4-FFF2-40B4-BE49-F238E27FC236}">
                  <a16:creationId xmlns:a16="http://schemas.microsoft.com/office/drawing/2014/main" id="{EDAE9948-16DF-EEEC-EC7D-D5ED46B16A54}"/>
                </a:ext>
              </a:extLst>
            </p:cNvPr>
            <p:cNvSpPr/>
            <p:nvPr/>
          </p:nvSpPr>
          <p:spPr>
            <a:xfrm>
              <a:off x="1444752" y="4782312"/>
              <a:ext cx="292608" cy="128016"/>
            </a:xfrm>
            <a:prstGeom prst="rect">
              <a:avLst/>
            </a:prstGeom>
            <a:solidFill>
              <a:srgbClr val="D5D5D5"/>
            </a:solidFill>
            <a:ln w="12700">
              <a:solidFill>
                <a:srgbClr val="D5D5D5"/>
              </a:solidFill>
              <a:prstDash val="solid"/>
            </a:ln>
          </p:spPr>
        </p:sp>
        <p:sp>
          <p:nvSpPr>
            <p:cNvPr id="190" name="Shape 39">
              <a:extLst>
                <a:ext uri="{FF2B5EF4-FFF2-40B4-BE49-F238E27FC236}">
                  <a16:creationId xmlns:a16="http://schemas.microsoft.com/office/drawing/2014/main" id="{6C007949-AF19-4628-5381-C11C0A273C4F}"/>
                </a:ext>
              </a:extLst>
            </p:cNvPr>
            <p:cNvSpPr/>
            <p:nvPr/>
          </p:nvSpPr>
          <p:spPr>
            <a:xfrm>
              <a:off x="3593592" y="4672584"/>
              <a:ext cx="310896" cy="237744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</p:spPr>
        </p:sp>
        <p:sp>
          <p:nvSpPr>
            <p:cNvPr id="191" name="Shape 40">
              <a:extLst>
                <a:ext uri="{FF2B5EF4-FFF2-40B4-BE49-F238E27FC236}">
                  <a16:creationId xmlns:a16="http://schemas.microsoft.com/office/drawing/2014/main" id="{14FFADE4-FBBB-7555-FBDA-473A6777A5C8}"/>
                </a:ext>
              </a:extLst>
            </p:cNvPr>
            <p:cNvSpPr/>
            <p:nvPr/>
          </p:nvSpPr>
          <p:spPr>
            <a:xfrm>
              <a:off x="2656332" y="4142232"/>
              <a:ext cx="36576" cy="201168"/>
            </a:xfrm>
            <a:prstGeom prst="rect">
              <a:avLst/>
            </a:prstGeom>
            <a:solidFill>
              <a:srgbClr val="8C8C8C"/>
            </a:solidFill>
            <a:ln w="12700">
              <a:solidFill>
                <a:srgbClr val="8C8C8C"/>
              </a:solidFill>
              <a:prstDash val="solid"/>
            </a:ln>
          </p:spPr>
        </p:sp>
        <p:sp>
          <p:nvSpPr>
            <p:cNvPr id="192" name="Shape 41">
              <a:extLst>
                <a:ext uri="{FF2B5EF4-FFF2-40B4-BE49-F238E27FC236}">
                  <a16:creationId xmlns:a16="http://schemas.microsoft.com/office/drawing/2014/main" id="{35626EF5-D150-87E1-7E1D-2F9024184F8F}"/>
                </a:ext>
              </a:extLst>
            </p:cNvPr>
            <p:cNvSpPr/>
            <p:nvPr/>
          </p:nvSpPr>
          <p:spPr>
            <a:xfrm>
              <a:off x="2656332" y="4764024"/>
              <a:ext cx="36576" cy="201168"/>
            </a:xfrm>
            <a:prstGeom prst="rect">
              <a:avLst/>
            </a:prstGeom>
            <a:solidFill>
              <a:srgbClr val="8C8C8C"/>
            </a:solidFill>
            <a:ln w="12700">
              <a:solidFill>
                <a:srgbClr val="8C8C8C"/>
              </a:solidFill>
              <a:prstDash val="solid"/>
            </a:ln>
          </p:spPr>
        </p:sp>
        <p:pic>
          <p:nvPicPr>
            <p:cNvPr id="193" name="Image 9" descr="preencoded.png">
              <a:extLst>
                <a:ext uri="{FF2B5EF4-FFF2-40B4-BE49-F238E27FC236}">
                  <a16:creationId xmlns:a16="http://schemas.microsoft.com/office/drawing/2014/main" id="{F7F3761C-1FE3-BBE9-594B-9A99FDD72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5336" y="4288536"/>
              <a:ext cx="274320" cy="274320"/>
            </a:xfrm>
            <a:prstGeom prst="rect">
              <a:avLst/>
            </a:prstGeom>
          </p:spPr>
        </p:pic>
        <p:sp>
          <p:nvSpPr>
            <p:cNvPr id="194" name="Text 42">
              <a:extLst>
                <a:ext uri="{FF2B5EF4-FFF2-40B4-BE49-F238E27FC236}">
                  <a16:creationId xmlns:a16="http://schemas.microsoft.com/office/drawing/2014/main" id="{F57256A2-AE39-EE04-8DB1-A364E68671AB}"/>
                </a:ext>
              </a:extLst>
            </p:cNvPr>
            <p:cNvSpPr txBox="1"/>
            <p:nvPr/>
          </p:nvSpPr>
          <p:spPr>
            <a:xfrm>
              <a:off x="1362456" y="4572000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基地</a:t>
              </a:r>
              <a:endParaRPr lang="en-US" sz="800" dirty="0"/>
            </a:p>
          </p:txBody>
        </p:sp>
        <p:pic>
          <p:nvPicPr>
            <p:cNvPr id="195" name="Image 10" descr="preencoded.png">
              <a:extLst>
                <a:ext uri="{FF2B5EF4-FFF2-40B4-BE49-F238E27FC236}">
                  <a16:creationId xmlns:a16="http://schemas.microsoft.com/office/drawing/2014/main" id="{D25D808B-A0D7-7518-70DD-8EADECF03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67128" y="4416552"/>
              <a:ext cx="274320" cy="274320"/>
            </a:xfrm>
            <a:prstGeom prst="rect">
              <a:avLst/>
            </a:prstGeom>
          </p:spPr>
        </p:pic>
        <p:sp>
          <p:nvSpPr>
            <p:cNvPr id="196" name="Text 43">
              <a:extLst>
                <a:ext uri="{FF2B5EF4-FFF2-40B4-BE49-F238E27FC236}">
                  <a16:creationId xmlns:a16="http://schemas.microsoft.com/office/drawing/2014/main" id="{DFE2E3E9-BED9-F7A7-C075-E9A919851C47}"/>
                </a:ext>
              </a:extLst>
            </p:cNvPr>
            <p:cNvSpPr txBox="1"/>
            <p:nvPr/>
          </p:nvSpPr>
          <p:spPr>
            <a:xfrm>
              <a:off x="1984248" y="4700016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AMR</a:t>
              </a:r>
              <a:endParaRPr lang="en-US" sz="800" dirty="0"/>
            </a:p>
          </p:txBody>
        </p:sp>
        <p:pic>
          <p:nvPicPr>
            <p:cNvPr id="197" name="Image 11" descr="preencoded.png">
              <a:extLst>
                <a:ext uri="{FF2B5EF4-FFF2-40B4-BE49-F238E27FC236}">
                  <a16:creationId xmlns:a16="http://schemas.microsoft.com/office/drawing/2014/main" id="{1B41E46C-224D-CA7F-9A12-6CDF2F845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22576" y="4297680"/>
              <a:ext cx="109728" cy="109728"/>
            </a:xfrm>
            <a:prstGeom prst="rect">
              <a:avLst/>
            </a:prstGeom>
          </p:spPr>
        </p:pic>
        <p:pic>
          <p:nvPicPr>
            <p:cNvPr id="198" name="Image 12" descr="preencoded.png">
              <a:extLst>
                <a:ext uri="{FF2B5EF4-FFF2-40B4-BE49-F238E27FC236}">
                  <a16:creationId xmlns:a16="http://schemas.microsoft.com/office/drawing/2014/main" id="{6E4C06FB-757B-E18A-C6D5-DF193B11A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89504" y="4416552"/>
              <a:ext cx="256032" cy="256032"/>
            </a:xfrm>
            <a:prstGeom prst="rect">
              <a:avLst/>
            </a:prstGeom>
          </p:spPr>
        </p:pic>
        <p:sp>
          <p:nvSpPr>
            <p:cNvPr id="199" name="Text 44">
              <a:extLst>
                <a:ext uri="{FF2B5EF4-FFF2-40B4-BE49-F238E27FC236}">
                  <a16:creationId xmlns:a16="http://schemas.microsoft.com/office/drawing/2014/main" id="{C4AB2B5A-41BB-D394-620C-1EC185E9240A}"/>
                </a:ext>
              </a:extLst>
            </p:cNvPr>
            <p:cNvSpPr txBox="1"/>
            <p:nvPr/>
          </p:nvSpPr>
          <p:spPr>
            <a:xfrm>
              <a:off x="2697480" y="4681728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手機</a:t>
              </a:r>
              <a:endParaRPr lang="en-US" sz="800" dirty="0"/>
            </a:p>
          </p:txBody>
        </p:sp>
        <p:pic>
          <p:nvPicPr>
            <p:cNvPr id="200" name="Image 13" descr="preencoded.png">
              <a:extLst>
                <a:ext uri="{FF2B5EF4-FFF2-40B4-BE49-F238E27FC236}">
                  <a16:creationId xmlns:a16="http://schemas.microsoft.com/office/drawing/2014/main" id="{495A3B66-442E-7BE2-BD02-05A5E70C5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35808" y="4297680"/>
              <a:ext cx="109728" cy="109728"/>
            </a:xfrm>
            <a:prstGeom prst="rect">
              <a:avLst/>
            </a:prstGeom>
          </p:spPr>
        </p:pic>
        <p:pic>
          <p:nvPicPr>
            <p:cNvPr id="201" name="Image 14" descr="preencoded.png">
              <a:extLst>
                <a:ext uri="{FF2B5EF4-FFF2-40B4-BE49-F238E27FC236}">
                  <a16:creationId xmlns:a16="http://schemas.microsoft.com/office/drawing/2014/main" id="{5B312702-7689-31BB-8502-E013D09D8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9584" y="4288536"/>
              <a:ext cx="274320" cy="274320"/>
            </a:xfrm>
            <a:prstGeom prst="rect">
              <a:avLst/>
            </a:prstGeom>
          </p:spPr>
        </p:pic>
        <p:sp>
          <p:nvSpPr>
            <p:cNvPr id="202" name="Text 45">
              <a:extLst>
                <a:ext uri="{FF2B5EF4-FFF2-40B4-BE49-F238E27FC236}">
                  <a16:creationId xmlns:a16="http://schemas.microsoft.com/office/drawing/2014/main" id="{7F1566CF-784E-FAFA-53F1-A146279FFF47}"/>
                </a:ext>
              </a:extLst>
            </p:cNvPr>
            <p:cNvSpPr txBox="1"/>
            <p:nvPr/>
          </p:nvSpPr>
          <p:spPr>
            <a:xfrm>
              <a:off x="3346704" y="4572000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基地</a:t>
              </a:r>
              <a:endParaRPr lang="en-US" sz="800" dirty="0"/>
            </a:p>
          </p:txBody>
        </p:sp>
        <p:sp>
          <p:nvSpPr>
            <p:cNvPr id="203" name="Shape 46">
              <a:extLst>
                <a:ext uri="{FF2B5EF4-FFF2-40B4-BE49-F238E27FC236}">
                  <a16:creationId xmlns:a16="http://schemas.microsoft.com/office/drawing/2014/main" id="{6F0B0EFC-A908-7B59-1BC7-055894A55C9F}"/>
                </a:ext>
              </a:extLst>
            </p:cNvPr>
            <p:cNvSpPr/>
            <p:nvPr/>
          </p:nvSpPr>
          <p:spPr>
            <a:xfrm>
              <a:off x="1389888" y="5001768"/>
              <a:ext cx="2569464" cy="237744"/>
            </a:xfrm>
            <a:prstGeom prst="roundRect">
              <a:avLst>
                <a:gd name="adj" fmla="val 15385"/>
              </a:avLst>
            </a:prstGeom>
            <a:solidFill>
              <a:srgbClr val="C9F0E6"/>
            </a:solidFill>
            <a:ln w="12700">
              <a:solidFill>
                <a:srgbClr val="C9F0E6"/>
              </a:solidFill>
              <a:prstDash val="solid"/>
            </a:ln>
          </p:spPr>
        </p:sp>
        <p:sp>
          <p:nvSpPr>
            <p:cNvPr id="204" name="Text 47">
              <a:extLst>
                <a:ext uri="{FF2B5EF4-FFF2-40B4-BE49-F238E27FC236}">
                  <a16:creationId xmlns:a16="http://schemas.microsoft.com/office/drawing/2014/main" id="{A56146A6-6B0E-D481-CF07-CAA5CFD71A9C}"/>
                </a:ext>
              </a:extLst>
            </p:cNvPr>
            <p:cNvSpPr txBox="1"/>
            <p:nvPr/>
          </p:nvSpPr>
          <p:spPr>
            <a:xfrm>
              <a:off x="1389888" y="5001768"/>
              <a:ext cx="256946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地圖 ＋ 基地台 ＋ 終端與應用</a:t>
              </a:r>
              <a:endParaRPr lang="en-US" sz="1200" dirty="0"/>
            </a:p>
          </p:txBody>
        </p:sp>
        <p:sp>
          <p:nvSpPr>
            <p:cNvPr id="205" name="Shape 48">
              <a:extLst>
                <a:ext uri="{FF2B5EF4-FFF2-40B4-BE49-F238E27FC236}">
                  <a16:creationId xmlns:a16="http://schemas.microsoft.com/office/drawing/2014/main" id="{5FC6F502-28E9-1773-C674-CD5C15C1B7F8}"/>
                </a:ext>
              </a:extLst>
            </p:cNvPr>
            <p:cNvSpPr/>
            <p:nvPr/>
          </p:nvSpPr>
          <p:spPr>
            <a:xfrm>
              <a:off x="2055571" y="528523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2F6FD0"/>
              </a:solidFill>
              <a:prstDash val="solid"/>
            </a:ln>
          </p:spPr>
        </p:sp>
        <p:sp>
          <p:nvSpPr>
            <p:cNvPr id="206" name="Text 49">
              <a:extLst>
                <a:ext uri="{FF2B5EF4-FFF2-40B4-BE49-F238E27FC236}">
                  <a16:creationId xmlns:a16="http://schemas.microsoft.com/office/drawing/2014/main" id="{ECA3480A-40EC-FE1F-49D5-0BF5B21BCCCF}"/>
                </a:ext>
              </a:extLst>
            </p:cNvPr>
            <p:cNvSpPr txBox="1"/>
            <p:nvPr/>
          </p:nvSpPr>
          <p:spPr>
            <a:xfrm>
              <a:off x="2055571" y="52852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O1</a:t>
              </a:r>
              <a:endParaRPr lang="en-US" sz="1100" dirty="0"/>
            </a:p>
          </p:txBody>
        </p:sp>
        <p:sp>
          <p:nvSpPr>
            <p:cNvPr id="207" name="Shape 50">
              <a:extLst>
                <a:ext uri="{FF2B5EF4-FFF2-40B4-BE49-F238E27FC236}">
                  <a16:creationId xmlns:a16="http://schemas.microsoft.com/office/drawing/2014/main" id="{86DE3A7A-4817-7DB9-A094-35936B8E4516}"/>
                </a:ext>
              </a:extLst>
            </p:cNvPr>
            <p:cNvSpPr/>
            <p:nvPr/>
          </p:nvSpPr>
          <p:spPr>
            <a:xfrm>
              <a:off x="2892247" y="528523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1F8F6E"/>
              </a:solidFill>
              <a:prstDash val="solid"/>
            </a:ln>
          </p:spPr>
        </p:sp>
        <p:sp>
          <p:nvSpPr>
            <p:cNvPr id="208" name="Text 51">
              <a:extLst>
                <a:ext uri="{FF2B5EF4-FFF2-40B4-BE49-F238E27FC236}">
                  <a16:creationId xmlns:a16="http://schemas.microsoft.com/office/drawing/2014/main" id="{886C68FC-2C60-B448-0F36-C6B20A36F58D}"/>
                </a:ext>
              </a:extLst>
            </p:cNvPr>
            <p:cNvSpPr txBox="1"/>
            <p:nvPr/>
          </p:nvSpPr>
          <p:spPr>
            <a:xfrm>
              <a:off x="2892247" y="52852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E2</a:t>
              </a:r>
              <a:endParaRPr lang="en-US" sz="1100" dirty="0"/>
            </a:p>
          </p:txBody>
        </p:sp>
        <p:sp>
          <p:nvSpPr>
            <p:cNvPr id="209" name="Shape 52">
              <a:extLst>
                <a:ext uri="{FF2B5EF4-FFF2-40B4-BE49-F238E27FC236}">
                  <a16:creationId xmlns:a16="http://schemas.microsoft.com/office/drawing/2014/main" id="{575D0CF8-1BEC-666D-48EB-B13C21AB0A1F}"/>
                </a:ext>
              </a:extLst>
            </p:cNvPr>
            <p:cNvSpPr/>
            <p:nvPr/>
          </p:nvSpPr>
          <p:spPr>
            <a:xfrm>
              <a:off x="4389120" y="3630168"/>
              <a:ext cx="2788920" cy="1764792"/>
            </a:xfrm>
            <a:prstGeom prst="roundRect">
              <a:avLst>
                <a:gd name="adj" fmla="val 3109"/>
              </a:avLst>
            </a:prstGeom>
            <a:solidFill>
              <a:srgbClr val="FFFFFF"/>
            </a:solidFill>
            <a:ln w="12700">
              <a:solidFill>
                <a:srgbClr val="2AA089"/>
              </a:solidFill>
              <a:prstDash val="solid"/>
            </a:ln>
          </p:spPr>
        </p:sp>
        <p:sp>
          <p:nvSpPr>
            <p:cNvPr id="210" name="Text 53">
              <a:extLst>
                <a:ext uri="{FF2B5EF4-FFF2-40B4-BE49-F238E27FC236}">
                  <a16:creationId xmlns:a16="http://schemas.microsoft.com/office/drawing/2014/main" id="{81546E0D-52E2-4EAD-45A5-A7BE06CB69A3}"/>
                </a:ext>
              </a:extLst>
            </p:cNvPr>
            <p:cNvSpPr txBox="1"/>
            <p:nvPr/>
          </p:nvSpPr>
          <p:spPr>
            <a:xfrm>
              <a:off x="4389120" y="367588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RAN Emulator #2</a:t>
              </a:r>
              <a:endParaRPr lang="en-US" sz="1500" dirty="0"/>
            </a:p>
          </p:txBody>
        </p:sp>
        <p:sp>
          <p:nvSpPr>
            <p:cNvPr id="211" name="Text 54">
              <a:extLst>
                <a:ext uri="{FF2B5EF4-FFF2-40B4-BE49-F238E27FC236}">
                  <a16:creationId xmlns:a16="http://schemas.microsoft.com/office/drawing/2014/main" id="{3879AFC8-B832-3AD2-5C98-B1A0CADA2F2A}"/>
                </a:ext>
              </a:extLst>
            </p:cNvPr>
            <p:cNvSpPr txBox="1"/>
            <p:nvPr/>
          </p:nvSpPr>
          <p:spPr>
            <a:xfrm>
              <a:off x="4389120" y="3913632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園區巡檢情境</a:t>
              </a:r>
              <a:endParaRPr lang="en-US" sz="1200" dirty="0"/>
            </a:p>
          </p:txBody>
        </p:sp>
        <p:sp>
          <p:nvSpPr>
            <p:cNvPr id="212" name="Shape 55">
              <a:extLst>
                <a:ext uri="{FF2B5EF4-FFF2-40B4-BE49-F238E27FC236}">
                  <a16:creationId xmlns:a16="http://schemas.microsoft.com/office/drawing/2014/main" id="{65BDD112-2A10-47F7-337F-9D233B2E9C04}"/>
                </a:ext>
              </a:extLst>
            </p:cNvPr>
            <p:cNvSpPr/>
            <p:nvPr/>
          </p:nvSpPr>
          <p:spPr>
            <a:xfrm>
              <a:off x="4498848" y="4142232"/>
              <a:ext cx="2569464" cy="822960"/>
            </a:xfrm>
            <a:prstGeom prst="rect">
              <a:avLst/>
            </a:prstGeom>
            <a:solidFill>
              <a:srgbClr val="E9F4E3"/>
            </a:solidFill>
            <a:ln w="9525">
              <a:solidFill>
                <a:srgbClr val="9CC7A5"/>
              </a:solidFill>
              <a:prstDash val="solid"/>
            </a:ln>
          </p:spPr>
        </p:sp>
        <p:sp>
          <p:nvSpPr>
            <p:cNvPr id="213" name="Shape 56">
              <a:extLst>
                <a:ext uri="{FF2B5EF4-FFF2-40B4-BE49-F238E27FC236}">
                  <a16:creationId xmlns:a16="http://schemas.microsoft.com/office/drawing/2014/main" id="{E61024F8-2759-C766-6657-26ED1BD48940}"/>
                </a:ext>
              </a:extLst>
            </p:cNvPr>
            <p:cNvSpPr/>
            <p:nvPr/>
          </p:nvSpPr>
          <p:spPr>
            <a:xfrm>
              <a:off x="5367528" y="4215384"/>
              <a:ext cx="502920" cy="274320"/>
            </a:xfrm>
            <a:prstGeom prst="rect">
              <a:avLst/>
            </a:prstGeom>
            <a:solidFill>
              <a:srgbClr val="C9CFD6"/>
            </a:solidFill>
            <a:ln w="12700">
              <a:solidFill>
                <a:srgbClr val="C9CFD6"/>
              </a:solidFill>
              <a:prstDash val="solid"/>
            </a:ln>
          </p:spPr>
        </p:sp>
        <p:sp>
          <p:nvSpPr>
            <p:cNvPr id="214" name="Shape 57">
              <a:extLst>
                <a:ext uri="{FF2B5EF4-FFF2-40B4-BE49-F238E27FC236}">
                  <a16:creationId xmlns:a16="http://schemas.microsoft.com/office/drawing/2014/main" id="{84C4B1D1-BA39-4EDE-9C88-BBC13CBF6890}"/>
                </a:ext>
              </a:extLst>
            </p:cNvPr>
            <p:cNvSpPr/>
            <p:nvPr/>
          </p:nvSpPr>
          <p:spPr>
            <a:xfrm>
              <a:off x="5394960" y="4672584"/>
              <a:ext cx="457200" cy="219456"/>
            </a:xfrm>
            <a:prstGeom prst="rect">
              <a:avLst/>
            </a:prstGeom>
            <a:solidFill>
              <a:srgbClr val="D5DAE0"/>
            </a:solidFill>
            <a:ln w="12700">
              <a:solidFill>
                <a:srgbClr val="D5DAE0"/>
              </a:solidFill>
              <a:prstDash val="solid"/>
            </a:ln>
          </p:spPr>
        </p:sp>
        <p:pic>
          <p:nvPicPr>
            <p:cNvPr id="215" name="Image 15" descr="preencoded.png">
              <a:extLst>
                <a:ext uri="{FF2B5EF4-FFF2-40B4-BE49-F238E27FC236}">
                  <a16:creationId xmlns:a16="http://schemas.microsoft.com/office/drawing/2014/main" id="{3CC1E779-36C4-DD90-2235-AAFA03AC1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495544" y="4233672"/>
              <a:ext cx="237744" cy="237744"/>
            </a:xfrm>
            <a:prstGeom prst="rect">
              <a:avLst/>
            </a:prstGeom>
          </p:spPr>
        </p:pic>
        <p:pic>
          <p:nvPicPr>
            <p:cNvPr id="216" name="Image 16" descr="preencoded.png">
              <a:extLst>
                <a:ext uri="{FF2B5EF4-FFF2-40B4-BE49-F238E27FC236}">
                  <a16:creationId xmlns:a16="http://schemas.microsoft.com/office/drawing/2014/main" id="{7353C94B-F873-5B56-9164-55F1B39FF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65776" y="4709160"/>
              <a:ext cx="146304" cy="146304"/>
            </a:xfrm>
            <a:prstGeom prst="rect">
              <a:avLst/>
            </a:prstGeom>
          </p:spPr>
        </p:pic>
        <p:pic>
          <p:nvPicPr>
            <p:cNvPr id="217" name="Image 17" descr="preencoded.png">
              <a:extLst>
                <a:ext uri="{FF2B5EF4-FFF2-40B4-BE49-F238E27FC236}">
                  <a16:creationId xmlns:a16="http://schemas.microsoft.com/office/drawing/2014/main" id="{AD263D81-CF68-13F5-E337-9A83DD195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80176" y="4690872"/>
              <a:ext cx="146304" cy="146304"/>
            </a:xfrm>
            <a:prstGeom prst="rect">
              <a:avLst/>
            </a:prstGeom>
          </p:spPr>
        </p:pic>
        <p:pic>
          <p:nvPicPr>
            <p:cNvPr id="218" name="Image 18" descr="preencoded.png">
              <a:extLst>
                <a:ext uri="{FF2B5EF4-FFF2-40B4-BE49-F238E27FC236}">
                  <a16:creationId xmlns:a16="http://schemas.microsoft.com/office/drawing/2014/main" id="{D4720EA6-8DFB-DAFC-9166-B3A1D3E80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793992" y="4215384"/>
              <a:ext cx="146304" cy="146304"/>
            </a:xfrm>
            <a:prstGeom prst="rect">
              <a:avLst/>
            </a:prstGeom>
          </p:spPr>
        </p:pic>
        <p:pic>
          <p:nvPicPr>
            <p:cNvPr id="219" name="Image 19" descr="preencoded.png">
              <a:extLst>
                <a:ext uri="{FF2B5EF4-FFF2-40B4-BE49-F238E27FC236}">
                  <a16:creationId xmlns:a16="http://schemas.microsoft.com/office/drawing/2014/main" id="{424174CD-FBCB-A789-524B-ACAAA1B27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90288" y="4215384"/>
              <a:ext cx="146304" cy="146304"/>
            </a:xfrm>
            <a:prstGeom prst="rect">
              <a:avLst/>
            </a:prstGeom>
          </p:spPr>
        </p:pic>
        <p:pic>
          <p:nvPicPr>
            <p:cNvPr id="220" name="Image 20" descr="preencoded.png">
              <a:extLst>
                <a:ext uri="{FF2B5EF4-FFF2-40B4-BE49-F238E27FC236}">
                  <a16:creationId xmlns:a16="http://schemas.microsoft.com/office/drawing/2014/main" id="{61DFDFB0-BAB3-E711-E00E-F16AA536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5736" y="4361688"/>
              <a:ext cx="274320" cy="274320"/>
            </a:xfrm>
            <a:prstGeom prst="rect">
              <a:avLst/>
            </a:prstGeom>
          </p:spPr>
        </p:pic>
        <p:sp>
          <p:nvSpPr>
            <p:cNvPr id="221" name="Text 58">
              <a:extLst>
                <a:ext uri="{FF2B5EF4-FFF2-40B4-BE49-F238E27FC236}">
                  <a16:creationId xmlns:a16="http://schemas.microsoft.com/office/drawing/2014/main" id="{8AF64630-AEB3-92EA-F288-6895D55FE5E5}"/>
                </a:ext>
              </a:extLst>
            </p:cNvPr>
            <p:cNvSpPr txBox="1"/>
            <p:nvPr/>
          </p:nvSpPr>
          <p:spPr>
            <a:xfrm>
              <a:off x="4562856" y="4645152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基地</a:t>
              </a:r>
              <a:endParaRPr lang="en-US" sz="800" dirty="0"/>
            </a:p>
          </p:txBody>
        </p:sp>
        <p:pic>
          <p:nvPicPr>
            <p:cNvPr id="222" name="Image 21" descr="preencoded.png">
              <a:extLst>
                <a:ext uri="{FF2B5EF4-FFF2-40B4-BE49-F238E27FC236}">
                  <a16:creationId xmlns:a16="http://schemas.microsoft.com/office/drawing/2014/main" id="{B9AF7200-6355-5EEA-1657-EF0CC76A2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6480" y="4251960"/>
              <a:ext cx="310896" cy="310896"/>
            </a:xfrm>
            <a:prstGeom prst="rect">
              <a:avLst/>
            </a:prstGeom>
          </p:spPr>
        </p:pic>
        <p:sp>
          <p:nvSpPr>
            <p:cNvPr id="223" name="Text 59">
              <a:extLst>
                <a:ext uri="{FF2B5EF4-FFF2-40B4-BE49-F238E27FC236}">
                  <a16:creationId xmlns:a16="http://schemas.microsoft.com/office/drawing/2014/main" id="{AD36FF1D-48C7-4EE8-250F-F9E95C736B77}"/>
                </a:ext>
              </a:extLst>
            </p:cNvPr>
            <p:cNvSpPr txBox="1"/>
            <p:nvPr/>
          </p:nvSpPr>
          <p:spPr>
            <a:xfrm>
              <a:off x="5961888" y="4572000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無人機</a:t>
              </a:r>
              <a:endParaRPr lang="en-US" sz="800" dirty="0"/>
            </a:p>
          </p:txBody>
        </p:sp>
        <p:pic>
          <p:nvPicPr>
            <p:cNvPr id="224" name="Image 22" descr="preencoded.png">
              <a:extLst>
                <a:ext uri="{FF2B5EF4-FFF2-40B4-BE49-F238E27FC236}">
                  <a16:creationId xmlns:a16="http://schemas.microsoft.com/office/drawing/2014/main" id="{F85FB99E-8067-E63F-4C58-4BDF63C96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56832" y="4526280"/>
              <a:ext cx="256032" cy="256032"/>
            </a:xfrm>
            <a:prstGeom prst="rect">
              <a:avLst/>
            </a:prstGeom>
          </p:spPr>
        </p:pic>
        <p:sp>
          <p:nvSpPr>
            <p:cNvPr id="225" name="Text 60">
              <a:extLst>
                <a:ext uri="{FF2B5EF4-FFF2-40B4-BE49-F238E27FC236}">
                  <a16:creationId xmlns:a16="http://schemas.microsoft.com/office/drawing/2014/main" id="{937579BD-08A1-BB25-838C-AF8DD2FE7C3E}"/>
                </a:ext>
              </a:extLst>
            </p:cNvPr>
            <p:cNvSpPr txBox="1"/>
            <p:nvPr/>
          </p:nvSpPr>
          <p:spPr>
            <a:xfrm>
              <a:off x="6464808" y="4791456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手機</a:t>
              </a:r>
              <a:endParaRPr lang="en-US" sz="800" dirty="0"/>
            </a:p>
          </p:txBody>
        </p:sp>
        <p:pic>
          <p:nvPicPr>
            <p:cNvPr id="226" name="Image 23" descr="preencoded.png">
              <a:extLst>
                <a:ext uri="{FF2B5EF4-FFF2-40B4-BE49-F238E27FC236}">
                  <a16:creationId xmlns:a16="http://schemas.microsoft.com/office/drawing/2014/main" id="{CEBD744E-9225-B352-ADEB-6D077965B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3136" y="4407408"/>
              <a:ext cx="109728" cy="109728"/>
            </a:xfrm>
            <a:prstGeom prst="rect">
              <a:avLst/>
            </a:prstGeom>
          </p:spPr>
        </p:pic>
        <p:sp>
          <p:nvSpPr>
            <p:cNvPr id="227" name="Shape 61">
              <a:extLst>
                <a:ext uri="{FF2B5EF4-FFF2-40B4-BE49-F238E27FC236}">
                  <a16:creationId xmlns:a16="http://schemas.microsoft.com/office/drawing/2014/main" id="{0F05F1EA-1C79-F52A-78C7-40643BC5159C}"/>
                </a:ext>
              </a:extLst>
            </p:cNvPr>
            <p:cNvSpPr/>
            <p:nvPr/>
          </p:nvSpPr>
          <p:spPr>
            <a:xfrm>
              <a:off x="4498848" y="5001768"/>
              <a:ext cx="2569464" cy="237744"/>
            </a:xfrm>
            <a:prstGeom prst="roundRect">
              <a:avLst>
                <a:gd name="adj" fmla="val 15385"/>
              </a:avLst>
            </a:prstGeom>
            <a:solidFill>
              <a:srgbClr val="C9F0E6"/>
            </a:solidFill>
            <a:ln w="12700">
              <a:solidFill>
                <a:srgbClr val="C9F0E6"/>
              </a:solidFill>
              <a:prstDash val="solid"/>
            </a:ln>
          </p:spPr>
        </p:sp>
        <p:sp>
          <p:nvSpPr>
            <p:cNvPr id="228" name="Text 62">
              <a:extLst>
                <a:ext uri="{FF2B5EF4-FFF2-40B4-BE49-F238E27FC236}">
                  <a16:creationId xmlns:a16="http://schemas.microsoft.com/office/drawing/2014/main" id="{D63BCFD7-3CB8-CA35-95E8-E727EAB53730}"/>
                </a:ext>
              </a:extLst>
            </p:cNvPr>
            <p:cNvSpPr txBox="1"/>
            <p:nvPr/>
          </p:nvSpPr>
          <p:spPr>
            <a:xfrm>
              <a:off x="4498848" y="5001768"/>
              <a:ext cx="256946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地圖 ＋ 基地台 ＋ 終端與應用</a:t>
              </a:r>
              <a:endParaRPr lang="en-US" sz="1200" dirty="0"/>
            </a:p>
          </p:txBody>
        </p:sp>
        <p:sp>
          <p:nvSpPr>
            <p:cNvPr id="229" name="Shape 63">
              <a:extLst>
                <a:ext uri="{FF2B5EF4-FFF2-40B4-BE49-F238E27FC236}">
                  <a16:creationId xmlns:a16="http://schemas.microsoft.com/office/drawing/2014/main" id="{9EBB957D-77CC-E797-079A-FD81F43484AC}"/>
                </a:ext>
              </a:extLst>
            </p:cNvPr>
            <p:cNvSpPr/>
            <p:nvPr/>
          </p:nvSpPr>
          <p:spPr>
            <a:xfrm>
              <a:off x="5164531" y="528523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2F6FD0"/>
              </a:solidFill>
              <a:prstDash val="solid"/>
            </a:ln>
          </p:spPr>
        </p:sp>
        <p:sp>
          <p:nvSpPr>
            <p:cNvPr id="230" name="Text 64">
              <a:extLst>
                <a:ext uri="{FF2B5EF4-FFF2-40B4-BE49-F238E27FC236}">
                  <a16:creationId xmlns:a16="http://schemas.microsoft.com/office/drawing/2014/main" id="{0D7091A0-5B35-1E7A-C92D-5F2EED54FE93}"/>
                </a:ext>
              </a:extLst>
            </p:cNvPr>
            <p:cNvSpPr txBox="1"/>
            <p:nvPr/>
          </p:nvSpPr>
          <p:spPr>
            <a:xfrm>
              <a:off x="5164531" y="52852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O1</a:t>
              </a:r>
              <a:endParaRPr lang="en-US" sz="1100" dirty="0"/>
            </a:p>
          </p:txBody>
        </p:sp>
        <p:sp>
          <p:nvSpPr>
            <p:cNvPr id="231" name="Shape 65">
              <a:extLst>
                <a:ext uri="{FF2B5EF4-FFF2-40B4-BE49-F238E27FC236}">
                  <a16:creationId xmlns:a16="http://schemas.microsoft.com/office/drawing/2014/main" id="{19CF5A26-AFEB-80C4-F319-414ECA240406}"/>
                </a:ext>
              </a:extLst>
            </p:cNvPr>
            <p:cNvSpPr/>
            <p:nvPr/>
          </p:nvSpPr>
          <p:spPr>
            <a:xfrm>
              <a:off x="6001207" y="528523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1F8F6E"/>
              </a:solidFill>
              <a:prstDash val="solid"/>
            </a:ln>
          </p:spPr>
        </p:sp>
        <p:sp>
          <p:nvSpPr>
            <p:cNvPr id="232" name="Text 66">
              <a:extLst>
                <a:ext uri="{FF2B5EF4-FFF2-40B4-BE49-F238E27FC236}">
                  <a16:creationId xmlns:a16="http://schemas.microsoft.com/office/drawing/2014/main" id="{0840987A-9F3D-8249-5E02-E4F339767BC0}"/>
                </a:ext>
              </a:extLst>
            </p:cNvPr>
            <p:cNvSpPr txBox="1"/>
            <p:nvPr/>
          </p:nvSpPr>
          <p:spPr>
            <a:xfrm>
              <a:off x="6001207" y="52852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E2</a:t>
              </a:r>
              <a:endParaRPr lang="en-US" sz="1100" dirty="0"/>
            </a:p>
          </p:txBody>
        </p:sp>
        <p:sp>
          <p:nvSpPr>
            <p:cNvPr id="233" name="Shape 67">
              <a:extLst>
                <a:ext uri="{FF2B5EF4-FFF2-40B4-BE49-F238E27FC236}">
                  <a16:creationId xmlns:a16="http://schemas.microsoft.com/office/drawing/2014/main" id="{DC302839-5D6C-3C15-F704-A3A280219361}"/>
                </a:ext>
              </a:extLst>
            </p:cNvPr>
            <p:cNvSpPr/>
            <p:nvPr/>
          </p:nvSpPr>
          <p:spPr>
            <a:xfrm>
              <a:off x="7635240" y="3630168"/>
              <a:ext cx="2788920" cy="1764792"/>
            </a:xfrm>
            <a:prstGeom prst="roundRect">
              <a:avLst>
                <a:gd name="adj" fmla="val 3109"/>
              </a:avLst>
            </a:prstGeom>
            <a:solidFill>
              <a:srgbClr val="FFFFFF"/>
            </a:solidFill>
            <a:ln w="12700">
              <a:solidFill>
                <a:srgbClr val="2AA089"/>
              </a:solidFill>
              <a:prstDash val="solid"/>
            </a:ln>
          </p:spPr>
        </p:sp>
        <p:sp>
          <p:nvSpPr>
            <p:cNvPr id="234" name="Text 68">
              <a:extLst>
                <a:ext uri="{FF2B5EF4-FFF2-40B4-BE49-F238E27FC236}">
                  <a16:creationId xmlns:a16="http://schemas.microsoft.com/office/drawing/2014/main" id="{84C01901-22DD-AD33-689B-AA6BF3F0FC2C}"/>
                </a:ext>
              </a:extLst>
            </p:cNvPr>
            <p:cNvSpPr txBox="1"/>
            <p:nvPr/>
          </p:nvSpPr>
          <p:spPr>
            <a:xfrm>
              <a:off x="7635240" y="367588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RAN Emulator #N</a:t>
              </a:r>
              <a:endParaRPr lang="en-US" sz="1500" dirty="0"/>
            </a:p>
          </p:txBody>
        </p:sp>
        <p:sp>
          <p:nvSpPr>
            <p:cNvPr id="235" name="Text 69">
              <a:extLst>
                <a:ext uri="{FF2B5EF4-FFF2-40B4-BE49-F238E27FC236}">
                  <a16:creationId xmlns:a16="http://schemas.microsoft.com/office/drawing/2014/main" id="{ACD78A3B-0287-71FB-B55D-3029DD0311AE}"/>
                </a:ext>
              </a:extLst>
            </p:cNvPr>
            <p:cNvSpPr txBox="1"/>
            <p:nvPr/>
          </p:nvSpPr>
          <p:spPr>
            <a:xfrm>
              <a:off x="7635240" y="3913632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自訂預演情境</a:t>
              </a:r>
              <a:endParaRPr lang="en-US" sz="1200" dirty="0"/>
            </a:p>
          </p:txBody>
        </p:sp>
        <p:sp>
          <p:nvSpPr>
            <p:cNvPr id="236" name="Shape 70">
              <a:extLst>
                <a:ext uri="{FF2B5EF4-FFF2-40B4-BE49-F238E27FC236}">
                  <a16:creationId xmlns:a16="http://schemas.microsoft.com/office/drawing/2014/main" id="{F5539C7A-B31F-FCE3-A9F3-EA6DDDE1446E}"/>
                </a:ext>
              </a:extLst>
            </p:cNvPr>
            <p:cNvSpPr/>
            <p:nvPr/>
          </p:nvSpPr>
          <p:spPr>
            <a:xfrm>
              <a:off x="7744968" y="4142232"/>
              <a:ext cx="2569464" cy="822960"/>
            </a:xfrm>
            <a:prstGeom prst="rect">
              <a:avLst/>
            </a:prstGeom>
            <a:solidFill>
              <a:srgbClr val="ECECEC"/>
            </a:solidFill>
            <a:ln w="9525">
              <a:solidFill>
                <a:srgbClr val="B5B5B5"/>
              </a:solidFill>
              <a:prstDash val="solid"/>
            </a:ln>
          </p:spPr>
        </p:sp>
        <p:sp>
          <p:nvSpPr>
            <p:cNvPr id="237" name="Shape 71">
              <a:extLst>
                <a:ext uri="{FF2B5EF4-FFF2-40B4-BE49-F238E27FC236}">
                  <a16:creationId xmlns:a16="http://schemas.microsoft.com/office/drawing/2014/main" id="{06AF2F4A-75DA-2EB6-AB85-325EE5F74585}"/>
                </a:ext>
              </a:extLst>
            </p:cNvPr>
            <p:cNvSpPr/>
            <p:nvPr/>
          </p:nvSpPr>
          <p:spPr>
            <a:xfrm>
              <a:off x="7744968" y="4517136"/>
              <a:ext cx="2569464" cy="731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8" name="Shape 72">
              <a:extLst>
                <a:ext uri="{FF2B5EF4-FFF2-40B4-BE49-F238E27FC236}">
                  <a16:creationId xmlns:a16="http://schemas.microsoft.com/office/drawing/2014/main" id="{2C3C6624-4DA1-DCC0-ACD6-7BD4B8F5A9F4}"/>
                </a:ext>
              </a:extLst>
            </p:cNvPr>
            <p:cNvSpPr/>
            <p:nvPr/>
          </p:nvSpPr>
          <p:spPr>
            <a:xfrm>
              <a:off x="8530620" y="4142232"/>
              <a:ext cx="73152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9" name="Shape 73">
              <a:extLst>
                <a:ext uri="{FF2B5EF4-FFF2-40B4-BE49-F238E27FC236}">
                  <a16:creationId xmlns:a16="http://schemas.microsoft.com/office/drawing/2014/main" id="{0D69B4E2-97D9-417A-FADF-69A75592FFAE}"/>
                </a:ext>
              </a:extLst>
            </p:cNvPr>
            <p:cNvSpPr/>
            <p:nvPr/>
          </p:nvSpPr>
          <p:spPr>
            <a:xfrm>
              <a:off x="9507017" y="4142232"/>
              <a:ext cx="73152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0" name="Shape 74">
              <a:extLst>
                <a:ext uri="{FF2B5EF4-FFF2-40B4-BE49-F238E27FC236}">
                  <a16:creationId xmlns:a16="http://schemas.microsoft.com/office/drawing/2014/main" id="{988E72F3-7DA5-243C-C314-62F0BAF0D846}"/>
                </a:ext>
              </a:extLst>
            </p:cNvPr>
            <p:cNvSpPr/>
            <p:nvPr/>
          </p:nvSpPr>
          <p:spPr>
            <a:xfrm>
              <a:off x="7818120" y="4197096"/>
              <a:ext cx="365760" cy="256032"/>
            </a:xfrm>
            <a:prstGeom prst="rect">
              <a:avLst/>
            </a:prstGeom>
            <a:solidFill>
              <a:srgbClr val="D6D6D6"/>
            </a:solidFill>
            <a:ln w="12700">
              <a:solidFill>
                <a:srgbClr val="D6D6D6"/>
              </a:solidFill>
              <a:prstDash val="solid"/>
            </a:ln>
          </p:spPr>
        </p:sp>
        <p:sp>
          <p:nvSpPr>
            <p:cNvPr id="241" name="Shape 75">
              <a:extLst>
                <a:ext uri="{FF2B5EF4-FFF2-40B4-BE49-F238E27FC236}">
                  <a16:creationId xmlns:a16="http://schemas.microsoft.com/office/drawing/2014/main" id="{9A0AC2F5-8672-EA71-8002-05D6C6E64FAF}"/>
                </a:ext>
              </a:extLst>
            </p:cNvPr>
            <p:cNvSpPr/>
            <p:nvPr/>
          </p:nvSpPr>
          <p:spPr>
            <a:xfrm>
              <a:off x="9857232" y="4654296"/>
              <a:ext cx="365760" cy="237744"/>
            </a:xfrm>
            <a:prstGeom prst="rect">
              <a:avLst/>
            </a:prstGeom>
            <a:solidFill>
              <a:srgbClr val="D6D6D6"/>
            </a:solidFill>
            <a:ln w="12700">
              <a:solidFill>
                <a:srgbClr val="D6D6D6"/>
              </a:solidFill>
              <a:prstDash val="solid"/>
            </a:ln>
          </p:spPr>
        </p:sp>
        <p:pic>
          <p:nvPicPr>
            <p:cNvPr id="242" name="Image 24" descr="preencoded.png">
              <a:extLst>
                <a:ext uri="{FF2B5EF4-FFF2-40B4-BE49-F238E27FC236}">
                  <a16:creationId xmlns:a16="http://schemas.microsoft.com/office/drawing/2014/main" id="{E355B0DA-9E4E-C63C-CA02-AB478398E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836408" y="4745736"/>
              <a:ext cx="137160" cy="137160"/>
            </a:xfrm>
            <a:prstGeom prst="rect">
              <a:avLst/>
            </a:prstGeom>
          </p:spPr>
        </p:pic>
        <p:pic>
          <p:nvPicPr>
            <p:cNvPr id="243" name="Image 25" descr="preencoded.png">
              <a:extLst>
                <a:ext uri="{FF2B5EF4-FFF2-40B4-BE49-F238E27FC236}">
                  <a16:creationId xmlns:a16="http://schemas.microsoft.com/office/drawing/2014/main" id="{CF6F9A6F-69C4-61CC-937A-75AE0967D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058400" y="4197096"/>
              <a:ext cx="137160" cy="137160"/>
            </a:xfrm>
            <a:prstGeom prst="rect">
              <a:avLst/>
            </a:prstGeom>
          </p:spPr>
        </p:pic>
        <p:pic>
          <p:nvPicPr>
            <p:cNvPr id="244" name="Image 26" descr="preencoded.png">
              <a:extLst>
                <a:ext uri="{FF2B5EF4-FFF2-40B4-BE49-F238E27FC236}">
                  <a16:creationId xmlns:a16="http://schemas.microsoft.com/office/drawing/2014/main" id="{80FDD5BE-5948-36C7-0757-D22F29545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1856" y="4361688"/>
              <a:ext cx="274320" cy="274320"/>
            </a:xfrm>
            <a:prstGeom prst="rect">
              <a:avLst/>
            </a:prstGeom>
          </p:spPr>
        </p:pic>
        <p:sp>
          <p:nvSpPr>
            <p:cNvPr id="245" name="Text 76">
              <a:extLst>
                <a:ext uri="{FF2B5EF4-FFF2-40B4-BE49-F238E27FC236}">
                  <a16:creationId xmlns:a16="http://schemas.microsoft.com/office/drawing/2014/main" id="{4C0BC53E-165C-DEAB-F977-D04494C6AE56}"/>
                </a:ext>
              </a:extLst>
            </p:cNvPr>
            <p:cNvSpPr txBox="1"/>
            <p:nvPr/>
          </p:nvSpPr>
          <p:spPr>
            <a:xfrm>
              <a:off x="7808976" y="4645152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基地</a:t>
              </a:r>
              <a:endParaRPr lang="en-US" sz="800" dirty="0"/>
            </a:p>
          </p:txBody>
        </p:sp>
        <p:pic>
          <p:nvPicPr>
            <p:cNvPr id="246" name="Image 27" descr="preencoded.png">
              <a:extLst>
                <a:ext uri="{FF2B5EF4-FFF2-40B4-BE49-F238E27FC236}">
                  <a16:creationId xmlns:a16="http://schemas.microsoft.com/office/drawing/2014/main" id="{E272D591-A420-7DA8-57CB-CA610AA59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78240" y="4306824"/>
              <a:ext cx="274320" cy="274320"/>
            </a:xfrm>
            <a:prstGeom prst="rect">
              <a:avLst/>
            </a:prstGeom>
          </p:spPr>
        </p:pic>
        <p:pic>
          <p:nvPicPr>
            <p:cNvPr id="247" name="Image 28" descr="preencoded.png">
              <a:extLst>
                <a:ext uri="{FF2B5EF4-FFF2-40B4-BE49-F238E27FC236}">
                  <a16:creationId xmlns:a16="http://schemas.microsoft.com/office/drawing/2014/main" id="{5C3EDB6A-1A1F-B74D-719E-93F9D236F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540496" y="4599432"/>
              <a:ext cx="274320" cy="274320"/>
            </a:xfrm>
            <a:prstGeom prst="rect">
              <a:avLst/>
            </a:prstGeom>
          </p:spPr>
        </p:pic>
        <p:pic>
          <p:nvPicPr>
            <p:cNvPr id="248" name="Image 29" descr="preencoded.png">
              <a:extLst>
                <a:ext uri="{FF2B5EF4-FFF2-40B4-BE49-F238E27FC236}">
                  <a16:creationId xmlns:a16="http://schemas.microsoft.com/office/drawing/2014/main" id="{64E8E855-3C77-67EE-86C5-120FBDF4B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244584" y="4526280"/>
              <a:ext cx="256032" cy="256032"/>
            </a:xfrm>
            <a:prstGeom prst="rect">
              <a:avLst/>
            </a:prstGeom>
          </p:spPr>
        </p:pic>
        <p:sp>
          <p:nvSpPr>
            <p:cNvPr id="249" name="Text 77">
              <a:extLst>
                <a:ext uri="{FF2B5EF4-FFF2-40B4-BE49-F238E27FC236}">
                  <a16:creationId xmlns:a16="http://schemas.microsoft.com/office/drawing/2014/main" id="{42651F45-129E-B272-ADFC-45F1ED44E3F1}"/>
                </a:ext>
              </a:extLst>
            </p:cNvPr>
            <p:cNvSpPr txBox="1"/>
            <p:nvPr/>
          </p:nvSpPr>
          <p:spPr>
            <a:xfrm>
              <a:off x="9052560" y="4791456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手機</a:t>
              </a:r>
              <a:endParaRPr lang="en-US" sz="800" dirty="0"/>
            </a:p>
          </p:txBody>
        </p:sp>
        <p:pic>
          <p:nvPicPr>
            <p:cNvPr id="250" name="Image 30" descr="preencoded.png">
              <a:extLst>
                <a:ext uri="{FF2B5EF4-FFF2-40B4-BE49-F238E27FC236}">
                  <a16:creationId xmlns:a16="http://schemas.microsoft.com/office/drawing/2014/main" id="{DE793995-791A-C0E2-4AA4-6AA281AA1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390888" y="4407408"/>
              <a:ext cx="109728" cy="109728"/>
            </a:xfrm>
            <a:prstGeom prst="rect">
              <a:avLst/>
            </a:prstGeom>
          </p:spPr>
        </p:pic>
        <p:pic>
          <p:nvPicPr>
            <p:cNvPr id="251" name="Image 31" descr="preencoded.png">
              <a:extLst>
                <a:ext uri="{FF2B5EF4-FFF2-40B4-BE49-F238E27FC236}">
                  <a16:creationId xmlns:a16="http://schemas.microsoft.com/office/drawing/2014/main" id="{FB5CD46D-0495-5428-CE8B-444A8DC0C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93224" y="4361688"/>
              <a:ext cx="274320" cy="274320"/>
            </a:xfrm>
            <a:prstGeom prst="rect">
              <a:avLst/>
            </a:prstGeom>
          </p:spPr>
        </p:pic>
        <p:sp>
          <p:nvSpPr>
            <p:cNvPr id="252" name="Text 78">
              <a:extLst>
                <a:ext uri="{FF2B5EF4-FFF2-40B4-BE49-F238E27FC236}">
                  <a16:creationId xmlns:a16="http://schemas.microsoft.com/office/drawing/2014/main" id="{8BD9F745-2D7E-AC80-3A72-7F14AEB7EB50}"/>
                </a:ext>
              </a:extLst>
            </p:cNvPr>
            <p:cNvSpPr txBox="1"/>
            <p:nvPr/>
          </p:nvSpPr>
          <p:spPr>
            <a:xfrm>
              <a:off x="9610344" y="4645152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基地</a:t>
              </a:r>
              <a:endParaRPr lang="en-US" sz="800" dirty="0"/>
            </a:p>
          </p:txBody>
        </p:sp>
        <p:sp>
          <p:nvSpPr>
            <p:cNvPr id="253" name="Shape 79">
              <a:extLst>
                <a:ext uri="{FF2B5EF4-FFF2-40B4-BE49-F238E27FC236}">
                  <a16:creationId xmlns:a16="http://schemas.microsoft.com/office/drawing/2014/main" id="{8252E9F9-F0E4-AFC0-FAC0-E35CA2A6B507}"/>
                </a:ext>
              </a:extLst>
            </p:cNvPr>
            <p:cNvSpPr/>
            <p:nvPr/>
          </p:nvSpPr>
          <p:spPr>
            <a:xfrm>
              <a:off x="7744968" y="5001768"/>
              <a:ext cx="2569464" cy="237744"/>
            </a:xfrm>
            <a:prstGeom prst="roundRect">
              <a:avLst>
                <a:gd name="adj" fmla="val 15385"/>
              </a:avLst>
            </a:prstGeom>
            <a:solidFill>
              <a:srgbClr val="C9F0E6"/>
            </a:solidFill>
            <a:ln w="12700">
              <a:solidFill>
                <a:srgbClr val="C9F0E6"/>
              </a:solidFill>
              <a:prstDash val="solid"/>
            </a:ln>
          </p:spPr>
        </p:sp>
        <p:sp>
          <p:nvSpPr>
            <p:cNvPr id="254" name="Text 80">
              <a:extLst>
                <a:ext uri="{FF2B5EF4-FFF2-40B4-BE49-F238E27FC236}">
                  <a16:creationId xmlns:a16="http://schemas.microsoft.com/office/drawing/2014/main" id="{AEAE6A97-B340-57A6-8D3E-A8152EA5C3BF}"/>
                </a:ext>
              </a:extLst>
            </p:cNvPr>
            <p:cNvSpPr txBox="1"/>
            <p:nvPr/>
          </p:nvSpPr>
          <p:spPr>
            <a:xfrm>
              <a:off x="7744968" y="5001768"/>
              <a:ext cx="256946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地圖 ＋ 基地台 ＋ 終端與應用</a:t>
              </a:r>
              <a:endParaRPr lang="en-US" sz="1200" dirty="0"/>
            </a:p>
          </p:txBody>
        </p:sp>
        <p:sp>
          <p:nvSpPr>
            <p:cNvPr id="255" name="Shape 81">
              <a:extLst>
                <a:ext uri="{FF2B5EF4-FFF2-40B4-BE49-F238E27FC236}">
                  <a16:creationId xmlns:a16="http://schemas.microsoft.com/office/drawing/2014/main" id="{C796F60C-0B90-5D17-9B4C-0A0DFD45AE1F}"/>
                </a:ext>
              </a:extLst>
            </p:cNvPr>
            <p:cNvSpPr/>
            <p:nvPr/>
          </p:nvSpPr>
          <p:spPr>
            <a:xfrm>
              <a:off x="8410651" y="528523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2F6FD0"/>
              </a:solidFill>
              <a:prstDash val="solid"/>
            </a:ln>
          </p:spPr>
        </p:sp>
        <p:sp>
          <p:nvSpPr>
            <p:cNvPr id="256" name="Text 82">
              <a:extLst>
                <a:ext uri="{FF2B5EF4-FFF2-40B4-BE49-F238E27FC236}">
                  <a16:creationId xmlns:a16="http://schemas.microsoft.com/office/drawing/2014/main" id="{8AD0A974-C17D-F799-54CF-64622D3A74FD}"/>
                </a:ext>
              </a:extLst>
            </p:cNvPr>
            <p:cNvSpPr txBox="1"/>
            <p:nvPr/>
          </p:nvSpPr>
          <p:spPr>
            <a:xfrm>
              <a:off x="8410651" y="52852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O1</a:t>
              </a:r>
              <a:endParaRPr lang="en-US" sz="1100" dirty="0"/>
            </a:p>
          </p:txBody>
        </p:sp>
        <p:sp>
          <p:nvSpPr>
            <p:cNvPr id="257" name="Shape 83">
              <a:extLst>
                <a:ext uri="{FF2B5EF4-FFF2-40B4-BE49-F238E27FC236}">
                  <a16:creationId xmlns:a16="http://schemas.microsoft.com/office/drawing/2014/main" id="{D18F0321-26CC-92B4-0F67-69A9C940A213}"/>
                </a:ext>
              </a:extLst>
            </p:cNvPr>
            <p:cNvSpPr/>
            <p:nvPr/>
          </p:nvSpPr>
          <p:spPr>
            <a:xfrm>
              <a:off x="9247327" y="528523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1F8F6E"/>
              </a:solidFill>
              <a:prstDash val="solid"/>
            </a:ln>
          </p:spPr>
        </p:sp>
        <p:sp>
          <p:nvSpPr>
            <p:cNvPr id="258" name="Text 84">
              <a:extLst>
                <a:ext uri="{FF2B5EF4-FFF2-40B4-BE49-F238E27FC236}">
                  <a16:creationId xmlns:a16="http://schemas.microsoft.com/office/drawing/2014/main" id="{33473F5B-9D94-8DA3-2326-B3AA6506F664}"/>
                </a:ext>
              </a:extLst>
            </p:cNvPr>
            <p:cNvSpPr txBox="1"/>
            <p:nvPr/>
          </p:nvSpPr>
          <p:spPr>
            <a:xfrm>
              <a:off x="9247327" y="52852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E2</a:t>
              </a:r>
              <a:endParaRPr lang="en-US" sz="1100" dirty="0"/>
            </a:p>
          </p:txBody>
        </p:sp>
        <p:sp>
          <p:nvSpPr>
            <p:cNvPr id="259" name="Text 85">
              <a:extLst>
                <a:ext uri="{FF2B5EF4-FFF2-40B4-BE49-F238E27FC236}">
                  <a16:creationId xmlns:a16="http://schemas.microsoft.com/office/drawing/2014/main" id="{4B780662-8246-CA65-FD8B-ABFBB7B45E41}"/>
                </a:ext>
              </a:extLst>
            </p:cNvPr>
            <p:cNvSpPr txBox="1"/>
            <p:nvPr/>
          </p:nvSpPr>
          <p:spPr>
            <a:xfrm>
              <a:off x="7178040" y="416052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···</a:t>
              </a:r>
              <a:endParaRPr lang="en-US" sz="2400" dirty="0"/>
            </a:p>
          </p:txBody>
        </p:sp>
        <p:sp>
          <p:nvSpPr>
            <p:cNvPr id="260" name="Shape 86">
              <a:extLst>
                <a:ext uri="{FF2B5EF4-FFF2-40B4-BE49-F238E27FC236}">
                  <a16:creationId xmlns:a16="http://schemas.microsoft.com/office/drawing/2014/main" id="{BBFFABC5-A661-7F3D-5C76-29DE484C956B}"/>
                </a:ext>
              </a:extLst>
            </p:cNvPr>
            <p:cNvSpPr/>
            <p:nvPr/>
          </p:nvSpPr>
          <p:spPr>
            <a:xfrm>
              <a:off x="1188720" y="5605272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2F6FD0"/>
              </a:solidFill>
              <a:prstDash val="solid"/>
            </a:ln>
          </p:spPr>
        </p:sp>
        <p:sp>
          <p:nvSpPr>
            <p:cNvPr id="261" name="Text 87">
              <a:extLst>
                <a:ext uri="{FF2B5EF4-FFF2-40B4-BE49-F238E27FC236}">
                  <a16:creationId xmlns:a16="http://schemas.microsoft.com/office/drawing/2014/main" id="{D55E3363-21A5-4A97-C987-BCC5F082AF6B}"/>
                </a:ext>
              </a:extLst>
            </p:cNvPr>
            <p:cNvSpPr txBox="1"/>
            <p:nvPr/>
          </p:nvSpPr>
          <p:spPr>
            <a:xfrm>
              <a:off x="1188720" y="560527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O1</a:t>
              </a:r>
              <a:endParaRPr lang="en-US" sz="1100" dirty="0"/>
            </a:p>
          </p:txBody>
        </p:sp>
        <p:sp>
          <p:nvSpPr>
            <p:cNvPr id="262" name="Shape 88">
              <a:extLst>
                <a:ext uri="{FF2B5EF4-FFF2-40B4-BE49-F238E27FC236}">
                  <a16:creationId xmlns:a16="http://schemas.microsoft.com/office/drawing/2014/main" id="{43F33B98-EAD0-0E71-C784-F710D92A8877}"/>
                </a:ext>
              </a:extLst>
            </p:cNvPr>
            <p:cNvSpPr/>
            <p:nvPr/>
          </p:nvSpPr>
          <p:spPr>
            <a:xfrm>
              <a:off x="1188720" y="5852160"/>
              <a:ext cx="457200" cy="219456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1F8F6E"/>
              </a:solidFill>
              <a:prstDash val="solid"/>
            </a:ln>
          </p:spPr>
        </p:sp>
        <p:sp>
          <p:nvSpPr>
            <p:cNvPr id="263" name="Text 89">
              <a:extLst>
                <a:ext uri="{FF2B5EF4-FFF2-40B4-BE49-F238E27FC236}">
                  <a16:creationId xmlns:a16="http://schemas.microsoft.com/office/drawing/2014/main" id="{385FBDDF-074F-781B-FA6A-4819FF3B83EC}"/>
                </a:ext>
              </a:extLst>
            </p:cNvPr>
            <p:cNvSpPr txBox="1"/>
            <p:nvPr/>
          </p:nvSpPr>
          <p:spPr>
            <a:xfrm>
              <a:off x="1188720" y="5852160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E2</a:t>
              </a:r>
              <a:endParaRPr lang="en-US" sz="1100" dirty="0"/>
            </a:p>
          </p:txBody>
        </p:sp>
        <p:sp>
          <p:nvSpPr>
            <p:cNvPr id="264" name="Shape 90">
              <a:extLst>
                <a:ext uri="{FF2B5EF4-FFF2-40B4-BE49-F238E27FC236}">
                  <a16:creationId xmlns:a16="http://schemas.microsoft.com/office/drawing/2014/main" id="{8C7BDB90-2155-A039-1E0C-3858239D3F09}"/>
                </a:ext>
              </a:extLst>
            </p:cNvPr>
            <p:cNvSpPr/>
            <p:nvPr/>
          </p:nvSpPr>
          <p:spPr>
            <a:xfrm>
              <a:off x="1645920" y="5715000"/>
              <a:ext cx="9052560" cy="0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</a:ln>
          </p:spPr>
        </p:sp>
        <p:sp>
          <p:nvSpPr>
            <p:cNvPr id="265" name="Shape 91">
              <a:extLst>
                <a:ext uri="{FF2B5EF4-FFF2-40B4-BE49-F238E27FC236}">
                  <a16:creationId xmlns:a16="http://schemas.microsoft.com/office/drawing/2014/main" id="{C561EC6D-1DBC-21AF-5F4B-8761CB3F7C36}"/>
                </a:ext>
              </a:extLst>
            </p:cNvPr>
            <p:cNvSpPr/>
            <p:nvPr/>
          </p:nvSpPr>
          <p:spPr>
            <a:xfrm>
              <a:off x="1645920" y="5961888"/>
              <a:ext cx="9352026" cy="0"/>
            </a:xfrm>
            <a:prstGeom prst="line">
              <a:avLst/>
            </a:prstGeom>
            <a:noFill/>
            <a:ln w="25400">
              <a:solidFill>
                <a:srgbClr val="1F8F6E"/>
              </a:solidFill>
              <a:prstDash val="solid"/>
            </a:ln>
          </p:spPr>
        </p:sp>
        <p:sp>
          <p:nvSpPr>
            <p:cNvPr id="266" name="Shape 92">
              <a:extLst>
                <a:ext uri="{FF2B5EF4-FFF2-40B4-BE49-F238E27FC236}">
                  <a16:creationId xmlns:a16="http://schemas.microsoft.com/office/drawing/2014/main" id="{538976CC-351E-6366-CA1D-CADDFD491596}"/>
                </a:ext>
              </a:extLst>
            </p:cNvPr>
            <p:cNvSpPr/>
            <p:nvPr/>
          </p:nvSpPr>
          <p:spPr>
            <a:xfrm>
              <a:off x="2284171" y="5504688"/>
              <a:ext cx="0" cy="301752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headEnd type="triangle"/>
              <a:tailEnd type="triangle"/>
            </a:ln>
          </p:spPr>
        </p:sp>
        <p:sp>
          <p:nvSpPr>
            <p:cNvPr id="267" name="Shape 93">
              <a:extLst>
                <a:ext uri="{FF2B5EF4-FFF2-40B4-BE49-F238E27FC236}">
                  <a16:creationId xmlns:a16="http://schemas.microsoft.com/office/drawing/2014/main" id="{93982F66-A499-90FE-F027-CA0D48D201D3}"/>
                </a:ext>
              </a:extLst>
            </p:cNvPr>
            <p:cNvSpPr/>
            <p:nvPr/>
          </p:nvSpPr>
          <p:spPr>
            <a:xfrm>
              <a:off x="3120847" y="5504688"/>
              <a:ext cx="0" cy="548640"/>
            </a:xfrm>
            <a:prstGeom prst="line">
              <a:avLst/>
            </a:prstGeom>
            <a:noFill/>
            <a:ln w="25400">
              <a:solidFill>
                <a:srgbClr val="1F8F6E"/>
              </a:solidFill>
              <a:prstDash val="solid"/>
              <a:headEnd type="triangle"/>
              <a:tailEnd type="triangle"/>
            </a:ln>
          </p:spPr>
        </p:sp>
        <p:sp>
          <p:nvSpPr>
            <p:cNvPr id="268" name="Shape 94">
              <a:extLst>
                <a:ext uri="{FF2B5EF4-FFF2-40B4-BE49-F238E27FC236}">
                  <a16:creationId xmlns:a16="http://schemas.microsoft.com/office/drawing/2014/main" id="{9176EF5E-3C06-3903-E003-9DA022FCB6C0}"/>
                </a:ext>
              </a:extLst>
            </p:cNvPr>
            <p:cNvSpPr/>
            <p:nvPr/>
          </p:nvSpPr>
          <p:spPr>
            <a:xfrm>
              <a:off x="5393131" y="5504688"/>
              <a:ext cx="0" cy="301752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headEnd type="triangle"/>
              <a:tailEnd type="triangle"/>
            </a:ln>
          </p:spPr>
        </p:sp>
        <p:sp>
          <p:nvSpPr>
            <p:cNvPr id="269" name="Shape 95">
              <a:extLst>
                <a:ext uri="{FF2B5EF4-FFF2-40B4-BE49-F238E27FC236}">
                  <a16:creationId xmlns:a16="http://schemas.microsoft.com/office/drawing/2014/main" id="{75AC12EB-0038-72EE-DC15-7C2AA63EDF3C}"/>
                </a:ext>
              </a:extLst>
            </p:cNvPr>
            <p:cNvSpPr/>
            <p:nvPr/>
          </p:nvSpPr>
          <p:spPr>
            <a:xfrm>
              <a:off x="6229807" y="5504688"/>
              <a:ext cx="0" cy="548640"/>
            </a:xfrm>
            <a:prstGeom prst="line">
              <a:avLst/>
            </a:prstGeom>
            <a:noFill/>
            <a:ln w="25400">
              <a:solidFill>
                <a:srgbClr val="1F8F6E"/>
              </a:solidFill>
              <a:prstDash val="solid"/>
              <a:headEnd type="triangle"/>
              <a:tailEnd type="triangle"/>
            </a:ln>
          </p:spPr>
        </p:sp>
        <p:sp>
          <p:nvSpPr>
            <p:cNvPr id="270" name="Shape 96">
              <a:extLst>
                <a:ext uri="{FF2B5EF4-FFF2-40B4-BE49-F238E27FC236}">
                  <a16:creationId xmlns:a16="http://schemas.microsoft.com/office/drawing/2014/main" id="{BFC2B08D-8527-F554-B22A-8D241266956E}"/>
                </a:ext>
              </a:extLst>
            </p:cNvPr>
            <p:cNvSpPr/>
            <p:nvPr/>
          </p:nvSpPr>
          <p:spPr>
            <a:xfrm>
              <a:off x="8639251" y="5504688"/>
              <a:ext cx="0" cy="301752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headEnd type="triangle"/>
              <a:tailEnd type="triangle"/>
            </a:ln>
          </p:spPr>
        </p:sp>
        <p:sp>
          <p:nvSpPr>
            <p:cNvPr id="271" name="Shape 97">
              <a:extLst>
                <a:ext uri="{FF2B5EF4-FFF2-40B4-BE49-F238E27FC236}">
                  <a16:creationId xmlns:a16="http://schemas.microsoft.com/office/drawing/2014/main" id="{D3BBF85A-D283-1386-1DFC-E65D6B74D374}"/>
                </a:ext>
              </a:extLst>
            </p:cNvPr>
            <p:cNvSpPr/>
            <p:nvPr/>
          </p:nvSpPr>
          <p:spPr>
            <a:xfrm>
              <a:off x="9475927" y="5504688"/>
              <a:ext cx="0" cy="548640"/>
            </a:xfrm>
            <a:prstGeom prst="line">
              <a:avLst/>
            </a:prstGeom>
            <a:noFill/>
            <a:ln w="25400">
              <a:solidFill>
                <a:srgbClr val="1F8F6E"/>
              </a:solidFill>
              <a:prstDash val="solid"/>
              <a:headEnd type="triangle"/>
              <a:tailEnd type="triangle"/>
            </a:ln>
          </p:spPr>
        </p:sp>
        <p:sp>
          <p:nvSpPr>
            <p:cNvPr id="272" name="Shape 98">
              <a:extLst>
                <a:ext uri="{FF2B5EF4-FFF2-40B4-BE49-F238E27FC236}">
                  <a16:creationId xmlns:a16="http://schemas.microsoft.com/office/drawing/2014/main" id="{C11BEEF8-0DCA-2208-C4A1-7A4DF5809A75}"/>
                </a:ext>
              </a:extLst>
            </p:cNvPr>
            <p:cNvSpPr/>
            <p:nvPr/>
          </p:nvSpPr>
          <p:spPr>
            <a:xfrm>
              <a:off x="9365742" y="2907792"/>
              <a:ext cx="0" cy="493776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headEnd type="triangle"/>
            </a:ln>
          </p:spPr>
        </p:sp>
        <p:sp>
          <p:nvSpPr>
            <p:cNvPr id="273" name="Shape 99">
              <a:extLst>
                <a:ext uri="{FF2B5EF4-FFF2-40B4-BE49-F238E27FC236}">
                  <a16:creationId xmlns:a16="http://schemas.microsoft.com/office/drawing/2014/main" id="{9A74BCBD-3555-DC4D-C262-544452E639FA}"/>
                </a:ext>
              </a:extLst>
            </p:cNvPr>
            <p:cNvSpPr/>
            <p:nvPr/>
          </p:nvSpPr>
          <p:spPr>
            <a:xfrm>
              <a:off x="9365742" y="3401568"/>
              <a:ext cx="1332738" cy="0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</a:ln>
          </p:spPr>
        </p:sp>
        <p:sp>
          <p:nvSpPr>
            <p:cNvPr id="274" name="Shape 100">
              <a:extLst>
                <a:ext uri="{FF2B5EF4-FFF2-40B4-BE49-F238E27FC236}">
                  <a16:creationId xmlns:a16="http://schemas.microsoft.com/office/drawing/2014/main" id="{DE104AE6-DA72-A12F-FCAE-E4D02D741E60}"/>
                </a:ext>
              </a:extLst>
            </p:cNvPr>
            <p:cNvSpPr/>
            <p:nvPr/>
          </p:nvSpPr>
          <p:spPr>
            <a:xfrm>
              <a:off x="10698480" y="3401568"/>
              <a:ext cx="0" cy="2313432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</a:ln>
          </p:spPr>
        </p:sp>
        <p:sp>
          <p:nvSpPr>
            <p:cNvPr id="275" name="Shape 101">
              <a:extLst>
                <a:ext uri="{FF2B5EF4-FFF2-40B4-BE49-F238E27FC236}">
                  <a16:creationId xmlns:a16="http://schemas.microsoft.com/office/drawing/2014/main" id="{5EB75A7D-0461-A507-61DA-FACFFA054A70}"/>
                </a:ext>
              </a:extLst>
            </p:cNvPr>
            <p:cNvSpPr/>
            <p:nvPr/>
          </p:nvSpPr>
          <p:spPr>
            <a:xfrm>
              <a:off x="10997946" y="2907792"/>
              <a:ext cx="0" cy="3054096"/>
            </a:xfrm>
            <a:prstGeom prst="line">
              <a:avLst/>
            </a:prstGeom>
            <a:noFill/>
            <a:ln w="25400">
              <a:solidFill>
                <a:srgbClr val="1F8F6E"/>
              </a:solidFill>
              <a:prstDash val="solid"/>
              <a:headEnd type="triangle"/>
            </a:ln>
          </p:spPr>
        </p:sp>
        <p:sp>
          <p:nvSpPr>
            <p:cNvPr id="276" name="Shape 102">
              <a:extLst>
                <a:ext uri="{FF2B5EF4-FFF2-40B4-BE49-F238E27FC236}">
                  <a16:creationId xmlns:a16="http://schemas.microsoft.com/office/drawing/2014/main" id="{00F392EA-B4D9-9D4A-4F59-D7217795A0B7}"/>
                </a:ext>
              </a:extLst>
            </p:cNvPr>
            <p:cNvSpPr/>
            <p:nvPr/>
          </p:nvSpPr>
          <p:spPr>
            <a:xfrm>
              <a:off x="2651760" y="3328416"/>
              <a:ext cx="6309360" cy="0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</a:ln>
          </p:spPr>
        </p:sp>
        <p:sp>
          <p:nvSpPr>
            <p:cNvPr id="277" name="Shape 103">
              <a:extLst>
                <a:ext uri="{FF2B5EF4-FFF2-40B4-BE49-F238E27FC236}">
                  <a16:creationId xmlns:a16="http://schemas.microsoft.com/office/drawing/2014/main" id="{D10C3EF8-82C3-1A4F-47EB-C7EF9D4BB14E}"/>
                </a:ext>
              </a:extLst>
            </p:cNvPr>
            <p:cNvSpPr/>
            <p:nvPr/>
          </p:nvSpPr>
          <p:spPr>
            <a:xfrm>
              <a:off x="2651760" y="3328416"/>
              <a:ext cx="0" cy="301752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tailEnd type="triangle"/>
            </a:ln>
          </p:spPr>
        </p:sp>
        <p:sp>
          <p:nvSpPr>
            <p:cNvPr id="278" name="Shape 104">
              <a:extLst>
                <a:ext uri="{FF2B5EF4-FFF2-40B4-BE49-F238E27FC236}">
                  <a16:creationId xmlns:a16="http://schemas.microsoft.com/office/drawing/2014/main" id="{5027BC56-DA01-4AE9-FC53-E5759262544B}"/>
                </a:ext>
              </a:extLst>
            </p:cNvPr>
            <p:cNvSpPr/>
            <p:nvPr/>
          </p:nvSpPr>
          <p:spPr>
            <a:xfrm>
              <a:off x="5760720" y="2990088"/>
              <a:ext cx="0" cy="640080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tailEnd type="triangle"/>
            </a:ln>
          </p:spPr>
        </p:sp>
        <p:sp>
          <p:nvSpPr>
            <p:cNvPr id="279" name="Shape 105">
              <a:extLst>
                <a:ext uri="{FF2B5EF4-FFF2-40B4-BE49-F238E27FC236}">
                  <a16:creationId xmlns:a16="http://schemas.microsoft.com/office/drawing/2014/main" id="{82DCE5F1-4217-4DD9-94FF-0FFC5F02EE70}"/>
                </a:ext>
              </a:extLst>
            </p:cNvPr>
            <p:cNvSpPr/>
            <p:nvPr/>
          </p:nvSpPr>
          <p:spPr>
            <a:xfrm>
              <a:off x="8961120" y="3328416"/>
              <a:ext cx="0" cy="301752"/>
            </a:xfrm>
            <a:prstGeom prst="line">
              <a:avLst/>
            </a:prstGeom>
            <a:noFill/>
            <a:ln w="25400">
              <a:solidFill>
                <a:srgbClr val="2F6FD0"/>
              </a:solidFill>
              <a:prstDash val="solid"/>
              <a:tailEnd type="triangle"/>
            </a:ln>
          </p:spPr>
        </p:sp>
        <p:sp>
          <p:nvSpPr>
            <p:cNvPr id="280" name="Text 106">
              <a:extLst>
                <a:ext uri="{FF2B5EF4-FFF2-40B4-BE49-F238E27FC236}">
                  <a16:creationId xmlns:a16="http://schemas.microsoft.com/office/drawing/2014/main" id="{E57048A8-526F-751F-5CCD-BEF874DAA5AF}"/>
                </a:ext>
              </a:extLst>
            </p:cNvPr>
            <p:cNvSpPr txBox="1"/>
            <p:nvPr/>
          </p:nvSpPr>
          <p:spPr>
            <a:xfrm>
              <a:off x="3566160" y="3054096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F6FD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情境下發、啟動／停止</a:t>
              </a:r>
              <a:endParaRPr lang="en-US" sz="1300" dirty="0"/>
            </a:p>
          </p:txBody>
        </p:sp>
        <p:sp>
          <p:nvSpPr>
            <p:cNvPr id="281" name="Shape 107">
              <a:extLst>
                <a:ext uri="{FF2B5EF4-FFF2-40B4-BE49-F238E27FC236}">
                  <a16:creationId xmlns:a16="http://schemas.microsoft.com/office/drawing/2014/main" id="{E39B9ACD-B528-E0FF-B0D7-630DB93FD31C}"/>
                </a:ext>
              </a:extLst>
            </p:cNvPr>
            <p:cNvSpPr/>
            <p:nvPr/>
          </p:nvSpPr>
          <p:spPr>
            <a:xfrm>
              <a:off x="6812280" y="2990088"/>
              <a:ext cx="0" cy="338328"/>
            </a:xfrm>
            <a:prstGeom prst="line">
              <a:avLst/>
            </a:prstGeom>
            <a:noFill/>
            <a:ln w="25400">
              <a:solidFill>
                <a:srgbClr val="1F8F6E"/>
              </a:solidFill>
              <a:prstDash val="sysDot"/>
              <a:headEnd type="triangle"/>
            </a:ln>
          </p:spPr>
        </p:sp>
        <p:sp>
          <p:nvSpPr>
            <p:cNvPr id="282" name="Text 108">
              <a:extLst>
                <a:ext uri="{FF2B5EF4-FFF2-40B4-BE49-F238E27FC236}">
                  <a16:creationId xmlns:a16="http://schemas.microsoft.com/office/drawing/2014/main" id="{AE02A930-9D0A-44AB-2DBA-A37B709971FB}"/>
                </a:ext>
              </a:extLst>
            </p:cNvPr>
            <p:cNvSpPr txBox="1"/>
            <p:nvPr/>
          </p:nvSpPr>
          <p:spPr>
            <a:xfrm>
              <a:off x="6949440" y="3054096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F8F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執行狀態、預演結果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47888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AAB85-E6FF-84C5-D52F-6EAB7E0E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</a:t>
            </a:r>
            <a:r>
              <a:rPr lang="zh-TW" altLang="en-US" dirty="0"/>
              <a:t> </a:t>
            </a:r>
            <a:r>
              <a:rPr lang="en-US" altLang="zh-TW" dirty="0"/>
              <a:t>Emulator</a:t>
            </a:r>
            <a:r>
              <a:rPr lang="zh-TW" altLang="en-US" dirty="0"/>
              <a:t>規格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834CC4-11EF-7B0C-C395-943A98A81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13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4FAF1C3B-76FC-B1D1-6512-DDC435D64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67701"/>
              </p:ext>
            </p:extLst>
          </p:nvPr>
        </p:nvGraphicFramePr>
        <p:xfrm>
          <a:off x="456101" y="1619630"/>
          <a:ext cx="7712529" cy="3663696"/>
        </p:xfrm>
        <a:graphic>
          <a:graphicData uri="http://schemas.openxmlformats.org/drawingml/2006/table">
            <a:tbl>
              <a:tblPr/>
              <a:tblGrid>
                <a:gridCol w="1551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9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功能模組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規格項目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規格內容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TW" altLang="en-US" sz="160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</a:t>
                      </a:r>
                      <a:r>
                        <a:rPr lang="en-US" sz="1600" b="1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66928" marR="0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地圖類型與總數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類共 4 張：都市、郊區、鄉村、室內各 1 張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建置方式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種：自訂地圖、固定範本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匯入資料類別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類：LiDAR 掃描檔、CAD 模型、SHP 圖資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 rowSpan="7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TW" altLang="en-US" sz="160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</a:rPr>
                        <a:t>設備</a:t>
                      </a:r>
                      <a:r>
                        <a:rPr lang="en-US" sz="1600" b="1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</a:rPr>
                        <a:t>管理</a:t>
                      </a:r>
                      <a:endParaRPr lang="en-US" sz="1600" dirty="0">
                        <a:latin typeface="Microsoft JhengHei" charset="0"/>
                        <a:ea typeface="Microsoft JhengHei" charset="0"/>
                      </a:endParaRPr>
                    </a:p>
                  </a:txBody>
                  <a:tcPr marL="566928" marR="0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基站類型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一般地面基地台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基站組成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種：CU、DU、RU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基站廠牌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種：ITRI RAN Emulator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平均虛實仿真率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&gt;90%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66928" marR="0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</a:t>
                      </a:r>
                      <a:r>
                        <a:rPr lang="en-US" sz="1400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種：UE、AMR、UAV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</a:t>
                      </a:r>
                      <a:r>
                        <a:rPr lang="en-US" sz="1400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廠牌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種：ITRI RAN Emulator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</a:t>
                      </a:r>
                      <a:r>
                        <a:rPr lang="en-US" sz="1400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位置、移動路徑、應用與通訊需求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TW" altLang="en-US" sz="1600" b="1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r>
                        <a:rPr lang="en-US" sz="1600" b="1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66928" marR="0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情境建置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選地圖，再套用範本或自訂基地台、載具與應用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情境範本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三種：</a:t>
                      </a:r>
                      <a:r>
                        <a:rPr lang="en-US" sz="1400" dirty="0" err="1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工廠、倉儲、園區巡檢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通訊組合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</a:t>
                      </a: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</a:t>
                      </a: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：地面對地面</a:t>
                      </a: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charset="0"/>
                          <a:ea typeface="Microsoft JhengHei" charset="0"/>
                          <a:cs typeface="Microsoft JhengHei" pitchFamily="34" charset="-120"/>
                        </a:rPr>
                        <a:t>、低空對地面</a:t>
                      </a: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同時執行任務數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個（</a:t>
                      </a:r>
                      <a:r>
                        <a:rPr lang="zh-TW" alt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詳見右方示意</a:t>
                      </a:r>
                      <a:r>
                        <a:rPr lang="en-US" sz="1400" dirty="0">
                          <a:solidFill>
                            <a:srgbClr val="1F3B7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F69D257-805D-5F4A-C23F-4CC5AB48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32" y="2119506"/>
            <a:ext cx="372329" cy="384048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06712356-D150-60CA-EA0D-157092AD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2" y="2981761"/>
            <a:ext cx="372329" cy="384048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3CE8F6A4-18F9-280F-61ED-AC03FFDA7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21" y="3531400"/>
            <a:ext cx="265949" cy="274320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D4452884-90D9-9B6B-9FEB-5C6A227AD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20" y="3944956"/>
            <a:ext cx="265949" cy="274320"/>
          </a:xfrm>
          <a:prstGeom prst="rect">
            <a:avLst/>
          </a:prstGeom>
        </p:spPr>
      </p:pic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0D4BD7C8-50E2-C099-D241-87F0B1CA1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32" y="4637320"/>
            <a:ext cx="372329" cy="384048"/>
          </a:xfrm>
          <a:prstGeom prst="rect">
            <a:avLst/>
          </a:prstGeom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5DD41CCD-E8E8-DDA6-A5D8-FD00D582ED8B}"/>
              </a:ext>
            </a:extLst>
          </p:cNvPr>
          <p:cNvGrpSpPr/>
          <p:nvPr/>
        </p:nvGrpSpPr>
        <p:grpSpPr>
          <a:xfrm>
            <a:off x="8541821" y="951053"/>
            <a:ext cx="3417896" cy="5117795"/>
            <a:chOff x="8366760" y="228600"/>
            <a:chExt cx="3596335" cy="5897880"/>
          </a:xfrm>
        </p:grpSpPr>
        <p:sp>
          <p:nvSpPr>
            <p:cNvPr id="11" name="Shape 63">
              <a:extLst>
                <a:ext uri="{FF2B5EF4-FFF2-40B4-BE49-F238E27FC236}">
                  <a16:creationId xmlns:a16="http://schemas.microsoft.com/office/drawing/2014/main" id="{7027626C-140C-04C2-2F5B-09E4F061AE7C}"/>
                </a:ext>
              </a:extLst>
            </p:cNvPr>
            <p:cNvSpPr/>
            <p:nvPr/>
          </p:nvSpPr>
          <p:spPr>
            <a:xfrm>
              <a:off x="8366760" y="228600"/>
              <a:ext cx="3596335" cy="5897880"/>
            </a:xfrm>
            <a:prstGeom prst="roundRect">
              <a:avLst>
                <a:gd name="adj" fmla="val 3051"/>
              </a:avLst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sp>
          <p:nvSpPr>
            <p:cNvPr id="12" name="Text 64">
              <a:extLst>
                <a:ext uri="{FF2B5EF4-FFF2-40B4-BE49-F238E27FC236}">
                  <a16:creationId xmlns:a16="http://schemas.microsoft.com/office/drawing/2014/main" id="{D12CC096-489D-3FD7-D7A1-73DD7D0D6DB8}"/>
                </a:ext>
              </a:extLst>
            </p:cNvPr>
            <p:cNvSpPr txBox="1"/>
            <p:nvPr/>
          </p:nvSpPr>
          <p:spPr>
            <a:xfrm>
              <a:off x="8549640" y="393192"/>
              <a:ext cx="323057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預演評估環境</a:t>
              </a:r>
              <a:endParaRPr lang="en-US" sz="2000" dirty="0"/>
            </a:p>
          </p:txBody>
        </p:sp>
        <p:sp>
          <p:nvSpPr>
            <p:cNvPr id="13" name="Shape 65">
              <a:extLst>
                <a:ext uri="{FF2B5EF4-FFF2-40B4-BE49-F238E27FC236}">
                  <a16:creationId xmlns:a16="http://schemas.microsoft.com/office/drawing/2014/main" id="{D96E062A-B585-052C-DF1D-B0D36DCABD7F}"/>
                </a:ext>
              </a:extLst>
            </p:cNvPr>
            <p:cNvSpPr/>
            <p:nvPr/>
          </p:nvSpPr>
          <p:spPr>
            <a:xfrm>
              <a:off x="8549640" y="1124712"/>
              <a:ext cx="566928" cy="566928"/>
            </a:xfrm>
            <a:prstGeom prst="ellipse">
              <a:avLst/>
            </a:prstGeom>
            <a:solidFill>
              <a:srgbClr val="D2E3F6"/>
            </a:solidFill>
            <a:ln w="12700">
              <a:solidFill>
                <a:srgbClr val="D2E3F6"/>
              </a:solidFill>
              <a:prstDash val="solid"/>
            </a:ln>
          </p:spPr>
        </p:sp>
        <p:pic>
          <p:nvPicPr>
            <p:cNvPr id="14" name="Image 18" descr="preencoded.png">
              <a:extLst>
                <a:ext uri="{FF2B5EF4-FFF2-40B4-BE49-F238E27FC236}">
                  <a16:creationId xmlns:a16="http://schemas.microsoft.com/office/drawing/2014/main" id="{7D928937-6665-A6F2-58AB-D6A27898B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86800" y="1261872"/>
              <a:ext cx="292608" cy="292608"/>
            </a:xfrm>
            <a:prstGeom prst="rect">
              <a:avLst/>
            </a:prstGeom>
          </p:spPr>
        </p:pic>
        <p:sp>
          <p:nvSpPr>
            <p:cNvPr id="15" name="Text 66">
              <a:extLst>
                <a:ext uri="{FF2B5EF4-FFF2-40B4-BE49-F238E27FC236}">
                  <a16:creationId xmlns:a16="http://schemas.microsoft.com/office/drawing/2014/main" id="{9819516F-F570-176B-E4E2-411A8412996F}"/>
                </a:ext>
              </a:extLst>
            </p:cNvPr>
            <p:cNvSpPr txBox="1"/>
            <p:nvPr/>
          </p:nvSpPr>
          <p:spPr>
            <a:xfrm>
              <a:off x="9281160" y="1115568"/>
              <a:ext cx="249905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硬體配置</a:t>
              </a:r>
              <a:endParaRPr lang="en-US" sz="1300" dirty="0"/>
            </a:p>
          </p:txBody>
        </p:sp>
        <p:sp>
          <p:nvSpPr>
            <p:cNvPr id="16" name="Text 67">
              <a:extLst>
                <a:ext uri="{FF2B5EF4-FFF2-40B4-BE49-F238E27FC236}">
                  <a16:creationId xmlns:a16="http://schemas.microsoft.com/office/drawing/2014/main" id="{A8A42079-5C76-5C7E-453C-DDFD113C8966}"/>
                </a:ext>
              </a:extLst>
            </p:cNvPr>
            <p:cNvSpPr txBox="1"/>
            <p:nvPr/>
          </p:nvSpPr>
          <p:spPr>
            <a:xfrm>
              <a:off x="9281160" y="1353312"/>
              <a:ext cx="249905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CPU 32 核心／RAM 128 GB</a:t>
              </a:r>
              <a:endParaRPr lang="en-US" sz="1100" dirty="0"/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RTX 4090 24 GB × 1</a:t>
              </a:r>
              <a:endParaRPr lang="en-US" sz="1100" dirty="0"/>
            </a:p>
          </p:txBody>
        </p:sp>
        <p:sp>
          <p:nvSpPr>
            <p:cNvPr id="17" name="Shape 68">
              <a:extLst>
                <a:ext uri="{FF2B5EF4-FFF2-40B4-BE49-F238E27FC236}">
                  <a16:creationId xmlns:a16="http://schemas.microsoft.com/office/drawing/2014/main" id="{A38A66E3-CE1F-E21F-8E8D-D0B0A7AC009C}"/>
                </a:ext>
              </a:extLst>
            </p:cNvPr>
            <p:cNvSpPr/>
            <p:nvPr/>
          </p:nvSpPr>
          <p:spPr>
            <a:xfrm>
              <a:off x="8549640" y="1929384"/>
              <a:ext cx="3230575" cy="0"/>
            </a:xfrm>
            <a:prstGeom prst="line">
              <a:avLst/>
            </a:prstGeom>
            <a:noFill/>
            <a:ln w="9525">
              <a:solidFill>
                <a:srgbClr val="B9CDE6"/>
              </a:solidFill>
              <a:prstDash val="solid"/>
            </a:ln>
          </p:spPr>
        </p:sp>
        <p:sp>
          <p:nvSpPr>
            <p:cNvPr id="18" name="Shape 69">
              <a:extLst>
                <a:ext uri="{FF2B5EF4-FFF2-40B4-BE49-F238E27FC236}">
                  <a16:creationId xmlns:a16="http://schemas.microsoft.com/office/drawing/2014/main" id="{3F0260B9-4543-97C2-65B7-D2D6547D17C0}"/>
                </a:ext>
              </a:extLst>
            </p:cNvPr>
            <p:cNvSpPr/>
            <p:nvPr/>
          </p:nvSpPr>
          <p:spPr>
            <a:xfrm>
              <a:off x="8549640" y="2148840"/>
              <a:ext cx="566928" cy="566928"/>
            </a:xfrm>
            <a:prstGeom prst="ellipse">
              <a:avLst/>
            </a:prstGeom>
            <a:solidFill>
              <a:srgbClr val="D2E3F6"/>
            </a:solidFill>
            <a:ln w="12700">
              <a:solidFill>
                <a:srgbClr val="D2E3F6"/>
              </a:solidFill>
              <a:prstDash val="solid"/>
            </a:ln>
          </p:spPr>
        </p:sp>
        <p:pic>
          <p:nvPicPr>
            <p:cNvPr id="19" name="Image 19" descr="preencoded.png">
              <a:extLst>
                <a:ext uri="{FF2B5EF4-FFF2-40B4-BE49-F238E27FC236}">
                  <a16:creationId xmlns:a16="http://schemas.microsoft.com/office/drawing/2014/main" id="{04184CB0-F423-97AC-84DF-06B3461C3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86800" y="2286000"/>
              <a:ext cx="292608" cy="292608"/>
            </a:xfrm>
            <a:prstGeom prst="rect">
              <a:avLst/>
            </a:prstGeom>
          </p:spPr>
        </p:pic>
        <p:sp>
          <p:nvSpPr>
            <p:cNvPr id="20" name="Text 70">
              <a:extLst>
                <a:ext uri="{FF2B5EF4-FFF2-40B4-BE49-F238E27FC236}">
                  <a16:creationId xmlns:a16="http://schemas.microsoft.com/office/drawing/2014/main" id="{56698A76-E5AD-2492-A028-843F78DE9752}"/>
                </a:ext>
              </a:extLst>
            </p:cNvPr>
            <p:cNvSpPr txBox="1"/>
            <p:nvPr/>
          </p:nvSpPr>
          <p:spPr>
            <a:xfrm>
              <a:off x="9281160" y="2048256"/>
              <a:ext cx="249905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單一任務規模</a:t>
              </a:r>
              <a:endParaRPr lang="en-US" sz="1300" dirty="0"/>
            </a:p>
          </p:txBody>
        </p:sp>
        <p:sp>
          <p:nvSpPr>
            <p:cNvPr id="21" name="Text 71">
              <a:extLst>
                <a:ext uri="{FF2B5EF4-FFF2-40B4-BE49-F238E27FC236}">
                  <a16:creationId xmlns:a16="http://schemas.microsoft.com/office/drawing/2014/main" id="{C7DA7297-3D9B-D236-1490-3BEA12D47CAC}"/>
                </a:ext>
              </a:extLst>
            </p:cNvPr>
            <p:cNvSpPr txBox="1"/>
            <p:nvPr/>
          </p:nvSpPr>
          <p:spPr>
            <a:xfrm>
              <a:off x="9281160" y="2286000"/>
              <a:ext cx="2499055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zh-TW" alt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基本</a:t>
              </a:r>
              <a:r>
                <a:rPr lang="en-US" sz="1100" dirty="0" err="1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地圖</a:t>
              </a: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1 km × 1 km</a:t>
              </a:r>
              <a:endParaRPr lang="en-US" sz="1100" dirty="0"/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 CU／1 DU／3 RU</a:t>
              </a:r>
              <a:endParaRPr lang="en-US" sz="1100" dirty="0"/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20 UE</a:t>
              </a:r>
              <a:endParaRPr lang="en-US" sz="1100" dirty="0"/>
            </a:p>
          </p:txBody>
        </p:sp>
        <p:sp>
          <p:nvSpPr>
            <p:cNvPr id="22" name="Shape 72">
              <a:extLst>
                <a:ext uri="{FF2B5EF4-FFF2-40B4-BE49-F238E27FC236}">
                  <a16:creationId xmlns:a16="http://schemas.microsoft.com/office/drawing/2014/main" id="{336FE4E6-71D2-F537-0D4C-B6E07D07379B}"/>
                </a:ext>
              </a:extLst>
            </p:cNvPr>
            <p:cNvSpPr/>
            <p:nvPr/>
          </p:nvSpPr>
          <p:spPr>
            <a:xfrm>
              <a:off x="8549640" y="2953512"/>
              <a:ext cx="3230575" cy="0"/>
            </a:xfrm>
            <a:prstGeom prst="line">
              <a:avLst/>
            </a:prstGeom>
            <a:noFill/>
            <a:ln w="9525">
              <a:solidFill>
                <a:srgbClr val="B9CDE6"/>
              </a:solidFill>
              <a:prstDash val="solid"/>
            </a:ln>
          </p:spPr>
        </p:sp>
        <p:sp>
          <p:nvSpPr>
            <p:cNvPr id="23" name="Shape 73">
              <a:extLst>
                <a:ext uri="{FF2B5EF4-FFF2-40B4-BE49-F238E27FC236}">
                  <a16:creationId xmlns:a16="http://schemas.microsoft.com/office/drawing/2014/main" id="{A1F159F0-7417-5EC6-5DCC-2F1F947D2F37}"/>
                </a:ext>
              </a:extLst>
            </p:cNvPr>
            <p:cNvSpPr/>
            <p:nvPr/>
          </p:nvSpPr>
          <p:spPr>
            <a:xfrm>
              <a:off x="8549640" y="3172968"/>
              <a:ext cx="566928" cy="566928"/>
            </a:xfrm>
            <a:prstGeom prst="ellipse">
              <a:avLst/>
            </a:prstGeom>
            <a:solidFill>
              <a:srgbClr val="D2E3F6"/>
            </a:solidFill>
            <a:ln w="12700">
              <a:solidFill>
                <a:srgbClr val="D2E3F6"/>
              </a:solidFill>
              <a:prstDash val="solid"/>
            </a:ln>
          </p:spPr>
        </p:sp>
        <p:pic>
          <p:nvPicPr>
            <p:cNvPr id="24" name="Image 20" descr="preencoded.png">
              <a:extLst>
                <a:ext uri="{FF2B5EF4-FFF2-40B4-BE49-F238E27FC236}">
                  <a16:creationId xmlns:a16="http://schemas.microsoft.com/office/drawing/2014/main" id="{B04C967E-46FB-BD4A-84FB-DC0C97938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86800" y="3310128"/>
              <a:ext cx="292608" cy="292608"/>
            </a:xfrm>
            <a:prstGeom prst="rect">
              <a:avLst/>
            </a:prstGeom>
          </p:spPr>
        </p:pic>
        <p:sp>
          <p:nvSpPr>
            <p:cNvPr id="25" name="Text 74">
              <a:extLst>
                <a:ext uri="{FF2B5EF4-FFF2-40B4-BE49-F238E27FC236}">
                  <a16:creationId xmlns:a16="http://schemas.microsoft.com/office/drawing/2014/main" id="{DB368167-46DE-A73E-5F69-E22411964EEF}"/>
                </a:ext>
              </a:extLst>
            </p:cNvPr>
            <p:cNvSpPr txBox="1"/>
            <p:nvPr/>
          </p:nvSpPr>
          <p:spPr>
            <a:xfrm>
              <a:off x="9281160" y="3163824"/>
              <a:ext cx="249905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測試範圍</a:t>
              </a:r>
              <a:endParaRPr lang="en-US" sz="1300" dirty="0"/>
            </a:p>
          </p:txBody>
        </p:sp>
        <p:sp>
          <p:nvSpPr>
            <p:cNvPr id="26" name="Text 75">
              <a:extLst>
                <a:ext uri="{FF2B5EF4-FFF2-40B4-BE49-F238E27FC236}">
                  <a16:creationId xmlns:a16="http://schemas.microsoft.com/office/drawing/2014/main" id="{939CCBF7-B3F7-0F97-0F17-098350F941CA}"/>
                </a:ext>
              </a:extLst>
            </p:cNvPr>
            <p:cNvSpPr txBox="1"/>
            <p:nvPr/>
          </p:nvSpPr>
          <p:spPr>
            <a:xfrm>
              <a:off x="9281160" y="3442716"/>
              <a:ext cx="249905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 err="1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一般地面基地台情境</a:t>
              </a:r>
              <a:endParaRPr lang="en-US" sz="1100" dirty="0"/>
            </a:p>
          </p:txBody>
        </p:sp>
        <p:sp>
          <p:nvSpPr>
            <p:cNvPr id="27" name="Shape 76">
              <a:extLst>
                <a:ext uri="{FF2B5EF4-FFF2-40B4-BE49-F238E27FC236}">
                  <a16:creationId xmlns:a16="http://schemas.microsoft.com/office/drawing/2014/main" id="{EA3FC156-4181-95CB-8E7D-01A819C4EB92}"/>
                </a:ext>
              </a:extLst>
            </p:cNvPr>
            <p:cNvSpPr/>
            <p:nvPr/>
          </p:nvSpPr>
          <p:spPr>
            <a:xfrm>
              <a:off x="8549640" y="3977640"/>
              <a:ext cx="3230575" cy="0"/>
            </a:xfrm>
            <a:prstGeom prst="line">
              <a:avLst/>
            </a:prstGeom>
            <a:noFill/>
            <a:ln w="9525">
              <a:solidFill>
                <a:srgbClr val="B9CDE6"/>
              </a:solidFill>
              <a:prstDash val="solid"/>
            </a:ln>
          </p:spPr>
        </p:sp>
        <p:sp>
          <p:nvSpPr>
            <p:cNvPr id="28" name="Shape 77">
              <a:extLst>
                <a:ext uri="{FF2B5EF4-FFF2-40B4-BE49-F238E27FC236}">
                  <a16:creationId xmlns:a16="http://schemas.microsoft.com/office/drawing/2014/main" id="{77C48043-8BEF-21B4-BF6D-7161F07BA5C8}"/>
                </a:ext>
              </a:extLst>
            </p:cNvPr>
            <p:cNvSpPr/>
            <p:nvPr/>
          </p:nvSpPr>
          <p:spPr>
            <a:xfrm>
              <a:off x="8549640" y="4197096"/>
              <a:ext cx="566928" cy="566928"/>
            </a:xfrm>
            <a:prstGeom prst="ellipse">
              <a:avLst/>
            </a:prstGeom>
            <a:solidFill>
              <a:srgbClr val="D2E3F6"/>
            </a:solidFill>
            <a:ln w="12700">
              <a:solidFill>
                <a:srgbClr val="D2E3F6"/>
              </a:solidFill>
              <a:prstDash val="solid"/>
            </a:ln>
          </p:spPr>
        </p:sp>
        <p:pic>
          <p:nvPicPr>
            <p:cNvPr id="29" name="Image 21" descr="preencoded.png">
              <a:extLst>
                <a:ext uri="{FF2B5EF4-FFF2-40B4-BE49-F238E27FC236}">
                  <a16:creationId xmlns:a16="http://schemas.microsoft.com/office/drawing/2014/main" id="{61565CD5-7DEC-4AF5-E3D9-924EFF788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86800" y="4334256"/>
              <a:ext cx="292608" cy="292608"/>
            </a:xfrm>
            <a:prstGeom prst="rect">
              <a:avLst/>
            </a:prstGeom>
          </p:spPr>
        </p:pic>
        <p:sp>
          <p:nvSpPr>
            <p:cNvPr id="30" name="Text 78">
              <a:extLst>
                <a:ext uri="{FF2B5EF4-FFF2-40B4-BE49-F238E27FC236}">
                  <a16:creationId xmlns:a16="http://schemas.microsoft.com/office/drawing/2014/main" id="{8E0A4CF3-82CE-D730-50EB-27AC9B8AF14B}"/>
                </a:ext>
              </a:extLst>
            </p:cNvPr>
            <p:cNvSpPr txBox="1"/>
            <p:nvPr/>
          </p:nvSpPr>
          <p:spPr>
            <a:xfrm>
              <a:off x="9281160" y="4279392"/>
              <a:ext cx="249905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預演設定</a:t>
              </a:r>
              <a:endParaRPr lang="en-US" sz="1300" dirty="0"/>
            </a:p>
          </p:txBody>
        </p:sp>
        <p:sp>
          <p:nvSpPr>
            <p:cNvPr id="31" name="Text 79">
              <a:extLst>
                <a:ext uri="{FF2B5EF4-FFF2-40B4-BE49-F238E27FC236}">
                  <a16:creationId xmlns:a16="http://schemas.microsoft.com/office/drawing/2014/main" id="{27E860F9-83DC-A2B2-75FF-F75371420C92}"/>
                </a:ext>
              </a:extLst>
            </p:cNvPr>
            <p:cNvSpPr txBox="1"/>
            <p:nvPr/>
          </p:nvSpPr>
          <p:spPr>
            <a:xfrm>
              <a:off x="9281160" y="4517136"/>
              <a:ext cx="2499055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模擬 10 分鐘，每秒更新</a:t>
              </a:r>
              <a:endParaRPr lang="en-US" sz="1100" dirty="0"/>
            </a:p>
          </p:txBody>
        </p:sp>
        <p:sp>
          <p:nvSpPr>
            <p:cNvPr id="32" name="Shape 80">
              <a:extLst>
                <a:ext uri="{FF2B5EF4-FFF2-40B4-BE49-F238E27FC236}">
                  <a16:creationId xmlns:a16="http://schemas.microsoft.com/office/drawing/2014/main" id="{DA95020D-290D-73E5-EE05-A6829E10647B}"/>
                </a:ext>
              </a:extLst>
            </p:cNvPr>
            <p:cNvSpPr/>
            <p:nvPr/>
          </p:nvSpPr>
          <p:spPr>
            <a:xfrm>
              <a:off x="8549640" y="5001768"/>
              <a:ext cx="3230575" cy="0"/>
            </a:xfrm>
            <a:prstGeom prst="line">
              <a:avLst/>
            </a:prstGeom>
            <a:noFill/>
            <a:ln w="9525">
              <a:solidFill>
                <a:srgbClr val="B9CDE6"/>
              </a:solidFill>
              <a:prstDash val="solid"/>
            </a:ln>
          </p:spPr>
        </p:sp>
        <p:sp>
          <p:nvSpPr>
            <p:cNvPr id="33" name="Shape 81">
              <a:extLst>
                <a:ext uri="{FF2B5EF4-FFF2-40B4-BE49-F238E27FC236}">
                  <a16:creationId xmlns:a16="http://schemas.microsoft.com/office/drawing/2014/main" id="{E8880CD3-B9AA-F82A-7A83-AB1A1160568B}"/>
                </a:ext>
              </a:extLst>
            </p:cNvPr>
            <p:cNvSpPr/>
            <p:nvPr/>
          </p:nvSpPr>
          <p:spPr>
            <a:xfrm>
              <a:off x="8549640" y="5221224"/>
              <a:ext cx="566928" cy="566928"/>
            </a:xfrm>
            <a:prstGeom prst="ellipse">
              <a:avLst/>
            </a:prstGeom>
            <a:solidFill>
              <a:srgbClr val="D2E3F6"/>
            </a:solidFill>
            <a:ln w="12700">
              <a:solidFill>
                <a:srgbClr val="D2E3F6"/>
              </a:solidFill>
              <a:prstDash val="solid"/>
            </a:ln>
          </p:spPr>
        </p:sp>
        <p:pic>
          <p:nvPicPr>
            <p:cNvPr id="34" name="Image 22" descr="preencoded.png">
              <a:extLst>
                <a:ext uri="{FF2B5EF4-FFF2-40B4-BE49-F238E27FC236}">
                  <a16:creationId xmlns:a16="http://schemas.microsoft.com/office/drawing/2014/main" id="{9090E08D-7B35-F271-1B63-6A981016F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686800" y="5358384"/>
              <a:ext cx="292608" cy="292608"/>
            </a:xfrm>
            <a:prstGeom prst="rect">
              <a:avLst/>
            </a:prstGeom>
          </p:spPr>
        </p:pic>
        <p:sp>
          <p:nvSpPr>
            <p:cNvPr id="35" name="Text 82">
              <a:extLst>
                <a:ext uri="{FF2B5EF4-FFF2-40B4-BE49-F238E27FC236}">
                  <a16:creationId xmlns:a16="http://schemas.microsoft.com/office/drawing/2014/main" id="{5E92B74D-B4B2-F026-5643-F7911C2A4B13}"/>
                </a:ext>
              </a:extLst>
            </p:cNvPr>
            <p:cNvSpPr txBox="1"/>
            <p:nvPr/>
          </p:nvSpPr>
          <p:spPr>
            <a:xfrm>
              <a:off x="9281160" y="5084064"/>
              <a:ext cx="249905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300" b="1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評估</a:t>
              </a:r>
              <a:r>
                <a:rPr lang="en-US" sz="1300" b="1" dirty="0" err="1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條件</a:t>
              </a:r>
              <a:endParaRPr lang="en-US" sz="1300" dirty="0"/>
            </a:p>
          </p:txBody>
        </p:sp>
        <p:sp>
          <p:nvSpPr>
            <p:cNvPr id="36" name="Text 83">
              <a:extLst>
                <a:ext uri="{FF2B5EF4-FFF2-40B4-BE49-F238E27FC236}">
                  <a16:creationId xmlns:a16="http://schemas.microsoft.com/office/drawing/2014/main" id="{184F7452-E029-BDEB-7418-6EA95CCDC6AA}"/>
                </a:ext>
              </a:extLst>
            </p:cNvPr>
            <p:cNvSpPr txBox="1"/>
            <p:nvPr/>
          </p:nvSpPr>
          <p:spPr>
            <a:xfrm>
              <a:off x="9281160" y="5358384"/>
              <a:ext cx="2499055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個任務同時執行</a:t>
              </a:r>
              <a:endParaRPr lang="en-US" sz="1100" dirty="0"/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各於 10 分鐘內完成</a:t>
              </a:r>
              <a:endParaRPr lang="en-US" sz="1100" dirty="0"/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1F3B73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無中斷或資料遺漏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62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34C8F9-E364-0774-8F95-FBA1D7D5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 Emulator Architecture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9F2382-31B0-B7C0-78D5-F2989A85F7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14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011CDEE-9FF6-9BBB-E2DA-0C1FC482D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82" b="12302"/>
          <a:stretch/>
        </p:blipFill>
        <p:spPr>
          <a:xfrm>
            <a:off x="691901" y="1096062"/>
            <a:ext cx="10626661" cy="46658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C42AA11-B9D4-F949-AC2E-730A443DC4BB}"/>
              </a:ext>
            </a:extLst>
          </p:cNvPr>
          <p:cNvSpPr/>
          <p:nvPr/>
        </p:nvSpPr>
        <p:spPr bwMode="auto">
          <a:xfrm>
            <a:off x="4806043" y="2901043"/>
            <a:ext cx="1992085" cy="647700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5CDD45-EC0D-0972-EF8A-D28FFC18D893}"/>
              </a:ext>
            </a:extLst>
          </p:cNvPr>
          <p:cNvSpPr txBox="1"/>
          <p:nvPr/>
        </p:nvSpPr>
        <p:spPr>
          <a:xfrm>
            <a:off x="6798128" y="2994060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(</a:t>
            </a:r>
            <a:r>
              <a:rPr lang="zh-TW" altLang="en-US" sz="1200" dirty="0">
                <a:solidFill>
                  <a:srgbClr val="0000FF"/>
                </a:solidFill>
                <a:highlight>
                  <a:srgbClr val="FFFF00"/>
                </a:highlight>
              </a:rPr>
              <a:t>進度一</a:t>
            </a:r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)</a:t>
            </a:r>
          </a:p>
          <a:p>
            <a:pPr algn="ctr"/>
            <a:r>
              <a:rPr lang="zh-TW" altLang="en-US" sz="1200" dirty="0">
                <a:solidFill>
                  <a:srgbClr val="0000FF"/>
                </a:solidFill>
                <a:highlight>
                  <a:srgbClr val="FFFF00"/>
                </a:highlight>
              </a:rPr>
              <a:t>建立</a:t>
            </a:r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3GPP-based </a:t>
            </a:r>
          </a:p>
          <a:p>
            <a:pPr algn="ctr"/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RAN Emulator</a:t>
            </a:r>
            <a:endParaRPr lang="zh-TW" alt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3377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51ABA-4054-F334-33D3-350D6285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3GPP-based</a:t>
            </a:r>
            <a:r>
              <a:rPr lang="zh-TW" altLang="en-US" dirty="0"/>
              <a:t> 網路資料引擎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4C8C85-9A11-4758-9204-71E83C23F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15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A291252-A2AF-8AD1-B69D-CAD1EFED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5228"/>
            <a:ext cx="6337300" cy="5218131"/>
          </a:xfrm>
        </p:spPr>
        <p:txBody>
          <a:bodyPr/>
          <a:lstStyle/>
          <a:p>
            <a:r>
              <a:rPr kumimoji="1" lang="en-US" altLang="zh-TW" sz="1800" b="1" kern="0" dirty="0">
                <a:solidFill>
                  <a:prstClr val="black"/>
                </a:solidFill>
                <a:ea typeface="+mj-ea"/>
              </a:rPr>
              <a:t>3GPP Model</a:t>
            </a:r>
            <a:r>
              <a:rPr lang="zh-TW" altLang="en-US" sz="1800" dirty="0"/>
              <a:t>模擬計算方法說明</a:t>
            </a:r>
            <a:endParaRPr lang="en-US" altLang="zh-TW" sz="1800" dirty="0"/>
          </a:p>
          <a:p>
            <a:pPr lvl="1"/>
            <a:r>
              <a:rPr lang="en-US" altLang="zh-TW" sz="1800" dirty="0"/>
              <a:t>Step 1.  Setup</a:t>
            </a:r>
          </a:p>
          <a:p>
            <a:pPr lvl="2"/>
            <a:r>
              <a:rPr lang="en-US" altLang="zh-TW" sz="1800" dirty="0"/>
              <a:t>Cell1, …, </a:t>
            </a:r>
            <a:r>
              <a:rPr lang="en-US" altLang="zh-TW" sz="1800" dirty="0" err="1"/>
              <a:t>Cellm</a:t>
            </a:r>
            <a:r>
              <a:rPr lang="en-US" altLang="zh-TW" sz="1800" dirty="0"/>
              <a:t> </a:t>
            </a:r>
          </a:p>
          <a:p>
            <a:pPr lvl="2"/>
            <a:r>
              <a:rPr lang="en-US" altLang="zh-TW" sz="1800" dirty="0"/>
              <a:t>UE1, …, </a:t>
            </a:r>
            <a:r>
              <a:rPr lang="en-US" altLang="zh-TW" sz="1800" dirty="0" err="1"/>
              <a:t>UEn</a:t>
            </a:r>
            <a:endParaRPr lang="en-US" altLang="zh-TW" sz="1800" dirty="0"/>
          </a:p>
          <a:p>
            <a:pPr lvl="2"/>
            <a:r>
              <a:rPr lang="en-US" altLang="zh-TW" sz="1800" dirty="0"/>
              <a:t>Tx Power / Frequency / Bandwidth /PRB / SCS </a:t>
            </a:r>
          </a:p>
          <a:p>
            <a:pPr lvl="2"/>
            <a:r>
              <a:rPr lang="en-US" altLang="zh-TW" sz="1800" dirty="0"/>
              <a:t>UE / RU Position</a:t>
            </a:r>
          </a:p>
          <a:p>
            <a:pPr lvl="1"/>
            <a:r>
              <a:rPr lang="en-US" altLang="zh-TW" sz="1800" dirty="0"/>
              <a:t>Step 2.  Pathloss Calculation</a:t>
            </a:r>
          </a:p>
          <a:p>
            <a:pPr lvl="2"/>
            <a:r>
              <a:rPr lang="en-US" altLang="zh-TW" sz="1800" dirty="0"/>
              <a:t>Distance(</a:t>
            </a:r>
            <a:r>
              <a:rPr lang="en-US" altLang="zh-TW" sz="1800" dirty="0" err="1"/>
              <a:t>RU_i</a:t>
            </a:r>
            <a:r>
              <a:rPr lang="en-US" altLang="zh-TW" sz="1800" dirty="0"/>
              <a:t>, 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 </a:t>
            </a:r>
          </a:p>
          <a:p>
            <a:pPr lvl="2"/>
            <a:r>
              <a:rPr lang="en-US" altLang="zh-TW" sz="1800" dirty="0"/>
              <a:t>PL(</a:t>
            </a:r>
            <a:r>
              <a:rPr lang="en-US" altLang="zh-TW" sz="1800" dirty="0" err="1"/>
              <a:t>RU_i</a:t>
            </a:r>
            <a:r>
              <a:rPr lang="en-US" altLang="zh-TW" sz="1800" dirty="0"/>
              <a:t>, 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 = 32.4 + 17.3 log10(d) + 20 log10(fc)</a:t>
            </a:r>
          </a:p>
          <a:p>
            <a:pPr lvl="1"/>
            <a:r>
              <a:rPr lang="en-US" altLang="zh-TW" sz="1800" dirty="0"/>
              <a:t>Step 3.  RSRP Calculation</a:t>
            </a:r>
          </a:p>
          <a:p>
            <a:pPr lvl="2"/>
            <a:r>
              <a:rPr lang="en-US" altLang="zh-TW" sz="1800" dirty="0"/>
              <a:t>RSRP(</a:t>
            </a:r>
            <a:r>
              <a:rPr lang="en-US" altLang="zh-TW" sz="1800" dirty="0" err="1"/>
              <a:t>RU_i</a:t>
            </a:r>
            <a:r>
              <a:rPr lang="en-US" altLang="zh-TW" sz="1800" dirty="0"/>
              <a:t>, 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</a:t>
            </a:r>
          </a:p>
          <a:p>
            <a:pPr lvl="2"/>
            <a:r>
              <a:rPr lang="en-US" altLang="zh-TW" sz="1800" dirty="0"/>
              <a:t>RSRP =</a:t>
            </a:r>
            <a:r>
              <a:rPr lang="en-US" altLang="zh-TW" sz="1800" dirty="0" err="1"/>
              <a:t>PTx</a:t>
            </a:r>
            <a:r>
              <a:rPr lang="en-US" altLang="zh-TW" sz="1800" dirty="0"/>
              <a:t>- PL- 10 log10(NPRB × 12)</a:t>
            </a:r>
          </a:p>
          <a:p>
            <a:pPr lvl="2"/>
            <a:r>
              <a:rPr lang="en-US" altLang="zh-TW" sz="1800" dirty="0"/>
              <a:t>Serving RU Selection</a:t>
            </a:r>
            <a:br>
              <a:rPr lang="en-US" altLang="zh-TW" sz="1800" dirty="0"/>
            </a:br>
            <a:r>
              <a:rPr lang="en-US" altLang="zh-TW" sz="1800" dirty="0"/>
              <a:t>= argmax RSRP(</a:t>
            </a:r>
            <a:r>
              <a:rPr lang="en-US" altLang="zh-TW" sz="1800" dirty="0" err="1"/>
              <a:t>RU_i</a:t>
            </a:r>
            <a:r>
              <a:rPr lang="en-US" altLang="zh-TW" sz="1800" dirty="0"/>
              <a:t>, 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</a:t>
            </a:r>
          </a:p>
          <a:p>
            <a:pPr lvl="2"/>
            <a:r>
              <a:rPr lang="en-US" altLang="zh-TW" sz="1800" dirty="0"/>
              <a:t>Neighbor RUs</a:t>
            </a:r>
            <a:br>
              <a:rPr lang="en-US" altLang="zh-TW" sz="1800" dirty="0"/>
            </a:br>
            <a:r>
              <a:rPr lang="en-US" altLang="zh-TW" sz="1800" dirty="0"/>
              <a:t>= Other active RUs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B8E434A-BABD-E308-E1AA-69CD82705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7662"/>
            <a:ext cx="5964936" cy="49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8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51ABA-4054-F334-33D3-350D6285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3GPP-based</a:t>
            </a:r>
            <a:r>
              <a:rPr lang="zh-TW" altLang="en-US" dirty="0"/>
              <a:t> 網路資料引擎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4C8C85-9A11-4758-9204-71E83C23F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16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A291252-A2AF-8AD1-B69D-CAD1EFED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5228"/>
            <a:ext cx="6337300" cy="5218131"/>
          </a:xfrm>
        </p:spPr>
        <p:txBody>
          <a:bodyPr/>
          <a:lstStyle/>
          <a:p>
            <a:r>
              <a:rPr kumimoji="1" lang="en-US" altLang="zh-TW" sz="1800" b="1" kern="0" dirty="0">
                <a:solidFill>
                  <a:prstClr val="black"/>
                </a:solidFill>
                <a:ea typeface="+mj-ea"/>
              </a:rPr>
              <a:t>3GPP Model</a:t>
            </a:r>
            <a:r>
              <a:rPr lang="zh-TW" altLang="en-US" sz="1800" dirty="0"/>
              <a:t>模擬計算方法說明</a:t>
            </a:r>
            <a:endParaRPr lang="en-US" altLang="zh-TW" sz="1800" dirty="0"/>
          </a:p>
          <a:p>
            <a:pPr lvl="1"/>
            <a:r>
              <a:rPr lang="en-US" altLang="zh-TW" sz="1800" dirty="0"/>
              <a:t>Step 4. Noise &amp; Interference</a:t>
            </a:r>
            <a:r>
              <a:rPr lang="zh-TW" altLang="en-US" sz="1800" dirty="0"/>
              <a:t> </a:t>
            </a:r>
            <a:r>
              <a:rPr lang="en-US" altLang="zh-TW" sz="1800" dirty="0"/>
              <a:t>Calculation</a:t>
            </a:r>
          </a:p>
          <a:p>
            <a:pPr lvl="2"/>
            <a:r>
              <a:rPr lang="en-US" altLang="zh-TW" sz="1800" dirty="0"/>
              <a:t>Noise = -174 + 10 log10(</a:t>
            </a:r>
            <a:r>
              <a:rPr lang="en-US" altLang="zh-TW" sz="1800" dirty="0" err="1"/>
              <a:t>BHz</a:t>
            </a:r>
            <a:r>
              <a:rPr lang="en-US" altLang="zh-TW" sz="1800" dirty="0"/>
              <a:t>) + NF </a:t>
            </a:r>
          </a:p>
          <a:p>
            <a:pPr lvl="2"/>
            <a:r>
              <a:rPr lang="en-US" altLang="zh-TW" sz="1800" dirty="0"/>
              <a:t>Interference = </a:t>
            </a:r>
            <a:r>
              <a:rPr lang="el-GR" altLang="zh-TW" sz="1800" dirty="0"/>
              <a:t>Σ </a:t>
            </a:r>
            <a:r>
              <a:rPr lang="en-US" altLang="zh-TW" sz="1800" dirty="0"/>
              <a:t>Neighbor RSRP</a:t>
            </a:r>
          </a:p>
          <a:p>
            <a:pPr lvl="1"/>
            <a:r>
              <a:rPr lang="en-US" altLang="zh-TW" sz="1800" dirty="0"/>
              <a:t>Step 5. SINR Calculation</a:t>
            </a:r>
          </a:p>
          <a:p>
            <a:pPr lvl="2"/>
            <a:r>
              <a:rPr lang="en-US" altLang="zh-TW" sz="1800" dirty="0"/>
              <a:t>Serving Signal = RSRP Serving </a:t>
            </a:r>
          </a:p>
          <a:p>
            <a:pPr lvl="2"/>
            <a:r>
              <a:rPr lang="en-US" altLang="zh-TW" sz="1800" dirty="0"/>
              <a:t>Interference = </a:t>
            </a:r>
            <a:r>
              <a:rPr lang="el-GR" altLang="zh-TW" sz="1800" dirty="0"/>
              <a:t>Σ </a:t>
            </a:r>
            <a:r>
              <a:rPr lang="en-US" altLang="zh-TW" sz="1800" dirty="0"/>
              <a:t>RSRP Neighbor </a:t>
            </a:r>
          </a:p>
          <a:p>
            <a:pPr lvl="2"/>
            <a:r>
              <a:rPr lang="en-US" altLang="zh-TW" sz="1800" dirty="0"/>
              <a:t>SINR(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 = Serving / (Interference + Noise)</a:t>
            </a:r>
          </a:p>
          <a:p>
            <a:pPr lvl="1"/>
            <a:r>
              <a:rPr lang="en-US" altLang="zh-TW" sz="1800" dirty="0"/>
              <a:t>Step 6. SINR → CQI</a:t>
            </a:r>
          </a:p>
          <a:p>
            <a:pPr lvl="2"/>
            <a:r>
              <a:rPr lang="en-US" altLang="zh-TW" sz="1800" dirty="0"/>
              <a:t>CQI(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 = Look up Table( SINR, BLER target )</a:t>
            </a:r>
          </a:p>
          <a:p>
            <a:pPr lvl="1"/>
            <a:r>
              <a:rPr lang="en-US" altLang="zh-TW" sz="1800" dirty="0"/>
              <a:t>Step 7. CQI → MCS</a:t>
            </a:r>
          </a:p>
          <a:p>
            <a:pPr lvl="2"/>
            <a:r>
              <a:rPr lang="en-US" altLang="zh-TW" sz="1800" dirty="0"/>
              <a:t>MCS(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 = Scheduler(CQI) </a:t>
            </a:r>
          </a:p>
          <a:p>
            <a:pPr lvl="2"/>
            <a:r>
              <a:rPr lang="en-US" altLang="zh-TW" sz="1800" dirty="0"/>
              <a:t>MCS Index → </a:t>
            </a:r>
            <a:r>
              <a:rPr lang="en-US" altLang="zh-TW" sz="1800" dirty="0" err="1"/>
              <a:t>Qm</a:t>
            </a:r>
            <a:r>
              <a:rPr lang="en-US" altLang="zh-TW" sz="1800" dirty="0"/>
              <a:t> → Code Rate R</a:t>
            </a:r>
          </a:p>
          <a:p>
            <a:pPr lvl="1"/>
            <a:r>
              <a:rPr lang="en-US" altLang="zh-TW" sz="1800" dirty="0"/>
              <a:t>Step 8. Throughput Calculation</a:t>
            </a:r>
          </a:p>
          <a:p>
            <a:pPr lvl="2"/>
            <a:r>
              <a:rPr lang="en-US" altLang="zh-TW" sz="1800" dirty="0"/>
              <a:t>Throughput(</a:t>
            </a:r>
            <a:r>
              <a:rPr lang="en-US" altLang="zh-TW" sz="1800" dirty="0" err="1"/>
              <a:t>UE_j</a:t>
            </a:r>
            <a:r>
              <a:rPr lang="en-US" altLang="zh-TW" sz="1800" dirty="0"/>
              <a:t>) </a:t>
            </a:r>
          </a:p>
          <a:p>
            <a:pPr lvl="2"/>
            <a:r>
              <a:rPr lang="en-US" altLang="zh-TW" sz="1800" dirty="0"/>
              <a:t>Based on: Layers </a:t>
            </a:r>
            <a:r>
              <a:rPr lang="en-US" altLang="zh-TW" sz="1800" dirty="0" err="1"/>
              <a:t>Qm</a:t>
            </a:r>
            <a:r>
              <a:rPr lang="en-US" altLang="zh-TW" sz="1800" dirty="0"/>
              <a:t> Code Rate PRB SCS Overhead Scaling Factor</a:t>
            </a:r>
          </a:p>
          <a:p>
            <a:pPr marL="914400" lvl="2" indent="0">
              <a:buNone/>
            </a:pPr>
            <a:endParaRPr lang="en-US" altLang="zh-TW" sz="18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B8E434A-BABD-E308-E1AA-69CD82705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7662"/>
            <a:ext cx="5964936" cy="49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8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039EE4-BF4A-E5C4-925C-B1A3ED70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 3GPP-based </a:t>
            </a:r>
            <a:r>
              <a:rPr lang="zh-TW" altLang="en-US" dirty="0"/>
              <a:t>網路資料引擎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C09993-BEDD-DFA6-E928-27BB9E2ECC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17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BD7FF439-EB3E-AB41-59E9-445C6AA1EB64}"/>
              </a:ext>
            </a:extLst>
          </p:cNvPr>
          <p:cNvGrpSpPr/>
          <p:nvPr/>
        </p:nvGrpSpPr>
        <p:grpSpPr>
          <a:xfrm>
            <a:off x="307786" y="914400"/>
            <a:ext cx="11750863" cy="5345113"/>
            <a:chOff x="130576" y="788102"/>
            <a:chExt cx="11937415" cy="5372731"/>
          </a:xfrm>
        </p:grpSpPr>
        <p:sp>
          <p:nvSpPr>
            <p:cNvPr id="5" name="箭頭 3">
              <a:extLst>
                <a:ext uri="{FF2B5EF4-FFF2-40B4-BE49-F238E27FC236}">
                  <a16:creationId xmlns:a16="http://schemas.microsoft.com/office/drawing/2014/main" id="{FF75D521-51A6-EA6C-39ED-14CCBF8E232D}"/>
                </a:ext>
              </a:extLst>
            </p:cNvPr>
            <p:cNvSpPr/>
            <p:nvPr/>
          </p:nvSpPr>
          <p:spPr>
            <a:xfrm>
              <a:off x="1650391" y="1727761"/>
              <a:ext cx="473191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6" name="箭頭 4">
              <a:extLst>
                <a:ext uri="{FF2B5EF4-FFF2-40B4-BE49-F238E27FC236}">
                  <a16:creationId xmlns:a16="http://schemas.microsoft.com/office/drawing/2014/main" id="{B13B996B-5EF2-BB94-8140-88D82A27A253}"/>
                </a:ext>
              </a:extLst>
            </p:cNvPr>
            <p:cNvSpPr/>
            <p:nvPr/>
          </p:nvSpPr>
          <p:spPr>
            <a:xfrm>
              <a:off x="4075352" y="1727761"/>
              <a:ext cx="16040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7" name="箭頭 5">
              <a:extLst>
                <a:ext uri="{FF2B5EF4-FFF2-40B4-BE49-F238E27FC236}">
                  <a16:creationId xmlns:a16="http://schemas.microsoft.com/office/drawing/2014/main" id="{96DC7E8A-2852-1048-A9E2-AA51BED51E82}"/>
                </a:ext>
              </a:extLst>
            </p:cNvPr>
            <p:cNvSpPr/>
            <p:nvPr/>
          </p:nvSpPr>
          <p:spPr>
            <a:xfrm>
              <a:off x="4973303" y="1727761"/>
              <a:ext cx="18789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8" name="箭頭 6">
              <a:extLst>
                <a:ext uri="{FF2B5EF4-FFF2-40B4-BE49-F238E27FC236}">
                  <a16:creationId xmlns:a16="http://schemas.microsoft.com/office/drawing/2014/main" id="{E138F524-641E-E658-A4B9-553D7112934A}"/>
                </a:ext>
              </a:extLst>
            </p:cNvPr>
            <p:cNvSpPr/>
            <p:nvPr/>
          </p:nvSpPr>
          <p:spPr>
            <a:xfrm>
              <a:off x="7291651" y="1727761"/>
              <a:ext cx="153532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9" name="箭頭 7">
              <a:extLst>
                <a:ext uri="{FF2B5EF4-FFF2-40B4-BE49-F238E27FC236}">
                  <a16:creationId xmlns:a16="http://schemas.microsoft.com/office/drawing/2014/main" id="{CF8B5B79-AEAB-EA6A-5F2A-757615217181}"/>
                </a:ext>
              </a:extLst>
            </p:cNvPr>
            <p:cNvSpPr/>
            <p:nvPr/>
          </p:nvSpPr>
          <p:spPr>
            <a:xfrm>
              <a:off x="8175856" y="1727761"/>
              <a:ext cx="18789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0" name="箭頭 8">
              <a:extLst>
                <a:ext uri="{FF2B5EF4-FFF2-40B4-BE49-F238E27FC236}">
                  <a16:creationId xmlns:a16="http://schemas.microsoft.com/office/drawing/2014/main" id="{BDEB5BB5-D92D-AA8D-5EAA-7E695364ECEC}"/>
                </a:ext>
              </a:extLst>
            </p:cNvPr>
            <p:cNvSpPr/>
            <p:nvPr/>
          </p:nvSpPr>
          <p:spPr>
            <a:xfrm>
              <a:off x="10322394" y="1727761"/>
              <a:ext cx="28882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1" name="箭頭 9">
              <a:extLst>
                <a:ext uri="{FF2B5EF4-FFF2-40B4-BE49-F238E27FC236}">
                  <a16:creationId xmlns:a16="http://schemas.microsoft.com/office/drawing/2014/main" id="{93E7FEEA-9184-4E33-FCB8-724E1085C1E8}"/>
                </a:ext>
              </a:extLst>
            </p:cNvPr>
            <p:cNvSpPr/>
            <p:nvPr/>
          </p:nvSpPr>
          <p:spPr>
            <a:xfrm>
              <a:off x="6357000" y="1182152"/>
              <a:ext cx="0" cy="18187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2" name="箭頭 10">
              <a:extLst>
                <a:ext uri="{FF2B5EF4-FFF2-40B4-BE49-F238E27FC236}">
                  <a16:creationId xmlns:a16="http://schemas.microsoft.com/office/drawing/2014/main" id="{41A99167-E625-8B0A-83D1-A23C79CEE11C}"/>
                </a:ext>
              </a:extLst>
            </p:cNvPr>
            <p:cNvSpPr/>
            <p:nvPr/>
          </p:nvSpPr>
          <p:spPr>
            <a:xfrm>
              <a:off x="9360253" y="1182152"/>
              <a:ext cx="0" cy="18187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3" name="階段1到階段2 11">
              <a:extLst>
                <a:ext uri="{FF2B5EF4-FFF2-40B4-BE49-F238E27FC236}">
                  <a16:creationId xmlns:a16="http://schemas.microsoft.com/office/drawing/2014/main" id="{CEE28E29-AAAD-7A14-81C4-38EACBE33524}"/>
                </a:ext>
              </a:extLst>
            </p:cNvPr>
            <p:cNvSpPr/>
            <p:nvPr/>
          </p:nvSpPr>
          <p:spPr>
            <a:xfrm>
              <a:off x="927778" y="2030877"/>
              <a:ext cx="10384245" cy="394051"/>
            </a:xfrm>
            <a:custGeom>
              <a:avLst/>
              <a:gdLst/>
              <a:ahLst/>
              <a:cxnLst/>
              <a:rect l="l" t="t" r="r" b="b"/>
              <a:pathLst>
                <a:path w="10384245" h="394051">
                  <a:moveTo>
                    <a:pt x="10384245" y="0"/>
                  </a:moveTo>
                  <a:lnTo>
                    <a:pt x="10384245" y="242493"/>
                  </a:lnTo>
                  <a:lnTo>
                    <a:pt x="0" y="242493"/>
                  </a:lnTo>
                  <a:lnTo>
                    <a:pt x="0" y="394051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4" name="箭頭 12">
              <a:extLst>
                <a:ext uri="{FF2B5EF4-FFF2-40B4-BE49-F238E27FC236}">
                  <a16:creationId xmlns:a16="http://schemas.microsoft.com/office/drawing/2014/main" id="{2CBE0CF4-1AF6-87F2-F340-3FBF06C024A9}"/>
                </a:ext>
              </a:extLst>
            </p:cNvPr>
            <p:cNvSpPr/>
            <p:nvPr/>
          </p:nvSpPr>
          <p:spPr>
            <a:xfrm>
              <a:off x="1691364" y="3341854"/>
              <a:ext cx="33600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5" name="服務訊號 S 路徑 13">
              <a:extLst>
                <a:ext uri="{FF2B5EF4-FFF2-40B4-BE49-F238E27FC236}">
                  <a16:creationId xmlns:a16="http://schemas.microsoft.com/office/drawing/2014/main" id="{83A9E202-CAF4-3F75-C79A-12AD71634C95}"/>
                </a:ext>
              </a:extLst>
            </p:cNvPr>
            <p:cNvSpPr/>
            <p:nvPr/>
          </p:nvSpPr>
          <p:spPr>
            <a:xfrm>
              <a:off x="4109715" y="2989482"/>
              <a:ext cx="4721361" cy="257649"/>
            </a:xfrm>
            <a:custGeom>
              <a:avLst/>
              <a:gdLst/>
              <a:ahLst/>
              <a:cxnLst/>
              <a:rect l="l" t="t" r="r" b="b"/>
              <a:pathLst>
                <a:path w="4721361" h="257649">
                  <a:moveTo>
                    <a:pt x="0" y="128824"/>
                  </a:moveTo>
                  <a:lnTo>
                    <a:pt x="982758" y="128824"/>
                  </a:lnTo>
                  <a:lnTo>
                    <a:pt x="982758" y="0"/>
                  </a:lnTo>
                  <a:lnTo>
                    <a:pt x="4467081" y="0"/>
                  </a:lnTo>
                  <a:lnTo>
                    <a:pt x="4467081" y="257649"/>
                  </a:lnTo>
                  <a:lnTo>
                    <a:pt x="4721361" y="257649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6" name="其他同頻 RU 路徑 14">
              <a:extLst>
                <a:ext uri="{FF2B5EF4-FFF2-40B4-BE49-F238E27FC236}">
                  <a16:creationId xmlns:a16="http://schemas.microsoft.com/office/drawing/2014/main" id="{2AC0924D-5671-94E0-55A4-DFF8F76CC231}"/>
                </a:ext>
              </a:extLst>
            </p:cNvPr>
            <p:cNvSpPr/>
            <p:nvPr/>
          </p:nvSpPr>
          <p:spPr>
            <a:xfrm>
              <a:off x="4109715" y="3466890"/>
              <a:ext cx="1243910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7" name="干擾 I 路徑 15">
              <a:extLst>
                <a:ext uri="{FF2B5EF4-FFF2-40B4-BE49-F238E27FC236}">
                  <a16:creationId xmlns:a16="http://schemas.microsoft.com/office/drawing/2014/main" id="{48AAF583-2ADD-5E35-440B-8D4C42744137}"/>
                </a:ext>
              </a:extLst>
            </p:cNvPr>
            <p:cNvSpPr/>
            <p:nvPr/>
          </p:nvSpPr>
          <p:spPr>
            <a:xfrm>
              <a:off x="7346630" y="3383533"/>
              <a:ext cx="1484445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8" name="雜訊 N 路徑 16">
              <a:extLst>
                <a:ext uri="{FF2B5EF4-FFF2-40B4-BE49-F238E27FC236}">
                  <a16:creationId xmlns:a16="http://schemas.microsoft.com/office/drawing/2014/main" id="{DB9621E4-3BFD-3163-6BD3-6686FDF1AE91}"/>
                </a:ext>
              </a:extLst>
            </p:cNvPr>
            <p:cNvSpPr/>
            <p:nvPr/>
          </p:nvSpPr>
          <p:spPr>
            <a:xfrm>
              <a:off x="7346630" y="3694227"/>
              <a:ext cx="1484445" cy="322061"/>
            </a:xfrm>
            <a:custGeom>
              <a:avLst/>
              <a:gdLst/>
              <a:ahLst/>
              <a:cxnLst/>
              <a:rect l="l" t="t" r="r" b="b"/>
              <a:pathLst>
                <a:path w="1484445" h="322061">
                  <a:moveTo>
                    <a:pt x="0" y="322061"/>
                  </a:moveTo>
                  <a:lnTo>
                    <a:pt x="1250783" y="322061"/>
                  </a:lnTo>
                  <a:lnTo>
                    <a:pt x="1250783" y="0"/>
                  </a:lnTo>
                  <a:lnTo>
                    <a:pt x="1484445" y="0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19" name="箭頭 17">
              <a:extLst>
                <a:ext uri="{FF2B5EF4-FFF2-40B4-BE49-F238E27FC236}">
                  <a16:creationId xmlns:a16="http://schemas.microsoft.com/office/drawing/2014/main" id="{E5442C77-8067-237A-8DBC-4856450676F3}"/>
                </a:ext>
              </a:extLst>
            </p:cNvPr>
            <p:cNvSpPr/>
            <p:nvPr/>
          </p:nvSpPr>
          <p:spPr>
            <a:xfrm>
              <a:off x="4748407" y="4016287"/>
              <a:ext cx="605218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0" name="箭頭 18">
              <a:extLst>
                <a:ext uri="{FF2B5EF4-FFF2-40B4-BE49-F238E27FC236}">
                  <a16:creationId xmlns:a16="http://schemas.microsoft.com/office/drawing/2014/main" id="{3F83C9DC-9ACA-04F0-04CC-F0D2559E0C96}"/>
                </a:ext>
              </a:extLst>
            </p:cNvPr>
            <p:cNvSpPr/>
            <p:nvPr/>
          </p:nvSpPr>
          <p:spPr>
            <a:xfrm>
              <a:off x="10473587" y="3493412"/>
              <a:ext cx="290719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1" name="階段2到階段3 19">
              <a:extLst>
                <a:ext uri="{FF2B5EF4-FFF2-40B4-BE49-F238E27FC236}">
                  <a16:creationId xmlns:a16="http://schemas.microsoft.com/office/drawing/2014/main" id="{E075A34E-8911-87FE-7572-F36603A2C6EA}"/>
                </a:ext>
              </a:extLst>
            </p:cNvPr>
            <p:cNvSpPr/>
            <p:nvPr/>
          </p:nvSpPr>
          <p:spPr>
            <a:xfrm>
              <a:off x="900289" y="3804106"/>
              <a:ext cx="10473587" cy="682011"/>
            </a:xfrm>
            <a:custGeom>
              <a:avLst/>
              <a:gdLst/>
              <a:ahLst/>
              <a:cxnLst/>
              <a:rect l="l" t="t" r="r" b="b"/>
              <a:pathLst>
                <a:path w="10473587" h="682011">
                  <a:moveTo>
                    <a:pt x="10473587" y="0"/>
                  </a:moveTo>
                  <a:lnTo>
                    <a:pt x="10473587" y="541820"/>
                  </a:lnTo>
                  <a:lnTo>
                    <a:pt x="0" y="541820"/>
                  </a:lnTo>
                  <a:lnTo>
                    <a:pt x="0" y="682011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2" name="箭頭 20">
              <a:extLst>
                <a:ext uri="{FF2B5EF4-FFF2-40B4-BE49-F238E27FC236}">
                  <a16:creationId xmlns:a16="http://schemas.microsoft.com/office/drawing/2014/main" id="{9BCBD977-B909-17B3-1A43-80E7AF6ECFD0}"/>
                </a:ext>
              </a:extLst>
            </p:cNvPr>
            <p:cNvSpPr/>
            <p:nvPr/>
          </p:nvSpPr>
          <p:spPr>
            <a:xfrm>
              <a:off x="3326257" y="4872590"/>
              <a:ext cx="0" cy="189448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3" name="箭頭 21">
              <a:extLst>
                <a:ext uri="{FF2B5EF4-FFF2-40B4-BE49-F238E27FC236}">
                  <a16:creationId xmlns:a16="http://schemas.microsoft.com/office/drawing/2014/main" id="{FED7ECFF-5230-6394-2F45-16B7E6174551}"/>
                </a:ext>
              </a:extLst>
            </p:cNvPr>
            <p:cNvSpPr/>
            <p:nvPr/>
          </p:nvSpPr>
          <p:spPr>
            <a:xfrm>
              <a:off x="9758854" y="4872590"/>
              <a:ext cx="0" cy="295538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4" name="箭頭 22">
              <a:extLst>
                <a:ext uri="{FF2B5EF4-FFF2-40B4-BE49-F238E27FC236}">
                  <a16:creationId xmlns:a16="http://schemas.microsoft.com/office/drawing/2014/main" id="{2D843F9F-E7F4-886E-E0DB-0D525E999C1B}"/>
                </a:ext>
              </a:extLst>
            </p:cNvPr>
            <p:cNvSpPr/>
            <p:nvPr/>
          </p:nvSpPr>
          <p:spPr>
            <a:xfrm>
              <a:off x="1547062" y="5414410"/>
              <a:ext cx="452816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5" name="連線 23">
              <a:extLst>
                <a:ext uri="{FF2B5EF4-FFF2-40B4-BE49-F238E27FC236}">
                  <a16:creationId xmlns:a16="http://schemas.microsoft.com/office/drawing/2014/main" id="{20EE8223-A5F6-42F1-32F6-2E79DF553473}"/>
                </a:ext>
              </a:extLst>
            </p:cNvPr>
            <p:cNvSpPr/>
            <p:nvPr/>
          </p:nvSpPr>
          <p:spPr>
            <a:xfrm>
              <a:off x="3924159" y="5285586"/>
              <a:ext cx="19311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none"/>
            </a:ln>
          </p:spPr>
        </p:sp>
        <p:sp>
          <p:nvSpPr>
            <p:cNvPr id="26" name="箭頭 24">
              <a:extLst>
                <a:ext uri="{FF2B5EF4-FFF2-40B4-BE49-F238E27FC236}">
                  <a16:creationId xmlns:a16="http://schemas.microsoft.com/office/drawing/2014/main" id="{F3FC9EBE-CD15-9AAE-27E6-2AFC66D56642}"/>
                </a:ext>
              </a:extLst>
            </p:cNvPr>
            <p:cNvSpPr/>
            <p:nvPr/>
          </p:nvSpPr>
          <p:spPr>
            <a:xfrm>
              <a:off x="4754332" y="5285586"/>
              <a:ext cx="235054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7" name="連線 25">
              <a:extLst>
                <a:ext uri="{FF2B5EF4-FFF2-40B4-BE49-F238E27FC236}">
                  <a16:creationId xmlns:a16="http://schemas.microsoft.com/office/drawing/2014/main" id="{98FB8F18-993A-9164-E047-DD9687744DAE}"/>
                </a:ext>
              </a:extLst>
            </p:cNvPr>
            <p:cNvSpPr/>
            <p:nvPr/>
          </p:nvSpPr>
          <p:spPr>
            <a:xfrm>
              <a:off x="6899922" y="5187073"/>
              <a:ext cx="181263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none"/>
            </a:ln>
          </p:spPr>
        </p:sp>
        <p:sp>
          <p:nvSpPr>
            <p:cNvPr id="28" name="Qm、R 路徑 26">
              <a:extLst>
                <a:ext uri="{FF2B5EF4-FFF2-40B4-BE49-F238E27FC236}">
                  <a16:creationId xmlns:a16="http://schemas.microsoft.com/office/drawing/2014/main" id="{8E85B6C1-A8A9-9ACB-6344-3BF87C4A44F7}"/>
                </a:ext>
              </a:extLst>
            </p:cNvPr>
            <p:cNvSpPr/>
            <p:nvPr/>
          </p:nvSpPr>
          <p:spPr>
            <a:xfrm>
              <a:off x="8219933" y="5187073"/>
              <a:ext cx="542419" cy="185659"/>
            </a:xfrm>
            <a:custGeom>
              <a:avLst/>
              <a:gdLst/>
              <a:ahLst/>
              <a:cxnLst/>
              <a:rect l="l" t="t" r="r" b="b"/>
              <a:pathLst>
                <a:path w="542419" h="185659">
                  <a:moveTo>
                    <a:pt x="0" y="0"/>
                  </a:moveTo>
                  <a:lnTo>
                    <a:pt x="240032" y="0"/>
                  </a:lnTo>
                  <a:lnTo>
                    <a:pt x="240032" y="185659"/>
                  </a:lnTo>
                  <a:lnTo>
                    <a:pt x="542419" y="185659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29" name="連線 27">
              <a:extLst>
                <a:ext uri="{FF2B5EF4-FFF2-40B4-BE49-F238E27FC236}">
                  <a16:creationId xmlns:a16="http://schemas.microsoft.com/office/drawing/2014/main" id="{3B5225A2-7E71-1466-9F38-9C63EC4E01AD}"/>
                </a:ext>
              </a:extLst>
            </p:cNvPr>
            <p:cNvSpPr/>
            <p:nvPr/>
          </p:nvSpPr>
          <p:spPr>
            <a:xfrm>
              <a:off x="6899922" y="5861506"/>
              <a:ext cx="146901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none"/>
            </a:ln>
          </p:spPr>
        </p:sp>
        <p:sp>
          <p:nvSpPr>
            <p:cNvPr id="30" name="PRB、Layers 路徑 28">
              <a:extLst>
                <a:ext uri="{FF2B5EF4-FFF2-40B4-BE49-F238E27FC236}">
                  <a16:creationId xmlns:a16="http://schemas.microsoft.com/office/drawing/2014/main" id="{CF5AE8D4-1D6E-092A-8C5F-56FB2AA4CA33}"/>
                </a:ext>
              </a:extLst>
            </p:cNvPr>
            <p:cNvSpPr/>
            <p:nvPr/>
          </p:nvSpPr>
          <p:spPr>
            <a:xfrm>
              <a:off x="8384871" y="5584913"/>
              <a:ext cx="377480" cy="276593"/>
            </a:xfrm>
            <a:custGeom>
              <a:avLst/>
              <a:gdLst/>
              <a:ahLst/>
              <a:cxnLst/>
              <a:rect l="l" t="t" r="r" b="b"/>
              <a:pathLst>
                <a:path w="377480" h="276593">
                  <a:moveTo>
                    <a:pt x="0" y="276593"/>
                  </a:moveTo>
                  <a:lnTo>
                    <a:pt x="116328" y="276593"/>
                  </a:lnTo>
                  <a:lnTo>
                    <a:pt x="116328" y="0"/>
                  </a:lnTo>
                  <a:lnTo>
                    <a:pt x="377480" y="0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31" name="箭頭 29">
              <a:extLst>
                <a:ext uri="{FF2B5EF4-FFF2-40B4-BE49-F238E27FC236}">
                  <a16:creationId xmlns:a16="http://schemas.microsoft.com/office/drawing/2014/main" id="{693BE738-629C-99BF-4360-05238808B8B8}"/>
                </a:ext>
              </a:extLst>
            </p:cNvPr>
            <p:cNvSpPr/>
            <p:nvPr/>
          </p:nvSpPr>
          <p:spPr>
            <a:xfrm>
              <a:off x="10521694" y="5512923"/>
              <a:ext cx="330523" cy="0"/>
            </a:xfrm>
            <a:prstGeom prst="line">
              <a:avLst/>
            </a:prstGeom>
            <a:noFill/>
            <a:ln w="19050">
              <a:solidFill>
                <a:srgbClr val="111111"/>
              </a:solidFill>
              <a:prstDash val="solid"/>
              <a:headEnd type="none"/>
              <a:tailEnd type="triangle" w="lg" len="lg"/>
            </a:ln>
          </p:spPr>
        </p:sp>
        <p:sp>
          <p:nvSpPr>
            <p:cNvPr id="32" name="階段標題 30">
              <a:extLst>
                <a:ext uri="{FF2B5EF4-FFF2-40B4-BE49-F238E27FC236}">
                  <a16:creationId xmlns:a16="http://schemas.microsoft.com/office/drawing/2014/main" id="{435BB349-32C4-15EE-A08E-5859CCB11E1D}"/>
                </a:ext>
              </a:extLst>
            </p:cNvPr>
            <p:cNvSpPr txBox="1"/>
            <p:nvPr/>
          </p:nvSpPr>
          <p:spPr>
            <a:xfrm>
              <a:off x="130576" y="788102"/>
              <a:ext cx="3291895" cy="401629"/>
            </a:xfrm>
            <a:prstGeom prst="roundRect">
              <a:avLst>
                <a:gd name="adj" fmla="val 22767"/>
              </a:avLst>
            </a:prstGeom>
            <a:solidFill>
              <a:srgbClr val="1A6FCC"/>
            </a:solidFill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一、算出各基地台到 UE 的訊號</a:t>
              </a:r>
              <a:endParaRPr lang="zh-TW" sz="1700" dirty="0"/>
            </a:p>
          </p:txBody>
        </p:sp>
        <p:sp>
          <p:nvSpPr>
            <p:cNvPr id="33" name="輸入-RU/UE 位置 31">
              <a:extLst>
                <a:ext uri="{FF2B5EF4-FFF2-40B4-BE49-F238E27FC236}">
                  <a16:creationId xmlns:a16="http://schemas.microsoft.com/office/drawing/2014/main" id="{6BC96D73-B767-5533-2EEB-E95ECC8C95EB}"/>
                </a:ext>
              </a:extLst>
            </p:cNvPr>
            <p:cNvSpPr txBox="1"/>
            <p:nvPr/>
          </p:nvSpPr>
          <p:spPr>
            <a:xfrm>
              <a:off x="130576" y="1401912"/>
              <a:ext cx="1628766" cy="682011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10160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40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RU／UE 位置</a:t>
              </a:r>
              <a:endParaRPr lang="zh-TW" sz="1150" dirty="0"/>
            </a:p>
            <a:p>
              <a:pPr marL="139700" indent="-139700" algn="l">
                <a:buSzPct val="100000"/>
                <a:buChar char="•"/>
              </a:pPr>
              <a:r>
                <a:rPr lang="zh-TW" altLang="en-US" sz="1100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 RU 的座標</a:t>
              </a:r>
              <a:endParaRPr lang="zh-TW" sz="1150" dirty="0"/>
            </a:p>
            <a:p>
              <a:pPr marL="139700" indent="-139700" algn="l">
                <a:buSzPct val="100000"/>
                <a:buChar char="•"/>
              </a:pPr>
              <a:r>
                <a:rPr lang="zh-TW" altLang="en-US" sz="1100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UE 的座標</a:t>
              </a:r>
              <a:endParaRPr lang="zh-TW" sz="1150" dirty="0"/>
            </a:p>
          </p:txBody>
        </p:sp>
        <p:grpSp>
          <p:nvGrpSpPr>
            <p:cNvPr id="34" name="步驟1 距離計算">
              <a:extLst>
                <a:ext uri="{FF2B5EF4-FFF2-40B4-BE49-F238E27FC236}">
                  <a16:creationId xmlns:a16="http://schemas.microsoft.com/office/drawing/2014/main" id="{A1619981-91C1-6D3B-0677-A2273E144057}"/>
                </a:ext>
              </a:extLst>
            </p:cNvPr>
            <p:cNvGrpSpPr/>
            <p:nvPr/>
          </p:nvGrpSpPr>
          <p:grpSpPr>
            <a:xfrm>
              <a:off x="2123582" y="1364022"/>
              <a:ext cx="1951771" cy="727478"/>
              <a:chOff x="2123582" y="1364022"/>
              <a:chExt cx="1951771" cy="727478"/>
            </a:xfrm>
          </p:grpSpPr>
          <p:sp>
            <p:nvSpPr>
              <p:cNvPr id="35" name="方塊 32">
                <a:extLst>
                  <a:ext uri="{FF2B5EF4-FFF2-40B4-BE49-F238E27FC236}">
                    <a16:creationId xmlns:a16="http://schemas.microsoft.com/office/drawing/2014/main" id="{4598D9A3-7E03-79C6-0AA6-C717AC39ACD6}"/>
                  </a:ext>
                </a:extLst>
              </p:cNvPr>
              <p:cNvSpPr/>
              <p:nvPr/>
            </p:nvSpPr>
            <p:spPr>
              <a:xfrm>
                <a:off x="2123582" y="1364022"/>
                <a:ext cx="1951771" cy="7274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36" name="編號 33">
                <a:extLst>
                  <a:ext uri="{FF2B5EF4-FFF2-40B4-BE49-F238E27FC236}">
                    <a16:creationId xmlns:a16="http://schemas.microsoft.com/office/drawing/2014/main" id="{7BD1C25A-FF4C-86C6-1E6C-FBA5457E2BB5}"/>
                  </a:ext>
                </a:extLst>
              </p:cNvPr>
              <p:cNvSpPr txBox="1"/>
              <p:nvPr/>
            </p:nvSpPr>
            <p:spPr>
              <a:xfrm>
                <a:off x="2412512" y="1476933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</a:t>
                </a:r>
                <a:endParaRPr lang="en-US" sz="1400" dirty="0"/>
              </a:p>
            </p:txBody>
          </p:sp>
          <p:sp>
            <p:nvSpPr>
              <p:cNvPr id="37" name="步驟名稱 34">
                <a:extLst>
                  <a:ext uri="{FF2B5EF4-FFF2-40B4-BE49-F238E27FC236}">
                    <a16:creationId xmlns:a16="http://schemas.microsoft.com/office/drawing/2014/main" id="{DA933862-61B5-8FE9-9A12-9C0AD57C8528}"/>
                  </a:ext>
                </a:extLst>
              </p:cNvPr>
              <p:cNvSpPr txBox="1"/>
              <p:nvPr/>
            </p:nvSpPr>
            <p:spPr>
              <a:xfrm>
                <a:off x="2838315" y="1485269"/>
                <a:ext cx="1209548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距離計算</a:t>
                </a:r>
                <a:endParaRPr lang="en-US" sz="1500" dirty="0"/>
              </a:p>
            </p:txBody>
          </p:sp>
          <p:sp>
            <p:nvSpPr>
              <p:cNvPr id="38" name="步驟說明 35">
                <a:extLst>
                  <a:ext uri="{FF2B5EF4-FFF2-40B4-BE49-F238E27FC236}">
                    <a16:creationId xmlns:a16="http://schemas.microsoft.com/office/drawing/2014/main" id="{06AE615D-175E-F835-60F2-EC24E72AAFCA}"/>
                  </a:ext>
                </a:extLst>
              </p:cNvPr>
              <p:cNvSpPr txBox="1"/>
              <p:nvPr/>
            </p:nvSpPr>
            <p:spPr>
              <a:xfrm>
                <a:off x="2151071" y="1826274"/>
                <a:ext cx="1896791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每一組 RU 與 UE 都計算</a:t>
                </a:r>
                <a:endParaRPr lang="en-US" sz="1150" dirty="0"/>
              </a:p>
            </p:txBody>
          </p:sp>
        </p:grpSp>
        <p:sp>
          <p:nvSpPr>
            <p:cNvPr id="39" name="資料-距離 d 36">
              <a:extLst>
                <a:ext uri="{FF2B5EF4-FFF2-40B4-BE49-F238E27FC236}">
                  <a16:creationId xmlns:a16="http://schemas.microsoft.com/office/drawing/2014/main" id="{319ED7A8-54C9-36E9-4FE6-7EDFBD97FA2A}"/>
                </a:ext>
              </a:extLst>
            </p:cNvPr>
            <p:cNvSpPr txBox="1"/>
            <p:nvPr/>
          </p:nvSpPr>
          <p:spPr>
            <a:xfrm>
              <a:off x="4192184" y="1553470"/>
              <a:ext cx="845309" cy="348583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距離 d</a:t>
              </a:r>
              <a:endParaRPr lang="zh-TW" sz="1150" dirty="0"/>
            </a:p>
          </p:txBody>
        </p:sp>
        <p:sp>
          <p:nvSpPr>
            <p:cNvPr id="40" name="參數-頻率與情境 37">
              <a:extLst>
                <a:ext uri="{FF2B5EF4-FFF2-40B4-BE49-F238E27FC236}">
                  <a16:creationId xmlns:a16="http://schemas.microsoft.com/office/drawing/2014/main" id="{AA3E971F-A94D-E0A1-32F8-E9A34CF4A99E}"/>
                </a:ext>
              </a:extLst>
            </p:cNvPr>
            <p:cNvSpPr txBox="1"/>
            <p:nvPr/>
          </p:nvSpPr>
          <p:spPr>
            <a:xfrm>
              <a:off x="5456711" y="886614"/>
              <a:ext cx="1793705" cy="295538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頻率 fc、傳播情境</a:t>
              </a:r>
              <a:endParaRPr lang="zh-TW" sz="1150" dirty="0"/>
            </a:p>
          </p:txBody>
        </p:sp>
        <p:grpSp>
          <p:nvGrpSpPr>
            <p:cNvPr id="41" name="步驟2 路徑損耗計算">
              <a:extLst>
                <a:ext uri="{FF2B5EF4-FFF2-40B4-BE49-F238E27FC236}">
                  <a16:creationId xmlns:a16="http://schemas.microsoft.com/office/drawing/2014/main" id="{A8CFCCFD-774E-C5A7-C76E-1CC00AA0D067}"/>
                </a:ext>
              </a:extLst>
            </p:cNvPr>
            <p:cNvGrpSpPr/>
            <p:nvPr/>
          </p:nvGrpSpPr>
          <p:grpSpPr>
            <a:xfrm>
              <a:off x="5161197" y="1364022"/>
              <a:ext cx="2130454" cy="727478"/>
              <a:chOff x="5161197" y="1364022"/>
              <a:chExt cx="2130454" cy="727478"/>
            </a:xfrm>
          </p:grpSpPr>
          <p:sp>
            <p:nvSpPr>
              <p:cNvPr id="42" name="方塊 38">
                <a:extLst>
                  <a:ext uri="{FF2B5EF4-FFF2-40B4-BE49-F238E27FC236}">
                    <a16:creationId xmlns:a16="http://schemas.microsoft.com/office/drawing/2014/main" id="{B267C577-CAEF-CB1B-6DEC-2C497F38B254}"/>
                  </a:ext>
                </a:extLst>
              </p:cNvPr>
              <p:cNvSpPr/>
              <p:nvPr/>
            </p:nvSpPr>
            <p:spPr>
              <a:xfrm>
                <a:off x="5161197" y="1364022"/>
                <a:ext cx="2130454" cy="7274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43" name="編號 39">
                <a:extLst>
                  <a:ext uri="{FF2B5EF4-FFF2-40B4-BE49-F238E27FC236}">
                    <a16:creationId xmlns:a16="http://schemas.microsoft.com/office/drawing/2014/main" id="{32B55EC3-D99B-938C-E9D2-56E27EDC5173}"/>
                  </a:ext>
                </a:extLst>
              </p:cNvPr>
              <p:cNvSpPr txBox="1"/>
              <p:nvPr/>
            </p:nvSpPr>
            <p:spPr>
              <a:xfrm>
                <a:off x="5367658" y="1476933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</a:t>
                </a:r>
                <a:endParaRPr lang="en-US" sz="1400" dirty="0"/>
              </a:p>
            </p:txBody>
          </p:sp>
          <p:sp>
            <p:nvSpPr>
              <p:cNvPr id="44" name="步驟名稱 40">
                <a:extLst>
                  <a:ext uri="{FF2B5EF4-FFF2-40B4-BE49-F238E27FC236}">
                    <a16:creationId xmlns:a16="http://schemas.microsoft.com/office/drawing/2014/main" id="{B76F57A1-AFCD-A773-F689-FBA0345717D5}"/>
                  </a:ext>
                </a:extLst>
              </p:cNvPr>
              <p:cNvSpPr txBox="1"/>
              <p:nvPr/>
            </p:nvSpPr>
            <p:spPr>
              <a:xfrm>
                <a:off x="5793461" y="1485269"/>
                <a:ext cx="1470701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路徑損耗計算</a:t>
                </a:r>
                <a:endParaRPr lang="en-US" sz="1500" dirty="0"/>
              </a:p>
            </p:txBody>
          </p:sp>
          <p:sp>
            <p:nvSpPr>
              <p:cNvPr id="45" name="步驟說明 41">
                <a:extLst>
                  <a:ext uri="{FF2B5EF4-FFF2-40B4-BE49-F238E27FC236}">
                    <a16:creationId xmlns:a16="http://schemas.microsoft.com/office/drawing/2014/main" id="{55EA32DF-71B1-D4A3-AEFF-B2A3F1AB3F95}"/>
                  </a:ext>
                </a:extLst>
              </p:cNvPr>
              <p:cNvSpPr txBox="1"/>
              <p:nvPr/>
            </p:nvSpPr>
            <p:spPr>
              <a:xfrm>
                <a:off x="5188687" y="1826274"/>
                <a:ext cx="2075475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距離與環境造成多少衰減</a:t>
                </a:r>
                <a:endParaRPr lang="en-US" sz="1150" dirty="0"/>
              </a:p>
            </p:txBody>
          </p:sp>
        </p:grpSp>
        <p:sp>
          <p:nvSpPr>
            <p:cNvPr id="46" name="資料-損耗 PL 42">
              <a:extLst>
                <a:ext uri="{FF2B5EF4-FFF2-40B4-BE49-F238E27FC236}">
                  <a16:creationId xmlns:a16="http://schemas.microsoft.com/office/drawing/2014/main" id="{91D3DFBD-2E49-53E0-DE6B-8A109A40BA37}"/>
                </a:ext>
              </a:extLst>
            </p:cNvPr>
            <p:cNvSpPr txBox="1"/>
            <p:nvPr/>
          </p:nvSpPr>
          <p:spPr>
            <a:xfrm>
              <a:off x="7401610" y="1553470"/>
              <a:ext cx="838437" cy="348583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損耗 PL</a:t>
              </a:r>
              <a:endParaRPr lang="zh-TW" sz="1150" dirty="0"/>
            </a:p>
          </p:txBody>
        </p:sp>
        <p:sp>
          <p:nvSpPr>
            <p:cNvPr id="47" name="參數-發射功率 43">
              <a:extLst>
                <a:ext uri="{FF2B5EF4-FFF2-40B4-BE49-F238E27FC236}">
                  <a16:creationId xmlns:a16="http://schemas.microsoft.com/office/drawing/2014/main" id="{97938BE3-4A88-3DFB-993A-16E3E020D317}"/>
                </a:ext>
              </a:extLst>
            </p:cNvPr>
            <p:cNvSpPr txBox="1"/>
            <p:nvPr/>
          </p:nvSpPr>
          <p:spPr>
            <a:xfrm>
              <a:off x="8466837" y="886614"/>
              <a:ext cx="1759343" cy="295538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發射功率、PRB 數</a:t>
              </a:r>
              <a:endParaRPr lang="zh-TW" sz="1150" dirty="0"/>
            </a:p>
          </p:txBody>
        </p:sp>
        <p:grpSp>
          <p:nvGrpSpPr>
            <p:cNvPr id="48" name="步驟3 接收訊號計算">
              <a:extLst>
                <a:ext uri="{FF2B5EF4-FFF2-40B4-BE49-F238E27FC236}">
                  <a16:creationId xmlns:a16="http://schemas.microsoft.com/office/drawing/2014/main" id="{DECF6433-4879-F42F-8FDD-0AF3B5C867A0}"/>
                </a:ext>
              </a:extLst>
            </p:cNvPr>
            <p:cNvGrpSpPr/>
            <p:nvPr/>
          </p:nvGrpSpPr>
          <p:grpSpPr>
            <a:xfrm>
              <a:off x="8363750" y="1364022"/>
              <a:ext cx="1958643" cy="727478"/>
              <a:chOff x="8363750" y="1364022"/>
              <a:chExt cx="1958643" cy="727478"/>
            </a:xfrm>
          </p:grpSpPr>
          <p:sp>
            <p:nvSpPr>
              <p:cNvPr id="49" name="方塊 44">
                <a:extLst>
                  <a:ext uri="{FF2B5EF4-FFF2-40B4-BE49-F238E27FC236}">
                    <a16:creationId xmlns:a16="http://schemas.microsoft.com/office/drawing/2014/main" id="{5E7E169F-D445-CA06-57D6-5D85515BC665}"/>
                  </a:ext>
                </a:extLst>
              </p:cNvPr>
              <p:cNvSpPr/>
              <p:nvPr/>
            </p:nvSpPr>
            <p:spPr>
              <a:xfrm>
                <a:off x="8363750" y="1364022"/>
                <a:ext cx="1958643" cy="7274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50" name="編號 45">
                <a:extLst>
                  <a:ext uri="{FF2B5EF4-FFF2-40B4-BE49-F238E27FC236}">
                    <a16:creationId xmlns:a16="http://schemas.microsoft.com/office/drawing/2014/main" id="{15C314CB-5181-C34F-BD9F-927FB6DE3CC7}"/>
                  </a:ext>
                </a:extLst>
              </p:cNvPr>
              <p:cNvSpPr txBox="1"/>
              <p:nvPr/>
            </p:nvSpPr>
            <p:spPr>
              <a:xfrm>
                <a:off x="8556467" y="1476933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</a:t>
                </a:r>
                <a:endParaRPr lang="en-US" sz="1400" dirty="0"/>
              </a:p>
            </p:txBody>
          </p:sp>
          <p:sp>
            <p:nvSpPr>
              <p:cNvPr id="51" name="步驟名稱 46">
                <a:extLst>
                  <a:ext uri="{FF2B5EF4-FFF2-40B4-BE49-F238E27FC236}">
                    <a16:creationId xmlns:a16="http://schemas.microsoft.com/office/drawing/2014/main" id="{CB5A168B-9B23-98B5-3CF4-6C92455DCEB5}"/>
                  </a:ext>
                </a:extLst>
              </p:cNvPr>
              <p:cNvSpPr txBox="1"/>
              <p:nvPr/>
            </p:nvSpPr>
            <p:spPr>
              <a:xfrm>
                <a:off x="8968524" y="1485269"/>
                <a:ext cx="1326379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接收訊號計算</a:t>
                </a:r>
                <a:endParaRPr lang="en-US" sz="1500" dirty="0"/>
              </a:p>
            </p:txBody>
          </p:sp>
          <p:sp>
            <p:nvSpPr>
              <p:cNvPr id="52" name="步驟說明 47">
                <a:extLst>
                  <a:ext uri="{FF2B5EF4-FFF2-40B4-BE49-F238E27FC236}">
                    <a16:creationId xmlns:a16="http://schemas.microsoft.com/office/drawing/2014/main" id="{757A65F3-AB67-1D78-368A-CB1BD65D3492}"/>
                  </a:ext>
                </a:extLst>
              </p:cNvPr>
              <p:cNvSpPr txBox="1"/>
              <p:nvPr/>
            </p:nvSpPr>
            <p:spPr>
              <a:xfrm>
                <a:off x="8391240" y="1826274"/>
                <a:ext cx="1903664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UE 收到各 RU 多強的訊號</a:t>
                </a:r>
                <a:endParaRPr lang="en-US" sz="1150" dirty="0"/>
              </a:p>
            </p:txBody>
          </p:sp>
        </p:grpSp>
        <p:sp>
          <p:nvSpPr>
            <p:cNvPr id="53" name="輸出-RSRP 48">
              <a:extLst>
                <a:ext uri="{FF2B5EF4-FFF2-40B4-BE49-F238E27FC236}">
                  <a16:creationId xmlns:a16="http://schemas.microsoft.com/office/drawing/2014/main" id="{E7306683-3379-F256-6052-278E3A919236}"/>
                </a:ext>
              </a:extLst>
            </p:cNvPr>
            <p:cNvSpPr txBox="1"/>
            <p:nvPr/>
          </p:nvSpPr>
          <p:spPr>
            <a:xfrm>
              <a:off x="10535439" y="1401912"/>
              <a:ext cx="1525680" cy="628966"/>
            </a:xfrm>
            <a:prstGeom prst="parallelogram">
              <a:avLst/>
            </a:prstGeom>
            <a:solidFill>
              <a:srgbClr val="D0EECF"/>
            </a:solidFill>
            <a:ln w="19050">
              <a:solidFill>
                <a:srgbClr val="1B7A1B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 RU → UE 的</a:t>
              </a:r>
              <a:endParaRPr lang="zh-TW" sz="1150" dirty="0"/>
            </a:p>
            <a:p>
              <a:pPr marL="0" indent="0" algn="ctr">
                <a:buNone/>
              </a:pPr>
              <a:r>
                <a:rPr lang="zh-TW" altLang="en-US" sz="15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RSRP</a:t>
              </a:r>
              <a:endParaRPr lang="zh-TW" sz="1150" dirty="0"/>
            </a:p>
          </p:txBody>
        </p:sp>
        <p:sp>
          <p:nvSpPr>
            <p:cNvPr id="54" name="階段標題 49">
              <a:extLst>
                <a:ext uri="{FF2B5EF4-FFF2-40B4-BE49-F238E27FC236}">
                  <a16:creationId xmlns:a16="http://schemas.microsoft.com/office/drawing/2014/main" id="{72E714E3-9740-C8AD-7BDD-21359A54A31F}"/>
                </a:ext>
              </a:extLst>
            </p:cNvPr>
            <p:cNvSpPr txBox="1"/>
            <p:nvPr/>
          </p:nvSpPr>
          <p:spPr>
            <a:xfrm>
              <a:off x="130576" y="2432506"/>
              <a:ext cx="3381237" cy="401629"/>
            </a:xfrm>
            <a:prstGeom prst="roundRect">
              <a:avLst>
                <a:gd name="adj" fmla="val 22767"/>
              </a:avLst>
            </a:prstGeom>
            <a:solidFill>
              <a:srgbClr val="1A6FCC"/>
            </a:solidFill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二、判斷服務訊號與干擾後的品質</a:t>
              </a:r>
              <a:endParaRPr lang="zh-TW" sz="1700" dirty="0"/>
            </a:p>
          </p:txBody>
        </p:sp>
        <p:sp>
          <p:nvSpPr>
            <p:cNvPr id="55" name="輸入-RSRP 50">
              <a:extLst>
                <a:ext uri="{FF2B5EF4-FFF2-40B4-BE49-F238E27FC236}">
                  <a16:creationId xmlns:a16="http://schemas.microsoft.com/office/drawing/2014/main" id="{6B0883EF-49D9-0A79-BFD8-D30451E8BB72}"/>
                </a:ext>
              </a:extLst>
            </p:cNvPr>
            <p:cNvSpPr txBox="1"/>
            <p:nvPr/>
          </p:nvSpPr>
          <p:spPr>
            <a:xfrm>
              <a:off x="144321" y="3152407"/>
              <a:ext cx="1621894" cy="628966"/>
            </a:xfrm>
            <a:prstGeom prst="parallelogram">
              <a:avLst/>
            </a:prstGeom>
            <a:solidFill>
              <a:srgbClr val="D0EECF"/>
            </a:solidFill>
            <a:ln w="19050">
              <a:solidFill>
                <a:srgbClr val="1B7A1B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 RU → UE 的</a:t>
              </a:r>
              <a:endParaRPr lang="zh-TW" sz="1150" dirty="0"/>
            </a:p>
            <a:p>
              <a:pPr marL="0" indent="0" algn="ctr">
                <a:buNone/>
              </a:pPr>
              <a:r>
                <a:rPr lang="zh-TW" altLang="en-US" sz="15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RSRP</a:t>
              </a:r>
              <a:endParaRPr lang="zh-TW" sz="1150" dirty="0"/>
            </a:p>
          </p:txBody>
        </p:sp>
        <p:grpSp>
          <p:nvGrpSpPr>
            <p:cNvPr id="56" name="步驟4 選擇服務基地台">
              <a:extLst>
                <a:ext uri="{FF2B5EF4-FFF2-40B4-BE49-F238E27FC236}">
                  <a16:creationId xmlns:a16="http://schemas.microsoft.com/office/drawing/2014/main" id="{0433A3F5-DC30-895A-8079-C643EA077829}"/>
                </a:ext>
              </a:extLst>
            </p:cNvPr>
            <p:cNvGrpSpPr/>
            <p:nvPr/>
          </p:nvGrpSpPr>
          <p:grpSpPr>
            <a:xfrm>
              <a:off x="2027368" y="2925070"/>
              <a:ext cx="2082347" cy="697167"/>
              <a:chOff x="2027368" y="2925070"/>
              <a:chExt cx="2082347" cy="697167"/>
            </a:xfrm>
          </p:grpSpPr>
          <p:sp>
            <p:nvSpPr>
              <p:cNvPr id="57" name="方塊 51">
                <a:extLst>
                  <a:ext uri="{FF2B5EF4-FFF2-40B4-BE49-F238E27FC236}">
                    <a16:creationId xmlns:a16="http://schemas.microsoft.com/office/drawing/2014/main" id="{9644A76E-0741-BDAC-C798-6C927806AD7C}"/>
                  </a:ext>
                </a:extLst>
              </p:cNvPr>
              <p:cNvSpPr/>
              <p:nvPr/>
            </p:nvSpPr>
            <p:spPr>
              <a:xfrm>
                <a:off x="2027368" y="2925070"/>
                <a:ext cx="2082347" cy="69716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58" name="編號 52">
                <a:extLst>
                  <a:ext uri="{FF2B5EF4-FFF2-40B4-BE49-F238E27FC236}">
                    <a16:creationId xmlns:a16="http://schemas.microsoft.com/office/drawing/2014/main" id="{F9979FF6-7F0B-94BB-194E-6E9D5AF5F52C}"/>
                  </a:ext>
                </a:extLst>
              </p:cNvPr>
              <p:cNvSpPr txBox="1"/>
              <p:nvPr/>
            </p:nvSpPr>
            <p:spPr>
              <a:xfrm>
                <a:off x="2206339" y="3007669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</a:t>
                </a:r>
                <a:endParaRPr lang="en-US" sz="1400" dirty="0"/>
              </a:p>
            </p:txBody>
          </p:sp>
          <p:sp>
            <p:nvSpPr>
              <p:cNvPr id="59" name="步驟名稱 53">
                <a:extLst>
                  <a:ext uri="{FF2B5EF4-FFF2-40B4-BE49-F238E27FC236}">
                    <a16:creationId xmlns:a16="http://schemas.microsoft.com/office/drawing/2014/main" id="{3944225D-CFFE-3048-DEAD-5FFE9E7F54E4}"/>
                  </a:ext>
                </a:extLst>
              </p:cNvPr>
              <p:cNvSpPr txBox="1"/>
              <p:nvPr/>
            </p:nvSpPr>
            <p:spPr>
              <a:xfrm>
                <a:off x="2590907" y="3016004"/>
                <a:ext cx="1491318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選擇服務基地台</a:t>
                </a:r>
                <a:endParaRPr lang="en-US" sz="1500" dirty="0"/>
              </a:p>
            </p:txBody>
          </p:sp>
          <p:sp>
            <p:nvSpPr>
              <p:cNvPr id="60" name="步驟說明 54">
                <a:extLst>
                  <a:ext uri="{FF2B5EF4-FFF2-40B4-BE49-F238E27FC236}">
                    <a16:creationId xmlns:a16="http://schemas.microsoft.com/office/drawing/2014/main" id="{B159DE74-9C39-1863-2E3B-99A4257B2350}"/>
                  </a:ext>
                </a:extLst>
              </p:cNvPr>
              <p:cNvSpPr txBox="1"/>
              <p:nvPr/>
            </p:nvSpPr>
            <p:spPr>
              <a:xfrm>
                <a:off x="2054857" y="3357010"/>
                <a:ext cx="2027368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本模型選 RSRP 最大者</a:t>
                </a:r>
                <a:endParaRPr lang="en-US" sz="1150" dirty="0"/>
              </a:p>
            </p:txBody>
          </p:sp>
        </p:grpSp>
        <p:grpSp>
          <p:nvGrpSpPr>
            <p:cNvPr id="61" name="步驟5 干擾加總">
              <a:extLst>
                <a:ext uri="{FF2B5EF4-FFF2-40B4-BE49-F238E27FC236}">
                  <a16:creationId xmlns:a16="http://schemas.microsoft.com/office/drawing/2014/main" id="{420EB323-012C-5CD0-2806-C1177733F904}"/>
                </a:ext>
              </a:extLst>
            </p:cNvPr>
            <p:cNvGrpSpPr/>
            <p:nvPr/>
          </p:nvGrpSpPr>
          <p:grpSpPr>
            <a:xfrm>
              <a:off x="5353625" y="3106939"/>
              <a:ext cx="1993005" cy="553187"/>
              <a:chOff x="5353625" y="3106939"/>
              <a:chExt cx="1993005" cy="553187"/>
            </a:xfrm>
          </p:grpSpPr>
          <p:sp>
            <p:nvSpPr>
              <p:cNvPr id="62" name="方塊 55">
                <a:extLst>
                  <a:ext uri="{FF2B5EF4-FFF2-40B4-BE49-F238E27FC236}">
                    <a16:creationId xmlns:a16="http://schemas.microsoft.com/office/drawing/2014/main" id="{4C81DE39-3B43-D84C-CD71-5F40A2C1443D}"/>
                  </a:ext>
                </a:extLst>
              </p:cNvPr>
              <p:cNvSpPr/>
              <p:nvPr/>
            </p:nvSpPr>
            <p:spPr>
              <a:xfrm>
                <a:off x="5353625" y="3106939"/>
                <a:ext cx="1993005" cy="5531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63" name="編號 56">
                <a:extLst>
                  <a:ext uri="{FF2B5EF4-FFF2-40B4-BE49-F238E27FC236}">
                    <a16:creationId xmlns:a16="http://schemas.microsoft.com/office/drawing/2014/main" id="{BA45A101-8606-BD6A-CF10-CFA2E7F2252B}"/>
                  </a:ext>
                </a:extLst>
              </p:cNvPr>
              <p:cNvSpPr txBox="1"/>
              <p:nvPr/>
            </p:nvSpPr>
            <p:spPr>
              <a:xfrm>
                <a:off x="5752515" y="3151649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5</a:t>
                </a:r>
                <a:endParaRPr lang="en-US" sz="1400" dirty="0"/>
              </a:p>
            </p:txBody>
          </p:sp>
          <p:sp>
            <p:nvSpPr>
              <p:cNvPr id="64" name="步驟名稱 57">
                <a:extLst>
                  <a:ext uri="{FF2B5EF4-FFF2-40B4-BE49-F238E27FC236}">
                    <a16:creationId xmlns:a16="http://schemas.microsoft.com/office/drawing/2014/main" id="{789D803E-9D6C-5A45-0078-0070DC1FA0AA}"/>
                  </a:ext>
                </a:extLst>
              </p:cNvPr>
              <p:cNvSpPr txBox="1"/>
              <p:nvPr/>
            </p:nvSpPr>
            <p:spPr>
              <a:xfrm>
                <a:off x="6198934" y="3159985"/>
                <a:ext cx="1120206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干擾加總</a:t>
                </a:r>
                <a:endParaRPr lang="en-US" sz="1350" dirty="0"/>
              </a:p>
            </p:txBody>
          </p:sp>
          <p:sp>
            <p:nvSpPr>
              <p:cNvPr id="65" name="步驟說明 58">
                <a:extLst>
                  <a:ext uri="{FF2B5EF4-FFF2-40B4-BE49-F238E27FC236}">
                    <a16:creationId xmlns:a16="http://schemas.microsoft.com/office/drawing/2014/main" id="{A48AAE10-9DA1-B416-063A-C202D64A3A8B}"/>
                  </a:ext>
                </a:extLst>
              </p:cNvPr>
              <p:cNvSpPr txBox="1"/>
              <p:nvPr/>
            </p:nvSpPr>
            <p:spPr>
              <a:xfrm>
                <a:off x="5381115" y="3425211"/>
                <a:ext cx="1938026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干擾功率以線性值相加</a:t>
                </a:r>
                <a:endParaRPr lang="en-US" sz="1150" dirty="0"/>
              </a:p>
            </p:txBody>
          </p:sp>
        </p:grpSp>
        <p:grpSp>
          <p:nvGrpSpPr>
            <p:cNvPr id="66" name="步驟6 雜訊計算">
              <a:extLst>
                <a:ext uri="{FF2B5EF4-FFF2-40B4-BE49-F238E27FC236}">
                  <a16:creationId xmlns:a16="http://schemas.microsoft.com/office/drawing/2014/main" id="{C428BFE9-F76E-3008-B55F-3873D9847645}"/>
                </a:ext>
              </a:extLst>
            </p:cNvPr>
            <p:cNvGrpSpPr/>
            <p:nvPr/>
          </p:nvGrpSpPr>
          <p:grpSpPr>
            <a:xfrm>
              <a:off x="5353625" y="3758639"/>
              <a:ext cx="1993005" cy="515297"/>
              <a:chOff x="5353625" y="3758639"/>
              <a:chExt cx="1993005" cy="515297"/>
            </a:xfrm>
          </p:grpSpPr>
          <p:sp>
            <p:nvSpPr>
              <p:cNvPr id="67" name="方塊 59">
                <a:extLst>
                  <a:ext uri="{FF2B5EF4-FFF2-40B4-BE49-F238E27FC236}">
                    <a16:creationId xmlns:a16="http://schemas.microsoft.com/office/drawing/2014/main" id="{21C1CC73-DD17-60DB-894B-E76BF41327D3}"/>
                  </a:ext>
                </a:extLst>
              </p:cNvPr>
              <p:cNvSpPr/>
              <p:nvPr/>
            </p:nvSpPr>
            <p:spPr>
              <a:xfrm>
                <a:off x="5353625" y="3758639"/>
                <a:ext cx="1993005" cy="51529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68" name="編號 60">
                <a:extLst>
                  <a:ext uri="{FF2B5EF4-FFF2-40B4-BE49-F238E27FC236}">
                    <a16:creationId xmlns:a16="http://schemas.microsoft.com/office/drawing/2014/main" id="{05AA68EA-17E5-AFDB-388D-50C510F6962B}"/>
                  </a:ext>
                </a:extLst>
              </p:cNvPr>
              <p:cNvSpPr txBox="1"/>
              <p:nvPr/>
            </p:nvSpPr>
            <p:spPr>
              <a:xfrm>
                <a:off x="5752515" y="3795770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6</a:t>
                </a:r>
                <a:endParaRPr lang="en-US" sz="1400" dirty="0"/>
              </a:p>
            </p:txBody>
          </p:sp>
          <p:sp>
            <p:nvSpPr>
              <p:cNvPr id="69" name="步驟名稱 61">
                <a:extLst>
                  <a:ext uri="{FF2B5EF4-FFF2-40B4-BE49-F238E27FC236}">
                    <a16:creationId xmlns:a16="http://schemas.microsoft.com/office/drawing/2014/main" id="{D1E4903F-0859-02E8-DE6B-BE8B624D780A}"/>
                  </a:ext>
                </a:extLst>
              </p:cNvPr>
              <p:cNvSpPr txBox="1"/>
              <p:nvPr/>
            </p:nvSpPr>
            <p:spPr>
              <a:xfrm>
                <a:off x="6198934" y="3804106"/>
                <a:ext cx="1120206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雜訊計算</a:t>
                </a:r>
                <a:endParaRPr lang="en-US" sz="1350" dirty="0"/>
              </a:p>
            </p:txBody>
          </p:sp>
          <p:sp>
            <p:nvSpPr>
              <p:cNvPr id="70" name="步驟說明 62">
                <a:extLst>
                  <a:ext uri="{FF2B5EF4-FFF2-40B4-BE49-F238E27FC236}">
                    <a16:creationId xmlns:a16="http://schemas.microsoft.com/office/drawing/2014/main" id="{99BD6D33-05E9-1AB8-65C5-87C19593A307}"/>
                  </a:ext>
                </a:extLst>
              </p:cNvPr>
              <p:cNvSpPr txBox="1"/>
              <p:nvPr/>
            </p:nvSpPr>
            <p:spPr>
              <a:xfrm>
                <a:off x="5381115" y="4069333"/>
                <a:ext cx="1938026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N = kTB × NF</a:t>
                </a:r>
                <a:endParaRPr lang="en-US" sz="1150" dirty="0"/>
              </a:p>
            </p:txBody>
          </p:sp>
        </p:grpSp>
        <p:grpSp>
          <p:nvGrpSpPr>
            <p:cNvPr id="71" name="步驟7 SINR 計算">
              <a:extLst>
                <a:ext uri="{FF2B5EF4-FFF2-40B4-BE49-F238E27FC236}">
                  <a16:creationId xmlns:a16="http://schemas.microsoft.com/office/drawing/2014/main" id="{1F60F3B3-F592-1C3F-BFAD-18F9B0A2CDE3}"/>
                </a:ext>
              </a:extLst>
            </p:cNvPr>
            <p:cNvGrpSpPr/>
            <p:nvPr/>
          </p:nvGrpSpPr>
          <p:grpSpPr>
            <a:xfrm>
              <a:off x="8831076" y="3137251"/>
              <a:ext cx="1642511" cy="704745"/>
              <a:chOff x="8831076" y="3137251"/>
              <a:chExt cx="1642511" cy="704745"/>
            </a:xfrm>
          </p:grpSpPr>
          <p:sp>
            <p:nvSpPr>
              <p:cNvPr id="72" name="方塊 63">
                <a:extLst>
                  <a:ext uri="{FF2B5EF4-FFF2-40B4-BE49-F238E27FC236}">
                    <a16:creationId xmlns:a16="http://schemas.microsoft.com/office/drawing/2014/main" id="{958949CD-3581-D96C-2C5D-2860CCD5BE31}"/>
                  </a:ext>
                </a:extLst>
              </p:cNvPr>
              <p:cNvSpPr/>
              <p:nvPr/>
            </p:nvSpPr>
            <p:spPr>
              <a:xfrm>
                <a:off x="8831076" y="3137251"/>
                <a:ext cx="1642511" cy="70474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73" name="編號 64">
                <a:extLst>
                  <a:ext uri="{FF2B5EF4-FFF2-40B4-BE49-F238E27FC236}">
                    <a16:creationId xmlns:a16="http://schemas.microsoft.com/office/drawing/2014/main" id="{F179DE83-6E97-D34E-970C-FBB988F36637}"/>
                  </a:ext>
                </a:extLst>
              </p:cNvPr>
              <p:cNvSpPr txBox="1"/>
              <p:nvPr/>
            </p:nvSpPr>
            <p:spPr>
              <a:xfrm>
                <a:off x="9003175" y="3242584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7</a:t>
                </a:r>
                <a:endParaRPr lang="en-US" sz="1400" dirty="0"/>
              </a:p>
            </p:txBody>
          </p:sp>
          <p:sp>
            <p:nvSpPr>
              <p:cNvPr id="74" name="步驟名稱 65">
                <a:extLst>
                  <a:ext uri="{FF2B5EF4-FFF2-40B4-BE49-F238E27FC236}">
                    <a16:creationId xmlns:a16="http://schemas.microsoft.com/office/drawing/2014/main" id="{A607070D-F3D7-ADE6-ED03-2C1EE7F35187}"/>
                  </a:ext>
                </a:extLst>
              </p:cNvPr>
              <p:cNvSpPr txBox="1"/>
              <p:nvPr/>
            </p:nvSpPr>
            <p:spPr>
              <a:xfrm>
                <a:off x="9394615" y="3250919"/>
                <a:ext cx="1051482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SINR 計算</a:t>
                </a:r>
                <a:endParaRPr lang="en-US" sz="1500" dirty="0"/>
              </a:p>
            </p:txBody>
          </p:sp>
          <p:sp>
            <p:nvSpPr>
              <p:cNvPr id="75" name="步驟說明 66">
                <a:extLst>
                  <a:ext uri="{FF2B5EF4-FFF2-40B4-BE49-F238E27FC236}">
                    <a16:creationId xmlns:a16="http://schemas.microsoft.com/office/drawing/2014/main" id="{DF119EF7-92AE-EB57-79F7-77F02DF4E0CF}"/>
                  </a:ext>
                </a:extLst>
              </p:cNvPr>
              <p:cNvSpPr txBox="1"/>
              <p:nvPr/>
            </p:nvSpPr>
            <p:spPr>
              <a:xfrm>
                <a:off x="8858565" y="3569191"/>
                <a:ext cx="1587532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S ÷ (I + N)</a:t>
                </a:r>
                <a:endParaRPr lang="en-US" sz="1150" dirty="0"/>
              </a:p>
            </p:txBody>
          </p:sp>
        </p:grpSp>
        <p:sp>
          <p:nvSpPr>
            <p:cNvPr id="76" name="參數-頻寬與NF 67">
              <a:extLst>
                <a:ext uri="{FF2B5EF4-FFF2-40B4-BE49-F238E27FC236}">
                  <a16:creationId xmlns:a16="http://schemas.microsoft.com/office/drawing/2014/main" id="{AB47A877-ED90-9119-CBED-54D9B7466277}"/>
                </a:ext>
              </a:extLst>
            </p:cNvPr>
            <p:cNvSpPr txBox="1"/>
            <p:nvPr/>
          </p:nvSpPr>
          <p:spPr>
            <a:xfrm>
              <a:off x="2769590" y="3849573"/>
              <a:ext cx="2041112" cy="310694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計算頻寬 B、雜訊指數 NF</a:t>
              </a:r>
              <a:endParaRPr lang="zh-TW" sz="1150" dirty="0"/>
            </a:p>
          </p:txBody>
        </p:sp>
        <p:sp>
          <p:nvSpPr>
            <p:cNvPr id="77" name="輸出-SINR 68">
              <a:extLst>
                <a:ext uri="{FF2B5EF4-FFF2-40B4-BE49-F238E27FC236}">
                  <a16:creationId xmlns:a16="http://schemas.microsoft.com/office/drawing/2014/main" id="{DD735981-2461-BEDE-CC0B-A58D9D871D33}"/>
                </a:ext>
              </a:extLst>
            </p:cNvPr>
            <p:cNvSpPr txBox="1"/>
            <p:nvPr/>
          </p:nvSpPr>
          <p:spPr>
            <a:xfrm>
              <a:off x="10686632" y="3175140"/>
              <a:ext cx="1367614" cy="628966"/>
            </a:xfrm>
            <a:prstGeom prst="parallelogram">
              <a:avLst/>
            </a:prstGeom>
            <a:solidFill>
              <a:srgbClr val="D0EECF"/>
            </a:solidFill>
            <a:ln w="19050">
              <a:solidFill>
                <a:srgbClr val="1B7A1B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 UE 的</a:t>
              </a:r>
              <a:endParaRPr lang="zh-TW" sz="1150" dirty="0"/>
            </a:p>
            <a:p>
              <a:pPr marL="0" indent="0" algn="ctr">
                <a:buNone/>
              </a:pPr>
              <a:r>
                <a:rPr lang="zh-TW" altLang="en-US" sz="15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SINR</a:t>
              </a:r>
              <a:endParaRPr lang="zh-TW" sz="1150" dirty="0"/>
            </a:p>
          </p:txBody>
        </p:sp>
        <p:sp>
          <p:nvSpPr>
            <p:cNvPr id="78" name="線標-服務訊號 69">
              <a:extLst>
                <a:ext uri="{FF2B5EF4-FFF2-40B4-BE49-F238E27FC236}">
                  <a16:creationId xmlns:a16="http://schemas.microsoft.com/office/drawing/2014/main" id="{54A3D05C-5F62-E249-BFBD-71078A974FFA}"/>
                </a:ext>
              </a:extLst>
            </p:cNvPr>
            <p:cNvSpPr txBox="1"/>
            <p:nvPr/>
          </p:nvSpPr>
          <p:spPr>
            <a:xfrm>
              <a:off x="4192184" y="2690155"/>
              <a:ext cx="824692" cy="3637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0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服務訊號 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zh-TW" altLang="en-US" sz="110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(服務 RU)</a:t>
              </a:r>
              <a:endParaRPr lang="en-US" sz="1100" dirty="0"/>
            </a:p>
          </p:txBody>
        </p:sp>
        <p:sp>
          <p:nvSpPr>
            <p:cNvPr id="79" name="線標-其他同頻 70">
              <a:extLst>
                <a:ext uri="{FF2B5EF4-FFF2-40B4-BE49-F238E27FC236}">
                  <a16:creationId xmlns:a16="http://schemas.microsoft.com/office/drawing/2014/main" id="{2F114B5C-6709-BD0D-9308-97767CE6619C}"/>
                </a:ext>
              </a:extLst>
            </p:cNvPr>
            <p:cNvSpPr txBox="1"/>
            <p:nvPr/>
          </p:nvSpPr>
          <p:spPr>
            <a:xfrm>
              <a:off x="4192184" y="3243341"/>
              <a:ext cx="927778" cy="197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其他同頻 RU</a:t>
              </a:r>
              <a:endParaRPr lang="en-US" sz="1100" dirty="0"/>
            </a:p>
          </p:txBody>
        </p:sp>
        <p:sp>
          <p:nvSpPr>
            <p:cNvPr id="80" name="線標-干擾 71">
              <a:extLst>
                <a:ext uri="{FF2B5EF4-FFF2-40B4-BE49-F238E27FC236}">
                  <a16:creationId xmlns:a16="http://schemas.microsoft.com/office/drawing/2014/main" id="{7BDECE6A-091E-E979-B1EC-9AD747AC0718}"/>
                </a:ext>
              </a:extLst>
            </p:cNvPr>
            <p:cNvSpPr txBox="1"/>
            <p:nvPr/>
          </p:nvSpPr>
          <p:spPr>
            <a:xfrm>
              <a:off x="7628400" y="3152407"/>
              <a:ext cx="687243" cy="197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干擾 I</a:t>
              </a:r>
              <a:endParaRPr lang="en-US" sz="1100" dirty="0"/>
            </a:p>
          </p:txBody>
        </p:sp>
        <p:sp>
          <p:nvSpPr>
            <p:cNvPr id="81" name="線標-雜訊 72">
              <a:extLst>
                <a:ext uri="{FF2B5EF4-FFF2-40B4-BE49-F238E27FC236}">
                  <a16:creationId xmlns:a16="http://schemas.microsoft.com/office/drawing/2014/main" id="{575D8B79-DAD2-40AA-AE0A-38D3D5EAAC69}"/>
                </a:ext>
              </a:extLst>
            </p:cNvPr>
            <p:cNvSpPr txBox="1"/>
            <p:nvPr/>
          </p:nvSpPr>
          <p:spPr>
            <a:xfrm>
              <a:off x="7628400" y="3788950"/>
              <a:ext cx="700988" cy="197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雜訊 N</a:t>
              </a:r>
              <a:endParaRPr lang="en-US" sz="1100" dirty="0"/>
            </a:p>
          </p:txBody>
        </p:sp>
        <p:sp>
          <p:nvSpPr>
            <p:cNvPr id="82" name="階段標題 73">
              <a:extLst>
                <a:ext uri="{FF2B5EF4-FFF2-40B4-BE49-F238E27FC236}">
                  <a16:creationId xmlns:a16="http://schemas.microsoft.com/office/drawing/2014/main" id="{93B6D225-4927-69BC-A953-5286858712FF}"/>
                </a:ext>
              </a:extLst>
            </p:cNvPr>
            <p:cNvSpPr txBox="1"/>
            <p:nvPr/>
          </p:nvSpPr>
          <p:spPr>
            <a:xfrm>
              <a:off x="130576" y="4493695"/>
              <a:ext cx="2920784" cy="401629"/>
            </a:xfrm>
            <a:prstGeom prst="roundRect">
              <a:avLst>
                <a:gd name="adj" fmla="val 22767"/>
              </a:avLst>
            </a:prstGeom>
            <a:solidFill>
              <a:srgbClr val="1A6FCC"/>
            </a:solidFill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三、決定傳輸方式與可用資源</a:t>
              </a:r>
              <a:endParaRPr lang="zh-TW" sz="1700" dirty="0"/>
            </a:p>
          </p:txBody>
        </p:sp>
        <p:sp>
          <p:nvSpPr>
            <p:cNvPr id="83" name="參數-映射表 74">
              <a:extLst>
                <a:ext uri="{FF2B5EF4-FFF2-40B4-BE49-F238E27FC236}">
                  <a16:creationId xmlns:a16="http://schemas.microsoft.com/office/drawing/2014/main" id="{43B82006-704A-FD61-01AD-4BD445B874A3}"/>
                </a:ext>
              </a:extLst>
            </p:cNvPr>
            <p:cNvSpPr txBox="1"/>
            <p:nvPr/>
          </p:nvSpPr>
          <p:spPr>
            <a:xfrm>
              <a:off x="3161319" y="4554318"/>
              <a:ext cx="1670001" cy="318272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映射表、BLER 目標</a:t>
              </a:r>
              <a:endParaRPr lang="zh-TW" sz="1150" dirty="0"/>
            </a:p>
          </p:txBody>
        </p:sp>
        <p:sp>
          <p:nvSpPr>
            <p:cNvPr id="84" name="輸入-SINR 75">
              <a:extLst>
                <a:ext uri="{FF2B5EF4-FFF2-40B4-BE49-F238E27FC236}">
                  <a16:creationId xmlns:a16="http://schemas.microsoft.com/office/drawing/2014/main" id="{D8E7B4CB-F1AC-3343-B438-6E2D369097DF}"/>
                </a:ext>
              </a:extLst>
            </p:cNvPr>
            <p:cNvSpPr txBox="1"/>
            <p:nvPr/>
          </p:nvSpPr>
          <p:spPr>
            <a:xfrm>
              <a:off x="226790" y="5115083"/>
              <a:ext cx="1422594" cy="636544"/>
            </a:xfrm>
            <a:prstGeom prst="parallelogram">
              <a:avLst/>
            </a:prstGeom>
            <a:solidFill>
              <a:srgbClr val="D0EECF"/>
            </a:solidFill>
            <a:ln w="19050">
              <a:solidFill>
                <a:srgbClr val="1B7A1B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 UE 的</a:t>
              </a:r>
              <a:endParaRPr lang="zh-TW" sz="1150" dirty="0"/>
            </a:p>
            <a:p>
              <a:pPr marL="0" indent="0" algn="ctr">
                <a:buNone/>
              </a:pPr>
              <a:r>
                <a:rPr lang="zh-TW" altLang="en-US" sz="15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SINR</a:t>
              </a:r>
              <a:endParaRPr lang="zh-TW" sz="1150" dirty="0"/>
            </a:p>
          </p:txBody>
        </p:sp>
        <p:grpSp>
          <p:nvGrpSpPr>
            <p:cNvPr id="85" name="步驟8 通道品質映射">
              <a:extLst>
                <a:ext uri="{FF2B5EF4-FFF2-40B4-BE49-F238E27FC236}">
                  <a16:creationId xmlns:a16="http://schemas.microsoft.com/office/drawing/2014/main" id="{8BF5943D-4C54-4454-9F10-3600A3BB0B4A}"/>
                </a:ext>
              </a:extLst>
            </p:cNvPr>
            <p:cNvGrpSpPr/>
            <p:nvPr/>
          </p:nvGrpSpPr>
          <p:grpSpPr>
            <a:xfrm>
              <a:off x="1999878" y="5062038"/>
              <a:ext cx="1924281" cy="621388"/>
              <a:chOff x="1999878" y="5062038"/>
              <a:chExt cx="1924281" cy="621388"/>
            </a:xfrm>
          </p:grpSpPr>
          <p:sp>
            <p:nvSpPr>
              <p:cNvPr id="86" name="方塊 76">
                <a:extLst>
                  <a:ext uri="{FF2B5EF4-FFF2-40B4-BE49-F238E27FC236}">
                    <a16:creationId xmlns:a16="http://schemas.microsoft.com/office/drawing/2014/main" id="{267492D9-7F4F-524D-FA1B-5580DD3FC3CE}"/>
                  </a:ext>
                </a:extLst>
              </p:cNvPr>
              <p:cNvSpPr/>
              <p:nvPr/>
            </p:nvSpPr>
            <p:spPr>
              <a:xfrm>
                <a:off x="1999878" y="5062038"/>
                <a:ext cx="1924281" cy="6213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87" name="編號 77">
                <a:extLst>
                  <a:ext uri="{FF2B5EF4-FFF2-40B4-BE49-F238E27FC236}">
                    <a16:creationId xmlns:a16="http://schemas.microsoft.com/office/drawing/2014/main" id="{405732A3-BCA9-E2A3-D8CE-50D157675356}"/>
                  </a:ext>
                </a:extLst>
              </p:cNvPr>
              <p:cNvSpPr txBox="1"/>
              <p:nvPr/>
            </p:nvSpPr>
            <p:spPr>
              <a:xfrm>
                <a:off x="2185722" y="5144637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8</a:t>
                </a:r>
                <a:endParaRPr lang="en-US" sz="1400" dirty="0"/>
              </a:p>
            </p:txBody>
          </p:sp>
          <p:sp>
            <p:nvSpPr>
              <p:cNvPr id="88" name="步驟名稱 78">
                <a:extLst>
                  <a:ext uri="{FF2B5EF4-FFF2-40B4-BE49-F238E27FC236}">
                    <a16:creationId xmlns:a16="http://schemas.microsoft.com/office/drawing/2014/main" id="{4E67E6FD-DECB-97B9-42F6-FD7AB2EA5597}"/>
                  </a:ext>
                </a:extLst>
              </p:cNvPr>
              <p:cNvSpPr txBox="1"/>
              <p:nvPr/>
            </p:nvSpPr>
            <p:spPr>
              <a:xfrm>
                <a:off x="2590907" y="5152972"/>
                <a:ext cx="1305762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通道品質映射</a:t>
                </a:r>
                <a:endParaRPr lang="en-US" sz="1400" dirty="0"/>
              </a:p>
            </p:txBody>
          </p:sp>
          <p:sp>
            <p:nvSpPr>
              <p:cNvPr id="89" name="步驟說明 79">
                <a:extLst>
                  <a:ext uri="{FF2B5EF4-FFF2-40B4-BE49-F238E27FC236}">
                    <a16:creationId xmlns:a16="http://schemas.microsoft.com/office/drawing/2014/main" id="{A2C6DC3B-9256-692F-56F3-2C12EFB7D98D}"/>
                  </a:ext>
                </a:extLst>
              </p:cNvPr>
              <p:cNvSpPr txBox="1"/>
              <p:nvPr/>
            </p:nvSpPr>
            <p:spPr>
              <a:xfrm>
                <a:off x="2027368" y="5448510"/>
                <a:ext cx="1869302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SINR → CQI</a:t>
                </a:r>
                <a:endParaRPr lang="en-US" sz="1150" dirty="0"/>
              </a:p>
            </p:txBody>
          </p:sp>
        </p:grpSp>
        <p:sp>
          <p:nvSpPr>
            <p:cNvPr id="90" name="資料-CQI 80">
              <a:extLst>
                <a:ext uri="{FF2B5EF4-FFF2-40B4-BE49-F238E27FC236}">
                  <a16:creationId xmlns:a16="http://schemas.microsoft.com/office/drawing/2014/main" id="{9A81D13C-A9EF-EEA9-B59D-DE0B853E0CBB}"/>
                </a:ext>
              </a:extLst>
            </p:cNvPr>
            <p:cNvSpPr txBox="1"/>
            <p:nvPr/>
          </p:nvSpPr>
          <p:spPr>
            <a:xfrm>
              <a:off x="4054735" y="5115083"/>
              <a:ext cx="762840" cy="310694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CQI</a:t>
              </a:r>
              <a:endParaRPr lang="zh-TW" sz="1150" dirty="0"/>
            </a:p>
          </p:txBody>
        </p:sp>
        <p:grpSp>
          <p:nvGrpSpPr>
            <p:cNvPr id="91" name="步驟9 選擇調變與編碼">
              <a:extLst>
                <a:ext uri="{FF2B5EF4-FFF2-40B4-BE49-F238E27FC236}">
                  <a16:creationId xmlns:a16="http://schemas.microsoft.com/office/drawing/2014/main" id="{F71CFCFE-00E5-FDFF-3DC2-AA435E32480F}"/>
                </a:ext>
              </a:extLst>
            </p:cNvPr>
            <p:cNvGrpSpPr/>
            <p:nvPr/>
          </p:nvGrpSpPr>
          <p:grpSpPr>
            <a:xfrm>
              <a:off x="4989386" y="4955947"/>
              <a:ext cx="1910536" cy="553187"/>
              <a:chOff x="4989386" y="4955947"/>
              <a:chExt cx="1910536" cy="553187"/>
            </a:xfrm>
          </p:grpSpPr>
          <p:sp>
            <p:nvSpPr>
              <p:cNvPr id="92" name="方塊 81">
                <a:extLst>
                  <a:ext uri="{FF2B5EF4-FFF2-40B4-BE49-F238E27FC236}">
                    <a16:creationId xmlns:a16="http://schemas.microsoft.com/office/drawing/2014/main" id="{6EECD1BF-DF00-4256-D7EA-4098DC1CCB17}"/>
                  </a:ext>
                </a:extLst>
              </p:cNvPr>
              <p:cNvSpPr/>
              <p:nvPr/>
            </p:nvSpPr>
            <p:spPr>
              <a:xfrm>
                <a:off x="4989386" y="4955947"/>
                <a:ext cx="1910536" cy="5531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93" name="編號 82">
                <a:extLst>
                  <a:ext uri="{FF2B5EF4-FFF2-40B4-BE49-F238E27FC236}">
                    <a16:creationId xmlns:a16="http://schemas.microsoft.com/office/drawing/2014/main" id="{EAA11B25-82DD-9BD3-1B98-6369769DFA21}"/>
                  </a:ext>
                </a:extLst>
              </p:cNvPr>
              <p:cNvSpPr txBox="1"/>
              <p:nvPr/>
            </p:nvSpPr>
            <p:spPr>
              <a:xfrm>
                <a:off x="5140868" y="5015812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9</a:t>
                </a:r>
                <a:endParaRPr lang="en-US" sz="1400" dirty="0"/>
              </a:p>
            </p:txBody>
          </p:sp>
          <p:sp>
            <p:nvSpPr>
              <p:cNvPr id="94" name="步驟名稱 83">
                <a:extLst>
                  <a:ext uri="{FF2B5EF4-FFF2-40B4-BE49-F238E27FC236}">
                    <a16:creationId xmlns:a16="http://schemas.microsoft.com/office/drawing/2014/main" id="{E9288B7D-95C2-E910-C311-D4C270C5E109}"/>
                  </a:ext>
                </a:extLst>
              </p:cNvPr>
              <p:cNvSpPr txBox="1"/>
              <p:nvPr/>
            </p:nvSpPr>
            <p:spPr>
              <a:xfrm>
                <a:off x="5552925" y="5024148"/>
                <a:ext cx="1319507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選擇調變與編碼</a:t>
                </a:r>
                <a:endParaRPr lang="en-US" sz="1350" dirty="0"/>
              </a:p>
            </p:txBody>
          </p:sp>
          <p:sp>
            <p:nvSpPr>
              <p:cNvPr id="95" name="步驟說明 84">
                <a:extLst>
                  <a:ext uri="{FF2B5EF4-FFF2-40B4-BE49-F238E27FC236}">
                    <a16:creationId xmlns:a16="http://schemas.microsoft.com/office/drawing/2014/main" id="{55BE6383-5B2E-13BA-DCF3-2B99B52DC7BF}"/>
                  </a:ext>
                </a:extLst>
              </p:cNvPr>
              <p:cNvSpPr txBox="1"/>
              <p:nvPr/>
            </p:nvSpPr>
            <p:spPr>
              <a:xfrm>
                <a:off x="5016876" y="5281797"/>
                <a:ext cx="1855557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CQI → MCS</a:t>
                </a:r>
                <a:endParaRPr lang="en-US" sz="1150" dirty="0"/>
              </a:p>
            </p:txBody>
          </p:sp>
        </p:grpSp>
        <p:grpSp>
          <p:nvGrpSpPr>
            <p:cNvPr id="96" name="步驟10 資源配置">
              <a:extLst>
                <a:ext uri="{FF2B5EF4-FFF2-40B4-BE49-F238E27FC236}">
                  <a16:creationId xmlns:a16="http://schemas.microsoft.com/office/drawing/2014/main" id="{2A9AE696-F824-8C18-164D-EA0AB0ACFEC1}"/>
                </a:ext>
              </a:extLst>
            </p:cNvPr>
            <p:cNvGrpSpPr/>
            <p:nvPr/>
          </p:nvGrpSpPr>
          <p:grpSpPr>
            <a:xfrm>
              <a:off x="4989386" y="5607646"/>
              <a:ext cx="1910536" cy="553187"/>
              <a:chOff x="4989386" y="5607646"/>
              <a:chExt cx="1910536" cy="553187"/>
            </a:xfrm>
          </p:grpSpPr>
          <p:sp>
            <p:nvSpPr>
              <p:cNvPr id="97" name="方塊 85">
                <a:extLst>
                  <a:ext uri="{FF2B5EF4-FFF2-40B4-BE49-F238E27FC236}">
                    <a16:creationId xmlns:a16="http://schemas.microsoft.com/office/drawing/2014/main" id="{E7E71FF9-EFA8-BCDC-953F-AEBC351DC59A}"/>
                  </a:ext>
                </a:extLst>
              </p:cNvPr>
              <p:cNvSpPr/>
              <p:nvPr/>
            </p:nvSpPr>
            <p:spPr>
              <a:xfrm>
                <a:off x="4989386" y="5607646"/>
                <a:ext cx="1910536" cy="5531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98" name="編號 86">
                <a:extLst>
                  <a:ext uri="{FF2B5EF4-FFF2-40B4-BE49-F238E27FC236}">
                    <a16:creationId xmlns:a16="http://schemas.microsoft.com/office/drawing/2014/main" id="{19B24099-3142-40F5-39FC-FB93B2C8C71C}"/>
                  </a:ext>
                </a:extLst>
              </p:cNvPr>
              <p:cNvSpPr txBox="1"/>
              <p:nvPr/>
            </p:nvSpPr>
            <p:spPr>
              <a:xfrm>
                <a:off x="5353914" y="5652356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10</a:t>
                </a:r>
                <a:endParaRPr lang="en-US" sz="1250" dirty="0"/>
              </a:p>
            </p:txBody>
          </p:sp>
          <p:sp>
            <p:nvSpPr>
              <p:cNvPr id="99" name="步驟名稱 87">
                <a:extLst>
                  <a:ext uri="{FF2B5EF4-FFF2-40B4-BE49-F238E27FC236}">
                    <a16:creationId xmlns:a16="http://schemas.microsoft.com/office/drawing/2014/main" id="{68958695-64DD-CE41-C260-E83C78B706E3}"/>
                  </a:ext>
                </a:extLst>
              </p:cNvPr>
              <p:cNvSpPr txBox="1"/>
              <p:nvPr/>
            </p:nvSpPr>
            <p:spPr>
              <a:xfrm>
                <a:off x="5786588" y="5660692"/>
                <a:ext cx="1085844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資源配置</a:t>
                </a:r>
                <a:endParaRPr lang="en-US" sz="1350" dirty="0"/>
              </a:p>
            </p:txBody>
          </p:sp>
          <p:sp>
            <p:nvSpPr>
              <p:cNvPr id="100" name="步驟說明 88">
                <a:extLst>
                  <a:ext uri="{FF2B5EF4-FFF2-40B4-BE49-F238E27FC236}">
                    <a16:creationId xmlns:a16="http://schemas.microsoft.com/office/drawing/2014/main" id="{7CF870C5-BDEC-4604-4BFC-080AEC53452E}"/>
                  </a:ext>
                </a:extLst>
              </p:cNvPr>
              <p:cNvSpPr txBox="1"/>
              <p:nvPr/>
            </p:nvSpPr>
            <p:spPr>
              <a:xfrm>
                <a:off x="5016876" y="5925918"/>
                <a:ext cx="1855557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指定或由 Scheduler 分配</a:t>
                </a:r>
                <a:endParaRPr lang="en-US" sz="1150" dirty="0"/>
              </a:p>
            </p:txBody>
          </p:sp>
        </p:grpSp>
        <p:sp>
          <p:nvSpPr>
            <p:cNvPr id="101" name="資料-Qm與R 89">
              <a:extLst>
                <a:ext uri="{FF2B5EF4-FFF2-40B4-BE49-F238E27FC236}">
                  <a16:creationId xmlns:a16="http://schemas.microsoft.com/office/drawing/2014/main" id="{27CB40FF-1548-741F-DC3A-DDE46AE4810F}"/>
                </a:ext>
              </a:extLst>
            </p:cNvPr>
            <p:cNvSpPr txBox="1"/>
            <p:nvPr/>
          </p:nvSpPr>
          <p:spPr>
            <a:xfrm>
              <a:off x="7016754" y="5024148"/>
              <a:ext cx="1264528" cy="310694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Qm、碼率 R</a:t>
              </a:r>
              <a:endParaRPr lang="zh-TW" sz="1150" dirty="0"/>
            </a:p>
          </p:txBody>
        </p:sp>
        <p:sp>
          <p:nvSpPr>
            <p:cNvPr id="102" name="資料-PRB與Layers 90">
              <a:extLst>
                <a:ext uri="{FF2B5EF4-FFF2-40B4-BE49-F238E27FC236}">
                  <a16:creationId xmlns:a16="http://schemas.microsoft.com/office/drawing/2014/main" id="{3C6B11E1-6AED-6E12-64F6-02664AA2C856}"/>
                </a:ext>
              </a:extLst>
            </p:cNvPr>
            <p:cNvSpPr txBox="1"/>
            <p:nvPr/>
          </p:nvSpPr>
          <p:spPr>
            <a:xfrm>
              <a:off x="6982391" y="5698581"/>
              <a:ext cx="1463828" cy="310694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0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分配 PRB、Layers</a:t>
              </a:r>
              <a:endParaRPr lang="zh-TW" sz="1050" dirty="0"/>
            </a:p>
          </p:txBody>
        </p:sp>
        <p:sp>
          <p:nvSpPr>
            <p:cNvPr id="103" name="參數-SCS等 91">
              <a:extLst>
                <a:ext uri="{FF2B5EF4-FFF2-40B4-BE49-F238E27FC236}">
                  <a16:creationId xmlns:a16="http://schemas.microsoft.com/office/drawing/2014/main" id="{C842868F-A25A-8643-B472-4D11397E64E5}"/>
                </a:ext>
              </a:extLst>
            </p:cNvPr>
            <p:cNvSpPr txBox="1"/>
            <p:nvPr/>
          </p:nvSpPr>
          <p:spPr>
            <a:xfrm>
              <a:off x="8494327" y="4554318"/>
              <a:ext cx="2556545" cy="318272"/>
            </a:xfrm>
            <a:prstGeom prst="parallelogram">
              <a:avLst/>
            </a:prstGeom>
            <a:solidFill>
              <a:srgbClr val="D7EBFC"/>
            </a:solidFill>
            <a:ln w="15875">
              <a:solidFill>
                <a:srgbClr val="2196F3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050" b="1" dirty="0">
                  <a:solidFill>
                    <a:srgbClr val="1B3A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SCS、Overhead、Scaling Factor</a:t>
              </a:r>
              <a:endParaRPr lang="zh-TW" sz="1050" dirty="0"/>
            </a:p>
          </p:txBody>
        </p:sp>
        <p:grpSp>
          <p:nvGrpSpPr>
            <p:cNvPr id="104" name="步驟11 傳輸速率計算">
              <a:extLst>
                <a:ext uri="{FF2B5EF4-FFF2-40B4-BE49-F238E27FC236}">
                  <a16:creationId xmlns:a16="http://schemas.microsoft.com/office/drawing/2014/main" id="{02A57E2D-0CCB-D19C-1497-AB4DF024E123}"/>
                </a:ext>
              </a:extLst>
            </p:cNvPr>
            <p:cNvGrpSpPr/>
            <p:nvPr/>
          </p:nvGrpSpPr>
          <p:grpSpPr>
            <a:xfrm>
              <a:off x="8762351" y="5168128"/>
              <a:ext cx="1759343" cy="666855"/>
              <a:chOff x="8762351" y="5168128"/>
              <a:chExt cx="1759343" cy="666855"/>
            </a:xfrm>
          </p:grpSpPr>
          <p:sp>
            <p:nvSpPr>
              <p:cNvPr id="105" name="方塊 92">
                <a:extLst>
                  <a:ext uri="{FF2B5EF4-FFF2-40B4-BE49-F238E27FC236}">
                    <a16:creationId xmlns:a16="http://schemas.microsoft.com/office/drawing/2014/main" id="{1197D67F-0A55-28AD-6B95-DE5630D1DC98}"/>
                  </a:ext>
                </a:extLst>
              </p:cNvPr>
              <p:cNvSpPr/>
              <p:nvPr/>
            </p:nvSpPr>
            <p:spPr>
              <a:xfrm>
                <a:off x="8762351" y="5168128"/>
                <a:ext cx="1759343" cy="66685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06" name="編號 93">
                <a:extLst>
                  <a:ext uri="{FF2B5EF4-FFF2-40B4-BE49-F238E27FC236}">
                    <a16:creationId xmlns:a16="http://schemas.microsoft.com/office/drawing/2014/main" id="{96262D31-DD56-231E-FD42-5CC8A7CAF2B1}"/>
                  </a:ext>
                </a:extLst>
              </p:cNvPr>
              <p:cNvSpPr txBox="1"/>
              <p:nvPr/>
            </p:nvSpPr>
            <p:spPr>
              <a:xfrm>
                <a:off x="8906961" y="5258305"/>
                <a:ext cx="274320" cy="274320"/>
              </a:xfrm>
              <a:prstGeom prst="ellipse">
                <a:avLst/>
              </a:prstGeom>
              <a:solidFill>
                <a:srgbClr val="0B2F8F"/>
              </a:solidFill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11</a:t>
                </a:r>
                <a:endParaRPr lang="en-US" sz="1250" dirty="0"/>
              </a:p>
            </p:txBody>
          </p:sp>
          <p:sp>
            <p:nvSpPr>
              <p:cNvPr id="107" name="步驟名稱 94">
                <a:extLst>
                  <a:ext uri="{FF2B5EF4-FFF2-40B4-BE49-F238E27FC236}">
                    <a16:creationId xmlns:a16="http://schemas.microsoft.com/office/drawing/2014/main" id="{66326141-65C1-BCFF-7FEB-524AD5C11644}"/>
                  </a:ext>
                </a:extLst>
              </p:cNvPr>
              <p:cNvSpPr txBox="1"/>
              <p:nvPr/>
            </p:nvSpPr>
            <p:spPr>
              <a:xfrm>
                <a:off x="9298401" y="5266641"/>
                <a:ext cx="1195803" cy="25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B3A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傳輸速率計算</a:t>
                </a:r>
                <a:endParaRPr lang="en-US" sz="1400" dirty="0"/>
              </a:p>
            </p:txBody>
          </p:sp>
          <p:sp>
            <p:nvSpPr>
              <p:cNvPr id="108" name="步驟說明 95">
                <a:extLst>
                  <a:ext uri="{FF2B5EF4-FFF2-40B4-BE49-F238E27FC236}">
                    <a16:creationId xmlns:a16="http://schemas.microsoft.com/office/drawing/2014/main" id="{5F745DD7-E0E0-D5A2-D3A3-7434EE4C89EE}"/>
                  </a:ext>
                </a:extLst>
              </p:cNvPr>
              <p:cNvSpPr txBox="1"/>
              <p:nvPr/>
            </p:nvSpPr>
            <p:spPr>
              <a:xfrm>
                <a:off x="8789841" y="5584913"/>
                <a:ext cx="1704363" cy="197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dirty="0">
                    <a:solidFill>
                      <a:srgbClr val="111111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依 3GPP 公式計算</a:t>
                </a:r>
                <a:endParaRPr lang="en-US" sz="1150" dirty="0"/>
              </a:p>
            </p:txBody>
          </p:sp>
        </p:grpSp>
        <p:sp>
          <p:nvSpPr>
            <p:cNvPr id="109" name="輸出-Throughput 96">
              <a:extLst>
                <a:ext uri="{FF2B5EF4-FFF2-40B4-BE49-F238E27FC236}">
                  <a16:creationId xmlns:a16="http://schemas.microsoft.com/office/drawing/2014/main" id="{58C07171-AF41-5BB5-DC86-00B200E4BAE4}"/>
                </a:ext>
              </a:extLst>
            </p:cNvPr>
            <p:cNvSpPr txBox="1"/>
            <p:nvPr/>
          </p:nvSpPr>
          <p:spPr>
            <a:xfrm>
              <a:off x="10762229" y="5115083"/>
              <a:ext cx="1305762" cy="757790"/>
            </a:xfrm>
            <a:prstGeom prst="parallelogram">
              <a:avLst/>
            </a:prstGeom>
            <a:solidFill>
              <a:srgbClr val="D0EECF"/>
            </a:solidFill>
            <a:ln w="19050">
              <a:solidFill>
                <a:srgbClr val="1B7A1B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各 UE</a:t>
              </a:r>
              <a:endParaRPr lang="zh-TW" sz="1350" dirty="0"/>
            </a:p>
            <a:p>
              <a:pPr marL="0" indent="0" algn="ctr">
                <a:buNone/>
              </a:pPr>
              <a:r>
                <a:rPr lang="zh-TW" altLang="en-US" sz="13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Throughput</a:t>
              </a:r>
              <a:endParaRPr lang="zh-TW" sz="1350" dirty="0"/>
            </a:p>
            <a:p>
              <a:pPr marL="0" indent="0" algn="ctr">
                <a:buNone/>
              </a:pPr>
              <a:r>
                <a:rPr lang="zh-TW" altLang="en-US" sz="1350" b="1" dirty="0">
                  <a:solidFill>
                    <a:srgbClr val="11111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(Mbps)</a:t>
              </a:r>
              <a:endParaRPr lang="zh-TW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9670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34C8F9-E364-0774-8F95-FBA1D7D5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 Emulator Architecture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9F2382-31B0-B7C0-78D5-F2989A85F7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18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011CDEE-9FF6-9BBB-E2DA-0C1FC482D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82" b="12302"/>
          <a:stretch/>
        </p:blipFill>
        <p:spPr>
          <a:xfrm>
            <a:off x="691901" y="1096062"/>
            <a:ext cx="10626661" cy="46658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0AC770-11BA-7B71-0976-46764FE438B8}"/>
              </a:ext>
            </a:extLst>
          </p:cNvPr>
          <p:cNvSpPr/>
          <p:nvPr/>
        </p:nvSpPr>
        <p:spPr bwMode="auto">
          <a:xfrm>
            <a:off x="4806043" y="2901043"/>
            <a:ext cx="1992085" cy="1083128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9170C73-F052-251F-F30F-8948549CF782}"/>
              </a:ext>
            </a:extLst>
          </p:cNvPr>
          <p:cNvSpPr txBox="1"/>
          <p:nvPr/>
        </p:nvSpPr>
        <p:spPr>
          <a:xfrm>
            <a:off x="6888896" y="3081146"/>
            <a:ext cx="1518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(</a:t>
            </a:r>
            <a:r>
              <a:rPr lang="zh-TW" altLang="en-US" sz="1200" dirty="0">
                <a:solidFill>
                  <a:srgbClr val="0000FF"/>
                </a:solidFill>
                <a:highlight>
                  <a:srgbClr val="FFFF00"/>
                </a:highlight>
              </a:rPr>
              <a:t>進度二</a:t>
            </a:r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)</a:t>
            </a:r>
          </a:p>
          <a:p>
            <a:pPr algn="ctr"/>
            <a:r>
              <a:rPr lang="zh-TW" altLang="en-US" sz="1200" dirty="0">
                <a:solidFill>
                  <a:srgbClr val="0000FF"/>
                </a:solidFill>
                <a:highlight>
                  <a:srgbClr val="FFFF00"/>
                </a:highlight>
              </a:rPr>
              <a:t>結合</a:t>
            </a:r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AI</a:t>
            </a:r>
            <a:r>
              <a:rPr lang="zh-TW" altLang="en-US" sz="1200" dirty="0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Model</a:t>
            </a:r>
            <a:r>
              <a:rPr lang="zh-TW" altLang="en-US" sz="1200" dirty="0">
                <a:solidFill>
                  <a:srgbClr val="0000FF"/>
                </a:solidFill>
                <a:highlight>
                  <a:srgbClr val="FFFF00"/>
                </a:highlight>
              </a:rPr>
              <a:t>校正</a:t>
            </a:r>
            <a:r>
              <a:rPr lang="en-US" altLang="zh-TW" sz="1200" dirty="0">
                <a:solidFill>
                  <a:srgbClr val="0000FF"/>
                </a:solidFill>
                <a:highlight>
                  <a:srgbClr val="FFFF00"/>
                </a:highlight>
              </a:rPr>
              <a:t>3GPP model</a:t>
            </a:r>
            <a:endParaRPr lang="zh-TW" altLang="en-US" sz="12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34843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CDD46-B354-224E-468E-AD1C7736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TW" altLang="en-US" sz="3600" dirty="0"/>
              <a:t>如何結合</a:t>
            </a:r>
            <a:r>
              <a:rPr lang="en-US" altLang="zh-TW" sz="3600" dirty="0"/>
              <a:t>3GPP</a:t>
            </a:r>
            <a:r>
              <a:rPr lang="zh-TW" altLang="en-US" sz="3600" dirty="0"/>
              <a:t>公式與</a:t>
            </a:r>
            <a:r>
              <a:rPr lang="en-US" altLang="zh-TW" sz="3600" dirty="0"/>
              <a:t>AI</a:t>
            </a:r>
            <a:r>
              <a:rPr lang="zh-TW" altLang="en-US" sz="3600" dirty="0"/>
              <a:t>，提高模擬真實性？</a:t>
            </a:r>
            <a:endParaRPr lang="en-US" altLang="zh-TW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A9A586-892F-375C-65CF-5CB8E50A80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19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pSp>
        <p:nvGrpSpPr>
          <p:cNvPr id="235" name="群組 234">
            <a:extLst>
              <a:ext uri="{FF2B5EF4-FFF2-40B4-BE49-F238E27FC236}">
                <a16:creationId xmlns:a16="http://schemas.microsoft.com/office/drawing/2014/main" id="{A48DD9E1-4259-6A40-25C1-9FD790AB7CF7}"/>
              </a:ext>
            </a:extLst>
          </p:cNvPr>
          <p:cNvGrpSpPr/>
          <p:nvPr/>
        </p:nvGrpSpPr>
        <p:grpSpPr>
          <a:xfrm>
            <a:off x="254000" y="946150"/>
            <a:ext cx="11874500" cy="5581650"/>
            <a:chOff x="-814995" y="687415"/>
            <a:chExt cx="11907582" cy="5926849"/>
          </a:xfrm>
        </p:grpSpPr>
        <p:sp>
          <p:nvSpPr>
            <p:cNvPr id="44" name="區塊1 底 6">
              <a:extLst>
                <a:ext uri="{FF2B5EF4-FFF2-40B4-BE49-F238E27FC236}">
                  <a16:creationId xmlns:a16="http://schemas.microsoft.com/office/drawing/2014/main" id="{F9A4E7F0-5E67-5DF7-B5B1-4522FC7AB170}"/>
                </a:ext>
              </a:extLst>
            </p:cNvPr>
            <p:cNvSpPr/>
            <p:nvPr/>
          </p:nvSpPr>
          <p:spPr>
            <a:xfrm>
              <a:off x="-814995" y="687415"/>
              <a:ext cx="6725212" cy="3266418"/>
            </a:xfrm>
            <a:prstGeom prst="roundRect">
              <a:avLst>
                <a:gd name="adj" fmla="val 2519"/>
              </a:avLst>
            </a:prstGeom>
            <a:solidFill>
              <a:srgbClr val="F3FAFE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45" name="區塊1 標題 7">
              <a:extLst>
                <a:ext uri="{FF2B5EF4-FFF2-40B4-BE49-F238E27FC236}">
                  <a16:creationId xmlns:a16="http://schemas.microsoft.com/office/drawing/2014/main" id="{92DB218B-E6C0-6EA3-FE33-167DC271B11F}"/>
                </a:ext>
              </a:extLst>
            </p:cNvPr>
            <p:cNvSpPr txBox="1"/>
            <p:nvPr/>
          </p:nvSpPr>
          <p:spPr>
            <a:xfrm>
              <a:off x="-814995" y="687415"/>
              <a:ext cx="6725212" cy="458185"/>
            </a:xfrm>
            <a:prstGeom prst="roundRect">
              <a:avLst>
                <a:gd name="adj" fmla="val 17961"/>
              </a:avLst>
            </a:prstGeom>
            <a:solidFill>
              <a:srgbClr val="004A90"/>
            </a:solidFill>
            <a:ln/>
          </p:spPr>
          <p:txBody>
            <a:bodyPr wrap="square" lIns="676118" tIns="0" rIns="0" bIns="0" rtlCol="0" anchor="ctr"/>
            <a:lstStyle/>
            <a:p>
              <a:pPr marL="0" indent="0" algn="l">
                <a:buNone/>
              </a:pPr>
              <a:r>
                <a:rPr lang="zh-TW" altLang="en-US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建立傳播模型</a:t>
              </a:r>
              <a:endParaRPr lang="zh-TW" sz="2300" dirty="0"/>
            </a:p>
          </p:txBody>
        </p:sp>
        <p:sp>
          <p:nvSpPr>
            <p:cNvPr id="46" name="區塊1 編號 8">
              <a:extLst>
                <a:ext uri="{FF2B5EF4-FFF2-40B4-BE49-F238E27FC236}">
                  <a16:creationId xmlns:a16="http://schemas.microsoft.com/office/drawing/2014/main" id="{077F1653-C3CD-1B1B-F828-ACCD163C5DD8}"/>
                </a:ext>
              </a:extLst>
            </p:cNvPr>
            <p:cNvSpPr txBox="1"/>
            <p:nvPr/>
          </p:nvSpPr>
          <p:spPr>
            <a:xfrm>
              <a:off x="-697652" y="731756"/>
              <a:ext cx="369504" cy="369504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04A9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grpSp>
          <p:nvGrpSpPr>
            <p:cNvPr id="47" name="場域平面圖">
              <a:extLst>
                <a:ext uri="{FF2B5EF4-FFF2-40B4-BE49-F238E27FC236}">
                  <a16:creationId xmlns:a16="http://schemas.microsoft.com/office/drawing/2014/main" id="{C66FF44B-06B7-6600-30E7-92C430E6C616}"/>
                </a:ext>
              </a:extLst>
            </p:cNvPr>
            <p:cNvGrpSpPr/>
            <p:nvPr/>
          </p:nvGrpSpPr>
          <p:grpSpPr>
            <a:xfrm>
              <a:off x="-613598" y="1293402"/>
              <a:ext cx="3301468" cy="2549580"/>
              <a:chOff x="345252" y="1308045"/>
              <a:chExt cx="3301468" cy="2549580"/>
            </a:xfrm>
          </p:grpSpPr>
          <p:sp>
            <p:nvSpPr>
              <p:cNvPr id="48" name="地板 9">
                <a:extLst>
                  <a:ext uri="{FF2B5EF4-FFF2-40B4-BE49-F238E27FC236}">
                    <a16:creationId xmlns:a16="http://schemas.microsoft.com/office/drawing/2014/main" id="{296CFC55-06AE-6B83-0FE2-A89B392101F4}"/>
                  </a:ext>
                </a:extLst>
              </p:cNvPr>
              <p:cNvSpPr/>
              <p:nvPr/>
            </p:nvSpPr>
            <p:spPr>
              <a:xfrm>
                <a:off x="345252" y="1308045"/>
                <a:ext cx="3301468" cy="2549580"/>
              </a:xfrm>
              <a:prstGeom prst="rect">
                <a:avLst/>
              </a:prstGeom>
              <a:solidFill>
                <a:srgbClr val="FFFFFF"/>
              </a:solidFill>
              <a:ln/>
            </p:spPr>
          </p:sp>
          <p:sp>
            <p:nvSpPr>
              <p:cNvPr id="49" name="上牆 10">
                <a:extLst>
                  <a:ext uri="{FF2B5EF4-FFF2-40B4-BE49-F238E27FC236}">
                    <a16:creationId xmlns:a16="http://schemas.microsoft.com/office/drawing/2014/main" id="{F51DB8D7-A9E2-134B-244A-5D91E3A7AA2F}"/>
                  </a:ext>
                </a:extLst>
              </p:cNvPr>
              <p:cNvSpPr/>
              <p:nvPr/>
            </p:nvSpPr>
            <p:spPr>
              <a:xfrm>
                <a:off x="345252" y="1308045"/>
                <a:ext cx="3301468" cy="81291"/>
              </a:xfrm>
              <a:prstGeom prst="rect">
                <a:avLst/>
              </a:prstGeom>
              <a:solidFill>
                <a:srgbClr val="6E6E6E"/>
              </a:solidFill>
              <a:ln w="6350">
                <a:solidFill>
                  <a:srgbClr val="4A4A4A"/>
                </a:solidFill>
                <a:prstDash val="solid"/>
              </a:ln>
            </p:spPr>
          </p:sp>
          <p:sp>
            <p:nvSpPr>
              <p:cNvPr id="50" name="下牆 11">
                <a:extLst>
                  <a:ext uri="{FF2B5EF4-FFF2-40B4-BE49-F238E27FC236}">
                    <a16:creationId xmlns:a16="http://schemas.microsoft.com/office/drawing/2014/main" id="{28DFB156-139F-C733-020C-8F9DE83424D7}"/>
                  </a:ext>
                </a:extLst>
              </p:cNvPr>
              <p:cNvSpPr/>
              <p:nvPr/>
            </p:nvSpPr>
            <p:spPr>
              <a:xfrm>
                <a:off x="345252" y="3776334"/>
                <a:ext cx="3301468" cy="81291"/>
              </a:xfrm>
              <a:prstGeom prst="rect">
                <a:avLst/>
              </a:prstGeom>
              <a:solidFill>
                <a:srgbClr val="6E6E6E"/>
              </a:solidFill>
              <a:ln w="6350">
                <a:solidFill>
                  <a:srgbClr val="4A4A4A"/>
                </a:solidFill>
                <a:prstDash val="solid"/>
              </a:ln>
            </p:spPr>
          </p:sp>
          <p:sp>
            <p:nvSpPr>
              <p:cNvPr id="51" name="左牆 12">
                <a:extLst>
                  <a:ext uri="{FF2B5EF4-FFF2-40B4-BE49-F238E27FC236}">
                    <a16:creationId xmlns:a16="http://schemas.microsoft.com/office/drawing/2014/main" id="{4546EE70-AEF5-FA64-A31F-B43BAE09A20F}"/>
                  </a:ext>
                </a:extLst>
              </p:cNvPr>
              <p:cNvSpPr/>
              <p:nvPr/>
            </p:nvSpPr>
            <p:spPr>
              <a:xfrm>
                <a:off x="345252" y="1308045"/>
                <a:ext cx="79120" cy="2549580"/>
              </a:xfrm>
              <a:prstGeom prst="rect">
                <a:avLst/>
              </a:prstGeom>
              <a:solidFill>
                <a:srgbClr val="6E6E6E"/>
              </a:solidFill>
              <a:ln w="6350">
                <a:solidFill>
                  <a:srgbClr val="4A4A4A"/>
                </a:solidFill>
                <a:prstDash val="solid"/>
              </a:ln>
            </p:spPr>
          </p:sp>
          <p:sp>
            <p:nvSpPr>
              <p:cNvPr id="52" name="右牆 13">
                <a:extLst>
                  <a:ext uri="{FF2B5EF4-FFF2-40B4-BE49-F238E27FC236}">
                    <a16:creationId xmlns:a16="http://schemas.microsoft.com/office/drawing/2014/main" id="{87BE527A-52B4-1080-244B-707DB5621A14}"/>
                  </a:ext>
                </a:extLst>
              </p:cNvPr>
              <p:cNvSpPr/>
              <p:nvPr/>
            </p:nvSpPr>
            <p:spPr>
              <a:xfrm>
                <a:off x="3567599" y="1308045"/>
                <a:ext cx="79120" cy="2549580"/>
              </a:xfrm>
              <a:prstGeom prst="rect">
                <a:avLst/>
              </a:prstGeom>
              <a:solidFill>
                <a:srgbClr val="6E6E6E"/>
              </a:solidFill>
              <a:ln w="6350">
                <a:solidFill>
                  <a:srgbClr val="4A4A4A"/>
                </a:solidFill>
                <a:prstDash val="solid"/>
              </a:ln>
            </p:spPr>
          </p:sp>
          <p:sp>
            <p:nvSpPr>
              <p:cNvPr id="53" name="牆柱 14">
                <a:extLst>
                  <a:ext uri="{FF2B5EF4-FFF2-40B4-BE49-F238E27FC236}">
                    <a16:creationId xmlns:a16="http://schemas.microsoft.com/office/drawing/2014/main" id="{913BD4EB-38D5-6AA1-0496-5219E9FF6F17}"/>
                  </a:ext>
                </a:extLst>
              </p:cNvPr>
              <p:cNvSpPr/>
              <p:nvPr/>
            </p:nvSpPr>
            <p:spPr>
              <a:xfrm>
                <a:off x="345252" y="1995323"/>
                <a:ext cx="107891" cy="199532"/>
              </a:xfrm>
              <a:prstGeom prst="rect">
                <a:avLst/>
              </a:prstGeom>
              <a:solidFill>
                <a:srgbClr val="6E6E6E"/>
              </a:solidFill>
              <a:ln w="6350">
                <a:solidFill>
                  <a:srgbClr val="4A4A4A"/>
                </a:solidFill>
                <a:prstDash val="solid"/>
              </a:ln>
            </p:spPr>
          </p:sp>
          <p:sp>
            <p:nvSpPr>
              <p:cNvPr id="54" name="窗 15">
                <a:extLst>
                  <a:ext uri="{FF2B5EF4-FFF2-40B4-BE49-F238E27FC236}">
                    <a16:creationId xmlns:a16="http://schemas.microsoft.com/office/drawing/2014/main" id="{F72843E9-31FE-8682-2D2A-4D61AED1EF56}"/>
                  </a:ext>
                </a:extLst>
              </p:cNvPr>
              <p:cNvSpPr/>
              <p:nvPr/>
            </p:nvSpPr>
            <p:spPr>
              <a:xfrm>
                <a:off x="949442" y="1315435"/>
                <a:ext cx="525070" cy="665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55" name="窗線 16">
                <a:extLst>
                  <a:ext uri="{FF2B5EF4-FFF2-40B4-BE49-F238E27FC236}">
                    <a16:creationId xmlns:a16="http://schemas.microsoft.com/office/drawing/2014/main" id="{5EDA7CD7-F9E6-1FEF-E4CB-91F18F41AA74}"/>
                  </a:ext>
                </a:extLst>
              </p:cNvPr>
              <p:cNvSpPr/>
              <p:nvPr/>
            </p:nvSpPr>
            <p:spPr>
              <a:xfrm>
                <a:off x="949442" y="1348691"/>
                <a:ext cx="525070" cy="0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6" name="窗 17">
                <a:extLst>
                  <a:ext uri="{FF2B5EF4-FFF2-40B4-BE49-F238E27FC236}">
                    <a16:creationId xmlns:a16="http://schemas.microsoft.com/office/drawing/2014/main" id="{461111AB-EA6D-6C12-4634-E2439A830EB0}"/>
                  </a:ext>
                </a:extLst>
              </p:cNvPr>
              <p:cNvSpPr/>
              <p:nvPr/>
            </p:nvSpPr>
            <p:spPr>
              <a:xfrm>
                <a:off x="2280099" y="1315435"/>
                <a:ext cx="489106" cy="665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57" name="窗線 18">
                <a:extLst>
                  <a:ext uri="{FF2B5EF4-FFF2-40B4-BE49-F238E27FC236}">
                    <a16:creationId xmlns:a16="http://schemas.microsoft.com/office/drawing/2014/main" id="{F264EED2-366E-F6F5-020C-82BC24AA95EB}"/>
                  </a:ext>
                </a:extLst>
              </p:cNvPr>
              <p:cNvSpPr/>
              <p:nvPr/>
            </p:nvSpPr>
            <p:spPr>
              <a:xfrm>
                <a:off x="2280099" y="1348691"/>
                <a:ext cx="489106" cy="0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8" name="窗 19">
                <a:extLst>
                  <a:ext uri="{FF2B5EF4-FFF2-40B4-BE49-F238E27FC236}">
                    <a16:creationId xmlns:a16="http://schemas.microsoft.com/office/drawing/2014/main" id="{D36BEB12-097E-E805-FE9F-D4590B6E4F27}"/>
                  </a:ext>
                </a:extLst>
              </p:cNvPr>
              <p:cNvSpPr/>
              <p:nvPr/>
            </p:nvSpPr>
            <p:spPr>
              <a:xfrm>
                <a:off x="2589387" y="3783724"/>
                <a:ext cx="503492" cy="665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59" name="窗線 20">
                <a:extLst>
                  <a:ext uri="{FF2B5EF4-FFF2-40B4-BE49-F238E27FC236}">
                    <a16:creationId xmlns:a16="http://schemas.microsoft.com/office/drawing/2014/main" id="{3F30D653-7EB6-4045-822F-0CF5B994EF06}"/>
                  </a:ext>
                </a:extLst>
              </p:cNvPr>
              <p:cNvSpPr/>
              <p:nvPr/>
            </p:nvSpPr>
            <p:spPr>
              <a:xfrm>
                <a:off x="2589387" y="3816980"/>
                <a:ext cx="503492" cy="0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0" name="窗 21">
                <a:extLst>
                  <a:ext uri="{FF2B5EF4-FFF2-40B4-BE49-F238E27FC236}">
                    <a16:creationId xmlns:a16="http://schemas.microsoft.com/office/drawing/2014/main" id="{0023DA27-F83A-5658-99B5-DF4ABEB5F53A}"/>
                  </a:ext>
                </a:extLst>
              </p:cNvPr>
              <p:cNvSpPr/>
              <p:nvPr/>
            </p:nvSpPr>
            <p:spPr>
              <a:xfrm>
                <a:off x="352444" y="1662769"/>
                <a:ext cx="64735" cy="3325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61" name="窗線 22">
                <a:extLst>
                  <a:ext uri="{FF2B5EF4-FFF2-40B4-BE49-F238E27FC236}">
                    <a16:creationId xmlns:a16="http://schemas.microsoft.com/office/drawing/2014/main" id="{D2C1979C-5D2F-1C42-EF30-A61F0613AD2B}"/>
                  </a:ext>
                </a:extLst>
              </p:cNvPr>
              <p:cNvSpPr/>
              <p:nvPr/>
            </p:nvSpPr>
            <p:spPr>
              <a:xfrm>
                <a:off x="384812" y="1662769"/>
                <a:ext cx="0" cy="332554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2" name="窗 23">
                <a:extLst>
                  <a:ext uri="{FF2B5EF4-FFF2-40B4-BE49-F238E27FC236}">
                    <a16:creationId xmlns:a16="http://schemas.microsoft.com/office/drawing/2014/main" id="{C6C8485F-BBA3-E60A-1FE1-5DD158F4CE98}"/>
                  </a:ext>
                </a:extLst>
              </p:cNvPr>
              <p:cNvSpPr/>
              <p:nvPr/>
            </p:nvSpPr>
            <p:spPr>
              <a:xfrm>
                <a:off x="352444" y="3510291"/>
                <a:ext cx="64735" cy="1847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63" name="窗線 24">
                <a:extLst>
                  <a:ext uri="{FF2B5EF4-FFF2-40B4-BE49-F238E27FC236}">
                    <a16:creationId xmlns:a16="http://schemas.microsoft.com/office/drawing/2014/main" id="{8EDA81D6-2542-1556-7BBC-9721F26D1DF1}"/>
                  </a:ext>
                </a:extLst>
              </p:cNvPr>
              <p:cNvSpPr/>
              <p:nvPr/>
            </p:nvSpPr>
            <p:spPr>
              <a:xfrm>
                <a:off x="384812" y="3510291"/>
                <a:ext cx="0" cy="184752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4" name="窗 25">
                <a:extLst>
                  <a:ext uri="{FF2B5EF4-FFF2-40B4-BE49-F238E27FC236}">
                    <a16:creationId xmlns:a16="http://schemas.microsoft.com/office/drawing/2014/main" id="{BAA10FA9-1617-F051-EBFC-BB5A44EC7A1D}"/>
                  </a:ext>
                </a:extLst>
              </p:cNvPr>
              <p:cNvSpPr/>
              <p:nvPr/>
            </p:nvSpPr>
            <p:spPr>
              <a:xfrm>
                <a:off x="3574792" y="1899252"/>
                <a:ext cx="64735" cy="3916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65" name="窗線 26">
                <a:extLst>
                  <a:ext uri="{FF2B5EF4-FFF2-40B4-BE49-F238E27FC236}">
                    <a16:creationId xmlns:a16="http://schemas.microsoft.com/office/drawing/2014/main" id="{EA160226-3659-9E57-6B97-23D6965BD396}"/>
                  </a:ext>
                </a:extLst>
              </p:cNvPr>
              <p:cNvSpPr/>
              <p:nvPr/>
            </p:nvSpPr>
            <p:spPr>
              <a:xfrm>
                <a:off x="3607159" y="1899252"/>
                <a:ext cx="0" cy="391675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6" name="窗 27">
                <a:extLst>
                  <a:ext uri="{FF2B5EF4-FFF2-40B4-BE49-F238E27FC236}">
                    <a16:creationId xmlns:a16="http://schemas.microsoft.com/office/drawing/2014/main" id="{ED589D33-42F9-BBC2-BE62-DABCCFD03D2C}"/>
                  </a:ext>
                </a:extLst>
              </p:cNvPr>
              <p:cNvSpPr/>
              <p:nvPr/>
            </p:nvSpPr>
            <p:spPr>
              <a:xfrm>
                <a:off x="3574792" y="3251638"/>
                <a:ext cx="64735" cy="3695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67" name="窗線 28">
                <a:extLst>
                  <a:ext uri="{FF2B5EF4-FFF2-40B4-BE49-F238E27FC236}">
                    <a16:creationId xmlns:a16="http://schemas.microsoft.com/office/drawing/2014/main" id="{A1DF9657-52CB-234D-B1A6-61C0F7C4CA2A}"/>
                  </a:ext>
                </a:extLst>
              </p:cNvPr>
              <p:cNvSpPr/>
              <p:nvPr/>
            </p:nvSpPr>
            <p:spPr>
              <a:xfrm>
                <a:off x="3607159" y="3251638"/>
                <a:ext cx="0" cy="369504"/>
              </a:xfrm>
              <a:prstGeom prst="line">
                <a:avLst/>
              </a:prstGeom>
              <a:noFill/>
              <a:ln w="6350">
                <a:solidFill>
                  <a:srgbClr val="9A9A9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8" name="隔間窗 29">
                <a:extLst>
                  <a:ext uri="{FF2B5EF4-FFF2-40B4-BE49-F238E27FC236}">
                    <a16:creationId xmlns:a16="http://schemas.microsoft.com/office/drawing/2014/main" id="{62D93897-F8D0-58F6-2FDC-687EFCA39F65}"/>
                  </a:ext>
                </a:extLst>
              </p:cNvPr>
              <p:cNvSpPr/>
              <p:nvPr/>
            </p:nvSpPr>
            <p:spPr>
              <a:xfrm>
                <a:off x="453143" y="2061834"/>
                <a:ext cx="374023" cy="5912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69" name="隔間柱 30">
                <a:extLst>
                  <a:ext uri="{FF2B5EF4-FFF2-40B4-BE49-F238E27FC236}">
                    <a16:creationId xmlns:a16="http://schemas.microsoft.com/office/drawing/2014/main" id="{7C313663-1C8C-33EE-8856-6DEBF7E90F2E}"/>
                  </a:ext>
                </a:extLst>
              </p:cNvPr>
              <p:cNvSpPr/>
              <p:nvPr/>
            </p:nvSpPr>
            <p:spPr>
              <a:xfrm>
                <a:off x="827165" y="2047054"/>
                <a:ext cx="86313" cy="140412"/>
              </a:xfrm>
              <a:prstGeom prst="rect">
                <a:avLst/>
              </a:prstGeom>
              <a:solidFill>
                <a:srgbClr val="6E6E6E"/>
              </a:solidFill>
              <a:ln w="6350">
                <a:solidFill>
                  <a:srgbClr val="4A4A4A"/>
                </a:solidFill>
                <a:prstDash val="solid"/>
              </a:ln>
            </p:spPr>
          </p:sp>
          <p:sp>
            <p:nvSpPr>
              <p:cNvPr id="70" name="隔間門框 31">
                <a:extLst>
                  <a:ext uri="{FF2B5EF4-FFF2-40B4-BE49-F238E27FC236}">
                    <a16:creationId xmlns:a16="http://schemas.microsoft.com/office/drawing/2014/main" id="{C104ACEC-4847-0F51-0A94-0A0770625DCC}"/>
                  </a:ext>
                </a:extLst>
              </p:cNvPr>
              <p:cNvSpPr/>
              <p:nvPr/>
            </p:nvSpPr>
            <p:spPr>
              <a:xfrm>
                <a:off x="863129" y="2187466"/>
                <a:ext cx="35964" cy="1921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7A7A7A"/>
                </a:solidFill>
                <a:prstDash val="solid"/>
              </a:ln>
            </p:spPr>
          </p:sp>
          <p:sp>
            <p:nvSpPr>
              <p:cNvPr id="71" name="門洞 32">
                <a:extLst>
                  <a:ext uri="{FF2B5EF4-FFF2-40B4-BE49-F238E27FC236}">
                    <a16:creationId xmlns:a16="http://schemas.microsoft.com/office/drawing/2014/main" id="{169DD3C3-5B4F-185C-8809-BF3374F558C3}"/>
                  </a:ext>
                </a:extLst>
              </p:cNvPr>
              <p:cNvSpPr/>
              <p:nvPr/>
            </p:nvSpPr>
            <p:spPr>
              <a:xfrm>
                <a:off x="1812571" y="3776334"/>
                <a:ext cx="374023" cy="81291"/>
              </a:xfrm>
              <a:prstGeom prst="rect">
                <a:avLst/>
              </a:prstGeom>
              <a:solidFill>
                <a:srgbClr val="FFFFFF"/>
              </a:solidFill>
              <a:ln/>
            </p:spPr>
          </p:sp>
          <p:sp>
            <p:nvSpPr>
              <p:cNvPr id="72" name="門扇 33">
                <a:extLst>
                  <a:ext uri="{FF2B5EF4-FFF2-40B4-BE49-F238E27FC236}">
                    <a16:creationId xmlns:a16="http://schemas.microsoft.com/office/drawing/2014/main" id="{59FE1875-2EDB-49C0-7CAD-E0426066B268}"/>
                  </a:ext>
                </a:extLst>
              </p:cNvPr>
              <p:cNvSpPr/>
              <p:nvPr/>
            </p:nvSpPr>
            <p:spPr>
              <a:xfrm>
                <a:off x="2179400" y="3451170"/>
                <a:ext cx="0" cy="354724"/>
              </a:xfrm>
              <a:prstGeom prst="line">
                <a:avLst/>
              </a:prstGeom>
              <a:noFill/>
              <a:ln w="12700">
                <a:solidFill>
                  <a:srgbClr val="7A7A7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3" name="門弧 34">
                <a:extLst>
                  <a:ext uri="{FF2B5EF4-FFF2-40B4-BE49-F238E27FC236}">
                    <a16:creationId xmlns:a16="http://schemas.microsoft.com/office/drawing/2014/main" id="{BE0152A6-5AB4-FB05-48C6-AE88546B924F}"/>
                  </a:ext>
                </a:extLst>
              </p:cNvPr>
              <p:cNvSpPr/>
              <p:nvPr/>
            </p:nvSpPr>
            <p:spPr>
              <a:xfrm>
                <a:off x="1834149" y="3451170"/>
                <a:ext cx="345252" cy="354724"/>
              </a:xfrm>
              <a:custGeom>
                <a:avLst/>
                <a:gdLst/>
                <a:ahLst/>
                <a:cxnLst/>
                <a:rect l="l" t="t" r="r" b="b"/>
                <a:pathLst>
                  <a:path w="345252" h="354724">
                    <a:moveTo>
                      <a:pt x="0" y="354724"/>
                    </a:moveTo>
                    <a:cubicBezTo>
                      <a:pt x="0" y="158810"/>
                      <a:pt x="154569" y="0"/>
                      <a:pt x="345252" y="0"/>
                    </a:cubicBezTo>
                  </a:path>
                </a:pathLst>
              </a:custGeom>
              <a:noFill/>
              <a:ln w="9525">
                <a:solidFill>
                  <a:srgbClr val="7A7A7A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4" name="桌 35">
                <a:extLst>
                  <a:ext uri="{FF2B5EF4-FFF2-40B4-BE49-F238E27FC236}">
                    <a16:creationId xmlns:a16="http://schemas.microsoft.com/office/drawing/2014/main" id="{8B26719F-C76E-0341-67FE-B59102B9C0C1}"/>
                  </a:ext>
                </a:extLst>
              </p:cNvPr>
              <p:cNvSpPr/>
              <p:nvPr/>
            </p:nvSpPr>
            <p:spPr>
              <a:xfrm>
                <a:off x="517877" y="1404116"/>
                <a:ext cx="431564" cy="162582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75" name="椅 36">
                <a:extLst>
                  <a:ext uri="{FF2B5EF4-FFF2-40B4-BE49-F238E27FC236}">
                    <a16:creationId xmlns:a16="http://schemas.microsoft.com/office/drawing/2014/main" id="{08F169F0-5FA7-79FD-5BBC-891B65235870}"/>
                  </a:ext>
                </a:extLst>
              </p:cNvPr>
              <p:cNvSpPr/>
              <p:nvPr/>
            </p:nvSpPr>
            <p:spPr>
              <a:xfrm>
                <a:off x="647347" y="1566698"/>
                <a:ext cx="179819" cy="51731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76" name="桌 37">
                <a:extLst>
                  <a:ext uri="{FF2B5EF4-FFF2-40B4-BE49-F238E27FC236}">
                    <a16:creationId xmlns:a16="http://schemas.microsoft.com/office/drawing/2014/main" id="{9A2A90C1-124F-BF9C-3A72-E6B316B08E88}"/>
                  </a:ext>
                </a:extLst>
              </p:cNvPr>
              <p:cNvSpPr/>
              <p:nvPr/>
            </p:nvSpPr>
            <p:spPr>
              <a:xfrm>
                <a:off x="2769205" y="1404116"/>
                <a:ext cx="323673" cy="199532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77" name="椅 38">
                <a:extLst>
                  <a:ext uri="{FF2B5EF4-FFF2-40B4-BE49-F238E27FC236}">
                    <a16:creationId xmlns:a16="http://schemas.microsoft.com/office/drawing/2014/main" id="{840ABAFE-D2C5-6DE4-B4CF-682419D2453A}"/>
                  </a:ext>
                </a:extLst>
              </p:cNvPr>
              <p:cNvSpPr/>
              <p:nvPr/>
            </p:nvSpPr>
            <p:spPr>
              <a:xfrm>
                <a:off x="2826747" y="1603649"/>
                <a:ext cx="222975" cy="44341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78" name="桌 39">
                <a:extLst>
                  <a:ext uri="{FF2B5EF4-FFF2-40B4-BE49-F238E27FC236}">
                    <a16:creationId xmlns:a16="http://schemas.microsoft.com/office/drawing/2014/main" id="{2413B224-D8B6-3B98-CFBC-45EE2C2A08EB}"/>
                  </a:ext>
                </a:extLst>
              </p:cNvPr>
              <p:cNvSpPr/>
              <p:nvPr/>
            </p:nvSpPr>
            <p:spPr>
              <a:xfrm>
                <a:off x="3344624" y="1899252"/>
                <a:ext cx="215782" cy="391675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79" name="椅 40">
                <a:extLst>
                  <a:ext uri="{FF2B5EF4-FFF2-40B4-BE49-F238E27FC236}">
                    <a16:creationId xmlns:a16="http://schemas.microsoft.com/office/drawing/2014/main" id="{BBB223B7-21AD-50B2-A4AD-00151FB556AC}"/>
                  </a:ext>
                </a:extLst>
              </p:cNvPr>
              <p:cNvSpPr/>
              <p:nvPr/>
            </p:nvSpPr>
            <p:spPr>
              <a:xfrm>
                <a:off x="3287082" y="1995323"/>
                <a:ext cx="57542" cy="192142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0" name="單椅 41">
                <a:extLst>
                  <a:ext uri="{FF2B5EF4-FFF2-40B4-BE49-F238E27FC236}">
                    <a16:creationId xmlns:a16="http://schemas.microsoft.com/office/drawing/2014/main" id="{553A7F5A-408D-A463-F3B2-9C149D2CE60A}"/>
                  </a:ext>
                </a:extLst>
              </p:cNvPr>
              <p:cNvSpPr/>
              <p:nvPr/>
            </p:nvSpPr>
            <p:spPr>
              <a:xfrm>
                <a:off x="2891482" y="2180075"/>
                <a:ext cx="244553" cy="199532"/>
              </a:xfrm>
              <a:prstGeom prst="roundRect">
                <a:avLst>
                  <a:gd name="adj" fmla="val 9165"/>
                </a:avLst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1" name="椅墊 42">
                <a:extLst>
                  <a:ext uri="{FF2B5EF4-FFF2-40B4-BE49-F238E27FC236}">
                    <a16:creationId xmlns:a16="http://schemas.microsoft.com/office/drawing/2014/main" id="{8CF469CC-83E7-8157-9778-837D3280B7F0}"/>
                  </a:ext>
                </a:extLst>
              </p:cNvPr>
              <p:cNvSpPr/>
              <p:nvPr/>
            </p:nvSpPr>
            <p:spPr>
              <a:xfrm>
                <a:off x="2934638" y="2217026"/>
                <a:ext cx="165433" cy="125631"/>
              </a:xfrm>
              <a:prstGeom prst="rect">
                <a:avLst/>
              </a:prstGeom>
              <a:solidFill>
                <a:srgbClr val="F2F2F2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2" name="椅背 43">
                <a:extLst>
                  <a:ext uri="{FF2B5EF4-FFF2-40B4-BE49-F238E27FC236}">
                    <a16:creationId xmlns:a16="http://schemas.microsoft.com/office/drawing/2014/main" id="{FC595A77-BD9B-5592-3FC1-F6A6A363BCF2}"/>
                  </a:ext>
                </a:extLst>
              </p:cNvPr>
              <p:cNvSpPr/>
              <p:nvPr/>
            </p:nvSpPr>
            <p:spPr>
              <a:xfrm>
                <a:off x="3136035" y="2217026"/>
                <a:ext cx="35964" cy="125631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3" name="桌 44">
                <a:extLst>
                  <a:ext uri="{FF2B5EF4-FFF2-40B4-BE49-F238E27FC236}">
                    <a16:creationId xmlns:a16="http://schemas.microsoft.com/office/drawing/2014/main" id="{A23E11FC-DA13-80C1-7BFA-CCA72EB88926}"/>
                  </a:ext>
                </a:extLst>
              </p:cNvPr>
              <p:cNvSpPr/>
              <p:nvPr/>
            </p:nvSpPr>
            <p:spPr>
              <a:xfrm>
                <a:off x="3323046" y="3251638"/>
                <a:ext cx="215782" cy="369504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4" name="椅 45">
                <a:extLst>
                  <a:ext uri="{FF2B5EF4-FFF2-40B4-BE49-F238E27FC236}">
                    <a16:creationId xmlns:a16="http://schemas.microsoft.com/office/drawing/2014/main" id="{E13FFD28-B4D2-9D79-A8F5-1D115231E6E9}"/>
                  </a:ext>
                </a:extLst>
              </p:cNvPr>
              <p:cNvSpPr/>
              <p:nvPr/>
            </p:nvSpPr>
            <p:spPr>
              <a:xfrm>
                <a:off x="3366203" y="3199907"/>
                <a:ext cx="143855" cy="51731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5" name="椅 46">
                <a:extLst>
                  <a:ext uri="{FF2B5EF4-FFF2-40B4-BE49-F238E27FC236}">
                    <a16:creationId xmlns:a16="http://schemas.microsoft.com/office/drawing/2014/main" id="{10642815-1955-BC07-FC12-779709A7B589}"/>
                  </a:ext>
                </a:extLst>
              </p:cNvPr>
              <p:cNvSpPr/>
              <p:nvPr/>
            </p:nvSpPr>
            <p:spPr>
              <a:xfrm>
                <a:off x="3265504" y="3347709"/>
                <a:ext cx="57542" cy="199532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6" name="櫃台 47">
                <a:extLst>
                  <a:ext uri="{FF2B5EF4-FFF2-40B4-BE49-F238E27FC236}">
                    <a16:creationId xmlns:a16="http://schemas.microsoft.com/office/drawing/2014/main" id="{20235026-7A2F-40DC-CDD1-3BE04F7E563D}"/>
                  </a:ext>
                </a:extLst>
              </p:cNvPr>
              <p:cNvSpPr/>
              <p:nvPr/>
            </p:nvSpPr>
            <p:spPr>
              <a:xfrm>
                <a:off x="445950" y="3362489"/>
                <a:ext cx="647347" cy="110851"/>
              </a:xfrm>
              <a:prstGeom prst="rect">
                <a:avLst/>
              </a:prstGeom>
              <a:solidFill>
                <a:srgbClr val="E3E3E3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7" name="小門 48">
                <a:extLst>
                  <a:ext uri="{FF2B5EF4-FFF2-40B4-BE49-F238E27FC236}">
                    <a16:creationId xmlns:a16="http://schemas.microsoft.com/office/drawing/2014/main" id="{3CEA74B7-D555-18D9-F246-EFC12517C0E9}"/>
                  </a:ext>
                </a:extLst>
              </p:cNvPr>
              <p:cNvSpPr/>
              <p:nvPr/>
            </p:nvSpPr>
            <p:spPr>
              <a:xfrm>
                <a:off x="805587" y="3473341"/>
                <a:ext cx="93506" cy="140412"/>
              </a:xfrm>
              <a:prstGeom prst="rect">
                <a:avLst/>
              </a:prstGeom>
              <a:solidFill>
                <a:srgbClr val="F2F2F2"/>
              </a:solidFill>
              <a:ln w="9525">
                <a:solidFill>
                  <a:srgbClr val="A8A8A8"/>
                </a:solidFill>
                <a:prstDash val="solid"/>
              </a:ln>
            </p:spPr>
          </p:sp>
          <p:sp>
            <p:nvSpPr>
              <p:cNvPr id="88" name="小門弧 49">
                <a:extLst>
                  <a:ext uri="{FF2B5EF4-FFF2-40B4-BE49-F238E27FC236}">
                    <a16:creationId xmlns:a16="http://schemas.microsoft.com/office/drawing/2014/main" id="{DD627CFB-6F37-7C7E-C11E-DF4AD2859EC1}"/>
                  </a:ext>
                </a:extLst>
              </p:cNvPr>
              <p:cNvSpPr/>
              <p:nvPr/>
            </p:nvSpPr>
            <p:spPr>
              <a:xfrm>
                <a:off x="899093" y="3473341"/>
                <a:ext cx="158240" cy="140412"/>
              </a:xfrm>
              <a:custGeom>
                <a:avLst/>
                <a:gdLst/>
                <a:ahLst/>
                <a:cxnLst/>
                <a:rect l="l" t="t" r="r" b="b"/>
                <a:pathLst>
                  <a:path w="158240" h="140412">
                    <a:moveTo>
                      <a:pt x="0" y="140412"/>
                    </a:moveTo>
                    <a:cubicBezTo>
                      <a:pt x="87396" y="140412"/>
                      <a:pt x="158240" y="77549"/>
                      <a:pt x="158240" y="0"/>
                    </a:cubicBezTo>
                  </a:path>
                </a:pathLst>
              </a:custGeom>
              <a:noFill/>
              <a:ln w="9525">
                <a:solidFill>
                  <a:srgbClr val="A8A8A8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9" name="葉 50">
                <a:extLst>
                  <a:ext uri="{FF2B5EF4-FFF2-40B4-BE49-F238E27FC236}">
                    <a16:creationId xmlns:a16="http://schemas.microsoft.com/office/drawing/2014/main" id="{B634F478-0396-A511-FD86-88C599453FFA}"/>
                  </a:ext>
                </a:extLst>
              </p:cNvPr>
              <p:cNvSpPr/>
              <p:nvPr/>
            </p:nvSpPr>
            <p:spPr>
              <a:xfrm rot="17100000">
                <a:off x="3236733" y="1551918"/>
                <a:ext cx="57542" cy="133022"/>
              </a:xfrm>
              <a:prstGeom prst="ellipse">
                <a:avLst/>
              </a:prstGeom>
              <a:solidFill>
                <a:srgbClr val="9A9A9A"/>
              </a:solidFill>
              <a:ln w="6350">
                <a:solidFill>
                  <a:srgbClr val="707070"/>
                </a:solidFill>
                <a:prstDash val="solid"/>
              </a:ln>
            </p:spPr>
          </p:sp>
          <p:sp>
            <p:nvSpPr>
              <p:cNvPr id="90" name="葉 51">
                <a:extLst>
                  <a:ext uri="{FF2B5EF4-FFF2-40B4-BE49-F238E27FC236}">
                    <a16:creationId xmlns:a16="http://schemas.microsoft.com/office/drawing/2014/main" id="{206B5E54-6F23-28E1-9B8E-C2892912F9FB}"/>
                  </a:ext>
                </a:extLst>
              </p:cNvPr>
              <p:cNvSpPr/>
              <p:nvPr/>
            </p:nvSpPr>
            <p:spPr>
              <a:xfrm rot="4500000">
                <a:off x="3394974" y="1551918"/>
                <a:ext cx="57542" cy="133022"/>
              </a:xfrm>
              <a:prstGeom prst="ellipse">
                <a:avLst/>
              </a:prstGeom>
              <a:solidFill>
                <a:srgbClr val="9A9A9A"/>
              </a:solidFill>
              <a:ln w="6350">
                <a:solidFill>
                  <a:srgbClr val="707070"/>
                </a:solidFill>
                <a:prstDash val="solid"/>
              </a:ln>
            </p:spPr>
          </p:sp>
          <p:sp>
            <p:nvSpPr>
              <p:cNvPr id="91" name="葉 52">
                <a:extLst>
                  <a:ext uri="{FF2B5EF4-FFF2-40B4-BE49-F238E27FC236}">
                    <a16:creationId xmlns:a16="http://schemas.microsoft.com/office/drawing/2014/main" id="{89DDEB55-64F8-A86A-B935-BB8ADE7E758E}"/>
                  </a:ext>
                </a:extLst>
              </p:cNvPr>
              <p:cNvSpPr/>
              <p:nvPr/>
            </p:nvSpPr>
            <p:spPr>
              <a:xfrm rot="19500000">
                <a:off x="3261908" y="1492797"/>
                <a:ext cx="64735" cy="147802"/>
              </a:xfrm>
              <a:prstGeom prst="ellipse">
                <a:avLst/>
              </a:prstGeom>
              <a:solidFill>
                <a:srgbClr val="8F8F8F"/>
              </a:solidFill>
              <a:ln w="6350">
                <a:solidFill>
                  <a:srgbClr val="707070"/>
                </a:solidFill>
                <a:prstDash val="solid"/>
              </a:ln>
            </p:spPr>
          </p:sp>
          <p:sp>
            <p:nvSpPr>
              <p:cNvPr id="92" name="葉 53">
                <a:extLst>
                  <a:ext uri="{FF2B5EF4-FFF2-40B4-BE49-F238E27FC236}">
                    <a16:creationId xmlns:a16="http://schemas.microsoft.com/office/drawing/2014/main" id="{D7A98662-76C1-8330-64D0-D2C4BA62C06E}"/>
                  </a:ext>
                </a:extLst>
              </p:cNvPr>
              <p:cNvSpPr/>
              <p:nvPr/>
            </p:nvSpPr>
            <p:spPr>
              <a:xfrm rot="2100000">
                <a:off x="3362606" y="1492797"/>
                <a:ext cx="64735" cy="147802"/>
              </a:xfrm>
              <a:prstGeom prst="ellipse">
                <a:avLst/>
              </a:prstGeom>
              <a:solidFill>
                <a:srgbClr val="8F8F8F"/>
              </a:solidFill>
              <a:ln w="6350">
                <a:solidFill>
                  <a:srgbClr val="707070"/>
                </a:solidFill>
                <a:prstDash val="solid"/>
              </a:ln>
            </p:spPr>
          </p:sp>
          <p:sp>
            <p:nvSpPr>
              <p:cNvPr id="93" name="葉 54">
                <a:extLst>
                  <a:ext uri="{FF2B5EF4-FFF2-40B4-BE49-F238E27FC236}">
                    <a16:creationId xmlns:a16="http://schemas.microsoft.com/office/drawing/2014/main" id="{78EF9FF7-5B62-6C7E-4446-AC658492D089}"/>
                  </a:ext>
                </a:extLst>
              </p:cNvPr>
              <p:cNvSpPr/>
              <p:nvPr/>
            </p:nvSpPr>
            <p:spPr>
              <a:xfrm>
                <a:off x="3308661" y="1463237"/>
                <a:ext cx="71927" cy="162582"/>
              </a:xfrm>
              <a:prstGeom prst="ellipse">
                <a:avLst/>
              </a:prstGeom>
              <a:solidFill>
                <a:srgbClr val="858585"/>
              </a:solidFill>
              <a:ln w="6350">
                <a:solidFill>
                  <a:srgbClr val="707070"/>
                </a:solidFill>
                <a:prstDash val="solid"/>
              </a:ln>
            </p:spPr>
          </p:sp>
          <p:sp>
            <p:nvSpPr>
              <p:cNvPr id="94" name="花盆 55">
                <a:extLst>
                  <a:ext uri="{FF2B5EF4-FFF2-40B4-BE49-F238E27FC236}">
                    <a16:creationId xmlns:a16="http://schemas.microsoft.com/office/drawing/2014/main" id="{FC118F0F-BBCC-DEFE-86F2-612A84478110}"/>
                  </a:ext>
                </a:extLst>
              </p:cNvPr>
              <p:cNvSpPr/>
              <p:nvPr/>
            </p:nvSpPr>
            <p:spPr>
              <a:xfrm>
                <a:off x="3272697" y="1647989"/>
                <a:ext cx="143855" cy="147802"/>
              </a:xfrm>
              <a:prstGeom prst="roundRect">
                <a:avLst>
                  <a:gd name="adj" fmla="val 19069"/>
                </a:avLst>
              </a:prstGeom>
              <a:solidFill>
                <a:srgbClr val="ABABAB"/>
              </a:solidFill>
              <a:ln w="9525">
                <a:solidFill>
                  <a:srgbClr val="8A8A8A"/>
                </a:solidFill>
                <a:prstDash val="solid"/>
              </a:ln>
            </p:spPr>
          </p:sp>
        </p:grpSp>
        <p:sp>
          <p:nvSpPr>
            <p:cNvPr id="95" name="混凝土牆 56">
              <a:extLst>
                <a:ext uri="{FF2B5EF4-FFF2-40B4-BE49-F238E27FC236}">
                  <a16:creationId xmlns:a16="http://schemas.microsoft.com/office/drawing/2014/main" id="{46E9C8DC-7ACD-50C9-623B-AC15747008A7}"/>
                </a:ext>
              </a:extLst>
            </p:cNvPr>
            <p:cNvSpPr/>
            <p:nvPr/>
          </p:nvSpPr>
          <p:spPr>
            <a:xfrm>
              <a:off x="292687" y="2010241"/>
              <a:ext cx="215782" cy="968101"/>
            </a:xfrm>
            <a:prstGeom prst="rect">
              <a:avLst/>
            </a:prstGeom>
            <a:pattFill prst="pct20">
              <a:fgClr>
                <a:srgbClr val="7A7878"/>
              </a:fgClr>
              <a:bgClr>
                <a:srgbClr val="B4B2B2"/>
              </a:bgClr>
            </a:pattFill>
            <a:ln w="19050">
              <a:solidFill>
                <a:srgbClr val="222222"/>
              </a:solidFill>
              <a:prstDash val="solid"/>
            </a:ln>
          </p:spPr>
        </p:sp>
        <p:sp>
          <p:nvSpPr>
            <p:cNvPr id="96" name="玻璃隔間 57">
              <a:extLst>
                <a:ext uri="{FF2B5EF4-FFF2-40B4-BE49-F238E27FC236}">
                  <a16:creationId xmlns:a16="http://schemas.microsoft.com/office/drawing/2014/main" id="{6C5034EC-31A4-35EE-C8CE-B9BE5816DBC2}"/>
                </a:ext>
              </a:extLst>
            </p:cNvPr>
            <p:cNvSpPr/>
            <p:nvPr/>
          </p:nvSpPr>
          <p:spPr>
            <a:xfrm>
              <a:off x="1357212" y="2084141"/>
              <a:ext cx="129469" cy="872030"/>
            </a:xfrm>
            <a:prstGeom prst="rect">
              <a:avLst/>
            </a:prstGeom>
            <a:solidFill>
              <a:srgbClr val="C7EAFD">
                <a:alpha val="85000"/>
              </a:srgbClr>
            </a:solidFill>
            <a:ln w="12700">
              <a:solidFill>
                <a:srgbClr val="3D9BFF"/>
              </a:solidFill>
              <a:prstDash val="solid"/>
            </a:ln>
          </p:spPr>
        </p:sp>
        <p:sp>
          <p:nvSpPr>
            <p:cNvPr id="97" name="金屬櫃 58">
              <a:extLst>
                <a:ext uri="{FF2B5EF4-FFF2-40B4-BE49-F238E27FC236}">
                  <a16:creationId xmlns:a16="http://schemas.microsoft.com/office/drawing/2014/main" id="{3DEE48E2-0DFE-B216-4C24-A0E6A6F38EE2}"/>
                </a:ext>
              </a:extLst>
            </p:cNvPr>
            <p:cNvSpPr/>
            <p:nvPr/>
          </p:nvSpPr>
          <p:spPr>
            <a:xfrm>
              <a:off x="839335" y="2874881"/>
              <a:ext cx="280517" cy="517306"/>
            </a:xfrm>
            <a:prstGeom prst="cube">
              <a:avLst/>
            </a:prstGeom>
            <a:solidFill>
              <a:srgbClr val="4F4F4F"/>
            </a:solidFill>
            <a:ln w="12700">
              <a:solidFill>
                <a:srgbClr val="111111"/>
              </a:solidFill>
              <a:prstDash val="solid"/>
            </a:ln>
          </p:spPr>
        </p:sp>
        <p:grpSp>
          <p:nvGrpSpPr>
            <p:cNvPr id="98" name="BS 基地台">
              <a:extLst>
                <a:ext uri="{FF2B5EF4-FFF2-40B4-BE49-F238E27FC236}">
                  <a16:creationId xmlns:a16="http://schemas.microsoft.com/office/drawing/2014/main" id="{07A57CD6-F225-C6E8-D9ED-B6819FB8F5DA}"/>
                </a:ext>
              </a:extLst>
            </p:cNvPr>
            <p:cNvGrpSpPr/>
            <p:nvPr/>
          </p:nvGrpSpPr>
          <p:grpSpPr>
            <a:xfrm>
              <a:off x="-591791" y="2282038"/>
              <a:ext cx="402336" cy="585452"/>
              <a:chOff x="367059" y="2296681"/>
              <a:chExt cx="402336" cy="585452"/>
            </a:xfrm>
          </p:grpSpPr>
          <p:sp>
            <p:nvSpPr>
              <p:cNvPr id="99" name="訊號波 59">
                <a:extLst>
                  <a:ext uri="{FF2B5EF4-FFF2-40B4-BE49-F238E27FC236}">
                    <a16:creationId xmlns:a16="http://schemas.microsoft.com/office/drawing/2014/main" id="{18069291-A7C6-5A05-B1D9-65D5EDA547DE}"/>
                  </a:ext>
                </a:extLst>
              </p:cNvPr>
              <p:cNvSpPr/>
              <p:nvPr/>
            </p:nvSpPr>
            <p:spPr>
              <a:xfrm>
                <a:off x="453927" y="2383549"/>
                <a:ext cx="228600" cy="228600"/>
              </a:xfrm>
              <a:prstGeom prst="arc">
                <a:avLst>
                  <a:gd name="adj1" fmla="val 8400000"/>
                  <a:gd name="adj2" fmla="val 13200000"/>
                </a:avLst>
              </a:prstGeom>
              <a:noFill/>
              <a:ln w="28575">
                <a:solidFill>
                  <a:srgbClr val="1D6BFF"/>
                </a:solidFill>
                <a:prstDash val="solid"/>
              </a:ln>
            </p:spPr>
          </p:sp>
          <p:sp>
            <p:nvSpPr>
              <p:cNvPr id="100" name="訊號波 60">
                <a:extLst>
                  <a:ext uri="{FF2B5EF4-FFF2-40B4-BE49-F238E27FC236}">
                    <a16:creationId xmlns:a16="http://schemas.microsoft.com/office/drawing/2014/main" id="{B405F9B7-D43D-D9FA-7088-66D6A8626E8E}"/>
                  </a:ext>
                </a:extLst>
              </p:cNvPr>
              <p:cNvSpPr/>
              <p:nvPr/>
            </p:nvSpPr>
            <p:spPr>
              <a:xfrm>
                <a:off x="367059" y="2296681"/>
                <a:ext cx="402336" cy="402336"/>
              </a:xfrm>
              <a:prstGeom prst="arc">
                <a:avLst>
                  <a:gd name="adj1" fmla="val 8400000"/>
                  <a:gd name="adj2" fmla="val 13200000"/>
                </a:avLst>
              </a:prstGeom>
              <a:noFill/>
              <a:ln w="28575">
                <a:solidFill>
                  <a:srgbClr val="1D6BFF"/>
                </a:solidFill>
                <a:prstDash val="solid"/>
              </a:ln>
            </p:spPr>
          </p:sp>
          <p:sp>
            <p:nvSpPr>
              <p:cNvPr id="101" name="訊號波 61">
                <a:extLst>
                  <a:ext uri="{FF2B5EF4-FFF2-40B4-BE49-F238E27FC236}">
                    <a16:creationId xmlns:a16="http://schemas.microsoft.com/office/drawing/2014/main" id="{326934B1-BAD4-874B-6389-25E77416E011}"/>
                  </a:ext>
                </a:extLst>
              </p:cNvPr>
              <p:cNvSpPr/>
              <p:nvPr/>
            </p:nvSpPr>
            <p:spPr>
              <a:xfrm>
                <a:off x="453927" y="2383549"/>
                <a:ext cx="228600" cy="228600"/>
              </a:xfrm>
              <a:prstGeom prst="arc">
                <a:avLst>
                  <a:gd name="adj1" fmla="val 19200000"/>
                  <a:gd name="adj2" fmla="val 2400000"/>
                </a:avLst>
              </a:prstGeom>
              <a:noFill/>
              <a:ln w="28575">
                <a:solidFill>
                  <a:srgbClr val="1D6BFF"/>
                </a:solidFill>
                <a:prstDash val="solid"/>
              </a:ln>
            </p:spPr>
          </p:sp>
          <p:sp>
            <p:nvSpPr>
              <p:cNvPr id="102" name="訊號波 62">
                <a:extLst>
                  <a:ext uri="{FF2B5EF4-FFF2-40B4-BE49-F238E27FC236}">
                    <a16:creationId xmlns:a16="http://schemas.microsoft.com/office/drawing/2014/main" id="{FF444E62-ADFD-D65D-9E28-7DAAD10122E0}"/>
                  </a:ext>
                </a:extLst>
              </p:cNvPr>
              <p:cNvSpPr/>
              <p:nvPr/>
            </p:nvSpPr>
            <p:spPr>
              <a:xfrm>
                <a:off x="367059" y="2296681"/>
                <a:ext cx="402336" cy="402336"/>
              </a:xfrm>
              <a:prstGeom prst="arc">
                <a:avLst>
                  <a:gd name="adj1" fmla="val 19200000"/>
                  <a:gd name="adj2" fmla="val 2400000"/>
                </a:avLst>
              </a:prstGeom>
              <a:noFill/>
              <a:ln w="28575">
                <a:solidFill>
                  <a:srgbClr val="1D6BFF"/>
                </a:solidFill>
                <a:prstDash val="solid"/>
              </a:ln>
            </p:spPr>
          </p:sp>
          <p:sp>
            <p:nvSpPr>
              <p:cNvPr id="103" name="鐵塔 63">
                <a:extLst>
                  <a:ext uri="{FF2B5EF4-FFF2-40B4-BE49-F238E27FC236}">
                    <a16:creationId xmlns:a16="http://schemas.microsoft.com/office/drawing/2014/main" id="{BD55E5A1-1A0A-09BC-713A-3F6E66C7F6D1}"/>
                  </a:ext>
                </a:extLst>
              </p:cNvPr>
              <p:cNvSpPr/>
              <p:nvPr/>
            </p:nvSpPr>
            <p:spPr>
              <a:xfrm>
                <a:off x="445950" y="2512629"/>
                <a:ext cx="244553" cy="369504"/>
              </a:xfrm>
              <a:custGeom>
                <a:avLst/>
                <a:gdLst/>
                <a:ahLst/>
                <a:cxnLst/>
                <a:rect l="l" t="t" r="r" b="b"/>
                <a:pathLst>
                  <a:path w="244553" h="369504">
                    <a:moveTo>
                      <a:pt x="0" y="369504"/>
                    </a:moveTo>
                    <a:lnTo>
                      <a:pt x="122277" y="0"/>
                    </a:lnTo>
                    <a:lnTo>
                      <a:pt x="244553" y="369504"/>
                    </a:lnTo>
                    <a:moveTo>
                      <a:pt x="78401" y="133022"/>
                    </a:moveTo>
                    <a:lnTo>
                      <a:pt x="202835" y="243873"/>
                    </a:lnTo>
                    <a:moveTo>
                      <a:pt x="166152" y="133022"/>
                    </a:moveTo>
                    <a:lnTo>
                      <a:pt x="41718" y="243873"/>
                    </a:lnTo>
                    <a:moveTo>
                      <a:pt x="41718" y="243873"/>
                    </a:moveTo>
                    <a:lnTo>
                      <a:pt x="244553" y="369504"/>
                    </a:lnTo>
                    <a:moveTo>
                      <a:pt x="202835" y="243873"/>
                    </a:moveTo>
                    <a:lnTo>
                      <a:pt x="0" y="369504"/>
                    </a:lnTo>
                  </a:path>
                </a:pathLst>
              </a:custGeom>
              <a:noFill/>
              <a:ln w="28575">
                <a:solidFill>
                  <a:srgbClr val="0B3A82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04" name="天線 64">
                <a:extLst>
                  <a:ext uri="{FF2B5EF4-FFF2-40B4-BE49-F238E27FC236}">
                    <a16:creationId xmlns:a16="http://schemas.microsoft.com/office/drawing/2014/main" id="{B24992B5-135F-E100-B5FB-F722889CD62F}"/>
                  </a:ext>
                </a:extLst>
              </p:cNvPr>
              <p:cNvSpPr/>
              <p:nvPr/>
            </p:nvSpPr>
            <p:spPr>
              <a:xfrm>
                <a:off x="532263" y="2460899"/>
                <a:ext cx="71927" cy="73901"/>
              </a:xfrm>
              <a:prstGeom prst="ellipse">
                <a:avLst/>
              </a:prstGeom>
              <a:solidFill>
                <a:srgbClr val="0B3A82"/>
              </a:solidFill>
              <a:ln/>
            </p:spPr>
          </p:sp>
        </p:grpSp>
        <p:sp>
          <p:nvSpPr>
            <p:cNvPr id="105" name="BS 65">
              <a:extLst>
                <a:ext uri="{FF2B5EF4-FFF2-40B4-BE49-F238E27FC236}">
                  <a16:creationId xmlns:a16="http://schemas.microsoft.com/office/drawing/2014/main" id="{A973B0FF-2848-72A8-32EA-EB0024745A77}"/>
                </a:ext>
              </a:extLst>
            </p:cNvPr>
            <p:cNvSpPr txBox="1"/>
            <p:nvPr/>
          </p:nvSpPr>
          <p:spPr>
            <a:xfrm>
              <a:off x="-563249" y="2911831"/>
              <a:ext cx="345252" cy="1625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BS</a:t>
              </a:r>
              <a:endParaRPr lang="en-US" sz="1300" dirty="0"/>
            </a:p>
          </p:txBody>
        </p:sp>
        <p:grpSp>
          <p:nvGrpSpPr>
            <p:cNvPr id="106" name="UE 手機">
              <a:extLst>
                <a:ext uri="{FF2B5EF4-FFF2-40B4-BE49-F238E27FC236}">
                  <a16:creationId xmlns:a16="http://schemas.microsoft.com/office/drawing/2014/main" id="{DA80BAF0-0617-E800-8D35-75A8C759F657}"/>
                </a:ext>
              </a:extLst>
            </p:cNvPr>
            <p:cNvGrpSpPr/>
            <p:nvPr/>
          </p:nvGrpSpPr>
          <p:grpSpPr>
            <a:xfrm>
              <a:off x="2213149" y="2505376"/>
              <a:ext cx="201397" cy="362114"/>
              <a:chOff x="3171999" y="2520019"/>
              <a:chExt cx="201397" cy="362114"/>
            </a:xfrm>
          </p:grpSpPr>
          <p:sp>
            <p:nvSpPr>
              <p:cNvPr id="107" name="機身 66">
                <a:extLst>
                  <a:ext uri="{FF2B5EF4-FFF2-40B4-BE49-F238E27FC236}">
                    <a16:creationId xmlns:a16="http://schemas.microsoft.com/office/drawing/2014/main" id="{CF52ADC1-D8A1-5A7A-CB97-E012465FA584}"/>
                  </a:ext>
                </a:extLst>
              </p:cNvPr>
              <p:cNvSpPr/>
              <p:nvPr/>
            </p:nvSpPr>
            <p:spPr>
              <a:xfrm>
                <a:off x="3171999" y="2520019"/>
                <a:ext cx="201397" cy="362114"/>
              </a:xfrm>
              <a:prstGeom prst="roundRect">
                <a:avLst>
                  <a:gd name="adj" fmla="val 22701"/>
                </a:avLst>
              </a:prstGeom>
              <a:solidFill>
                <a:srgbClr val="FFFFFF"/>
              </a:solidFill>
              <a:ln w="31750">
                <a:solidFill>
                  <a:srgbClr val="0B3A82"/>
                </a:solidFill>
                <a:prstDash val="solid"/>
              </a:ln>
            </p:spPr>
          </p:sp>
          <p:sp>
            <p:nvSpPr>
              <p:cNvPr id="108" name="聽筒 67">
                <a:extLst>
                  <a:ext uri="{FF2B5EF4-FFF2-40B4-BE49-F238E27FC236}">
                    <a16:creationId xmlns:a16="http://schemas.microsoft.com/office/drawing/2014/main" id="{B229F0AC-1DFD-F521-072E-3C9C47DE1119}"/>
                  </a:ext>
                </a:extLst>
              </p:cNvPr>
              <p:cNvSpPr/>
              <p:nvPr/>
            </p:nvSpPr>
            <p:spPr>
              <a:xfrm>
                <a:off x="3236733" y="2542190"/>
                <a:ext cx="71927" cy="22170"/>
              </a:xfrm>
              <a:prstGeom prst="rect">
                <a:avLst/>
              </a:prstGeom>
              <a:solidFill>
                <a:srgbClr val="0B3A82"/>
              </a:solidFill>
              <a:ln/>
            </p:spPr>
          </p:sp>
          <p:sp>
            <p:nvSpPr>
              <p:cNvPr id="109" name="Home 68">
                <a:extLst>
                  <a:ext uri="{FF2B5EF4-FFF2-40B4-BE49-F238E27FC236}">
                    <a16:creationId xmlns:a16="http://schemas.microsoft.com/office/drawing/2014/main" id="{D7A67E07-60A4-B5AE-9127-6F1A278A3847}"/>
                  </a:ext>
                </a:extLst>
              </p:cNvPr>
              <p:cNvSpPr/>
              <p:nvPr/>
            </p:nvSpPr>
            <p:spPr>
              <a:xfrm>
                <a:off x="3243926" y="2830403"/>
                <a:ext cx="57542" cy="18475"/>
              </a:xfrm>
              <a:prstGeom prst="rect">
                <a:avLst/>
              </a:prstGeom>
              <a:solidFill>
                <a:srgbClr val="0B3A82"/>
              </a:solidFill>
              <a:ln/>
            </p:spPr>
          </p:sp>
        </p:grpSp>
        <p:sp>
          <p:nvSpPr>
            <p:cNvPr id="110" name="UE 69">
              <a:extLst>
                <a:ext uri="{FF2B5EF4-FFF2-40B4-BE49-F238E27FC236}">
                  <a16:creationId xmlns:a16="http://schemas.microsoft.com/office/drawing/2014/main" id="{B53EB99D-3BF5-04BE-E317-C0F8391E9F33}"/>
                </a:ext>
              </a:extLst>
            </p:cNvPr>
            <p:cNvSpPr txBox="1"/>
            <p:nvPr/>
          </p:nvSpPr>
          <p:spPr>
            <a:xfrm>
              <a:off x="2141221" y="2897051"/>
              <a:ext cx="345252" cy="1625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UE</a:t>
              </a:r>
              <a:endParaRPr lang="en-US" sz="1300" dirty="0"/>
            </a:p>
          </p:txBody>
        </p:sp>
        <p:sp>
          <p:nvSpPr>
            <p:cNvPr id="111" name="穿透路徑 70">
              <a:extLst>
                <a:ext uri="{FF2B5EF4-FFF2-40B4-BE49-F238E27FC236}">
                  <a16:creationId xmlns:a16="http://schemas.microsoft.com/office/drawing/2014/main" id="{AF52CF43-3484-3A58-BC2A-DB3659875044}"/>
                </a:ext>
              </a:extLst>
            </p:cNvPr>
            <p:cNvSpPr/>
            <p:nvPr/>
          </p:nvSpPr>
          <p:spPr>
            <a:xfrm>
              <a:off x="-146070" y="2594057"/>
              <a:ext cx="2244135" cy="73901"/>
            </a:xfrm>
            <a:prstGeom prst="line">
              <a:avLst/>
            </a:prstGeom>
            <a:noFill/>
            <a:ln w="28575">
              <a:solidFill>
                <a:srgbClr val="1D5BF9"/>
              </a:solidFill>
              <a:prstDash val="dash"/>
              <a:headEnd type="triangle"/>
              <a:tailEnd type="triangle"/>
            </a:ln>
          </p:spPr>
        </p:sp>
        <p:sp>
          <p:nvSpPr>
            <p:cNvPr id="112" name="反射路徑-入射 71">
              <a:extLst>
                <a:ext uri="{FF2B5EF4-FFF2-40B4-BE49-F238E27FC236}">
                  <a16:creationId xmlns:a16="http://schemas.microsoft.com/office/drawing/2014/main" id="{C768C9D6-DBFB-0BB8-37FC-020AAB91344A}"/>
                </a:ext>
              </a:extLst>
            </p:cNvPr>
            <p:cNvSpPr/>
            <p:nvPr/>
          </p:nvSpPr>
          <p:spPr>
            <a:xfrm flipV="1">
              <a:off x="-110107" y="1419034"/>
              <a:ext cx="1078911" cy="1056782"/>
            </a:xfrm>
            <a:prstGeom prst="line">
              <a:avLst/>
            </a:prstGeom>
            <a:noFill/>
            <a:ln w="28575">
              <a:solidFill>
                <a:srgbClr val="2F8F2F"/>
              </a:solidFill>
              <a:prstDash val="dash"/>
              <a:headEnd type="none"/>
              <a:tailEnd type="triangle"/>
            </a:ln>
          </p:spPr>
        </p:sp>
        <p:sp>
          <p:nvSpPr>
            <p:cNvPr id="113" name="反射路徑-反射 72">
              <a:extLst>
                <a:ext uri="{FF2B5EF4-FFF2-40B4-BE49-F238E27FC236}">
                  <a16:creationId xmlns:a16="http://schemas.microsoft.com/office/drawing/2014/main" id="{7DA98C64-E410-9034-EBBC-EACAA94E2488}"/>
                </a:ext>
              </a:extLst>
            </p:cNvPr>
            <p:cNvSpPr/>
            <p:nvPr/>
          </p:nvSpPr>
          <p:spPr>
            <a:xfrm>
              <a:off x="1033539" y="1433814"/>
              <a:ext cx="1050140" cy="1138073"/>
            </a:xfrm>
            <a:custGeom>
              <a:avLst/>
              <a:gdLst/>
              <a:ahLst/>
              <a:cxnLst/>
              <a:rect l="l" t="t" r="r" b="b"/>
              <a:pathLst>
                <a:path w="1050140" h="1138073">
                  <a:moveTo>
                    <a:pt x="0" y="0"/>
                  </a:moveTo>
                  <a:quadBezTo>
                    <a:pt x="309288" y="657718"/>
                    <a:pt x="1050140" y="1138073"/>
                  </a:quadBezTo>
                </a:path>
              </a:pathLst>
            </a:custGeom>
            <a:noFill/>
            <a:ln w="28575">
              <a:solidFill>
                <a:srgbClr val="2F8F2F"/>
              </a:solidFill>
              <a:prstDash val="dash"/>
              <a:headEnd type="triangle"/>
              <a:tailEnd type="triangle"/>
            </a:ln>
          </p:spPr>
        </p:sp>
        <p:sp>
          <p:nvSpPr>
            <p:cNvPr id="114" name="繞射路徑-前段 73">
              <a:extLst>
                <a:ext uri="{FF2B5EF4-FFF2-40B4-BE49-F238E27FC236}">
                  <a16:creationId xmlns:a16="http://schemas.microsoft.com/office/drawing/2014/main" id="{94885820-A5BD-683E-745C-655350FF9EEA}"/>
                </a:ext>
              </a:extLst>
            </p:cNvPr>
            <p:cNvSpPr/>
            <p:nvPr/>
          </p:nvSpPr>
          <p:spPr>
            <a:xfrm>
              <a:off x="-153263" y="2756639"/>
              <a:ext cx="963827" cy="406455"/>
            </a:xfrm>
            <a:custGeom>
              <a:avLst/>
              <a:gdLst/>
              <a:ahLst/>
              <a:cxnLst/>
              <a:rect l="l" t="t" r="r" b="b"/>
              <a:pathLst>
                <a:path w="963827" h="406455">
                  <a:moveTo>
                    <a:pt x="0" y="0"/>
                  </a:moveTo>
                  <a:quadBezTo>
                    <a:pt x="251746" y="406455"/>
                    <a:pt x="963827" y="406455"/>
                  </a:quadBezTo>
                </a:path>
              </a:pathLst>
            </a:custGeom>
            <a:noFill/>
            <a:ln w="28575">
              <a:solidFill>
                <a:srgbClr val="F2590F"/>
              </a:solidFill>
              <a:prstDash val="dash"/>
              <a:headEnd type="none"/>
              <a:tailEnd type="triangle"/>
            </a:ln>
          </p:spPr>
        </p:sp>
        <p:sp>
          <p:nvSpPr>
            <p:cNvPr id="115" name="繞射路徑-後段 74">
              <a:extLst>
                <a:ext uri="{FF2B5EF4-FFF2-40B4-BE49-F238E27FC236}">
                  <a16:creationId xmlns:a16="http://schemas.microsoft.com/office/drawing/2014/main" id="{D6EDD09A-341B-7C09-2B62-B503A10D3324}"/>
                </a:ext>
              </a:extLst>
            </p:cNvPr>
            <p:cNvSpPr/>
            <p:nvPr/>
          </p:nvSpPr>
          <p:spPr>
            <a:xfrm>
              <a:off x="1134237" y="2771420"/>
              <a:ext cx="963827" cy="391675"/>
            </a:xfrm>
            <a:custGeom>
              <a:avLst/>
              <a:gdLst/>
              <a:ahLst/>
              <a:cxnLst/>
              <a:rect l="l" t="t" r="r" b="b"/>
              <a:pathLst>
                <a:path w="963827" h="391675">
                  <a:moveTo>
                    <a:pt x="0" y="391675"/>
                  </a:moveTo>
                  <a:quadBezTo>
                    <a:pt x="532263" y="354724"/>
                    <a:pt x="963827" y="0"/>
                  </a:quadBezTo>
                </a:path>
              </a:pathLst>
            </a:custGeom>
            <a:noFill/>
            <a:ln w="28575">
              <a:solidFill>
                <a:srgbClr val="F2590F"/>
              </a:solidFill>
              <a:prstDash val="dash"/>
              <a:headEnd type="none"/>
              <a:tailEnd type="triangle"/>
            </a:ln>
          </p:spPr>
        </p:sp>
        <p:sp>
          <p:nvSpPr>
            <p:cNvPr id="116" name="指示線 75">
              <a:extLst>
                <a:ext uri="{FF2B5EF4-FFF2-40B4-BE49-F238E27FC236}">
                  <a16:creationId xmlns:a16="http://schemas.microsoft.com/office/drawing/2014/main" id="{41974905-9330-28FD-541C-1B31D6DCA4D9}"/>
                </a:ext>
              </a:extLst>
            </p:cNvPr>
            <p:cNvSpPr/>
            <p:nvPr/>
          </p:nvSpPr>
          <p:spPr>
            <a:xfrm>
              <a:off x="278301" y="1795928"/>
              <a:ext cx="64735" cy="192142"/>
            </a:xfrm>
            <a:prstGeom prst="line">
              <a:avLst/>
            </a:prstGeom>
            <a:noFill/>
            <a:ln w="15875">
              <a:solidFill>
                <a:srgbClr val="0B3A82"/>
              </a:solidFill>
              <a:prstDash val="solid"/>
              <a:headEnd type="none"/>
              <a:tailEnd type="triangle"/>
            </a:ln>
          </p:spPr>
        </p:sp>
        <p:sp>
          <p:nvSpPr>
            <p:cNvPr id="117" name="指示線 76">
              <a:extLst>
                <a:ext uri="{FF2B5EF4-FFF2-40B4-BE49-F238E27FC236}">
                  <a16:creationId xmlns:a16="http://schemas.microsoft.com/office/drawing/2014/main" id="{2AD74D9C-2BB2-19EB-42F6-ED40C74CDA1B}"/>
                </a:ext>
              </a:extLst>
            </p:cNvPr>
            <p:cNvSpPr/>
            <p:nvPr/>
          </p:nvSpPr>
          <p:spPr>
            <a:xfrm flipH="1">
              <a:off x="1515453" y="1995460"/>
              <a:ext cx="129469" cy="81291"/>
            </a:xfrm>
            <a:prstGeom prst="line">
              <a:avLst/>
            </a:prstGeom>
            <a:noFill/>
            <a:ln w="15875">
              <a:solidFill>
                <a:srgbClr val="0B3A82"/>
              </a:solidFill>
              <a:prstDash val="solid"/>
              <a:headEnd type="none"/>
              <a:tailEnd type="triangle"/>
            </a:ln>
          </p:spPr>
        </p:sp>
        <p:sp>
          <p:nvSpPr>
            <p:cNvPr id="118" name="標籤-混凝土牆 77">
              <a:extLst>
                <a:ext uri="{FF2B5EF4-FFF2-40B4-BE49-F238E27FC236}">
                  <a16:creationId xmlns:a16="http://schemas.microsoft.com/office/drawing/2014/main" id="{D4291C97-B7BD-417A-442F-ADFB3540A62B}"/>
                </a:ext>
              </a:extLst>
            </p:cNvPr>
            <p:cNvSpPr txBox="1"/>
            <p:nvPr/>
          </p:nvSpPr>
          <p:spPr>
            <a:xfrm>
              <a:off x="-59757" y="1603786"/>
              <a:ext cx="618576" cy="1699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混凝土牆</a:t>
              </a:r>
              <a:endParaRPr lang="en-US" sz="1100" dirty="0"/>
            </a:p>
          </p:txBody>
        </p:sp>
        <p:sp>
          <p:nvSpPr>
            <p:cNvPr id="119" name="標籤-玻璃隔間 78">
              <a:extLst>
                <a:ext uri="{FF2B5EF4-FFF2-40B4-BE49-F238E27FC236}">
                  <a16:creationId xmlns:a16="http://schemas.microsoft.com/office/drawing/2014/main" id="{87E12AF4-07DE-AF24-CEC9-EA06470E0B1A}"/>
                </a:ext>
              </a:extLst>
            </p:cNvPr>
            <p:cNvSpPr txBox="1"/>
            <p:nvPr/>
          </p:nvSpPr>
          <p:spPr>
            <a:xfrm>
              <a:off x="1486682" y="1810708"/>
              <a:ext cx="618576" cy="1699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玻璃隔間</a:t>
              </a:r>
              <a:endParaRPr lang="en-US" sz="1100" dirty="0"/>
            </a:p>
          </p:txBody>
        </p:sp>
        <p:sp>
          <p:nvSpPr>
            <p:cNvPr id="120" name="標籤-金屬櫃 79">
              <a:extLst>
                <a:ext uri="{FF2B5EF4-FFF2-40B4-BE49-F238E27FC236}">
                  <a16:creationId xmlns:a16="http://schemas.microsoft.com/office/drawing/2014/main" id="{945EAE8B-E01A-C72C-1C21-1CD7100BA0BD}"/>
                </a:ext>
              </a:extLst>
            </p:cNvPr>
            <p:cNvSpPr txBox="1"/>
            <p:nvPr/>
          </p:nvSpPr>
          <p:spPr>
            <a:xfrm>
              <a:off x="1184587" y="3200045"/>
              <a:ext cx="460335" cy="1699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金屬櫃</a:t>
              </a:r>
              <a:endParaRPr lang="en-US" sz="1100" dirty="0"/>
            </a:p>
          </p:txBody>
        </p:sp>
        <p:sp>
          <p:nvSpPr>
            <p:cNvPr id="121" name="標籤-反射 80">
              <a:extLst>
                <a:ext uri="{FF2B5EF4-FFF2-40B4-BE49-F238E27FC236}">
                  <a16:creationId xmlns:a16="http://schemas.microsoft.com/office/drawing/2014/main" id="{19693A55-C48A-BF7B-EE0D-9FA4D2F3C481}"/>
                </a:ext>
              </a:extLst>
            </p:cNvPr>
            <p:cNvSpPr txBox="1"/>
            <p:nvPr/>
          </p:nvSpPr>
          <p:spPr>
            <a:xfrm>
              <a:off x="1155816" y="1463374"/>
              <a:ext cx="374023" cy="1847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F8F2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反射</a:t>
              </a:r>
              <a:endParaRPr lang="en-US" sz="1300" dirty="0"/>
            </a:p>
          </p:txBody>
        </p:sp>
        <p:sp>
          <p:nvSpPr>
            <p:cNvPr id="122" name="標籤-穿透 81">
              <a:extLst>
                <a:ext uri="{FF2B5EF4-FFF2-40B4-BE49-F238E27FC236}">
                  <a16:creationId xmlns:a16="http://schemas.microsoft.com/office/drawing/2014/main" id="{4F9DD843-8FD9-0891-A685-19F635F61C91}"/>
                </a:ext>
              </a:extLst>
            </p:cNvPr>
            <p:cNvSpPr txBox="1"/>
            <p:nvPr/>
          </p:nvSpPr>
          <p:spPr>
            <a:xfrm>
              <a:off x="796179" y="2409305"/>
              <a:ext cx="374023" cy="1847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D5BF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穿透</a:t>
              </a:r>
              <a:endParaRPr lang="en-US" sz="1300" dirty="0"/>
            </a:p>
          </p:txBody>
        </p:sp>
        <p:sp>
          <p:nvSpPr>
            <p:cNvPr id="123" name="標籤-繞射 82">
              <a:extLst>
                <a:ext uri="{FF2B5EF4-FFF2-40B4-BE49-F238E27FC236}">
                  <a16:creationId xmlns:a16="http://schemas.microsoft.com/office/drawing/2014/main" id="{D81838C6-B96F-0672-16D2-B4B7178A9979}"/>
                </a:ext>
              </a:extLst>
            </p:cNvPr>
            <p:cNvSpPr txBox="1"/>
            <p:nvPr/>
          </p:nvSpPr>
          <p:spPr>
            <a:xfrm>
              <a:off x="163218" y="3200045"/>
              <a:ext cx="374023" cy="1847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2590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繞射</a:t>
              </a:r>
              <a:endParaRPr lang="en-US" sz="1300" dirty="0"/>
            </a:p>
          </p:txBody>
        </p:sp>
        <p:sp>
          <p:nvSpPr>
            <p:cNvPr id="124" name="公式底 83">
              <a:extLst>
                <a:ext uri="{FF2B5EF4-FFF2-40B4-BE49-F238E27FC236}">
                  <a16:creationId xmlns:a16="http://schemas.microsoft.com/office/drawing/2014/main" id="{E7145EDE-D980-E929-F22F-8F9AD3826E94}"/>
                </a:ext>
              </a:extLst>
            </p:cNvPr>
            <p:cNvSpPr/>
            <p:nvPr/>
          </p:nvSpPr>
          <p:spPr>
            <a:xfrm>
              <a:off x="2867688" y="1483218"/>
              <a:ext cx="2920253" cy="1603649"/>
            </a:xfrm>
            <a:prstGeom prst="roundRect">
              <a:avLst>
                <a:gd name="adj" fmla="val 4562"/>
              </a:avLst>
            </a:prstGeom>
            <a:solidFill>
              <a:srgbClr val="E8F6FE"/>
            </a:solidFill>
            <a:ln/>
          </p:spPr>
        </p:sp>
        <p:sp>
          <p:nvSpPr>
            <p:cNvPr id="125" name="式-左 84">
              <a:extLst>
                <a:ext uri="{FF2B5EF4-FFF2-40B4-BE49-F238E27FC236}">
                  <a16:creationId xmlns:a16="http://schemas.microsoft.com/office/drawing/2014/main" id="{FE531648-4941-C5D5-96B0-40241CF54EC0}"/>
                </a:ext>
              </a:extLst>
            </p:cNvPr>
            <p:cNvSpPr txBox="1"/>
            <p:nvPr/>
          </p:nvSpPr>
          <p:spPr>
            <a:xfrm>
              <a:off x="2961194" y="1512779"/>
              <a:ext cx="683310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20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path</a:t>
              </a:r>
              <a:endParaRPr lang="en-US" sz="2000" dirty="0"/>
            </a:p>
          </p:txBody>
        </p:sp>
        <p:sp>
          <p:nvSpPr>
            <p:cNvPr id="126" name="式-等號 85">
              <a:extLst>
                <a:ext uri="{FF2B5EF4-FFF2-40B4-BE49-F238E27FC236}">
                  <a16:creationId xmlns:a16="http://schemas.microsoft.com/office/drawing/2014/main" id="{F4343AAA-82C5-8180-3D18-19FB43FC4808}"/>
                </a:ext>
              </a:extLst>
            </p:cNvPr>
            <p:cNvSpPr txBox="1"/>
            <p:nvPr/>
          </p:nvSpPr>
          <p:spPr>
            <a:xfrm>
              <a:off x="3702046" y="1512779"/>
              <a:ext cx="230168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=</a:t>
              </a:r>
              <a:endParaRPr lang="en-US" sz="2000" dirty="0"/>
            </a:p>
          </p:txBody>
        </p:sp>
        <p:sp>
          <p:nvSpPr>
            <p:cNvPr id="127" name="式-基礎項 86">
              <a:extLst>
                <a:ext uri="{FF2B5EF4-FFF2-40B4-BE49-F238E27FC236}">
                  <a16:creationId xmlns:a16="http://schemas.microsoft.com/office/drawing/2014/main" id="{3D4FA5A1-C6C1-68EB-2C09-87DB154C4A57}"/>
                </a:ext>
              </a:extLst>
            </p:cNvPr>
            <p:cNvSpPr txBox="1"/>
            <p:nvPr/>
          </p:nvSpPr>
          <p:spPr>
            <a:xfrm>
              <a:off x="4004141" y="1512779"/>
              <a:ext cx="176222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20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base</a:t>
              </a: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20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path</a:t>
              </a: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</a:t>
              </a:r>
              <a:endParaRPr lang="en-US" sz="2000" dirty="0"/>
            </a:p>
          </p:txBody>
        </p:sp>
        <p:sp>
          <p:nvSpPr>
            <p:cNvPr id="128" name="式-加號 87">
              <a:extLst>
                <a:ext uri="{FF2B5EF4-FFF2-40B4-BE49-F238E27FC236}">
                  <a16:creationId xmlns:a16="http://schemas.microsoft.com/office/drawing/2014/main" id="{FB69E58D-9710-6405-2B43-2996DBADB3E2}"/>
                </a:ext>
              </a:extLst>
            </p:cNvPr>
            <p:cNvSpPr txBox="1"/>
            <p:nvPr/>
          </p:nvSpPr>
          <p:spPr>
            <a:xfrm>
              <a:off x="3903443" y="1867503"/>
              <a:ext cx="18701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+</a:t>
              </a:r>
              <a:endParaRPr lang="en-US" sz="2000" dirty="0"/>
            </a:p>
          </p:txBody>
        </p:sp>
        <p:sp>
          <p:nvSpPr>
            <p:cNvPr id="129" name="式-Σ 88">
              <a:extLst>
                <a:ext uri="{FF2B5EF4-FFF2-40B4-BE49-F238E27FC236}">
                  <a16:creationId xmlns:a16="http://schemas.microsoft.com/office/drawing/2014/main" id="{3A7C5334-8C4E-06D1-12E2-DB9D0BCCEC4B}"/>
                </a:ext>
              </a:extLst>
            </p:cNvPr>
            <p:cNvSpPr txBox="1"/>
            <p:nvPr/>
          </p:nvSpPr>
          <p:spPr>
            <a:xfrm>
              <a:off x="4133610" y="1808382"/>
              <a:ext cx="302095" cy="339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∑</a:t>
              </a:r>
              <a:endParaRPr lang="en-US" sz="2600" dirty="0"/>
            </a:p>
          </p:txBody>
        </p:sp>
        <p:sp>
          <p:nvSpPr>
            <p:cNvPr id="130" name="式-下標 89">
              <a:extLst>
                <a:ext uri="{FF2B5EF4-FFF2-40B4-BE49-F238E27FC236}">
                  <a16:creationId xmlns:a16="http://schemas.microsoft.com/office/drawing/2014/main" id="{24FD5AC2-7427-FB97-FF19-BB9FBAAE8293}"/>
                </a:ext>
              </a:extLst>
            </p:cNvPr>
            <p:cNvSpPr txBox="1"/>
            <p:nvPr/>
          </p:nvSpPr>
          <p:spPr>
            <a:xfrm>
              <a:off x="4176767" y="2177887"/>
              <a:ext cx="215782" cy="886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</a:t>
              </a:r>
              <a:endParaRPr lang="en-US" sz="800" dirty="0"/>
            </a:p>
          </p:txBody>
        </p:sp>
        <p:sp>
          <p:nvSpPr>
            <p:cNvPr id="131" name="式-損耗項 90">
              <a:extLst>
                <a:ext uri="{FF2B5EF4-FFF2-40B4-BE49-F238E27FC236}">
                  <a16:creationId xmlns:a16="http://schemas.microsoft.com/office/drawing/2014/main" id="{2E8DC1F0-3DBD-541C-8D25-DBB7DFCBDE47}"/>
                </a:ext>
              </a:extLst>
            </p:cNvPr>
            <p:cNvSpPr txBox="1"/>
            <p:nvPr/>
          </p:nvSpPr>
          <p:spPr>
            <a:xfrm>
              <a:off x="4478862" y="1867503"/>
              <a:ext cx="128750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</a:t>
              </a:r>
              <a:r>
                <a:rPr lang="en-US" sz="20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penetration, </a:t>
              </a:r>
              <a:r>
                <a:rPr lang="en-US" sz="20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</a:t>
              </a:r>
              <a:endParaRPr lang="en-US" sz="2000" dirty="0"/>
            </a:p>
          </p:txBody>
        </p:sp>
        <p:sp>
          <p:nvSpPr>
            <p:cNvPr id="132" name="式-加號 91">
              <a:extLst>
                <a:ext uri="{FF2B5EF4-FFF2-40B4-BE49-F238E27FC236}">
                  <a16:creationId xmlns:a16="http://schemas.microsoft.com/office/drawing/2014/main" id="{A8724318-5811-5E91-0EB2-5758C47F3D6B}"/>
                </a:ext>
              </a:extLst>
            </p:cNvPr>
            <p:cNvSpPr txBox="1"/>
            <p:nvPr/>
          </p:nvSpPr>
          <p:spPr>
            <a:xfrm>
              <a:off x="3903443" y="2266568"/>
              <a:ext cx="18701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+</a:t>
              </a:r>
              <a:endParaRPr lang="en-US" sz="2000" dirty="0"/>
            </a:p>
          </p:txBody>
        </p:sp>
        <p:sp>
          <p:nvSpPr>
            <p:cNvPr id="133" name="式-Σ 92">
              <a:extLst>
                <a:ext uri="{FF2B5EF4-FFF2-40B4-BE49-F238E27FC236}">
                  <a16:creationId xmlns:a16="http://schemas.microsoft.com/office/drawing/2014/main" id="{016FF42F-5D56-3003-DE99-6E2EF6B7B770}"/>
                </a:ext>
              </a:extLst>
            </p:cNvPr>
            <p:cNvSpPr txBox="1"/>
            <p:nvPr/>
          </p:nvSpPr>
          <p:spPr>
            <a:xfrm>
              <a:off x="4133610" y="2207447"/>
              <a:ext cx="302095" cy="339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∑</a:t>
              </a:r>
              <a:endParaRPr lang="en-US" sz="2600" dirty="0"/>
            </a:p>
          </p:txBody>
        </p:sp>
        <p:sp>
          <p:nvSpPr>
            <p:cNvPr id="134" name="式-下標 93">
              <a:extLst>
                <a:ext uri="{FF2B5EF4-FFF2-40B4-BE49-F238E27FC236}">
                  <a16:creationId xmlns:a16="http://schemas.microsoft.com/office/drawing/2014/main" id="{D0C9F55B-CE15-F200-BC3C-AAF6BF0DA278}"/>
                </a:ext>
              </a:extLst>
            </p:cNvPr>
            <p:cNvSpPr txBox="1"/>
            <p:nvPr/>
          </p:nvSpPr>
          <p:spPr>
            <a:xfrm>
              <a:off x="4176767" y="2576951"/>
              <a:ext cx="215782" cy="886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j</a:t>
              </a:r>
              <a:endParaRPr lang="en-US" sz="800" dirty="0"/>
            </a:p>
          </p:txBody>
        </p:sp>
        <p:sp>
          <p:nvSpPr>
            <p:cNvPr id="135" name="式-損耗項 94">
              <a:extLst>
                <a:ext uri="{FF2B5EF4-FFF2-40B4-BE49-F238E27FC236}">
                  <a16:creationId xmlns:a16="http://schemas.microsoft.com/office/drawing/2014/main" id="{5FC165B1-7700-1B0D-F808-54013E97DD6D}"/>
                </a:ext>
              </a:extLst>
            </p:cNvPr>
            <p:cNvSpPr txBox="1"/>
            <p:nvPr/>
          </p:nvSpPr>
          <p:spPr>
            <a:xfrm>
              <a:off x="4478862" y="2266568"/>
              <a:ext cx="128750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</a:t>
              </a:r>
              <a:r>
                <a:rPr lang="en-US" sz="20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reflection, </a:t>
              </a:r>
              <a:r>
                <a:rPr lang="en-US" sz="20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j</a:t>
              </a:r>
              <a:endParaRPr lang="en-US" sz="2000" dirty="0"/>
            </a:p>
          </p:txBody>
        </p:sp>
        <p:sp>
          <p:nvSpPr>
            <p:cNvPr id="136" name="式-加號 95">
              <a:extLst>
                <a:ext uri="{FF2B5EF4-FFF2-40B4-BE49-F238E27FC236}">
                  <a16:creationId xmlns:a16="http://schemas.microsoft.com/office/drawing/2014/main" id="{675990F1-B90A-D81B-E478-73CA537EA8CB}"/>
                </a:ext>
              </a:extLst>
            </p:cNvPr>
            <p:cNvSpPr txBox="1"/>
            <p:nvPr/>
          </p:nvSpPr>
          <p:spPr>
            <a:xfrm>
              <a:off x="3903443" y="2665632"/>
              <a:ext cx="18701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+</a:t>
              </a:r>
              <a:endParaRPr lang="en-US" sz="2000" dirty="0"/>
            </a:p>
          </p:txBody>
        </p:sp>
        <p:sp>
          <p:nvSpPr>
            <p:cNvPr id="137" name="式-Σ 96">
              <a:extLst>
                <a:ext uri="{FF2B5EF4-FFF2-40B4-BE49-F238E27FC236}">
                  <a16:creationId xmlns:a16="http://schemas.microsoft.com/office/drawing/2014/main" id="{832595B2-F965-D5F6-930B-35F2623DE348}"/>
                </a:ext>
              </a:extLst>
            </p:cNvPr>
            <p:cNvSpPr txBox="1"/>
            <p:nvPr/>
          </p:nvSpPr>
          <p:spPr>
            <a:xfrm>
              <a:off x="4133610" y="2606512"/>
              <a:ext cx="302095" cy="339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∑</a:t>
              </a:r>
              <a:endParaRPr lang="en-US" sz="2600" dirty="0"/>
            </a:p>
          </p:txBody>
        </p:sp>
        <p:sp>
          <p:nvSpPr>
            <p:cNvPr id="138" name="式-下標 97">
              <a:extLst>
                <a:ext uri="{FF2B5EF4-FFF2-40B4-BE49-F238E27FC236}">
                  <a16:creationId xmlns:a16="http://schemas.microsoft.com/office/drawing/2014/main" id="{6F7D44B8-1A69-C598-D648-E48A91D94592}"/>
                </a:ext>
              </a:extLst>
            </p:cNvPr>
            <p:cNvSpPr txBox="1"/>
            <p:nvPr/>
          </p:nvSpPr>
          <p:spPr>
            <a:xfrm>
              <a:off x="4176767" y="2976016"/>
              <a:ext cx="215782" cy="886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endParaRPr lang="en-US" sz="800" dirty="0"/>
            </a:p>
          </p:txBody>
        </p:sp>
        <p:sp>
          <p:nvSpPr>
            <p:cNvPr id="139" name="式-損耗項 98">
              <a:extLst>
                <a:ext uri="{FF2B5EF4-FFF2-40B4-BE49-F238E27FC236}">
                  <a16:creationId xmlns:a16="http://schemas.microsoft.com/office/drawing/2014/main" id="{79B41CC7-91BA-BE2E-AA36-A0F46AF9BD0C}"/>
                </a:ext>
              </a:extLst>
            </p:cNvPr>
            <p:cNvSpPr txBox="1"/>
            <p:nvPr/>
          </p:nvSpPr>
          <p:spPr>
            <a:xfrm>
              <a:off x="4478862" y="2665632"/>
              <a:ext cx="1287501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0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</a:t>
              </a:r>
              <a:r>
                <a:rPr lang="en-US" sz="20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diffraction, </a:t>
              </a:r>
              <a:r>
                <a:rPr lang="en-US" sz="20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endParaRPr lang="en-US" sz="2000" dirty="0"/>
            </a:p>
          </p:txBody>
        </p:sp>
        <p:sp>
          <p:nvSpPr>
            <p:cNvPr id="140" name="組成說明 99">
              <a:extLst>
                <a:ext uri="{FF2B5EF4-FFF2-40B4-BE49-F238E27FC236}">
                  <a16:creationId xmlns:a16="http://schemas.microsoft.com/office/drawing/2014/main" id="{DB1416AB-01E8-534C-A568-EBEA56DF99AE}"/>
                </a:ext>
              </a:extLst>
            </p:cNvPr>
            <p:cNvSpPr txBox="1"/>
            <p:nvPr/>
          </p:nvSpPr>
          <p:spPr>
            <a:xfrm>
              <a:off x="2853934" y="3288671"/>
              <a:ext cx="2920253" cy="295603"/>
            </a:xfrm>
            <a:prstGeom prst="roundRect">
              <a:avLst>
                <a:gd name="adj" fmla="val 24747"/>
              </a:avLst>
            </a:prstGeom>
            <a:solidFill>
              <a:srgbClr val="D6EFFD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zh-TW" altLang="en-US" sz="1400" b="1" dirty="0"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基礎傳播 </a:t>
              </a:r>
              <a:r>
                <a:rPr lang="zh-TW" altLang="en-US" sz="14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+</a:t>
              </a:r>
              <a:r>
                <a:rPr lang="zh-TW" altLang="en-US" sz="1400" b="1" dirty="0">
                  <a:solidFill>
                    <a:srgbClr val="1D5BF9"/>
                  </a:solidFill>
                  <a:latin typeface="Microsoft JhengHei" pitchFamily="34" charset="0"/>
                  <a:ea typeface="Microsoft JhengHei" pitchFamily="34" charset="-122"/>
                </a:rPr>
                <a:t> </a:t>
              </a:r>
              <a:r>
                <a:rPr lang="zh-TW" altLang="en-US" sz="1400" b="1" dirty="0">
                  <a:solidFill>
                    <a:srgbClr val="2F8F2F"/>
                  </a:solidFill>
                  <a:latin typeface="Microsoft JhengHei" pitchFamily="34" charset="0"/>
                  <a:ea typeface="Microsoft JhengHei" pitchFamily="34" charset="-122"/>
                </a:rPr>
                <a:t>反射</a:t>
              </a:r>
              <a:r>
                <a:rPr lang="zh-TW" altLang="en-US" sz="1400" b="1" dirty="0">
                  <a:solidFill>
                    <a:srgbClr val="1D5BF9"/>
                  </a:solidFill>
                  <a:latin typeface="Microsoft JhengHei" pitchFamily="34" charset="0"/>
                  <a:ea typeface="Microsoft JhengHei" pitchFamily="34" charset="-122"/>
                </a:rPr>
                <a:t> </a:t>
              </a:r>
              <a:r>
                <a:rPr lang="zh-TW" altLang="en-US" sz="14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+ </a:t>
              </a:r>
              <a:r>
                <a:rPr lang="zh-TW" altLang="en-US" sz="1400" b="1" dirty="0">
                  <a:solidFill>
                    <a:srgbClr val="F2590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繞射</a:t>
              </a:r>
              <a:r>
                <a:rPr lang="zh-TW" altLang="en-US" sz="14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+ </a:t>
              </a:r>
              <a:r>
                <a:rPr lang="zh-TW" altLang="en-US" sz="1400" b="1" dirty="0">
                  <a:solidFill>
                    <a:srgbClr val="1D5BF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穿透</a:t>
              </a:r>
              <a:endParaRPr lang="en-US" sz="1400" dirty="0"/>
            </a:p>
          </p:txBody>
        </p:sp>
        <p:sp>
          <p:nvSpPr>
            <p:cNvPr id="144" name="區塊2 底 103">
              <a:extLst>
                <a:ext uri="{FF2B5EF4-FFF2-40B4-BE49-F238E27FC236}">
                  <a16:creationId xmlns:a16="http://schemas.microsoft.com/office/drawing/2014/main" id="{90720050-A7D7-E284-6956-66A7506227C7}"/>
                </a:ext>
              </a:extLst>
            </p:cNvPr>
            <p:cNvSpPr/>
            <p:nvPr/>
          </p:nvSpPr>
          <p:spPr>
            <a:xfrm>
              <a:off x="6007319" y="731801"/>
              <a:ext cx="5085268" cy="3266418"/>
            </a:xfrm>
            <a:prstGeom prst="roundRect">
              <a:avLst>
                <a:gd name="adj" fmla="val 2519"/>
              </a:avLst>
            </a:prstGeom>
            <a:solidFill>
              <a:srgbClr val="F3FAFE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145" name="區塊2 標題 104">
              <a:extLst>
                <a:ext uri="{FF2B5EF4-FFF2-40B4-BE49-F238E27FC236}">
                  <a16:creationId xmlns:a16="http://schemas.microsoft.com/office/drawing/2014/main" id="{5535F56D-8C16-FC5C-9995-2288B9F08F8A}"/>
                </a:ext>
              </a:extLst>
            </p:cNvPr>
            <p:cNvSpPr txBox="1"/>
            <p:nvPr/>
          </p:nvSpPr>
          <p:spPr>
            <a:xfrm>
              <a:off x="6003723" y="687415"/>
              <a:ext cx="5085268" cy="458185"/>
            </a:xfrm>
            <a:prstGeom prst="roundRect">
              <a:avLst>
                <a:gd name="adj" fmla="val 17961"/>
              </a:avLst>
            </a:prstGeom>
            <a:solidFill>
              <a:srgbClr val="004A90"/>
            </a:solidFill>
            <a:ln/>
          </p:spPr>
          <p:txBody>
            <a:bodyPr wrap="square" lIns="676118" tIns="0" rIns="0" bIns="0" rtlCol="0" anchor="ctr"/>
            <a:lstStyle/>
            <a:p>
              <a:pPr marL="0" indent="0" algn="l">
                <a:buNone/>
              </a:pPr>
              <a:r>
                <a:rPr lang="zh-TW" altLang="en-US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建立校正模型</a:t>
              </a:r>
              <a:endParaRPr lang="zh-TW" sz="2300" dirty="0"/>
            </a:p>
          </p:txBody>
        </p:sp>
        <p:sp>
          <p:nvSpPr>
            <p:cNvPr id="146" name="區塊2 編號 105">
              <a:extLst>
                <a:ext uri="{FF2B5EF4-FFF2-40B4-BE49-F238E27FC236}">
                  <a16:creationId xmlns:a16="http://schemas.microsoft.com/office/drawing/2014/main" id="{1DF6538C-F943-B75A-2009-7469A0F9FA6E}"/>
                </a:ext>
              </a:extLst>
            </p:cNvPr>
            <p:cNvSpPr txBox="1"/>
            <p:nvPr/>
          </p:nvSpPr>
          <p:spPr>
            <a:xfrm>
              <a:off x="6121066" y="731756"/>
              <a:ext cx="369504" cy="369504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04A9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47" name="PL_real 106">
              <a:extLst>
                <a:ext uri="{FF2B5EF4-FFF2-40B4-BE49-F238E27FC236}">
                  <a16:creationId xmlns:a16="http://schemas.microsoft.com/office/drawing/2014/main" id="{6085A7DE-F7CB-0189-2E03-46BFA7E2D4D7}"/>
                </a:ext>
              </a:extLst>
            </p:cNvPr>
            <p:cNvSpPr txBox="1"/>
            <p:nvPr/>
          </p:nvSpPr>
          <p:spPr>
            <a:xfrm>
              <a:off x="6377745" y="1243974"/>
              <a:ext cx="1042947" cy="3103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i="1" dirty="0">
                  <a:solidFill>
                    <a:srgbClr val="0F4C97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2400" baseline="-25000" dirty="0">
                  <a:solidFill>
                    <a:srgbClr val="0F4C97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real</a:t>
              </a:r>
              <a:endParaRPr lang="en-US" sz="2400" dirty="0"/>
            </a:p>
          </p:txBody>
        </p:sp>
        <p:sp>
          <p:nvSpPr>
            <p:cNvPr id="148" name="等號 107">
              <a:extLst>
                <a:ext uri="{FF2B5EF4-FFF2-40B4-BE49-F238E27FC236}">
                  <a16:creationId xmlns:a16="http://schemas.microsoft.com/office/drawing/2014/main" id="{8A2B4B3A-7164-8190-101B-9C5D63867C1B}"/>
                </a:ext>
              </a:extLst>
            </p:cNvPr>
            <p:cNvSpPr txBox="1"/>
            <p:nvPr/>
          </p:nvSpPr>
          <p:spPr>
            <a:xfrm>
              <a:off x="7420693" y="1286841"/>
              <a:ext cx="287710" cy="3103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=</a:t>
              </a:r>
              <a:endParaRPr lang="en-US" sz="2400" dirty="0"/>
            </a:p>
          </p:txBody>
        </p:sp>
        <p:sp>
          <p:nvSpPr>
            <p:cNvPr id="149" name="PL_3GPP 108">
              <a:extLst>
                <a:ext uri="{FF2B5EF4-FFF2-40B4-BE49-F238E27FC236}">
                  <a16:creationId xmlns:a16="http://schemas.microsoft.com/office/drawing/2014/main" id="{1AEDBFB5-F151-2619-1EBF-1B59BA12FE9F}"/>
                </a:ext>
              </a:extLst>
            </p:cNvPr>
            <p:cNvSpPr txBox="1"/>
            <p:nvPr/>
          </p:nvSpPr>
          <p:spPr>
            <a:xfrm>
              <a:off x="7744366" y="1286841"/>
              <a:ext cx="1510476" cy="3103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i="1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2400" baseline="-25000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3GPP</a:t>
              </a:r>
              <a:r>
                <a:rPr lang="en-US" sz="2400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zh-TW" altLang="en-US" sz="2400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</a:t>
              </a:r>
              <a:r>
                <a:rPr lang="en-US" sz="2400" i="1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2400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2400" i="1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zh-TW" altLang="en-US" sz="2400" i="1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</a:t>
              </a:r>
              <a:r>
                <a:rPr lang="en-US" sz="2400" dirty="0">
                  <a:solidFill>
                    <a:srgbClr val="1546E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</a:t>
              </a:r>
              <a:endParaRPr lang="en-US" sz="2400" dirty="0"/>
            </a:p>
          </p:txBody>
        </p:sp>
        <p:sp>
          <p:nvSpPr>
            <p:cNvPr id="150" name="加號 109">
              <a:extLst>
                <a:ext uri="{FF2B5EF4-FFF2-40B4-BE49-F238E27FC236}">
                  <a16:creationId xmlns:a16="http://schemas.microsoft.com/office/drawing/2014/main" id="{1CA9AEEF-AB42-3BDB-4939-02ABFC1142FF}"/>
                </a:ext>
              </a:extLst>
            </p:cNvPr>
            <p:cNvSpPr txBox="1"/>
            <p:nvPr/>
          </p:nvSpPr>
          <p:spPr>
            <a:xfrm>
              <a:off x="9269227" y="1286841"/>
              <a:ext cx="287710" cy="3103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+</a:t>
              </a:r>
              <a:endParaRPr lang="en-US" sz="2400" dirty="0"/>
            </a:p>
          </p:txBody>
        </p:sp>
        <p:sp>
          <p:nvSpPr>
            <p:cNvPr id="151" name="L_residual 110">
              <a:extLst>
                <a:ext uri="{FF2B5EF4-FFF2-40B4-BE49-F238E27FC236}">
                  <a16:creationId xmlns:a16="http://schemas.microsoft.com/office/drawing/2014/main" id="{C6311B5F-750F-3CEF-F640-0BB916065E25}"/>
                </a:ext>
              </a:extLst>
            </p:cNvPr>
            <p:cNvSpPr txBox="1"/>
            <p:nvPr/>
          </p:nvSpPr>
          <p:spPr>
            <a:xfrm>
              <a:off x="9650442" y="1277315"/>
              <a:ext cx="1114875" cy="3103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i="1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</a:t>
              </a:r>
              <a:r>
                <a:rPr lang="en-US" sz="2400" baseline="-25000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residual</a:t>
              </a:r>
              <a:endParaRPr lang="en-US" sz="2400" dirty="0"/>
            </a:p>
          </p:txBody>
        </p:sp>
        <p:sp>
          <p:nvSpPr>
            <p:cNvPr id="152" name="下括號 111">
              <a:extLst>
                <a:ext uri="{FF2B5EF4-FFF2-40B4-BE49-F238E27FC236}">
                  <a16:creationId xmlns:a16="http://schemas.microsoft.com/office/drawing/2014/main" id="{4F52038B-F90D-CFEB-243C-0A1AE9B15099}"/>
                </a:ext>
              </a:extLst>
            </p:cNvPr>
            <p:cNvSpPr/>
            <p:nvPr/>
          </p:nvSpPr>
          <p:spPr>
            <a:xfrm rot="5400000">
              <a:off x="6843991" y="1201080"/>
              <a:ext cx="96071" cy="913478"/>
            </a:xfrm>
            <a:prstGeom prst="rightBrace">
              <a:avLst/>
            </a:prstGeom>
            <a:noFill/>
            <a:ln w="19050">
              <a:solidFill>
                <a:srgbClr val="0F4C97"/>
              </a:solidFill>
              <a:prstDash val="solid"/>
            </a:ln>
          </p:spPr>
        </p:sp>
        <p:sp>
          <p:nvSpPr>
            <p:cNvPr id="153" name="下括號 112">
              <a:extLst>
                <a:ext uri="{FF2B5EF4-FFF2-40B4-BE49-F238E27FC236}">
                  <a16:creationId xmlns:a16="http://schemas.microsoft.com/office/drawing/2014/main" id="{7644A4DE-E35D-5821-9187-DEABE0D49439}"/>
                </a:ext>
              </a:extLst>
            </p:cNvPr>
            <p:cNvSpPr/>
            <p:nvPr/>
          </p:nvSpPr>
          <p:spPr>
            <a:xfrm rot="5400000">
              <a:off x="8451568" y="1002990"/>
              <a:ext cx="96071" cy="1395392"/>
            </a:xfrm>
            <a:prstGeom prst="rightBrace">
              <a:avLst/>
            </a:prstGeom>
            <a:noFill/>
            <a:ln w="19050">
              <a:solidFill>
                <a:srgbClr val="1546E0"/>
              </a:solidFill>
              <a:prstDash val="solid"/>
            </a:ln>
          </p:spPr>
        </p:sp>
        <p:sp>
          <p:nvSpPr>
            <p:cNvPr id="154" name="下括號 113">
              <a:extLst>
                <a:ext uri="{FF2B5EF4-FFF2-40B4-BE49-F238E27FC236}">
                  <a16:creationId xmlns:a16="http://schemas.microsoft.com/office/drawing/2014/main" id="{AECCB431-1660-615A-78BF-24EE73D4EDB4}"/>
                </a:ext>
              </a:extLst>
            </p:cNvPr>
            <p:cNvSpPr/>
            <p:nvPr/>
          </p:nvSpPr>
          <p:spPr>
            <a:xfrm rot="5400000">
              <a:off x="10156248" y="1187668"/>
              <a:ext cx="96071" cy="1006984"/>
            </a:xfrm>
            <a:prstGeom prst="rightBrace">
              <a:avLst/>
            </a:prstGeom>
            <a:noFill/>
            <a:ln w="19050">
              <a:solidFill>
                <a:srgbClr val="F2590F"/>
              </a:solidFill>
              <a:prstDash val="solid"/>
            </a:ln>
          </p:spPr>
        </p:sp>
        <p:sp>
          <p:nvSpPr>
            <p:cNvPr id="155" name="說明-實網量測 114">
              <a:extLst>
                <a:ext uri="{FF2B5EF4-FFF2-40B4-BE49-F238E27FC236}">
                  <a16:creationId xmlns:a16="http://schemas.microsoft.com/office/drawing/2014/main" id="{AADF1384-648E-AA9F-BB76-0A53B62470C7}"/>
                </a:ext>
              </a:extLst>
            </p:cNvPr>
            <p:cNvSpPr txBox="1"/>
            <p:nvPr/>
          </p:nvSpPr>
          <p:spPr>
            <a:xfrm>
              <a:off x="6305818" y="1731719"/>
              <a:ext cx="1186802" cy="421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實網量測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zh-TW" altLang="en-US" sz="1300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（量測值）</a:t>
              </a:r>
              <a:endParaRPr lang="en-US" sz="1300" dirty="0"/>
            </a:p>
          </p:txBody>
        </p:sp>
        <p:sp>
          <p:nvSpPr>
            <p:cNvPr id="156" name="說明-3GPP基準 115">
              <a:extLst>
                <a:ext uri="{FF2B5EF4-FFF2-40B4-BE49-F238E27FC236}">
                  <a16:creationId xmlns:a16="http://schemas.microsoft.com/office/drawing/2014/main" id="{8ABEA432-780C-1E6B-50ED-D03E1DAFEB72}"/>
                </a:ext>
              </a:extLst>
            </p:cNvPr>
            <p:cNvSpPr txBox="1"/>
            <p:nvPr/>
          </p:nvSpPr>
          <p:spPr>
            <a:xfrm>
              <a:off x="7852257" y="1774586"/>
              <a:ext cx="1366621" cy="421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1546E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3GPP公式</a:t>
              </a:r>
              <a:endParaRPr lang="en-US" sz="1300" dirty="0"/>
            </a:p>
          </p:txBody>
        </p:sp>
        <p:sp>
          <p:nvSpPr>
            <p:cNvPr id="157" name="說明-殘差 116">
              <a:extLst>
                <a:ext uri="{FF2B5EF4-FFF2-40B4-BE49-F238E27FC236}">
                  <a16:creationId xmlns:a16="http://schemas.microsoft.com/office/drawing/2014/main" id="{E8108B4D-8733-1385-257F-7CC66A67555F}"/>
                </a:ext>
              </a:extLst>
            </p:cNvPr>
            <p:cNvSpPr txBox="1"/>
            <p:nvPr/>
          </p:nvSpPr>
          <p:spPr>
            <a:xfrm>
              <a:off x="9386475" y="1846266"/>
              <a:ext cx="1538699" cy="421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F2590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穿透 / 反射 / 繞射等因素</a:t>
              </a:r>
              <a:endParaRPr lang="en-US" sz="1300" dirty="0"/>
            </a:p>
            <a:p>
              <a:pPr marL="0" indent="0" algn="ctr">
                <a:buNone/>
              </a:pPr>
              <a:endParaRPr lang="en-US" sz="1300" dirty="0"/>
            </a:p>
          </p:txBody>
        </p:sp>
        <p:sp>
          <p:nvSpPr>
            <p:cNvPr id="159" name="殘差定義式 118">
              <a:extLst>
                <a:ext uri="{FF2B5EF4-FFF2-40B4-BE49-F238E27FC236}">
                  <a16:creationId xmlns:a16="http://schemas.microsoft.com/office/drawing/2014/main" id="{9C9A3D01-55B1-9BB7-306C-A2EB0E94A240}"/>
                </a:ext>
              </a:extLst>
            </p:cNvPr>
            <p:cNvSpPr txBox="1"/>
            <p:nvPr/>
          </p:nvSpPr>
          <p:spPr>
            <a:xfrm>
              <a:off x="6118563" y="2328014"/>
              <a:ext cx="4891064" cy="384284"/>
            </a:xfrm>
            <a:prstGeom prst="roundRect">
              <a:avLst>
                <a:gd name="adj" fmla="val 19036"/>
              </a:avLst>
            </a:prstGeom>
            <a:solidFill>
              <a:srgbClr val="FEEAD6"/>
            </a:solidFill>
            <a:ln w="12700">
              <a:solidFill>
                <a:srgbClr val="F5A25D"/>
              </a:solidFill>
            </a:ln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en-US" sz="22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</a:t>
              </a:r>
              <a:r>
                <a:rPr lang="en-US" sz="22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residual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  =   </a:t>
              </a:r>
              <a:r>
                <a:rPr lang="en-US" sz="22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22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real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  −   </a:t>
              </a:r>
              <a:r>
                <a:rPr lang="en-US" sz="22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22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3GPP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zh-TW" alt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</a:t>
              </a:r>
              <a:r>
                <a:rPr lang="en-US" sz="22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22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zh-TW" altLang="en-US" sz="22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</a:t>
              </a:r>
              <a:endParaRPr lang="en-US" sz="2200" dirty="0"/>
            </a:p>
          </p:txBody>
        </p:sp>
        <p:sp>
          <p:nvSpPr>
            <p:cNvPr id="161" name="卡片-穿透 120">
              <a:extLst>
                <a:ext uri="{FF2B5EF4-FFF2-40B4-BE49-F238E27FC236}">
                  <a16:creationId xmlns:a16="http://schemas.microsoft.com/office/drawing/2014/main" id="{3F04AC7E-6B32-4311-705B-6852C3F489F3}"/>
                </a:ext>
              </a:extLst>
            </p:cNvPr>
            <p:cNvSpPr/>
            <p:nvPr/>
          </p:nvSpPr>
          <p:spPr>
            <a:xfrm>
              <a:off x="6104421" y="2963562"/>
              <a:ext cx="1496090" cy="554256"/>
            </a:xfrm>
            <a:prstGeom prst="roundRect">
              <a:avLst>
                <a:gd name="adj" fmla="val 13198"/>
              </a:avLst>
            </a:prstGeom>
            <a:solidFill>
              <a:srgbClr val="FFFFFF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162" name="材質 121">
              <a:extLst>
                <a:ext uri="{FF2B5EF4-FFF2-40B4-BE49-F238E27FC236}">
                  <a16:creationId xmlns:a16="http://schemas.microsoft.com/office/drawing/2014/main" id="{52363D6D-8B4E-64F5-9FB1-C90A8F3CB361}"/>
                </a:ext>
              </a:extLst>
            </p:cNvPr>
            <p:cNvSpPr/>
            <p:nvPr/>
          </p:nvSpPr>
          <p:spPr>
            <a:xfrm>
              <a:off x="6399324" y="3007902"/>
              <a:ext cx="165433" cy="472966"/>
            </a:xfrm>
            <a:prstGeom prst="rect">
              <a:avLst/>
            </a:prstGeom>
            <a:pattFill prst="pct20">
              <a:fgClr>
                <a:srgbClr val="7A7878"/>
              </a:fgClr>
              <a:bgClr>
                <a:srgbClr val="B4B2B2"/>
              </a:bgClr>
            </a:pattFill>
            <a:ln w="15875">
              <a:solidFill>
                <a:srgbClr val="222222"/>
              </a:solidFill>
              <a:prstDash val="solid"/>
            </a:ln>
          </p:spPr>
        </p:sp>
        <p:sp>
          <p:nvSpPr>
            <p:cNvPr id="163" name="穿透箭頭 122">
              <a:extLst>
                <a:ext uri="{FF2B5EF4-FFF2-40B4-BE49-F238E27FC236}">
                  <a16:creationId xmlns:a16="http://schemas.microsoft.com/office/drawing/2014/main" id="{93548A9B-2E84-D173-8DFA-3FB9E96267A9}"/>
                </a:ext>
              </a:extLst>
            </p:cNvPr>
            <p:cNvSpPr/>
            <p:nvPr/>
          </p:nvSpPr>
          <p:spPr>
            <a:xfrm>
              <a:off x="6190734" y="3281335"/>
              <a:ext cx="532263" cy="0"/>
            </a:xfrm>
            <a:prstGeom prst="line">
              <a:avLst/>
            </a:prstGeom>
            <a:noFill/>
            <a:ln w="25400">
              <a:solidFill>
                <a:srgbClr val="1D5BF9"/>
              </a:solidFill>
              <a:prstDash val="dash"/>
              <a:headEnd type="none"/>
              <a:tailEnd type="triangle"/>
            </a:ln>
          </p:spPr>
        </p:sp>
        <p:sp>
          <p:nvSpPr>
            <p:cNvPr id="164" name="卡片文字-穿透 123">
              <a:extLst>
                <a:ext uri="{FF2B5EF4-FFF2-40B4-BE49-F238E27FC236}">
                  <a16:creationId xmlns:a16="http://schemas.microsoft.com/office/drawing/2014/main" id="{F606FFEE-168A-9D35-C7FD-CBE1B28F669C}"/>
                </a:ext>
              </a:extLst>
            </p:cNvPr>
            <p:cNvSpPr txBox="1"/>
            <p:nvPr/>
          </p:nvSpPr>
          <p:spPr>
            <a:xfrm>
              <a:off x="6794924" y="3015292"/>
              <a:ext cx="791201" cy="458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115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穿透：</a:t>
              </a:r>
              <a:endParaRPr lang="en-US" sz="1050" dirty="0"/>
            </a:p>
            <a:p>
              <a:pPr marL="0" indent="0" algn="l">
                <a:buNone/>
              </a:pPr>
              <a:r>
                <a:rPr lang="zh-TW" altLang="en-US" sz="1050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訊號穿過材質</a:t>
              </a:r>
              <a:endParaRPr lang="en-US" sz="1050" dirty="0"/>
            </a:p>
          </p:txBody>
        </p:sp>
        <p:sp>
          <p:nvSpPr>
            <p:cNvPr id="165" name="卡片-反射 124">
              <a:extLst>
                <a:ext uri="{FF2B5EF4-FFF2-40B4-BE49-F238E27FC236}">
                  <a16:creationId xmlns:a16="http://schemas.microsoft.com/office/drawing/2014/main" id="{C778B255-36C8-3EF5-0741-DDE7851E1162}"/>
                </a:ext>
              </a:extLst>
            </p:cNvPr>
            <p:cNvSpPr/>
            <p:nvPr/>
          </p:nvSpPr>
          <p:spPr>
            <a:xfrm>
              <a:off x="7672439" y="2963562"/>
              <a:ext cx="1740643" cy="554256"/>
            </a:xfrm>
            <a:prstGeom prst="roundRect">
              <a:avLst>
                <a:gd name="adj" fmla="val 13198"/>
              </a:avLst>
            </a:prstGeom>
            <a:solidFill>
              <a:srgbClr val="FFFFFF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166" name="反射面 125">
              <a:extLst>
                <a:ext uri="{FF2B5EF4-FFF2-40B4-BE49-F238E27FC236}">
                  <a16:creationId xmlns:a16="http://schemas.microsoft.com/office/drawing/2014/main" id="{5F614C67-2C9F-3ECB-7A7E-9415438364B7}"/>
                </a:ext>
              </a:extLst>
            </p:cNvPr>
            <p:cNvSpPr/>
            <p:nvPr/>
          </p:nvSpPr>
          <p:spPr>
            <a:xfrm>
              <a:off x="7780330" y="3362626"/>
              <a:ext cx="561034" cy="110851"/>
            </a:xfrm>
            <a:prstGeom prst="rect">
              <a:avLst/>
            </a:prstGeom>
            <a:pattFill prst="pct20">
              <a:fgClr>
                <a:srgbClr val="7A7878"/>
              </a:fgClr>
              <a:bgClr>
                <a:srgbClr val="B4B2B2"/>
              </a:bgClr>
            </a:pattFill>
            <a:ln w="15875">
              <a:solidFill>
                <a:srgbClr val="222222"/>
              </a:solidFill>
              <a:prstDash val="solid"/>
            </a:ln>
          </p:spPr>
        </p:sp>
        <p:sp>
          <p:nvSpPr>
            <p:cNvPr id="167" name="入射線 126">
              <a:extLst>
                <a:ext uri="{FF2B5EF4-FFF2-40B4-BE49-F238E27FC236}">
                  <a16:creationId xmlns:a16="http://schemas.microsoft.com/office/drawing/2014/main" id="{54343C8B-B366-1862-7C5B-D7F283C8C66D}"/>
                </a:ext>
              </a:extLst>
            </p:cNvPr>
            <p:cNvSpPr/>
            <p:nvPr/>
          </p:nvSpPr>
          <p:spPr>
            <a:xfrm>
              <a:off x="7794715" y="3089193"/>
              <a:ext cx="237360" cy="243873"/>
            </a:xfrm>
            <a:prstGeom prst="line">
              <a:avLst/>
            </a:prstGeom>
            <a:noFill/>
            <a:ln w="25400">
              <a:solidFill>
                <a:srgbClr val="2F8F2F"/>
              </a:solidFill>
              <a:prstDash val="dash"/>
              <a:headEnd type="none"/>
              <a:tailEnd type="none"/>
            </a:ln>
          </p:spPr>
        </p:sp>
        <p:sp>
          <p:nvSpPr>
            <p:cNvPr id="168" name="反射箭頭 127">
              <a:extLst>
                <a:ext uri="{FF2B5EF4-FFF2-40B4-BE49-F238E27FC236}">
                  <a16:creationId xmlns:a16="http://schemas.microsoft.com/office/drawing/2014/main" id="{5B291C77-1639-C8E0-A58F-57E927457A3F}"/>
                </a:ext>
              </a:extLst>
            </p:cNvPr>
            <p:cNvSpPr/>
            <p:nvPr/>
          </p:nvSpPr>
          <p:spPr>
            <a:xfrm flipV="1">
              <a:off x="8046461" y="3103973"/>
              <a:ext cx="201397" cy="229093"/>
            </a:xfrm>
            <a:prstGeom prst="line">
              <a:avLst/>
            </a:prstGeom>
            <a:noFill/>
            <a:ln w="25400">
              <a:solidFill>
                <a:srgbClr val="2F8F2F"/>
              </a:solidFill>
              <a:prstDash val="dash"/>
              <a:headEnd type="none"/>
              <a:tailEnd type="triangle"/>
            </a:ln>
          </p:spPr>
        </p:sp>
        <p:sp>
          <p:nvSpPr>
            <p:cNvPr id="169" name="卡片文字-反射 128">
              <a:extLst>
                <a:ext uri="{FF2B5EF4-FFF2-40B4-BE49-F238E27FC236}">
                  <a16:creationId xmlns:a16="http://schemas.microsoft.com/office/drawing/2014/main" id="{00806C48-F5BF-F946-2359-546A4BFC89CF}"/>
                </a:ext>
              </a:extLst>
            </p:cNvPr>
            <p:cNvSpPr txBox="1"/>
            <p:nvPr/>
          </p:nvSpPr>
          <p:spPr>
            <a:xfrm>
              <a:off x="8427676" y="3015292"/>
              <a:ext cx="971020" cy="458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115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反射：</a:t>
              </a:r>
              <a:endParaRPr lang="en-US" sz="1050" dirty="0"/>
            </a:p>
            <a:p>
              <a:pPr marL="0" indent="0" algn="l">
                <a:buNone/>
              </a:pPr>
              <a:r>
                <a:rPr lang="zh-TW" altLang="en-US" sz="1050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訊號遇表面反彈</a:t>
              </a:r>
              <a:endParaRPr lang="en-US" sz="1050" dirty="0"/>
            </a:p>
          </p:txBody>
        </p:sp>
        <p:sp>
          <p:nvSpPr>
            <p:cNvPr id="170" name="卡片-繞射 129">
              <a:extLst>
                <a:ext uri="{FF2B5EF4-FFF2-40B4-BE49-F238E27FC236}">
                  <a16:creationId xmlns:a16="http://schemas.microsoft.com/office/drawing/2014/main" id="{0AA08E05-3BA0-BF53-F925-FCD8328E0D00}"/>
                </a:ext>
              </a:extLst>
            </p:cNvPr>
            <p:cNvSpPr/>
            <p:nvPr/>
          </p:nvSpPr>
          <p:spPr>
            <a:xfrm>
              <a:off x="9485009" y="2963562"/>
              <a:ext cx="1510476" cy="554256"/>
            </a:xfrm>
            <a:prstGeom prst="roundRect">
              <a:avLst>
                <a:gd name="adj" fmla="val 13198"/>
              </a:avLst>
            </a:prstGeom>
            <a:solidFill>
              <a:srgbClr val="FFFFFF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171" name="障礙物邊緣 130">
              <a:extLst>
                <a:ext uri="{FF2B5EF4-FFF2-40B4-BE49-F238E27FC236}">
                  <a16:creationId xmlns:a16="http://schemas.microsoft.com/office/drawing/2014/main" id="{6057A5B2-E584-B9EC-5BB4-EFCBBA9D16E5}"/>
                </a:ext>
              </a:extLst>
            </p:cNvPr>
            <p:cNvSpPr/>
            <p:nvPr/>
          </p:nvSpPr>
          <p:spPr>
            <a:xfrm>
              <a:off x="9693599" y="3044853"/>
              <a:ext cx="237360" cy="421235"/>
            </a:xfrm>
            <a:custGeom>
              <a:avLst/>
              <a:gdLst/>
              <a:ahLst/>
              <a:cxnLst/>
              <a:rect l="l" t="t" r="r" b="b"/>
              <a:pathLst>
                <a:path w="237360" h="421235">
                  <a:moveTo>
                    <a:pt x="0" y="0"/>
                  </a:moveTo>
                  <a:lnTo>
                    <a:pt x="237360" y="0"/>
                  </a:lnTo>
                  <a:lnTo>
                    <a:pt x="237360" y="147802"/>
                  </a:lnTo>
                  <a:lnTo>
                    <a:pt x="179819" y="147802"/>
                  </a:lnTo>
                  <a:lnTo>
                    <a:pt x="179819" y="421235"/>
                  </a:lnTo>
                  <a:lnTo>
                    <a:pt x="0" y="421235"/>
                  </a:lnTo>
                  <a:close/>
                </a:path>
              </a:pathLst>
            </a:custGeom>
            <a:solidFill>
              <a:srgbClr val="5A5A5A"/>
            </a:solidFill>
            <a:ln w="15875">
              <a:solidFill>
                <a:srgbClr val="222222"/>
              </a:solidFill>
              <a:prstDash val="solid"/>
              <a:headEnd type="none"/>
              <a:tailEnd type="none"/>
            </a:ln>
          </p:spPr>
        </p:sp>
        <p:sp>
          <p:nvSpPr>
            <p:cNvPr id="172" name="繞射箭頭 131">
              <a:extLst>
                <a:ext uri="{FF2B5EF4-FFF2-40B4-BE49-F238E27FC236}">
                  <a16:creationId xmlns:a16="http://schemas.microsoft.com/office/drawing/2014/main" id="{04EFBC9A-572C-8F32-67E6-A283B9AC88E9}"/>
                </a:ext>
              </a:extLst>
            </p:cNvPr>
            <p:cNvSpPr/>
            <p:nvPr/>
          </p:nvSpPr>
          <p:spPr>
            <a:xfrm>
              <a:off x="9887803" y="3235221"/>
              <a:ext cx="294902" cy="223476"/>
            </a:xfrm>
            <a:custGeom>
              <a:avLst/>
              <a:gdLst/>
              <a:ahLst/>
              <a:cxnLst/>
              <a:rect l="l" t="t" r="r" b="b"/>
              <a:pathLst>
                <a:path w="294902" h="223476">
                  <a:moveTo>
                    <a:pt x="0" y="1774"/>
                  </a:moveTo>
                  <a:quadBezTo>
                    <a:pt x="273324" y="-20397"/>
                    <a:pt x="294902" y="223476"/>
                  </a:quadBezTo>
                </a:path>
              </a:pathLst>
            </a:custGeom>
            <a:noFill/>
            <a:ln w="25400">
              <a:solidFill>
                <a:srgbClr val="F2590F"/>
              </a:solidFill>
              <a:prstDash val="sysDash"/>
              <a:headEnd type="none"/>
              <a:tailEnd type="triangle"/>
            </a:ln>
          </p:spPr>
        </p:sp>
        <p:sp>
          <p:nvSpPr>
            <p:cNvPr id="173" name="卡片文字-繞射 132">
              <a:extLst>
                <a:ext uri="{FF2B5EF4-FFF2-40B4-BE49-F238E27FC236}">
                  <a16:creationId xmlns:a16="http://schemas.microsoft.com/office/drawing/2014/main" id="{8AF28DB5-B75B-8F31-A028-E24739F3D775}"/>
                </a:ext>
              </a:extLst>
            </p:cNvPr>
            <p:cNvSpPr txBox="1"/>
            <p:nvPr/>
          </p:nvSpPr>
          <p:spPr>
            <a:xfrm>
              <a:off x="10218669" y="3015292"/>
              <a:ext cx="776816" cy="458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115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繞射：</a:t>
              </a:r>
              <a:endParaRPr lang="en-US" sz="1000" dirty="0"/>
            </a:p>
            <a:p>
              <a:pPr marL="0" indent="0" algn="l">
                <a:buNone/>
              </a:pPr>
              <a:r>
                <a:rPr lang="zh-TW" altLang="en-US" sz="1000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訊號繞過邊緣</a:t>
              </a:r>
              <a:endParaRPr lang="en-US" sz="1000" dirty="0"/>
            </a:p>
          </p:txBody>
        </p:sp>
        <p:sp>
          <p:nvSpPr>
            <p:cNvPr id="175" name="區塊3 底 134">
              <a:extLst>
                <a:ext uri="{FF2B5EF4-FFF2-40B4-BE49-F238E27FC236}">
                  <a16:creationId xmlns:a16="http://schemas.microsoft.com/office/drawing/2014/main" id="{120776B8-0231-A820-250F-08123C72B87C}"/>
                </a:ext>
              </a:extLst>
            </p:cNvPr>
            <p:cNvSpPr/>
            <p:nvPr/>
          </p:nvSpPr>
          <p:spPr>
            <a:xfrm>
              <a:off x="-814995" y="4027734"/>
              <a:ext cx="5919625" cy="2586530"/>
            </a:xfrm>
            <a:prstGeom prst="roundRect">
              <a:avLst>
                <a:gd name="adj" fmla="val 3182"/>
              </a:avLst>
            </a:prstGeom>
            <a:solidFill>
              <a:srgbClr val="FFFFFF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176" name="區塊3 標題 135">
              <a:extLst>
                <a:ext uri="{FF2B5EF4-FFF2-40B4-BE49-F238E27FC236}">
                  <a16:creationId xmlns:a16="http://schemas.microsoft.com/office/drawing/2014/main" id="{3D0F79D8-C73C-78E2-7E62-0A30370E0891}"/>
                </a:ext>
              </a:extLst>
            </p:cNvPr>
            <p:cNvSpPr txBox="1"/>
            <p:nvPr/>
          </p:nvSpPr>
          <p:spPr>
            <a:xfrm>
              <a:off x="-814995" y="4027734"/>
              <a:ext cx="5919625" cy="376894"/>
            </a:xfrm>
            <a:prstGeom prst="roundRect">
              <a:avLst>
                <a:gd name="adj" fmla="val 21835"/>
              </a:avLst>
            </a:prstGeom>
            <a:solidFill>
              <a:srgbClr val="004A90"/>
            </a:solidFill>
            <a:ln/>
          </p:spPr>
          <p:txBody>
            <a:bodyPr wrap="square" lIns="676118" tIns="0" rIns="0" bIns="0" rtlCol="0" anchor="ctr"/>
            <a:lstStyle/>
            <a:p>
              <a:pPr marL="0" indent="0" algn="l">
                <a:buNone/>
              </a:pPr>
              <a:r>
                <a:rPr lang="zh-TW" altLang="en-US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確定模型資料形狀</a:t>
              </a:r>
              <a:r>
                <a:rPr lang="en-US" altLang="zh-TW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(Shape)</a:t>
              </a:r>
              <a:endParaRPr lang="zh-TW" sz="2300" dirty="0"/>
            </a:p>
          </p:txBody>
        </p:sp>
        <p:sp>
          <p:nvSpPr>
            <p:cNvPr id="177" name="區塊3 編號 136">
              <a:extLst>
                <a:ext uri="{FF2B5EF4-FFF2-40B4-BE49-F238E27FC236}">
                  <a16:creationId xmlns:a16="http://schemas.microsoft.com/office/drawing/2014/main" id="{179E25F8-6DF8-A321-730E-CFBA2D732ADC}"/>
                </a:ext>
              </a:extLst>
            </p:cNvPr>
            <p:cNvSpPr txBox="1"/>
            <p:nvPr/>
          </p:nvSpPr>
          <p:spPr>
            <a:xfrm>
              <a:off x="-671787" y="4057295"/>
              <a:ext cx="317774" cy="317774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04A9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78" name="欄標-X 137">
              <a:extLst>
                <a:ext uri="{FF2B5EF4-FFF2-40B4-BE49-F238E27FC236}">
                  <a16:creationId xmlns:a16="http://schemas.microsoft.com/office/drawing/2014/main" id="{803651FA-1BC8-E23D-B714-242105191D52}"/>
                </a:ext>
              </a:extLst>
            </p:cNvPr>
            <p:cNvSpPr txBox="1"/>
            <p:nvPr/>
          </p:nvSpPr>
          <p:spPr>
            <a:xfrm>
              <a:off x="-671787" y="4659586"/>
              <a:ext cx="2208171" cy="229093"/>
            </a:xfrm>
            <a:prstGeom prst="roundRect">
              <a:avLst>
                <a:gd name="adj" fmla="val 23948"/>
              </a:avLst>
            </a:prstGeom>
            <a:solidFill>
              <a:srgbClr val="D6EFFD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zh-TW" alt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輸入特徵 </a:t>
              </a:r>
              <a:r>
                <a:rPr lang="en-US" sz="1250" b="1" i="1" dirty="0">
                  <a:solidFill>
                    <a:srgbClr val="0B3A82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zh-TW" alt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（距離</a:t>
              </a:r>
              <a:r>
                <a:rPr lang="en-US" altLang="zh-TW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, </a:t>
              </a:r>
              <a:r>
                <a:rPr lang="zh-TW" alt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頻率）</a:t>
              </a:r>
              <a:endParaRPr lang="en-US" sz="1100" dirty="0"/>
            </a:p>
          </p:txBody>
        </p:sp>
        <p:sp>
          <p:nvSpPr>
            <p:cNvPr id="179" name="欄標-y 138">
              <a:extLst>
                <a:ext uri="{FF2B5EF4-FFF2-40B4-BE49-F238E27FC236}">
                  <a16:creationId xmlns:a16="http://schemas.microsoft.com/office/drawing/2014/main" id="{9A571075-E583-D85D-4D29-17EB437FD0B5}"/>
                </a:ext>
              </a:extLst>
            </p:cNvPr>
            <p:cNvSpPr txBox="1"/>
            <p:nvPr/>
          </p:nvSpPr>
          <p:spPr>
            <a:xfrm>
              <a:off x="1644276" y="4659586"/>
              <a:ext cx="1309079" cy="229093"/>
            </a:xfrm>
            <a:prstGeom prst="roundRect">
              <a:avLst>
                <a:gd name="adj" fmla="val 23948"/>
              </a:avLst>
            </a:prstGeom>
            <a:solidFill>
              <a:srgbClr val="D6EFFD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zh-TW" alt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量測答案 </a:t>
              </a:r>
              <a:r>
                <a:rPr lang="en-US" sz="1250" b="1" i="1" dirty="0">
                  <a:solidFill>
                    <a:srgbClr val="0B3A82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y</a:t>
              </a:r>
              <a:endParaRPr lang="en-US" sz="1100" dirty="0"/>
            </a:p>
          </p:txBody>
        </p:sp>
        <p:sp>
          <p:nvSpPr>
            <p:cNvPr id="180" name="欄標-b 139">
              <a:extLst>
                <a:ext uri="{FF2B5EF4-FFF2-40B4-BE49-F238E27FC236}">
                  <a16:creationId xmlns:a16="http://schemas.microsoft.com/office/drawing/2014/main" id="{CCAD9844-5E5E-0002-DA98-6FA32AB54A3D}"/>
                </a:ext>
              </a:extLst>
            </p:cNvPr>
            <p:cNvSpPr txBox="1"/>
            <p:nvPr/>
          </p:nvSpPr>
          <p:spPr>
            <a:xfrm>
              <a:off x="3154751" y="4659586"/>
              <a:ext cx="1848534" cy="229093"/>
            </a:xfrm>
            <a:prstGeom prst="roundRect">
              <a:avLst>
                <a:gd name="adj" fmla="val 23948"/>
              </a:avLst>
            </a:prstGeom>
            <a:solidFill>
              <a:srgbClr val="D6EFFD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zh-TW" altLang="en-US" sz="1100" b="1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3GPP 基準向量 </a:t>
              </a:r>
              <a:r>
                <a:rPr lang="en-US" sz="1250" b="1" i="1" dirty="0">
                  <a:solidFill>
                    <a:srgbClr val="0B3A82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endParaRPr lang="en-US" sz="1100" dirty="0"/>
            </a:p>
          </p:txBody>
        </p:sp>
        <p:sp>
          <p:nvSpPr>
            <p:cNvPr id="181" name="分隔線 140">
              <a:extLst>
                <a:ext uri="{FF2B5EF4-FFF2-40B4-BE49-F238E27FC236}">
                  <a16:creationId xmlns:a16="http://schemas.microsoft.com/office/drawing/2014/main" id="{BAF59F67-90B6-D88C-B30D-872D3DD9B05C}"/>
                </a:ext>
              </a:extLst>
            </p:cNvPr>
            <p:cNvSpPr/>
            <p:nvPr/>
          </p:nvSpPr>
          <p:spPr>
            <a:xfrm>
              <a:off x="1586734" y="4659586"/>
              <a:ext cx="0" cy="1352386"/>
            </a:xfrm>
            <a:prstGeom prst="line">
              <a:avLst/>
            </a:prstGeom>
            <a:noFill/>
            <a:ln w="12700">
              <a:solidFill>
                <a:srgbClr val="BAE4FD"/>
              </a:solidFill>
              <a:prstDash val="solid"/>
              <a:headEnd type="none"/>
              <a:tailEnd type="none"/>
            </a:ln>
          </p:spPr>
        </p:sp>
        <p:sp>
          <p:nvSpPr>
            <p:cNvPr id="182" name="分隔線 141">
              <a:extLst>
                <a:ext uri="{FF2B5EF4-FFF2-40B4-BE49-F238E27FC236}">
                  <a16:creationId xmlns:a16="http://schemas.microsoft.com/office/drawing/2014/main" id="{9F254297-59AA-7005-DE78-88006BA2F977}"/>
                </a:ext>
              </a:extLst>
            </p:cNvPr>
            <p:cNvSpPr/>
            <p:nvPr/>
          </p:nvSpPr>
          <p:spPr>
            <a:xfrm>
              <a:off x="3075631" y="4659586"/>
              <a:ext cx="0" cy="1352386"/>
            </a:xfrm>
            <a:prstGeom prst="line">
              <a:avLst/>
            </a:prstGeom>
            <a:noFill/>
            <a:ln w="12700">
              <a:solidFill>
                <a:srgbClr val="BAE4FD"/>
              </a:solidFill>
              <a:prstDash val="solid"/>
              <a:headEnd type="none"/>
              <a:tailEnd type="none"/>
            </a:ln>
          </p:spPr>
        </p:sp>
        <p:sp>
          <p:nvSpPr>
            <p:cNvPr id="183" name="X = 142">
              <a:extLst>
                <a:ext uri="{FF2B5EF4-FFF2-40B4-BE49-F238E27FC236}">
                  <a16:creationId xmlns:a16="http://schemas.microsoft.com/office/drawing/2014/main" id="{C9897ACD-8394-A6A0-A81D-63793D462B1D}"/>
                </a:ext>
              </a:extLst>
            </p:cNvPr>
            <p:cNvSpPr txBox="1"/>
            <p:nvPr/>
          </p:nvSpPr>
          <p:spPr>
            <a:xfrm>
              <a:off x="-513547" y="5236013"/>
              <a:ext cx="517877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=</a:t>
              </a:r>
              <a:endParaRPr lang="en-US" sz="2200" dirty="0"/>
            </a:p>
          </p:txBody>
        </p:sp>
        <p:sp>
          <p:nvSpPr>
            <p:cNvPr id="184" name="左方括號 143">
              <a:extLst>
                <a:ext uri="{FF2B5EF4-FFF2-40B4-BE49-F238E27FC236}">
                  <a16:creationId xmlns:a16="http://schemas.microsoft.com/office/drawing/2014/main" id="{1F93D3CC-BF43-259C-86C1-2050644FB4ED}"/>
                </a:ext>
              </a:extLst>
            </p:cNvPr>
            <p:cNvSpPr/>
            <p:nvPr/>
          </p:nvSpPr>
          <p:spPr>
            <a:xfrm>
              <a:off x="40294" y="4962580"/>
              <a:ext cx="71927" cy="842470"/>
            </a:xfrm>
            <a:prstGeom prst="leftBracket">
              <a:avLst>
                <a:gd name="adj" fmla="val 254"/>
              </a:avLst>
            </a:prstGeom>
            <a:noFill/>
            <a:ln w="19050">
              <a:solidFill>
                <a:srgbClr val="0A1A44"/>
              </a:solidFill>
              <a:prstDash val="solid"/>
            </a:ln>
          </p:spPr>
        </p:sp>
        <p:sp>
          <p:nvSpPr>
            <p:cNvPr id="185" name="右方括號 144">
              <a:extLst>
                <a:ext uri="{FF2B5EF4-FFF2-40B4-BE49-F238E27FC236}">
                  <a16:creationId xmlns:a16="http://schemas.microsoft.com/office/drawing/2014/main" id="{A869E6DA-A510-A1D4-6D88-561680D398D4}"/>
                </a:ext>
              </a:extLst>
            </p:cNvPr>
            <p:cNvSpPr/>
            <p:nvPr/>
          </p:nvSpPr>
          <p:spPr>
            <a:xfrm>
              <a:off x="896231" y="4962580"/>
              <a:ext cx="71927" cy="842470"/>
            </a:xfrm>
            <a:prstGeom prst="rightBracket">
              <a:avLst>
                <a:gd name="adj" fmla="val 254"/>
              </a:avLst>
            </a:prstGeom>
            <a:noFill/>
            <a:ln w="19050">
              <a:solidFill>
                <a:srgbClr val="0A1A44"/>
              </a:solidFill>
              <a:prstDash val="solid"/>
            </a:ln>
          </p:spPr>
        </p:sp>
        <p:sp>
          <p:nvSpPr>
            <p:cNvPr id="186" name="X 第1欄 145">
              <a:extLst>
                <a:ext uri="{FF2B5EF4-FFF2-40B4-BE49-F238E27FC236}">
                  <a16:creationId xmlns:a16="http://schemas.microsoft.com/office/drawing/2014/main" id="{46F7EF8B-448D-1641-C6CC-4218763750EC}"/>
                </a:ext>
              </a:extLst>
            </p:cNvPr>
            <p:cNvSpPr txBox="1"/>
            <p:nvPr/>
          </p:nvSpPr>
          <p:spPr>
            <a:xfrm>
              <a:off x="133800" y="4947800"/>
              <a:ext cx="330866" cy="8720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15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5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15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5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dirty="0">
                  <a:solidFill>
                    <a:srgbClr val="0A1A44"/>
                  </a:solidFill>
                  <a:latin typeface="Segoe UI Symbol" pitchFamily="34" charset="0"/>
                  <a:ea typeface="Segoe UI Symbol" pitchFamily="34" charset="-122"/>
                  <a:cs typeface="Segoe UI Symbol" pitchFamily="34" charset="-120"/>
                </a:rPr>
                <a:t>⋮</a:t>
              </a:r>
              <a:endParaRPr lang="en-US" sz="15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15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endParaRPr lang="en-US" sz="1500" dirty="0"/>
            </a:p>
          </p:txBody>
        </p:sp>
        <p:sp>
          <p:nvSpPr>
            <p:cNvPr id="187" name="X 第2欄 146">
              <a:extLst>
                <a:ext uri="{FF2B5EF4-FFF2-40B4-BE49-F238E27FC236}">
                  <a16:creationId xmlns:a16="http://schemas.microsoft.com/office/drawing/2014/main" id="{AD0864DB-AC25-DEF9-492D-1B8CEB00AE5C}"/>
                </a:ext>
              </a:extLst>
            </p:cNvPr>
            <p:cNvSpPr txBox="1"/>
            <p:nvPr/>
          </p:nvSpPr>
          <p:spPr>
            <a:xfrm>
              <a:off x="543786" y="4947800"/>
              <a:ext cx="330866" cy="8720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15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5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150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5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dirty="0">
                  <a:solidFill>
                    <a:srgbClr val="0A1A44"/>
                  </a:solidFill>
                  <a:latin typeface="Segoe UI Symbol" pitchFamily="34" charset="0"/>
                  <a:ea typeface="Segoe UI Symbol" pitchFamily="34" charset="-122"/>
                  <a:cs typeface="Segoe UI Symbol" pitchFamily="34" charset="-120"/>
                </a:rPr>
                <a:t>⋮</a:t>
              </a:r>
              <a:endParaRPr lang="en-US" sz="15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15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endParaRPr lang="en-US" sz="1500" dirty="0"/>
            </a:p>
          </p:txBody>
        </p:sp>
        <p:sp>
          <p:nvSpPr>
            <p:cNvPr id="188" name="欄註-距離 147">
              <a:extLst>
                <a:ext uri="{FF2B5EF4-FFF2-40B4-BE49-F238E27FC236}">
                  <a16:creationId xmlns:a16="http://schemas.microsoft.com/office/drawing/2014/main" id="{FC209A04-DE6A-073A-2021-B4E073F1B321}"/>
                </a:ext>
              </a:extLst>
            </p:cNvPr>
            <p:cNvSpPr txBox="1"/>
            <p:nvPr/>
          </p:nvSpPr>
          <p:spPr>
            <a:xfrm>
              <a:off x="-81982" y="5834610"/>
              <a:ext cx="546648" cy="1625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00" dirty="0">
                  <a:solidFill>
                    <a:srgbClr val="0F4C9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距離 </a:t>
              </a:r>
              <a:r>
                <a:rPr lang="en-US" sz="1200" i="1" dirty="0">
                  <a:solidFill>
                    <a:srgbClr val="0F4C97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endParaRPr lang="en-US" sz="1100" dirty="0"/>
            </a:p>
          </p:txBody>
        </p:sp>
        <p:sp>
          <p:nvSpPr>
            <p:cNvPr id="189" name="欄註-頻率 148">
              <a:extLst>
                <a:ext uri="{FF2B5EF4-FFF2-40B4-BE49-F238E27FC236}">
                  <a16:creationId xmlns:a16="http://schemas.microsoft.com/office/drawing/2014/main" id="{1ABF7C5F-3CEF-1459-DA71-32F2E4FDA171}"/>
                </a:ext>
              </a:extLst>
            </p:cNvPr>
            <p:cNvSpPr txBox="1"/>
            <p:nvPr/>
          </p:nvSpPr>
          <p:spPr>
            <a:xfrm>
              <a:off x="493437" y="5834610"/>
              <a:ext cx="546648" cy="1625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00" dirty="0">
                  <a:solidFill>
                    <a:srgbClr val="0F4C9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頻率 </a:t>
              </a:r>
              <a:r>
                <a:rPr lang="en-US" sz="1200" i="1" dirty="0">
                  <a:solidFill>
                    <a:srgbClr val="0F4C97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endParaRPr lang="en-US" sz="1100" dirty="0"/>
            </a:p>
          </p:txBody>
        </p:sp>
        <p:sp>
          <p:nvSpPr>
            <p:cNvPr id="190" name="X 維度 149">
              <a:extLst>
                <a:ext uri="{FF2B5EF4-FFF2-40B4-BE49-F238E27FC236}">
                  <a16:creationId xmlns:a16="http://schemas.microsoft.com/office/drawing/2014/main" id="{9668B824-E9B5-3586-3061-3AB107BCEFE1}"/>
                </a:ext>
              </a:extLst>
            </p:cNvPr>
            <p:cNvSpPr txBox="1"/>
            <p:nvPr/>
          </p:nvSpPr>
          <p:spPr>
            <a:xfrm>
              <a:off x="-81982" y="6056313"/>
              <a:ext cx="1150838" cy="2364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17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: </a:t>
              </a:r>
              <a:r>
                <a:rPr lang="en-US" sz="17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en-US" sz="17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× 2</a:t>
              </a:r>
              <a:endParaRPr lang="en-US" sz="1700" dirty="0"/>
            </a:p>
          </p:txBody>
        </p:sp>
        <p:sp>
          <p:nvSpPr>
            <p:cNvPr id="191" name="y = 150">
              <a:extLst>
                <a:ext uri="{FF2B5EF4-FFF2-40B4-BE49-F238E27FC236}">
                  <a16:creationId xmlns:a16="http://schemas.microsoft.com/office/drawing/2014/main" id="{8E657733-F07D-00AF-CAFE-1BEF51CB547B}"/>
                </a:ext>
              </a:extLst>
            </p:cNvPr>
            <p:cNvSpPr txBox="1"/>
            <p:nvPr/>
          </p:nvSpPr>
          <p:spPr>
            <a:xfrm>
              <a:off x="1629890" y="5221233"/>
              <a:ext cx="388408" cy="295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y</a:t>
              </a:r>
              <a:r>
                <a:rPr lang="en-US" sz="22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=</a:t>
              </a:r>
              <a:endParaRPr lang="en-US" sz="2200" dirty="0"/>
            </a:p>
          </p:txBody>
        </p:sp>
        <p:sp>
          <p:nvSpPr>
            <p:cNvPr id="192" name="左方括號 151">
              <a:extLst>
                <a:ext uri="{FF2B5EF4-FFF2-40B4-BE49-F238E27FC236}">
                  <a16:creationId xmlns:a16="http://schemas.microsoft.com/office/drawing/2014/main" id="{CDD5A515-79B2-EBBF-DE5C-08E4052DE365}"/>
                </a:ext>
              </a:extLst>
            </p:cNvPr>
            <p:cNvSpPr/>
            <p:nvPr/>
          </p:nvSpPr>
          <p:spPr>
            <a:xfrm>
              <a:off x="2054262" y="4962580"/>
              <a:ext cx="64735" cy="842470"/>
            </a:xfrm>
            <a:prstGeom prst="leftBracket">
              <a:avLst>
                <a:gd name="adj" fmla="val 283"/>
              </a:avLst>
            </a:prstGeom>
            <a:noFill/>
            <a:ln w="19050">
              <a:solidFill>
                <a:srgbClr val="0A1A44"/>
              </a:solidFill>
              <a:prstDash val="solid"/>
            </a:ln>
          </p:spPr>
        </p:sp>
        <p:sp>
          <p:nvSpPr>
            <p:cNvPr id="193" name="右方括號 152">
              <a:extLst>
                <a:ext uri="{FF2B5EF4-FFF2-40B4-BE49-F238E27FC236}">
                  <a16:creationId xmlns:a16="http://schemas.microsoft.com/office/drawing/2014/main" id="{58026A03-DC0C-A313-4EAE-A74C49AEFF12}"/>
                </a:ext>
              </a:extLst>
            </p:cNvPr>
            <p:cNvSpPr/>
            <p:nvPr/>
          </p:nvSpPr>
          <p:spPr>
            <a:xfrm>
              <a:off x="2715994" y="4962580"/>
              <a:ext cx="64735" cy="842470"/>
            </a:xfrm>
            <a:prstGeom prst="rightBracket">
              <a:avLst>
                <a:gd name="adj" fmla="val 283"/>
              </a:avLst>
            </a:prstGeom>
            <a:noFill/>
            <a:ln w="19050">
              <a:solidFill>
                <a:srgbClr val="0A1A44"/>
              </a:solidFill>
              <a:prstDash val="solid"/>
            </a:ln>
          </p:spPr>
        </p:sp>
        <p:sp>
          <p:nvSpPr>
            <p:cNvPr id="194" name="y 內容 153">
              <a:extLst>
                <a:ext uri="{FF2B5EF4-FFF2-40B4-BE49-F238E27FC236}">
                  <a16:creationId xmlns:a16="http://schemas.microsoft.com/office/drawing/2014/main" id="{235094B9-9E67-B671-CC74-DF2815EB137F}"/>
                </a:ext>
              </a:extLst>
            </p:cNvPr>
            <p:cNvSpPr txBox="1"/>
            <p:nvPr/>
          </p:nvSpPr>
          <p:spPr>
            <a:xfrm>
              <a:off x="2126189" y="4947800"/>
              <a:ext cx="582612" cy="8720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688"/>
                </a:lnSpc>
                <a:buNone/>
              </a:pPr>
              <a:r>
                <a:rPr lang="en-US" sz="14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14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real,1</a:t>
              </a:r>
              <a:endParaRPr lang="en-US" sz="14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4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14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real,2</a:t>
              </a:r>
              <a:endParaRPr lang="en-US" sz="14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400" dirty="0">
                  <a:solidFill>
                    <a:srgbClr val="0A1A44"/>
                  </a:solidFill>
                  <a:latin typeface="Segoe UI Symbol" pitchFamily="34" charset="0"/>
                  <a:ea typeface="Segoe UI Symbol" pitchFamily="34" charset="-122"/>
                  <a:cs typeface="Segoe UI Symbol" pitchFamily="34" charset="-120"/>
                </a:rPr>
                <a:t>⋮</a:t>
              </a:r>
              <a:endParaRPr lang="en-US" sz="1400" dirty="0"/>
            </a:p>
            <a:p>
              <a:pPr marL="0" indent="0" algn="ctr">
                <a:lnSpc>
                  <a:spcPts val="1688"/>
                </a:lnSpc>
                <a:buNone/>
              </a:pPr>
              <a:r>
                <a:rPr lang="en-US" sz="14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14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real,K</a:t>
              </a:r>
              <a:endParaRPr lang="en-US" sz="1400" dirty="0"/>
            </a:p>
          </p:txBody>
        </p:sp>
        <p:sp>
          <p:nvSpPr>
            <p:cNvPr id="195" name="y 維度 154">
              <a:extLst>
                <a:ext uri="{FF2B5EF4-FFF2-40B4-BE49-F238E27FC236}">
                  <a16:creationId xmlns:a16="http://schemas.microsoft.com/office/drawing/2014/main" id="{133F76C0-E25D-A22D-98D4-E78D26C0CAAF}"/>
                </a:ext>
              </a:extLst>
            </p:cNvPr>
            <p:cNvSpPr txBox="1"/>
            <p:nvPr/>
          </p:nvSpPr>
          <p:spPr>
            <a:xfrm>
              <a:off x="1860058" y="5834610"/>
              <a:ext cx="1114875" cy="2364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y</a:t>
              </a:r>
              <a:r>
                <a:rPr lang="en-US" sz="17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: </a:t>
              </a:r>
              <a:r>
                <a:rPr lang="en-US" sz="17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en-US" sz="17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× 1</a:t>
              </a:r>
              <a:endParaRPr lang="en-US" sz="1700" dirty="0"/>
            </a:p>
          </p:txBody>
        </p:sp>
        <p:sp>
          <p:nvSpPr>
            <p:cNvPr id="196" name="b_k 定義 155">
              <a:extLst>
                <a:ext uri="{FF2B5EF4-FFF2-40B4-BE49-F238E27FC236}">
                  <a16:creationId xmlns:a16="http://schemas.microsoft.com/office/drawing/2014/main" id="{226007AD-3EFF-A244-A53B-6E94AF4E4F3E}"/>
                </a:ext>
              </a:extLst>
            </p:cNvPr>
            <p:cNvSpPr txBox="1"/>
            <p:nvPr/>
          </p:nvSpPr>
          <p:spPr>
            <a:xfrm>
              <a:off x="3190715" y="4910849"/>
              <a:ext cx="1870113" cy="2364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r>
                <a:rPr lang="en-US" sz="15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en-US" sz="15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 =  </a:t>
              </a: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15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3GPP</a:t>
              </a:r>
              <a:r>
                <a:rPr lang="en-US" sz="15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15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en-US" sz="15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15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150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en-US" sz="15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</a:t>
              </a:r>
              <a:endParaRPr lang="en-US" sz="1500" dirty="0"/>
            </a:p>
          </p:txBody>
        </p:sp>
        <p:sp>
          <p:nvSpPr>
            <p:cNvPr id="197" name="b = 156">
              <a:extLst>
                <a:ext uri="{FF2B5EF4-FFF2-40B4-BE49-F238E27FC236}">
                  <a16:creationId xmlns:a16="http://schemas.microsoft.com/office/drawing/2014/main" id="{FBA1CE62-B82C-8558-213C-8A6CA725084F}"/>
                </a:ext>
              </a:extLst>
            </p:cNvPr>
            <p:cNvSpPr txBox="1"/>
            <p:nvPr/>
          </p:nvSpPr>
          <p:spPr>
            <a:xfrm>
              <a:off x="3658243" y="5369035"/>
              <a:ext cx="374023" cy="2808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r>
                <a:rPr lang="en-US" sz="2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=</a:t>
              </a:r>
              <a:endParaRPr lang="en-US" sz="2000" dirty="0"/>
            </a:p>
          </p:txBody>
        </p:sp>
        <p:sp>
          <p:nvSpPr>
            <p:cNvPr id="198" name="左方括號 157">
              <a:extLst>
                <a:ext uri="{FF2B5EF4-FFF2-40B4-BE49-F238E27FC236}">
                  <a16:creationId xmlns:a16="http://schemas.microsoft.com/office/drawing/2014/main" id="{DF7CC4F4-DB1C-CE89-5091-DECCCDF13336}"/>
                </a:ext>
              </a:extLst>
            </p:cNvPr>
            <p:cNvSpPr/>
            <p:nvPr/>
          </p:nvSpPr>
          <p:spPr>
            <a:xfrm>
              <a:off x="4053844" y="5199063"/>
              <a:ext cx="57542" cy="620767"/>
            </a:xfrm>
            <a:prstGeom prst="leftBracket">
              <a:avLst>
                <a:gd name="adj" fmla="val 318"/>
              </a:avLst>
            </a:prstGeom>
            <a:noFill/>
            <a:ln w="19050">
              <a:solidFill>
                <a:srgbClr val="0A1A44"/>
              </a:solidFill>
              <a:prstDash val="solid"/>
            </a:ln>
          </p:spPr>
        </p:sp>
        <p:sp>
          <p:nvSpPr>
            <p:cNvPr id="199" name="右方括號 158">
              <a:extLst>
                <a:ext uri="{FF2B5EF4-FFF2-40B4-BE49-F238E27FC236}">
                  <a16:creationId xmlns:a16="http://schemas.microsoft.com/office/drawing/2014/main" id="{79497FB4-9364-C66C-6E04-2E91FD3E2FFA}"/>
                </a:ext>
              </a:extLst>
            </p:cNvPr>
            <p:cNvSpPr/>
            <p:nvPr/>
          </p:nvSpPr>
          <p:spPr>
            <a:xfrm>
              <a:off x="4435059" y="5199063"/>
              <a:ext cx="57542" cy="620767"/>
            </a:xfrm>
            <a:prstGeom prst="rightBracket">
              <a:avLst>
                <a:gd name="adj" fmla="val 318"/>
              </a:avLst>
            </a:prstGeom>
            <a:noFill/>
            <a:ln w="19050">
              <a:solidFill>
                <a:srgbClr val="0A1A44"/>
              </a:solidFill>
              <a:prstDash val="solid"/>
            </a:ln>
          </p:spPr>
        </p:sp>
        <p:sp>
          <p:nvSpPr>
            <p:cNvPr id="200" name="b 內容 159">
              <a:extLst>
                <a:ext uri="{FF2B5EF4-FFF2-40B4-BE49-F238E27FC236}">
                  <a16:creationId xmlns:a16="http://schemas.microsoft.com/office/drawing/2014/main" id="{85A1EF06-5616-D604-A513-451C790CA29E}"/>
                </a:ext>
              </a:extLst>
            </p:cNvPr>
            <p:cNvSpPr txBox="1"/>
            <p:nvPr/>
          </p:nvSpPr>
          <p:spPr>
            <a:xfrm>
              <a:off x="4118578" y="5184282"/>
              <a:ext cx="309288" cy="6503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251"/>
                </a:lnSpc>
                <a:buNone/>
              </a:pPr>
              <a:r>
                <a:rPr lang="en-US" sz="115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r>
                <a:rPr lang="en-US" sz="115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150" dirty="0"/>
            </a:p>
            <a:p>
              <a:pPr marL="0" indent="0" algn="ctr">
                <a:lnSpc>
                  <a:spcPts val="1251"/>
                </a:lnSpc>
                <a:buNone/>
              </a:pPr>
              <a:r>
                <a:rPr lang="en-US" sz="115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r>
                <a:rPr lang="en-US" sz="1150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150" dirty="0"/>
            </a:p>
            <a:p>
              <a:pPr marL="0" indent="0" algn="ctr">
                <a:lnSpc>
                  <a:spcPts val="1251"/>
                </a:lnSpc>
                <a:buNone/>
              </a:pPr>
              <a:r>
                <a:rPr lang="en-US" sz="1150" dirty="0">
                  <a:solidFill>
                    <a:srgbClr val="0A1A44"/>
                  </a:solidFill>
                  <a:latin typeface="Segoe UI Symbol" pitchFamily="34" charset="0"/>
                  <a:ea typeface="Segoe UI Symbol" pitchFamily="34" charset="-122"/>
                  <a:cs typeface="Segoe UI Symbol" pitchFamily="34" charset="-120"/>
                </a:rPr>
                <a:t>⋮</a:t>
              </a:r>
              <a:endParaRPr lang="en-US" sz="1150" dirty="0"/>
            </a:p>
            <a:p>
              <a:pPr marL="0" indent="0" algn="ctr">
                <a:lnSpc>
                  <a:spcPts val="1251"/>
                </a:lnSpc>
                <a:buNone/>
              </a:pPr>
              <a:r>
                <a:rPr lang="en-US" sz="115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r>
                <a:rPr lang="en-US" sz="1150" i="1" baseline="-250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endParaRPr lang="en-US" sz="1150" dirty="0"/>
            </a:p>
          </p:txBody>
        </p:sp>
        <p:sp>
          <p:nvSpPr>
            <p:cNvPr id="201" name="b 維度 160">
              <a:extLst>
                <a:ext uri="{FF2B5EF4-FFF2-40B4-BE49-F238E27FC236}">
                  <a16:creationId xmlns:a16="http://schemas.microsoft.com/office/drawing/2014/main" id="{0244A0D3-CF86-237E-4146-92DA0F4F06AF}"/>
                </a:ext>
              </a:extLst>
            </p:cNvPr>
            <p:cNvSpPr txBox="1"/>
            <p:nvPr/>
          </p:nvSpPr>
          <p:spPr>
            <a:xfrm>
              <a:off x="3586316" y="5834610"/>
              <a:ext cx="1114875" cy="2364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r>
                <a:rPr lang="en-US" sz="17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: </a:t>
              </a:r>
              <a:r>
                <a:rPr lang="en-US" sz="1700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en-US" sz="17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× 1</a:t>
              </a:r>
              <a:endParaRPr lang="en-US" sz="1700" dirty="0"/>
            </a:p>
          </p:txBody>
        </p:sp>
        <p:sp>
          <p:nvSpPr>
            <p:cNvPr id="202" name="資料說明 161">
              <a:extLst>
                <a:ext uri="{FF2B5EF4-FFF2-40B4-BE49-F238E27FC236}">
                  <a16:creationId xmlns:a16="http://schemas.microsoft.com/office/drawing/2014/main" id="{51C084B8-DA9F-442F-A815-F7FCF2478949}"/>
                </a:ext>
              </a:extLst>
            </p:cNvPr>
            <p:cNvSpPr txBox="1"/>
            <p:nvPr/>
          </p:nvSpPr>
          <p:spPr>
            <a:xfrm>
              <a:off x="1500421" y="6108043"/>
              <a:ext cx="2877096" cy="1921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200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每列是一筆 BS – UE 量測；</a:t>
              </a:r>
              <a:r>
                <a:rPr lang="en-US" sz="1300" i="1" dirty="0">
                  <a:solidFill>
                    <a:srgbClr val="0B3A82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</a:t>
              </a:r>
              <a:r>
                <a:rPr lang="zh-TW" altLang="en-US" sz="1200" dirty="0">
                  <a:solidFill>
                    <a:srgbClr val="0B3A8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為資料筆數</a:t>
              </a:r>
              <a:endParaRPr lang="en-US" sz="1200" dirty="0"/>
            </a:p>
          </p:txBody>
        </p:sp>
        <p:sp>
          <p:nvSpPr>
            <p:cNvPr id="204" name="區塊4 底 163">
              <a:extLst>
                <a:ext uri="{FF2B5EF4-FFF2-40B4-BE49-F238E27FC236}">
                  <a16:creationId xmlns:a16="http://schemas.microsoft.com/office/drawing/2014/main" id="{97EAEE33-97B5-085F-97F2-404F4679429F}"/>
                </a:ext>
              </a:extLst>
            </p:cNvPr>
            <p:cNvSpPr/>
            <p:nvPr/>
          </p:nvSpPr>
          <p:spPr>
            <a:xfrm>
              <a:off x="5198136" y="4027734"/>
              <a:ext cx="5890854" cy="2586530"/>
            </a:xfrm>
            <a:prstGeom prst="roundRect">
              <a:avLst>
                <a:gd name="adj" fmla="val 3827"/>
              </a:avLst>
            </a:prstGeom>
            <a:solidFill>
              <a:srgbClr val="FFFFFF"/>
            </a:solidFill>
            <a:ln w="12700">
              <a:solidFill>
                <a:srgbClr val="BAE4FD"/>
              </a:solidFill>
              <a:prstDash val="solid"/>
            </a:ln>
          </p:spPr>
        </p:sp>
        <p:sp>
          <p:nvSpPr>
            <p:cNvPr id="205" name="區塊4 標題 164">
              <a:extLst>
                <a:ext uri="{FF2B5EF4-FFF2-40B4-BE49-F238E27FC236}">
                  <a16:creationId xmlns:a16="http://schemas.microsoft.com/office/drawing/2014/main" id="{9CDA8DC7-329B-1964-04BD-E42B1034E215}"/>
                </a:ext>
              </a:extLst>
            </p:cNvPr>
            <p:cNvSpPr txBox="1"/>
            <p:nvPr/>
          </p:nvSpPr>
          <p:spPr>
            <a:xfrm>
              <a:off x="5198136" y="4027734"/>
              <a:ext cx="5890854" cy="376894"/>
            </a:xfrm>
            <a:prstGeom prst="roundRect">
              <a:avLst>
                <a:gd name="adj" fmla="val 21835"/>
              </a:avLst>
            </a:prstGeom>
            <a:solidFill>
              <a:srgbClr val="004A90"/>
            </a:solidFill>
            <a:ln/>
          </p:spPr>
          <p:txBody>
            <a:bodyPr wrap="square" lIns="676118" tIns="0" rIns="0" bIns="0" rtlCol="0" anchor="ctr"/>
            <a:lstStyle/>
            <a:p>
              <a:pPr marL="0" indent="0" algn="l">
                <a:buNone/>
              </a:pPr>
              <a:r>
                <a:rPr lang="zh-TW" altLang="en-US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確定</a:t>
              </a:r>
              <a:r>
                <a:rPr lang="en-US" altLang="zh-TW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AI</a:t>
              </a:r>
              <a:r>
                <a:rPr lang="zh-TW" altLang="en-US" sz="2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訓練對象</a:t>
              </a:r>
              <a:endParaRPr lang="zh-TW" sz="2300" dirty="0"/>
            </a:p>
          </p:txBody>
        </p:sp>
        <p:sp>
          <p:nvSpPr>
            <p:cNvPr id="206" name="區塊4 編號 165">
              <a:extLst>
                <a:ext uri="{FF2B5EF4-FFF2-40B4-BE49-F238E27FC236}">
                  <a16:creationId xmlns:a16="http://schemas.microsoft.com/office/drawing/2014/main" id="{958F3F92-F974-8837-A557-4EE52AB2679B}"/>
                </a:ext>
              </a:extLst>
            </p:cNvPr>
            <p:cNvSpPr txBox="1"/>
            <p:nvPr/>
          </p:nvSpPr>
          <p:spPr>
            <a:xfrm>
              <a:off x="5341344" y="4057295"/>
              <a:ext cx="317774" cy="317774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04A9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207" name="輸入 d、f 166">
              <a:extLst>
                <a:ext uri="{FF2B5EF4-FFF2-40B4-BE49-F238E27FC236}">
                  <a16:creationId xmlns:a16="http://schemas.microsoft.com/office/drawing/2014/main" id="{5BF47BAD-4491-D083-BD91-19951CB75797}"/>
                </a:ext>
              </a:extLst>
            </p:cNvPr>
            <p:cNvSpPr txBox="1"/>
            <p:nvPr/>
          </p:nvSpPr>
          <p:spPr>
            <a:xfrm>
              <a:off x="5701627" y="4816695"/>
              <a:ext cx="733660" cy="458185"/>
            </a:xfrm>
            <a:prstGeom prst="roundRect">
              <a:avLst>
                <a:gd name="adj" fmla="val 15966"/>
              </a:avLst>
            </a:prstGeom>
            <a:solidFill>
              <a:srgbClr val="D9F0FE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en-US" sz="17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zh-TW" altLang="en-US" sz="130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、</a:t>
              </a:r>
              <a:r>
                <a:rPr lang="en-US" sz="17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endParaRPr lang="en-US" sz="1700" dirty="0"/>
            </a:p>
          </p:txBody>
        </p:sp>
        <p:sp>
          <p:nvSpPr>
            <p:cNvPr id="208" name="流程箭頭 167">
              <a:extLst>
                <a:ext uri="{FF2B5EF4-FFF2-40B4-BE49-F238E27FC236}">
                  <a16:creationId xmlns:a16="http://schemas.microsoft.com/office/drawing/2014/main" id="{216FB808-3167-9D38-B862-5F10A680D62C}"/>
                </a:ext>
              </a:extLst>
            </p:cNvPr>
            <p:cNvSpPr/>
            <p:nvPr/>
          </p:nvSpPr>
          <p:spPr>
            <a:xfrm>
              <a:off x="6456865" y="5045788"/>
              <a:ext cx="409986" cy="0"/>
            </a:xfrm>
            <a:prstGeom prst="line">
              <a:avLst/>
            </a:prstGeom>
            <a:noFill/>
            <a:ln w="31750">
              <a:solidFill>
                <a:srgbClr val="0B6FD0"/>
              </a:solidFill>
              <a:prstDash val="solid"/>
              <a:headEnd type="none"/>
              <a:tailEnd type="triangle"/>
            </a:ln>
          </p:spPr>
        </p:sp>
        <p:sp>
          <p:nvSpPr>
            <p:cNvPr id="209" name="AI 校正模型 168">
              <a:extLst>
                <a:ext uri="{FF2B5EF4-FFF2-40B4-BE49-F238E27FC236}">
                  <a16:creationId xmlns:a16="http://schemas.microsoft.com/office/drawing/2014/main" id="{C149EF67-EF94-C07E-7AC7-0111801EF80E}"/>
                </a:ext>
              </a:extLst>
            </p:cNvPr>
            <p:cNvSpPr txBox="1"/>
            <p:nvPr/>
          </p:nvSpPr>
          <p:spPr>
            <a:xfrm>
              <a:off x="6895622" y="4801915"/>
              <a:ext cx="2107473" cy="472966"/>
            </a:xfrm>
            <a:prstGeom prst="roundRect">
              <a:avLst>
                <a:gd name="adj" fmla="val 15467"/>
              </a:avLst>
            </a:prstGeom>
            <a:solidFill>
              <a:srgbClr val="EF5F01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zh-TW" altLang="en-US" sz="1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傳播損耗校正模型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400" i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g</a:t>
              </a:r>
              <a:r>
                <a:rPr lang="en-US" sz="1400" i="1" baseline="-25000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θ</a:t>
              </a:r>
              <a:r>
                <a:rPr lang="en-US" sz="1400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 · )</a:t>
              </a:r>
              <a:endParaRPr lang="en-US" sz="1200" dirty="0"/>
            </a:p>
          </p:txBody>
        </p:sp>
        <p:sp>
          <p:nvSpPr>
            <p:cNvPr id="210" name="流程箭頭 169">
              <a:extLst>
                <a:ext uri="{FF2B5EF4-FFF2-40B4-BE49-F238E27FC236}">
                  <a16:creationId xmlns:a16="http://schemas.microsoft.com/office/drawing/2014/main" id="{2B49A4BE-0A2B-1E69-5735-D845A50EFBEF}"/>
                </a:ext>
              </a:extLst>
            </p:cNvPr>
            <p:cNvSpPr/>
            <p:nvPr/>
          </p:nvSpPr>
          <p:spPr>
            <a:xfrm>
              <a:off x="9024673" y="5045788"/>
              <a:ext cx="417179" cy="0"/>
            </a:xfrm>
            <a:prstGeom prst="line">
              <a:avLst/>
            </a:prstGeom>
            <a:noFill/>
            <a:ln w="31750">
              <a:solidFill>
                <a:srgbClr val="0B6FD0"/>
              </a:solidFill>
              <a:prstDash val="solid"/>
              <a:headEnd type="none"/>
              <a:tailEnd type="triangle"/>
            </a:ln>
          </p:spPr>
        </p:sp>
        <p:sp>
          <p:nvSpPr>
            <p:cNvPr id="211" name="損耗修正量 170">
              <a:extLst>
                <a:ext uri="{FF2B5EF4-FFF2-40B4-BE49-F238E27FC236}">
                  <a16:creationId xmlns:a16="http://schemas.microsoft.com/office/drawing/2014/main" id="{8AA7743A-537C-02CF-2C1D-CE5A6F88951D}"/>
                </a:ext>
              </a:extLst>
            </p:cNvPr>
            <p:cNvSpPr txBox="1"/>
            <p:nvPr/>
          </p:nvSpPr>
          <p:spPr>
            <a:xfrm>
              <a:off x="9470623" y="4816695"/>
              <a:ext cx="1345042" cy="458185"/>
            </a:xfrm>
            <a:prstGeom prst="roundRect">
              <a:avLst>
                <a:gd name="adj" fmla="val 15966"/>
              </a:avLst>
            </a:prstGeom>
            <a:solidFill>
              <a:srgbClr val="FDE9D2"/>
            </a:solidFill>
            <a:ln/>
          </p:spPr>
          <p:txBody>
            <a:bodyPr wrap="none" lIns="50800" tIns="0" rIns="50800" bIns="0" rtlCol="0" anchor="ctr"/>
            <a:lstStyle/>
            <a:p>
              <a:pPr marL="0" indent="0" algn="ctr">
                <a:buNone/>
              </a:pPr>
              <a:r>
                <a:rPr lang="zh-TW" altLang="en-US" sz="1200" b="1" dirty="0">
                  <a:solidFill>
                    <a:srgbClr val="F0440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損耗修正量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Δ</a:t>
              </a:r>
              <a:r>
                <a:rPr lang="en-US" sz="1300" b="1" i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</a:t>
              </a:r>
              <a:r>
                <a:rPr lang="en-US" sz="1300" b="1" i="1" baseline="-25000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θ</a:t>
              </a:r>
              <a:r>
                <a:rPr lang="en-US" sz="1300" b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en-US" sz="1300" b="1" i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r>
                <a:rPr lang="en-US" sz="1300" b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1300" b="1" i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1300" b="1" dirty="0">
                  <a:solidFill>
                    <a:srgbClr val="F044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212" name="預測式底 171">
              <a:extLst>
                <a:ext uri="{FF2B5EF4-FFF2-40B4-BE49-F238E27FC236}">
                  <a16:creationId xmlns:a16="http://schemas.microsoft.com/office/drawing/2014/main" id="{30CABA7D-5A1F-9FCA-53A5-1353866B6130}"/>
                </a:ext>
              </a:extLst>
            </p:cNvPr>
            <p:cNvSpPr/>
            <p:nvPr/>
          </p:nvSpPr>
          <p:spPr>
            <a:xfrm>
              <a:off x="5298591" y="5642467"/>
              <a:ext cx="5711036" cy="844058"/>
            </a:xfrm>
            <a:prstGeom prst="roundRect">
              <a:avLst>
                <a:gd name="adj" fmla="val 9899"/>
              </a:avLst>
            </a:prstGeom>
            <a:solidFill>
              <a:srgbClr val="E8F6FE"/>
            </a:solidFill>
            <a:ln/>
          </p:spPr>
        </p:sp>
        <p:sp>
          <p:nvSpPr>
            <p:cNvPr id="213" name="ŷ 172">
              <a:extLst>
                <a:ext uri="{FF2B5EF4-FFF2-40B4-BE49-F238E27FC236}">
                  <a16:creationId xmlns:a16="http://schemas.microsoft.com/office/drawing/2014/main" id="{F5EE8A41-4316-556F-682E-9BF994F898C2}"/>
                </a:ext>
              </a:extLst>
            </p:cNvPr>
            <p:cNvSpPr txBox="1"/>
            <p:nvPr/>
          </p:nvSpPr>
          <p:spPr>
            <a:xfrm>
              <a:off x="6212069" y="5627687"/>
              <a:ext cx="503492" cy="325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ŷ</a:t>
              </a:r>
              <a:endParaRPr lang="en-US" sz="2400" dirty="0"/>
            </a:p>
          </p:txBody>
        </p:sp>
        <p:sp>
          <p:nvSpPr>
            <p:cNvPr id="214" name="等號 173">
              <a:extLst>
                <a:ext uri="{FF2B5EF4-FFF2-40B4-BE49-F238E27FC236}">
                  <a16:creationId xmlns:a16="http://schemas.microsoft.com/office/drawing/2014/main" id="{97099142-CAF0-7E15-EF18-8A3F64534433}"/>
                </a:ext>
              </a:extLst>
            </p:cNvPr>
            <p:cNvSpPr txBox="1"/>
            <p:nvPr/>
          </p:nvSpPr>
          <p:spPr>
            <a:xfrm>
              <a:off x="6693982" y="5627687"/>
              <a:ext cx="287710" cy="325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=</a:t>
              </a:r>
              <a:endParaRPr lang="en-US" sz="2400" dirty="0"/>
            </a:p>
          </p:txBody>
        </p:sp>
        <p:sp>
          <p:nvSpPr>
            <p:cNvPr id="215" name="b 174">
              <a:extLst>
                <a:ext uri="{FF2B5EF4-FFF2-40B4-BE49-F238E27FC236}">
                  <a16:creationId xmlns:a16="http://schemas.microsoft.com/office/drawing/2014/main" id="{794EF427-7293-4B60-8B2C-27952C46C6B6}"/>
                </a:ext>
              </a:extLst>
            </p:cNvPr>
            <p:cNvSpPr txBox="1"/>
            <p:nvPr/>
          </p:nvSpPr>
          <p:spPr>
            <a:xfrm>
              <a:off x="6967307" y="5627687"/>
              <a:ext cx="503492" cy="325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i="1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endParaRPr lang="en-US" sz="2400" dirty="0"/>
            </a:p>
          </p:txBody>
        </p:sp>
        <p:sp>
          <p:nvSpPr>
            <p:cNvPr id="216" name="加號 175">
              <a:extLst>
                <a:ext uri="{FF2B5EF4-FFF2-40B4-BE49-F238E27FC236}">
                  <a16:creationId xmlns:a16="http://schemas.microsoft.com/office/drawing/2014/main" id="{45754CAC-6B42-BEA0-A4E9-B367559354F2}"/>
                </a:ext>
              </a:extLst>
            </p:cNvPr>
            <p:cNvSpPr txBox="1"/>
            <p:nvPr/>
          </p:nvSpPr>
          <p:spPr>
            <a:xfrm>
              <a:off x="7470798" y="5627687"/>
              <a:ext cx="287710" cy="325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+</a:t>
              </a:r>
              <a:endParaRPr lang="en-US" sz="2400" dirty="0"/>
            </a:p>
          </p:txBody>
        </p:sp>
        <p:sp>
          <p:nvSpPr>
            <p:cNvPr id="217" name="g_θ(X) 176">
              <a:extLst>
                <a:ext uri="{FF2B5EF4-FFF2-40B4-BE49-F238E27FC236}">
                  <a16:creationId xmlns:a16="http://schemas.microsoft.com/office/drawing/2014/main" id="{847DC4C2-9F68-DD94-F70D-B43A96E1BC30}"/>
                </a:ext>
              </a:extLst>
            </p:cNvPr>
            <p:cNvSpPr txBox="1"/>
            <p:nvPr/>
          </p:nvSpPr>
          <p:spPr>
            <a:xfrm>
              <a:off x="7794472" y="5627687"/>
              <a:ext cx="877514" cy="325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i="1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g</a:t>
              </a:r>
              <a:r>
                <a:rPr lang="en-US" sz="2400" b="1" i="1" baseline="-25000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θ</a:t>
              </a:r>
              <a:r>
                <a:rPr lang="en-US" sz="2400" b="1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en-US" sz="2400" b="1" i="1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2400" b="1" dirty="0">
                  <a:solidFill>
                    <a:srgbClr val="F2590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</a:t>
              </a:r>
              <a:endParaRPr lang="en-US" sz="2400" dirty="0"/>
            </a:p>
          </p:txBody>
        </p:sp>
        <p:sp>
          <p:nvSpPr>
            <p:cNvPr id="218" name="下括號 177">
              <a:extLst>
                <a:ext uri="{FF2B5EF4-FFF2-40B4-BE49-F238E27FC236}">
                  <a16:creationId xmlns:a16="http://schemas.microsoft.com/office/drawing/2014/main" id="{4AFA142A-D483-A16C-9C78-281CE2ED2676}"/>
                </a:ext>
              </a:extLst>
            </p:cNvPr>
            <p:cNvSpPr/>
            <p:nvPr/>
          </p:nvSpPr>
          <p:spPr>
            <a:xfrm rot="5400000">
              <a:off x="6397797" y="5764414"/>
              <a:ext cx="96071" cy="539456"/>
            </a:xfrm>
            <a:prstGeom prst="rightBrace">
              <a:avLst/>
            </a:prstGeom>
            <a:noFill/>
            <a:ln w="19050">
              <a:solidFill>
                <a:srgbClr val="1565D8"/>
              </a:solidFill>
              <a:prstDash val="solid"/>
            </a:ln>
          </p:spPr>
        </p:sp>
        <p:sp>
          <p:nvSpPr>
            <p:cNvPr id="219" name="下括號 178">
              <a:extLst>
                <a:ext uri="{FF2B5EF4-FFF2-40B4-BE49-F238E27FC236}">
                  <a16:creationId xmlns:a16="http://schemas.microsoft.com/office/drawing/2014/main" id="{E05CCF2F-BE56-48F8-BC7F-F81009820CE3}"/>
                </a:ext>
              </a:extLst>
            </p:cNvPr>
            <p:cNvSpPr/>
            <p:nvPr/>
          </p:nvSpPr>
          <p:spPr>
            <a:xfrm rot="5400000">
              <a:off x="7171017" y="5768011"/>
              <a:ext cx="96071" cy="532263"/>
            </a:xfrm>
            <a:prstGeom prst="rightBrace">
              <a:avLst/>
            </a:prstGeom>
            <a:noFill/>
            <a:ln w="19050">
              <a:solidFill>
                <a:srgbClr val="1565D8"/>
              </a:solidFill>
              <a:prstDash val="solid"/>
            </a:ln>
          </p:spPr>
        </p:sp>
        <p:sp>
          <p:nvSpPr>
            <p:cNvPr id="220" name="下括號 179">
              <a:extLst>
                <a:ext uri="{FF2B5EF4-FFF2-40B4-BE49-F238E27FC236}">
                  <a16:creationId xmlns:a16="http://schemas.microsoft.com/office/drawing/2014/main" id="{BD3082A5-CEB9-195F-F9AA-8F5C5A7560D4}"/>
                </a:ext>
              </a:extLst>
            </p:cNvPr>
            <p:cNvSpPr/>
            <p:nvPr/>
          </p:nvSpPr>
          <p:spPr>
            <a:xfrm rot="5400000">
              <a:off x="8185193" y="5674505"/>
              <a:ext cx="96071" cy="719274"/>
            </a:xfrm>
            <a:prstGeom prst="rightBrace">
              <a:avLst/>
            </a:prstGeom>
            <a:noFill/>
            <a:ln w="19050">
              <a:solidFill>
                <a:srgbClr val="F2590F"/>
              </a:solidFill>
              <a:prstDash val="solid"/>
            </a:ln>
          </p:spPr>
        </p:sp>
        <p:sp>
          <p:nvSpPr>
            <p:cNvPr id="221" name="說明-預測 180">
              <a:extLst>
                <a:ext uri="{FF2B5EF4-FFF2-40B4-BE49-F238E27FC236}">
                  <a16:creationId xmlns:a16="http://schemas.microsoft.com/office/drawing/2014/main" id="{68F64234-15C5-F741-FE8A-9EEB67A5882D}"/>
                </a:ext>
              </a:extLst>
            </p:cNvPr>
            <p:cNvSpPr txBox="1"/>
            <p:nvPr/>
          </p:nvSpPr>
          <p:spPr>
            <a:xfrm>
              <a:off x="5996287" y="6093263"/>
              <a:ext cx="899093" cy="2808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000" b="1" dirty="0">
                  <a:solidFill>
                    <a:srgbClr val="0F4C9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預測的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zh-TW" altLang="en-US" sz="1000" b="1" dirty="0">
                  <a:solidFill>
                    <a:srgbClr val="0F4C9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Path Loss</a:t>
              </a:r>
              <a:endParaRPr lang="en-US" sz="1000" dirty="0"/>
            </a:p>
          </p:txBody>
        </p:sp>
        <p:sp>
          <p:nvSpPr>
            <p:cNvPr id="222" name="說明-基準 181">
              <a:extLst>
                <a:ext uri="{FF2B5EF4-FFF2-40B4-BE49-F238E27FC236}">
                  <a16:creationId xmlns:a16="http://schemas.microsoft.com/office/drawing/2014/main" id="{983C0082-42D7-8EEB-E76B-A3DC88FDBA73}"/>
                </a:ext>
              </a:extLst>
            </p:cNvPr>
            <p:cNvSpPr txBox="1"/>
            <p:nvPr/>
          </p:nvSpPr>
          <p:spPr>
            <a:xfrm>
              <a:off x="6895379" y="6093263"/>
              <a:ext cx="647347" cy="2808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000" b="1" dirty="0">
                  <a:solidFill>
                    <a:srgbClr val="0F4C9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3GPP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zh-TW" altLang="en-US" sz="1000" b="1" dirty="0">
                  <a:solidFill>
                    <a:srgbClr val="0F4C9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基準</a:t>
              </a:r>
              <a:endParaRPr lang="en-US" sz="1000" dirty="0"/>
            </a:p>
          </p:txBody>
        </p:sp>
        <p:sp>
          <p:nvSpPr>
            <p:cNvPr id="223" name="說明-AI修正量 182">
              <a:extLst>
                <a:ext uri="{FF2B5EF4-FFF2-40B4-BE49-F238E27FC236}">
                  <a16:creationId xmlns:a16="http://schemas.microsoft.com/office/drawing/2014/main" id="{B4445A86-F09A-37CC-0515-3AA428E24F38}"/>
                </a:ext>
              </a:extLst>
            </p:cNvPr>
            <p:cNvSpPr txBox="1"/>
            <p:nvPr/>
          </p:nvSpPr>
          <p:spPr>
            <a:xfrm>
              <a:off x="7794472" y="6137603"/>
              <a:ext cx="877514" cy="1921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100" b="1" dirty="0">
                  <a:solidFill>
                    <a:srgbClr val="F0440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損耗修正</a:t>
              </a:r>
              <a:endParaRPr lang="en-US" altLang="zh-TW" sz="1100" b="1" dirty="0">
                <a:solidFill>
                  <a:srgbClr val="F044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</p:txBody>
        </p:sp>
        <p:sp>
          <p:nvSpPr>
            <p:cNvPr id="224" name="說明-逐筆處理 183">
              <a:extLst>
                <a:ext uri="{FF2B5EF4-FFF2-40B4-BE49-F238E27FC236}">
                  <a16:creationId xmlns:a16="http://schemas.microsoft.com/office/drawing/2014/main" id="{0C328A7C-9553-0083-8EDA-D330C707B0A0}"/>
                </a:ext>
              </a:extLst>
            </p:cNvPr>
            <p:cNvSpPr txBox="1"/>
            <p:nvPr/>
          </p:nvSpPr>
          <p:spPr>
            <a:xfrm>
              <a:off x="9053201" y="5775489"/>
              <a:ext cx="1798185" cy="4729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 err="1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g</a:t>
              </a:r>
              <a:r>
                <a:rPr lang="en-US" sz="1400" i="1" baseline="-25000" dirty="0" err="1">
                  <a:solidFill>
                    <a:srgbClr val="0A1A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θ</a:t>
              </a:r>
              <a:r>
                <a:rPr lang="zh-TW" altLang="en-US" sz="125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為 </a:t>
              </a:r>
              <a:r>
                <a:rPr lang="en-US" altLang="zh-TW" sz="125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</a:t>
              </a:r>
              <a:r>
                <a:rPr lang="zh-TW" altLang="en-US" sz="125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訓練對象，當它訓練</a:t>
              </a:r>
              <a:endParaRPr lang="en-US" altLang="zh-TW" sz="1250" dirty="0">
                <a:solidFill>
                  <a:srgbClr val="0A1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0" indent="0" algn="ctr">
                <a:buNone/>
              </a:pPr>
              <a:r>
                <a:rPr lang="zh-TW" altLang="en-US" sz="125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的越好則</a:t>
              </a:r>
              <a:r>
                <a:rPr lang="en-US" altLang="zh-TW" sz="125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Path Loss</a:t>
              </a:r>
              <a:r>
                <a:rPr lang="zh-TW" altLang="en-US" sz="1250" dirty="0">
                  <a:solidFill>
                    <a:srgbClr val="0A1A4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越準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810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71F764-5F65-5A91-303A-E4065656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如何利用實網資料訓練</a:t>
            </a:r>
            <a:r>
              <a:rPr lang="en-US" altLang="zh-TW" dirty="0"/>
              <a:t>AI</a:t>
            </a:r>
            <a:r>
              <a:rPr lang="zh-TW" altLang="en-US" dirty="0"/>
              <a:t>模型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3B1D76-A335-E99D-79E8-EA66D6A7D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20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5" name="區塊1 標題 7">
            <a:extLst>
              <a:ext uri="{FF2B5EF4-FFF2-40B4-BE49-F238E27FC236}">
                <a16:creationId xmlns:a16="http://schemas.microsoft.com/office/drawing/2014/main" id="{918538B8-468F-84EA-1AB7-CDF81B94AD44}"/>
              </a:ext>
            </a:extLst>
          </p:cNvPr>
          <p:cNvSpPr txBox="1"/>
          <p:nvPr/>
        </p:nvSpPr>
        <p:spPr>
          <a:xfrm>
            <a:off x="215934" y="942811"/>
            <a:ext cx="11760131" cy="436015"/>
          </a:xfrm>
          <a:prstGeom prst="roundRect">
            <a:avLst>
              <a:gd name="adj" fmla="val 16777"/>
            </a:avLst>
          </a:prstGeom>
          <a:solidFill>
            <a:srgbClr val="004A90"/>
          </a:solidFill>
          <a:ln/>
        </p:spPr>
        <p:txBody>
          <a:bodyPr wrap="square" lIns="683310" tIns="0" rIns="0" bIns="0" rtlCol="0" anchor="ctr"/>
          <a:lstStyle/>
          <a:p>
            <a:pPr marL="0" indent="0" algn="l">
              <a:buNone/>
            </a:pP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從一般AI公式，說明我們的模型</a:t>
            </a:r>
            <a:endParaRPr lang="zh-TW" sz="2000" dirty="0"/>
          </a:p>
        </p:txBody>
      </p:sp>
      <p:sp>
        <p:nvSpPr>
          <p:cNvPr id="6" name="區塊1 編號 8">
            <a:extLst>
              <a:ext uri="{FF2B5EF4-FFF2-40B4-BE49-F238E27FC236}">
                <a16:creationId xmlns:a16="http://schemas.microsoft.com/office/drawing/2014/main" id="{BB4C6C7A-0F39-B11D-8B08-09194DA90556}"/>
              </a:ext>
            </a:extLst>
          </p:cNvPr>
          <p:cNvSpPr txBox="1"/>
          <p:nvPr/>
        </p:nvSpPr>
        <p:spPr>
          <a:xfrm>
            <a:off x="384021" y="990846"/>
            <a:ext cx="339944" cy="33994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4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表頭-空白 9">
            <a:extLst>
              <a:ext uri="{FF2B5EF4-FFF2-40B4-BE49-F238E27FC236}">
                <a16:creationId xmlns:a16="http://schemas.microsoft.com/office/drawing/2014/main" id="{F42A20E7-3147-13F5-598D-BEB66C21ED12}"/>
              </a:ext>
            </a:extLst>
          </p:cNvPr>
          <p:cNvSpPr txBox="1"/>
          <p:nvPr/>
        </p:nvSpPr>
        <p:spPr>
          <a:xfrm>
            <a:off x="215934" y="1408386"/>
            <a:ext cx="1776607" cy="317774"/>
          </a:xfrm>
          <a:prstGeom prst="rect">
            <a:avLst/>
          </a:prstGeom>
          <a:solidFill>
            <a:srgbClr val="B2DEF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表頭-一般AI 10">
            <a:extLst>
              <a:ext uri="{FF2B5EF4-FFF2-40B4-BE49-F238E27FC236}">
                <a16:creationId xmlns:a16="http://schemas.microsoft.com/office/drawing/2014/main" id="{2A9F3C91-966D-EE0D-90BA-CC79F718643B}"/>
              </a:ext>
            </a:extLst>
          </p:cNvPr>
          <p:cNvSpPr txBox="1"/>
          <p:nvPr/>
        </p:nvSpPr>
        <p:spPr>
          <a:xfrm>
            <a:off x="1992541" y="1408386"/>
            <a:ext cx="4495463" cy="317774"/>
          </a:xfrm>
          <a:prstGeom prst="rect">
            <a:avLst/>
          </a:prstGeom>
          <a:solidFill>
            <a:srgbClr val="B2DEF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AI</a:t>
            </a:r>
            <a:endParaRPr lang="en-US" sz="1700" dirty="0"/>
          </a:p>
        </p:txBody>
      </p:sp>
      <p:sp>
        <p:nvSpPr>
          <p:cNvPr id="9" name="表頭-空白 11">
            <a:extLst>
              <a:ext uri="{FF2B5EF4-FFF2-40B4-BE49-F238E27FC236}">
                <a16:creationId xmlns:a16="http://schemas.microsoft.com/office/drawing/2014/main" id="{663F19AE-7CC6-421C-9913-D7935FB898BB}"/>
              </a:ext>
            </a:extLst>
          </p:cNvPr>
          <p:cNvSpPr txBox="1"/>
          <p:nvPr/>
        </p:nvSpPr>
        <p:spPr>
          <a:xfrm>
            <a:off x="6488004" y="1408386"/>
            <a:ext cx="589805" cy="317774"/>
          </a:xfrm>
          <a:prstGeom prst="rect">
            <a:avLst/>
          </a:prstGeom>
          <a:solidFill>
            <a:srgbClr val="B2DEF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" name="表頭-3GPP+AI 12">
            <a:extLst>
              <a:ext uri="{FF2B5EF4-FFF2-40B4-BE49-F238E27FC236}">
                <a16:creationId xmlns:a16="http://schemas.microsoft.com/office/drawing/2014/main" id="{9B339AC1-7E18-9A5F-DFE6-706331C1B0E8}"/>
              </a:ext>
            </a:extLst>
          </p:cNvPr>
          <p:cNvSpPr txBox="1"/>
          <p:nvPr/>
        </p:nvSpPr>
        <p:spPr>
          <a:xfrm>
            <a:off x="7077809" y="1408386"/>
            <a:ext cx="4898256" cy="317774"/>
          </a:xfrm>
          <a:prstGeom prst="rect">
            <a:avLst/>
          </a:prstGeom>
          <a:solidFill>
            <a:srgbClr val="B2DEF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3GPP + AI校正</a:t>
            </a:r>
            <a:endParaRPr lang="en-US" sz="1700" dirty="0"/>
          </a:p>
        </p:txBody>
      </p:sp>
      <p:sp>
        <p:nvSpPr>
          <p:cNvPr id="11" name="列標 13">
            <a:extLst>
              <a:ext uri="{FF2B5EF4-FFF2-40B4-BE49-F238E27FC236}">
                <a16:creationId xmlns:a16="http://schemas.microsoft.com/office/drawing/2014/main" id="{3EECE2B4-9611-2443-FA63-2A0DDF0A14B6}"/>
              </a:ext>
            </a:extLst>
          </p:cNvPr>
          <p:cNvSpPr txBox="1"/>
          <p:nvPr/>
        </p:nvSpPr>
        <p:spPr>
          <a:xfrm>
            <a:off x="215934" y="1726160"/>
            <a:ext cx="1776607" cy="495136"/>
          </a:xfrm>
          <a:prstGeom prst="rect">
            <a:avLst/>
          </a:prstGeom>
          <a:solidFill>
            <a:srgbClr val="CFEBF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</a:t>
            </a:r>
            <a:endParaRPr lang="en-US" sz="15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(Prediction)</a:t>
            </a:r>
            <a:endParaRPr lang="en-US" sz="1500" dirty="0"/>
          </a:p>
        </p:txBody>
      </p:sp>
      <p:sp>
        <p:nvSpPr>
          <p:cNvPr id="12" name="格-一般AI 14">
            <a:extLst>
              <a:ext uri="{FF2B5EF4-FFF2-40B4-BE49-F238E27FC236}">
                <a16:creationId xmlns:a16="http://schemas.microsoft.com/office/drawing/2014/main" id="{512CB1FC-FCC1-1DC6-2C79-E569EC336978}"/>
              </a:ext>
            </a:extLst>
          </p:cNvPr>
          <p:cNvSpPr txBox="1"/>
          <p:nvPr/>
        </p:nvSpPr>
        <p:spPr>
          <a:xfrm>
            <a:off x="1992541" y="1726160"/>
            <a:ext cx="4495463" cy="495136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格-箭頭 15">
            <a:extLst>
              <a:ext uri="{FF2B5EF4-FFF2-40B4-BE49-F238E27FC236}">
                <a16:creationId xmlns:a16="http://schemas.microsoft.com/office/drawing/2014/main" id="{39EA893C-6174-FF2A-3BAD-5A70AA86E847}"/>
              </a:ext>
            </a:extLst>
          </p:cNvPr>
          <p:cNvSpPr txBox="1"/>
          <p:nvPr/>
        </p:nvSpPr>
        <p:spPr>
          <a:xfrm>
            <a:off x="6488004" y="1726160"/>
            <a:ext cx="589805" cy="495136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格-我們的模型 16">
            <a:extLst>
              <a:ext uri="{FF2B5EF4-FFF2-40B4-BE49-F238E27FC236}">
                <a16:creationId xmlns:a16="http://schemas.microsoft.com/office/drawing/2014/main" id="{570B7708-C069-0196-FDE6-86335DCAA9D2}"/>
              </a:ext>
            </a:extLst>
          </p:cNvPr>
          <p:cNvSpPr txBox="1"/>
          <p:nvPr/>
        </p:nvSpPr>
        <p:spPr>
          <a:xfrm>
            <a:off x="7077809" y="1726160"/>
            <a:ext cx="4898256" cy="495136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對應箭頭 17">
            <a:extLst>
              <a:ext uri="{FF2B5EF4-FFF2-40B4-BE49-F238E27FC236}">
                <a16:creationId xmlns:a16="http://schemas.microsoft.com/office/drawing/2014/main" id="{9F2E7F77-938E-14FC-2F8D-906082F268BA}"/>
              </a:ext>
            </a:extLst>
          </p:cNvPr>
          <p:cNvSpPr/>
          <p:nvPr/>
        </p:nvSpPr>
        <p:spPr>
          <a:xfrm>
            <a:off x="6653437" y="1881352"/>
            <a:ext cx="273324" cy="206922"/>
          </a:xfrm>
          <a:prstGeom prst="rightArrow">
            <a:avLst/>
          </a:prstGeom>
          <a:solidFill>
            <a:srgbClr val="5B7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列標 18">
            <a:extLst>
              <a:ext uri="{FF2B5EF4-FFF2-40B4-BE49-F238E27FC236}">
                <a16:creationId xmlns:a16="http://schemas.microsoft.com/office/drawing/2014/main" id="{B1804B87-5EB3-AD5E-E8AC-8CD9146C14AA}"/>
              </a:ext>
            </a:extLst>
          </p:cNvPr>
          <p:cNvSpPr txBox="1"/>
          <p:nvPr/>
        </p:nvSpPr>
        <p:spPr>
          <a:xfrm>
            <a:off x="215934" y="2221296"/>
            <a:ext cx="1776607" cy="798129"/>
          </a:xfrm>
          <a:prstGeom prst="rect">
            <a:avLst/>
          </a:prstGeom>
          <a:solidFill>
            <a:srgbClr val="CFEBF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Function</a:t>
            </a:r>
            <a:endParaRPr lang="en-US" sz="1500" dirty="0"/>
          </a:p>
        </p:txBody>
      </p:sp>
      <p:sp>
        <p:nvSpPr>
          <p:cNvPr id="17" name="格-一般AI 19">
            <a:extLst>
              <a:ext uri="{FF2B5EF4-FFF2-40B4-BE49-F238E27FC236}">
                <a16:creationId xmlns:a16="http://schemas.microsoft.com/office/drawing/2014/main" id="{B3ECC618-818C-CE00-A77D-73619941E5E0}"/>
              </a:ext>
            </a:extLst>
          </p:cNvPr>
          <p:cNvSpPr txBox="1"/>
          <p:nvPr/>
        </p:nvSpPr>
        <p:spPr>
          <a:xfrm>
            <a:off x="1992541" y="2221296"/>
            <a:ext cx="4495463" cy="798129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" name="格-箭頭 20">
            <a:extLst>
              <a:ext uri="{FF2B5EF4-FFF2-40B4-BE49-F238E27FC236}">
                <a16:creationId xmlns:a16="http://schemas.microsoft.com/office/drawing/2014/main" id="{1D3B36D3-C9AC-5361-C62D-4FAEB11AFBCA}"/>
              </a:ext>
            </a:extLst>
          </p:cNvPr>
          <p:cNvSpPr txBox="1"/>
          <p:nvPr/>
        </p:nvSpPr>
        <p:spPr>
          <a:xfrm>
            <a:off x="6488004" y="2221296"/>
            <a:ext cx="589805" cy="798129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9" name="格-我們的模型 21">
            <a:extLst>
              <a:ext uri="{FF2B5EF4-FFF2-40B4-BE49-F238E27FC236}">
                <a16:creationId xmlns:a16="http://schemas.microsoft.com/office/drawing/2014/main" id="{B8CE76BF-34C7-90E2-8E0B-9E7A0687B743}"/>
              </a:ext>
            </a:extLst>
          </p:cNvPr>
          <p:cNvSpPr txBox="1"/>
          <p:nvPr/>
        </p:nvSpPr>
        <p:spPr>
          <a:xfrm>
            <a:off x="7077809" y="2221296"/>
            <a:ext cx="4898256" cy="798129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對應箭頭 22">
            <a:extLst>
              <a:ext uri="{FF2B5EF4-FFF2-40B4-BE49-F238E27FC236}">
                <a16:creationId xmlns:a16="http://schemas.microsoft.com/office/drawing/2014/main" id="{AF8525E9-4035-44EB-463E-FD6CA857E066}"/>
              </a:ext>
            </a:extLst>
          </p:cNvPr>
          <p:cNvSpPr/>
          <p:nvPr/>
        </p:nvSpPr>
        <p:spPr>
          <a:xfrm>
            <a:off x="6653437" y="2479949"/>
            <a:ext cx="273324" cy="206922"/>
          </a:xfrm>
          <a:prstGeom prst="rightArrow">
            <a:avLst/>
          </a:prstGeom>
          <a:solidFill>
            <a:srgbClr val="5B7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列標 23">
            <a:extLst>
              <a:ext uri="{FF2B5EF4-FFF2-40B4-BE49-F238E27FC236}">
                <a16:creationId xmlns:a16="http://schemas.microsoft.com/office/drawing/2014/main" id="{3FF65DAC-B773-AB7C-639F-E4F091DC4162}"/>
              </a:ext>
            </a:extLst>
          </p:cNvPr>
          <p:cNvSpPr txBox="1"/>
          <p:nvPr/>
        </p:nvSpPr>
        <p:spPr>
          <a:xfrm>
            <a:off x="215934" y="3019425"/>
            <a:ext cx="1776607" cy="642938"/>
          </a:xfrm>
          <a:prstGeom prst="rect">
            <a:avLst/>
          </a:prstGeom>
          <a:solidFill>
            <a:srgbClr val="CFEBF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參數更新</a:t>
            </a:r>
            <a:endParaRPr lang="en-US" sz="15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(Parameter Update)</a:t>
            </a:r>
            <a:endParaRPr lang="en-US" sz="1500" dirty="0"/>
          </a:p>
        </p:txBody>
      </p:sp>
      <p:sp>
        <p:nvSpPr>
          <p:cNvPr id="22" name="格-一般AI 24">
            <a:extLst>
              <a:ext uri="{FF2B5EF4-FFF2-40B4-BE49-F238E27FC236}">
                <a16:creationId xmlns:a16="http://schemas.microsoft.com/office/drawing/2014/main" id="{42D74C33-0E48-9864-633C-6AEE032210FD}"/>
              </a:ext>
            </a:extLst>
          </p:cNvPr>
          <p:cNvSpPr txBox="1"/>
          <p:nvPr/>
        </p:nvSpPr>
        <p:spPr>
          <a:xfrm>
            <a:off x="1992541" y="3019425"/>
            <a:ext cx="4495463" cy="642938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3" name="格-箭頭 25">
            <a:extLst>
              <a:ext uri="{FF2B5EF4-FFF2-40B4-BE49-F238E27FC236}">
                <a16:creationId xmlns:a16="http://schemas.microsoft.com/office/drawing/2014/main" id="{3A2CA6C9-AB22-FDB6-3CDA-C9EF65AD350A}"/>
              </a:ext>
            </a:extLst>
          </p:cNvPr>
          <p:cNvSpPr txBox="1"/>
          <p:nvPr/>
        </p:nvSpPr>
        <p:spPr>
          <a:xfrm>
            <a:off x="6488004" y="3019425"/>
            <a:ext cx="589805" cy="642938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4" name="格-我們的模型 26">
            <a:extLst>
              <a:ext uri="{FF2B5EF4-FFF2-40B4-BE49-F238E27FC236}">
                <a16:creationId xmlns:a16="http://schemas.microsoft.com/office/drawing/2014/main" id="{BFD909E0-BD49-9E4F-DBD2-5B407E730A23}"/>
              </a:ext>
            </a:extLst>
          </p:cNvPr>
          <p:cNvSpPr txBox="1"/>
          <p:nvPr/>
        </p:nvSpPr>
        <p:spPr>
          <a:xfrm>
            <a:off x="7077809" y="3019425"/>
            <a:ext cx="4898256" cy="642938"/>
          </a:xfrm>
          <a:prstGeom prst="rect">
            <a:avLst/>
          </a:prstGeom>
          <a:solidFill>
            <a:srgbClr val="EEF8F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對應箭頭 27">
            <a:extLst>
              <a:ext uri="{FF2B5EF4-FFF2-40B4-BE49-F238E27FC236}">
                <a16:creationId xmlns:a16="http://schemas.microsoft.com/office/drawing/2014/main" id="{6C640966-8ABF-2477-9DDF-B88CD9BF9DE6}"/>
              </a:ext>
            </a:extLst>
          </p:cNvPr>
          <p:cNvSpPr/>
          <p:nvPr/>
        </p:nvSpPr>
        <p:spPr>
          <a:xfrm>
            <a:off x="6653437" y="3189397"/>
            <a:ext cx="273324" cy="206922"/>
          </a:xfrm>
          <a:prstGeom prst="rightArrow">
            <a:avLst/>
          </a:prstGeom>
          <a:solidFill>
            <a:srgbClr val="5B7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表格外框 28">
            <a:extLst>
              <a:ext uri="{FF2B5EF4-FFF2-40B4-BE49-F238E27FC236}">
                <a16:creationId xmlns:a16="http://schemas.microsoft.com/office/drawing/2014/main" id="{F536C537-C5AF-010A-B671-5B6C10E869E9}"/>
              </a:ext>
            </a:extLst>
          </p:cNvPr>
          <p:cNvSpPr/>
          <p:nvPr/>
        </p:nvSpPr>
        <p:spPr>
          <a:xfrm>
            <a:off x="215934" y="1408386"/>
            <a:ext cx="11760131" cy="2253976"/>
          </a:xfrm>
          <a:prstGeom prst="roundRect">
            <a:avLst>
              <a:gd name="adj" fmla="val 2028"/>
            </a:avLst>
          </a:prstGeom>
          <a:noFill/>
          <a:ln w="12700">
            <a:solidFill>
              <a:srgbClr val="A9DCF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預測式-一般 29">
            <a:extLst>
              <a:ext uri="{FF2B5EF4-FFF2-40B4-BE49-F238E27FC236}">
                <a16:creationId xmlns:a16="http://schemas.microsoft.com/office/drawing/2014/main" id="{87BB71AC-716E-DFC2-AC8D-82F158E0DB9C}"/>
              </a:ext>
            </a:extLst>
          </p:cNvPr>
          <p:cNvSpPr txBox="1"/>
          <p:nvPr/>
        </p:nvSpPr>
        <p:spPr>
          <a:xfrm>
            <a:off x="3164958" y="1814841"/>
            <a:ext cx="2337641" cy="347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r>
              <a:rPr lang="en-US" sz="26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26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2600" b="1" i="1" baseline="-250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6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26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26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600" dirty="0"/>
          </a:p>
        </p:txBody>
      </p:sp>
      <p:sp>
        <p:nvSpPr>
          <p:cNvPr id="28" name="預測式-我們 30">
            <a:extLst>
              <a:ext uri="{FF2B5EF4-FFF2-40B4-BE49-F238E27FC236}">
                <a16:creationId xmlns:a16="http://schemas.microsoft.com/office/drawing/2014/main" id="{932DDD37-6F07-F3F4-11EC-3B70A1800241}"/>
              </a:ext>
            </a:extLst>
          </p:cNvPr>
          <p:cNvSpPr txBox="1"/>
          <p:nvPr/>
        </p:nvSpPr>
        <p:spPr>
          <a:xfrm>
            <a:off x="8127949" y="1814841"/>
            <a:ext cx="2589387" cy="347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r>
              <a:rPr lang="en-US" sz="26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2600" b="1" i="1" dirty="0">
                <a:solidFill>
                  <a:srgbClr val="1E7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26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26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2600" b="1" i="1" baseline="-250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600" b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26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2600" b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600" dirty="0"/>
          </a:p>
        </p:txBody>
      </p:sp>
      <p:sp>
        <p:nvSpPr>
          <p:cNvPr id="29" name="Loss-一般 左式 31">
            <a:extLst>
              <a:ext uri="{FF2B5EF4-FFF2-40B4-BE49-F238E27FC236}">
                <a16:creationId xmlns:a16="http://schemas.microsoft.com/office/drawing/2014/main" id="{B0751ED9-7D0D-4085-E158-925BF2E93D8F}"/>
              </a:ext>
            </a:extLst>
          </p:cNvPr>
          <p:cNvSpPr txBox="1"/>
          <p:nvPr/>
        </p:nvSpPr>
        <p:spPr>
          <a:xfrm>
            <a:off x="2765730" y="2303079"/>
            <a:ext cx="1219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ℒ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24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</a:t>
            </a:r>
            <a:endParaRPr lang="en-US" sz="2400" dirty="0"/>
          </a:p>
        </p:txBody>
      </p:sp>
      <p:sp>
        <p:nvSpPr>
          <p:cNvPr id="30" name="分子 32">
            <a:extLst>
              <a:ext uri="{FF2B5EF4-FFF2-40B4-BE49-F238E27FC236}">
                <a16:creationId xmlns:a16="http://schemas.microsoft.com/office/drawing/2014/main" id="{BF6D1642-2E81-0504-2F95-A21973B4E721}"/>
              </a:ext>
            </a:extLst>
          </p:cNvPr>
          <p:cNvSpPr txBox="1"/>
          <p:nvPr/>
        </p:nvSpPr>
        <p:spPr>
          <a:xfrm>
            <a:off x="4051986" y="2275647"/>
            <a:ext cx="30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32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32" dirty="0"/>
          </a:p>
        </p:txBody>
      </p:sp>
      <p:sp>
        <p:nvSpPr>
          <p:cNvPr id="31" name="分數線 33">
            <a:extLst>
              <a:ext uri="{FF2B5EF4-FFF2-40B4-BE49-F238E27FC236}">
                <a16:creationId xmlns:a16="http://schemas.microsoft.com/office/drawing/2014/main" id="{F3545A0D-185A-9501-7ACA-8017651DCA99}"/>
              </a:ext>
            </a:extLst>
          </p:cNvPr>
          <p:cNvSpPr/>
          <p:nvPr/>
        </p:nvSpPr>
        <p:spPr>
          <a:xfrm>
            <a:off x="4100754" y="2531679"/>
            <a:ext cx="207264" cy="0"/>
          </a:xfrm>
          <a:prstGeom prst="line">
            <a:avLst/>
          </a:prstGeom>
          <a:noFill/>
          <a:ln w="19050">
            <a:solidFill>
              <a:srgbClr val="0A1A4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分母 34">
            <a:extLst>
              <a:ext uri="{FF2B5EF4-FFF2-40B4-BE49-F238E27FC236}">
                <a16:creationId xmlns:a16="http://schemas.microsoft.com/office/drawing/2014/main" id="{8479C575-2043-C2BD-BE2F-7E783E8BB88A}"/>
              </a:ext>
            </a:extLst>
          </p:cNvPr>
          <p:cNvSpPr txBox="1"/>
          <p:nvPr/>
        </p:nvSpPr>
        <p:spPr>
          <a:xfrm>
            <a:off x="4051986" y="2543871"/>
            <a:ext cx="30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32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632" dirty="0"/>
          </a:p>
        </p:txBody>
      </p:sp>
      <p:sp>
        <p:nvSpPr>
          <p:cNvPr id="33" name="Loss-一般 範數 35">
            <a:extLst>
              <a:ext uri="{FF2B5EF4-FFF2-40B4-BE49-F238E27FC236}">
                <a16:creationId xmlns:a16="http://schemas.microsoft.com/office/drawing/2014/main" id="{C4BF46CE-4650-EE5C-C205-A3D0EDAE3E62}"/>
              </a:ext>
            </a:extLst>
          </p:cNvPr>
          <p:cNvSpPr txBox="1"/>
          <p:nvPr/>
        </p:nvSpPr>
        <p:spPr>
          <a:xfrm>
            <a:off x="4381170" y="2303079"/>
            <a:ext cx="9607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</a:t>
            </a:r>
            <a:r>
              <a:rPr lang="en-US" sz="24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24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</a:t>
            </a:r>
            <a:endParaRPr lang="en-US" sz="2400" dirty="0"/>
          </a:p>
        </p:txBody>
      </p:sp>
      <p:sp>
        <p:nvSpPr>
          <p:cNvPr id="34" name="平方 36">
            <a:extLst>
              <a:ext uri="{FF2B5EF4-FFF2-40B4-BE49-F238E27FC236}">
                <a16:creationId xmlns:a16="http://schemas.microsoft.com/office/drawing/2014/main" id="{DDB23426-8390-1577-D346-860FD87F4EF3}"/>
              </a:ext>
            </a:extLst>
          </p:cNvPr>
          <p:cNvSpPr txBox="1"/>
          <p:nvPr/>
        </p:nvSpPr>
        <p:spPr>
          <a:xfrm>
            <a:off x="5234365" y="2293935"/>
            <a:ext cx="15240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92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92" dirty="0"/>
          </a:p>
        </p:txBody>
      </p:sp>
      <p:sp>
        <p:nvSpPr>
          <p:cNvPr id="35" name="2-範數 37">
            <a:extLst>
              <a:ext uri="{FF2B5EF4-FFF2-40B4-BE49-F238E27FC236}">
                <a16:creationId xmlns:a16="http://schemas.microsoft.com/office/drawing/2014/main" id="{24D92849-EB81-FAD6-21C4-83403B98241D}"/>
              </a:ext>
            </a:extLst>
          </p:cNvPr>
          <p:cNvSpPr txBox="1"/>
          <p:nvPr/>
        </p:nvSpPr>
        <p:spPr>
          <a:xfrm>
            <a:off x="5234365" y="2525583"/>
            <a:ext cx="152400" cy="195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92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92" dirty="0"/>
          </a:p>
        </p:txBody>
      </p:sp>
      <p:sp>
        <p:nvSpPr>
          <p:cNvPr id="36" name="Loss說明-一般 38">
            <a:extLst>
              <a:ext uri="{FF2B5EF4-FFF2-40B4-BE49-F238E27FC236}">
                <a16:creationId xmlns:a16="http://schemas.microsoft.com/office/drawing/2014/main" id="{152D50A0-3641-736E-4C0B-FE1DCA3335B0}"/>
              </a:ext>
            </a:extLst>
          </p:cNvPr>
          <p:cNvSpPr txBox="1"/>
          <p:nvPr/>
        </p:nvSpPr>
        <p:spPr>
          <a:xfrm>
            <a:off x="2733393" y="2775552"/>
            <a:ext cx="3128842" cy="177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每筆預測與量測相減、平方，再取平均</a:t>
            </a:r>
            <a:endParaRPr lang="en-US" sz="1200" dirty="0"/>
          </a:p>
        </p:txBody>
      </p:sp>
      <p:sp>
        <p:nvSpPr>
          <p:cNvPr id="37" name="Loss-我們 左式 39">
            <a:extLst>
              <a:ext uri="{FF2B5EF4-FFF2-40B4-BE49-F238E27FC236}">
                <a16:creationId xmlns:a16="http://schemas.microsoft.com/office/drawing/2014/main" id="{B661C595-A63E-9552-23BC-056D94FF9DE8}"/>
              </a:ext>
            </a:extLst>
          </p:cNvPr>
          <p:cNvSpPr txBox="1"/>
          <p:nvPr/>
        </p:nvSpPr>
        <p:spPr>
          <a:xfrm>
            <a:off x="7498554" y="2303079"/>
            <a:ext cx="1219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ℒ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24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</a:t>
            </a:r>
            <a:endParaRPr lang="en-US" sz="2400" dirty="0"/>
          </a:p>
        </p:txBody>
      </p:sp>
      <p:sp>
        <p:nvSpPr>
          <p:cNvPr id="38" name="分子 40">
            <a:extLst>
              <a:ext uri="{FF2B5EF4-FFF2-40B4-BE49-F238E27FC236}">
                <a16:creationId xmlns:a16="http://schemas.microsoft.com/office/drawing/2014/main" id="{C0201599-CC40-0626-4C94-C68AA7632A99}"/>
              </a:ext>
            </a:extLst>
          </p:cNvPr>
          <p:cNvSpPr txBox="1"/>
          <p:nvPr/>
        </p:nvSpPr>
        <p:spPr>
          <a:xfrm>
            <a:off x="8784810" y="2275647"/>
            <a:ext cx="30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32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32" dirty="0"/>
          </a:p>
        </p:txBody>
      </p:sp>
      <p:sp>
        <p:nvSpPr>
          <p:cNvPr id="39" name="分數線 41">
            <a:extLst>
              <a:ext uri="{FF2B5EF4-FFF2-40B4-BE49-F238E27FC236}">
                <a16:creationId xmlns:a16="http://schemas.microsoft.com/office/drawing/2014/main" id="{8FF0AA08-1DAD-CD45-41A5-E3F4E58FF168}"/>
              </a:ext>
            </a:extLst>
          </p:cNvPr>
          <p:cNvSpPr/>
          <p:nvPr/>
        </p:nvSpPr>
        <p:spPr>
          <a:xfrm>
            <a:off x="8833578" y="2531679"/>
            <a:ext cx="207264" cy="0"/>
          </a:xfrm>
          <a:prstGeom prst="line">
            <a:avLst/>
          </a:prstGeom>
          <a:noFill/>
          <a:ln w="19050">
            <a:solidFill>
              <a:srgbClr val="0A1A4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分母 42">
            <a:extLst>
              <a:ext uri="{FF2B5EF4-FFF2-40B4-BE49-F238E27FC236}">
                <a16:creationId xmlns:a16="http://schemas.microsoft.com/office/drawing/2014/main" id="{05C97585-D2EF-71CC-4004-84C7DDC45485}"/>
              </a:ext>
            </a:extLst>
          </p:cNvPr>
          <p:cNvSpPr txBox="1"/>
          <p:nvPr/>
        </p:nvSpPr>
        <p:spPr>
          <a:xfrm>
            <a:off x="8784810" y="2543871"/>
            <a:ext cx="304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32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632" dirty="0"/>
          </a:p>
        </p:txBody>
      </p:sp>
      <p:sp>
        <p:nvSpPr>
          <p:cNvPr id="41" name="Loss-我們 範數 43">
            <a:extLst>
              <a:ext uri="{FF2B5EF4-FFF2-40B4-BE49-F238E27FC236}">
                <a16:creationId xmlns:a16="http://schemas.microsoft.com/office/drawing/2014/main" id="{B199CF9F-14E0-AC10-9199-AC118BB53584}"/>
              </a:ext>
            </a:extLst>
          </p:cNvPr>
          <p:cNvSpPr txBox="1"/>
          <p:nvPr/>
        </p:nvSpPr>
        <p:spPr>
          <a:xfrm>
            <a:off x="9113994" y="2303079"/>
            <a:ext cx="19629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</a:t>
            </a:r>
            <a:r>
              <a:rPr lang="en-US" sz="2400" b="1" i="1" dirty="0">
                <a:solidFill>
                  <a:srgbClr val="1E7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24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2400" b="1" i="1" baseline="-250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400" b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24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2400" b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24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24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</a:t>
            </a:r>
            <a:endParaRPr lang="en-US" sz="2400" dirty="0"/>
          </a:p>
        </p:txBody>
      </p:sp>
      <p:sp>
        <p:nvSpPr>
          <p:cNvPr id="42" name="平方 44">
            <a:extLst>
              <a:ext uri="{FF2B5EF4-FFF2-40B4-BE49-F238E27FC236}">
                <a16:creationId xmlns:a16="http://schemas.microsoft.com/office/drawing/2014/main" id="{523A426C-C695-6BF6-46B2-901AD31AC899}"/>
              </a:ext>
            </a:extLst>
          </p:cNvPr>
          <p:cNvSpPr txBox="1"/>
          <p:nvPr/>
        </p:nvSpPr>
        <p:spPr>
          <a:xfrm>
            <a:off x="10969371" y="2293935"/>
            <a:ext cx="15240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92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92" dirty="0"/>
          </a:p>
        </p:txBody>
      </p:sp>
      <p:sp>
        <p:nvSpPr>
          <p:cNvPr id="43" name="2-範數 45">
            <a:extLst>
              <a:ext uri="{FF2B5EF4-FFF2-40B4-BE49-F238E27FC236}">
                <a16:creationId xmlns:a16="http://schemas.microsoft.com/office/drawing/2014/main" id="{412B4B66-D6C4-2AEC-1091-371469F033DB}"/>
              </a:ext>
            </a:extLst>
          </p:cNvPr>
          <p:cNvSpPr txBox="1"/>
          <p:nvPr/>
        </p:nvSpPr>
        <p:spPr>
          <a:xfrm>
            <a:off x="10969371" y="2525583"/>
            <a:ext cx="152400" cy="195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92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92" dirty="0"/>
          </a:p>
        </p:txBody>
      </p:sp>
      <p:sp>
        <p:nvSpPr>
          <p:cNvPr id="44" name="Loss說明-我們 46">
            <a:extLst>
              <a:ext uri="{FF2B5EF4-FFF2-40B4-BE49-F238E27FC236}">
                <a16:creationId xmlns:a16="http://schemas.microsoft.com/office/drawing/2014/main" id="{46DCB025-F3D5-74B8-7ADC-956CBCA5AD8A}"/>
              </a:ext>
            </a:extLst>
          </p:cNvPr>
          <p:cNvSpPr txBox="1"/>
          <p:nvPr/>
        </p:nvSpPr>
        <p:spPr>
          <a:xfrm>
            <a:off x="7897781" y="2775552"/>
            <a:ext cx="3128842" cy="177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每筆預測與量測相減、平方，再取平均</a:t>
            </a:r>
            <a:endParaRPr lang="en-US" sz="1200" dirty="0"/>
          </a:p>
        </p:txBody>
      </p:sp>
      <p:sp>
        <p:nvSpPr>
          <p:cNvPr id="45" name="Loss 重點框 47">
            <a:extLst>
              <a:ext uri="{FF2B5EF4-FFF2-40B4-BE49-F238E27FC236}">
                <a16:creationId xmlns:a16="http://schemas.microsoft.com/office/drawing/2014/main" id="{6EDD9E9E-3EF1-FED6-7A7D-35637D4C75DF}"/>
              </a:ext>
            </a:extLst>
          </p:cNvPr>
          <p:cNvSpPr/>
          <p:nvPr/>
        </p:nvSpPr>
        <p:spPr>
          <a:xfrm>
            <a:off x="230320" y="2236076"/>
            <a:ext cx="11731360" cy="768569"/>
          </a:xfrm>
          <a:prstGeom prst="roundRect">
            <a:avLst>
              <a:gd name="adj" fmla="val 7138"/>
            </a:avLst>
          </a:prstGeom>
          <a:noFill/>
          <a:ln w="28575">
            <a:solidFill>
              <a:srgbClr val="FF52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更新式-一般 48">
            <a:extLst>
              <a:ext uri="{FF2B5EF4-FFF2-40B4-BE49-F238E27FC236}">
                <a16:creationId xmlns:a16="http://schemas.microsoft.com/office/drawing/2014/main" id="{6CEFE789-9280-78A9-B003-F12A1DE96404}"/>
              </a:ext>
            </a:extLst>
          </p:cNvPr>
          <p:cNvSpPr txBox="1"/>
          <p:nvPr/>
        </p:nvSpPr>
        <p:spPr>
          <a:xfrm>
            <a:off x="3164958" y="3108106"/>
            <a:ext cx="2337641" cy="295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1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← </a:t>
            </a:r>
            <a:r>
              <a:rPr lang="en-US" sz="21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1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2100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η</a:t>
            </a:r>
            <a:r>
              <a:rPr lang="en-US" sz="21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∇</a:t>
            </a:r>
            <a:r>
              <a:rPr lang="en-US" sz="2100" b="1" i="1" baseline="-250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1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ℒ</a:t>
            </a:r>
            <a:endParaRPr lang="en-US" sz="2100" dirty="0"/>
          </a:p>
        </p:txBody>
      </p:sp>
      <p:sp>
        <p:nvSpPr>
          <p:cNvPr id="47" name="更新說明-一般 49">
            <a:extLst>
              <a:ext uri="{FF2B5EF4-FFF2-40B4-BE49-F238E27FC236}">
                <a16:creationId xmlns:a16="http://schemas.microsoft.com/office/drawing/2014/main" id="{5396DEF5-2821-5780-9177-5162CF9F0C56}"/>
              </a:ext>
            </a:extLst>
          </p:cNvPr>
          <p:cNvSpPr txBox="1"/>
          <p:nvPr/>
        </p:nvSpPr>
        <p:spPr>
          <a:xfrm>
            <a:off x="2373756" y="3425880"/>
            <a:ext cx="3826538" cy="177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反向傳播計算梯度，更新規則調整參數；</a:t>
            </a:r>
            <a:r>
              <a:rPr lang="en-US" sz="13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η</a:t>
            </a: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為學習率</a:t>
            </a:r>
            <a:endParaRPr lang="en-US" sz="1200" dirty="0"/>
          </a:p>
        </p:txBody>
      </p:sp>
      <p:sp>
        <p:nvSpPr>
          <p:cNvPr id="48" name="更新式-我們 50">
            <a:extLst>
              <a:ext uri="{FF2B5EF4-FFF2-40B4-BE49-F238E27FC236}">
                <a16:creationId xmlns:a16="http://schemas.microsoft.com/office/drawing/2014/main" id="{551B830E-133A-C6B5-E5B8-6FBD78173084}"/>
              </a:ext>
            </a:extLst>
          </p:cNvPr>
          <p:cNvSpPr txBox="1"/>
          <p:nvPr/>
        </p:nvSpPr>
        <p:spPr>
          <a:xfrm>
            <a:off x="8271804" y="3108106"/>
            <a:ext cx="2373604" cy="295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1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← </a:t>
            </a:r>
            <a:r>
              <a:rPr lang="en-US" sz="21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1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2100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η</a:t>
            </a:r>
            <a:r>
              <a:rPr lang="en-US" sz="21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∇</a:t>
            </a:r>
            <a:r>
              <a:rPr lang="en-US" sz="2100" b="1" i="1" baseline="-250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21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ℒ</a:t>
            </a:r>
            <a:endParaRPr lang="en-US" sz="2100" dirty="0"/>
          </a:p>
        </p:txBody>
      </p:sp>
      <p:sp>
        <p:nvSpPr>
          <p:cNvPr id="49" name="更新說明-我們 51">
            <a:extLst>
              <a:ext uri="{FF2B5EF4-FFF2-40B4-BE49-F238E27FC236}">
                <a16:creationId xmlns:a16="http://schemas.microsoft.com/office/drawing/2014/main" id="{29A83B81-B232-8F5D-38FB-6BA8A06DBCB3}"/>
              </a:ext>
            </a:extLst>
          </p:cNvPr>
          <p:cNvSpPr txBox="1"/>
          <p:nvPr/>
        </p:nvSpPr>
        <p:spPr>
          <a:xfrm>
            <a:off x="8271804" y="3433270"/>
            <a:ext cx="2416761" cy="184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只更新 </a:t>
            </a:r>
            <a:r>
              <a:rPr lang="en-US" sz="14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1400" b="1" i="1" baseline="-250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的權重與偏置</a:t>
            </a:r>
            <a:endParaRPr lang="en-US" sz="1200" dirty="0"/>
          </a:p>
        </p:txBody>
      </p:sp>
      <p:sp>
        <p:nvSpPr>
          <p:cNvPr id="50" name="區塊2 底 52">
            <a:extLst>
              <a:ext uri="{FF2B5EF4-FFF2-40B4-BE49-F238E27FC236}">
                <a16:creationId xmlns:a16="http://schemas.microsoft.com/office/drawing/2014/main" id="{5D33D7B5-DDD1-48BF-809F-E1DE953E6479}"/>
              </a:ext>
            </a:extLst>
          </p:cNvPr>
          <p:cNvSpPr/>
          <p:nvPr/>
        </p:nvSpPr>
        <p:spPr>
          <a:xfrm>
            <a:off x="215934" y="3743652"/>
            <a:ext cx="11760131" cy="2743201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BFE5F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區塊2 標題 53">
            <a:extLst>
              <a:ext uri="{FF2B5EF4-FFF2-40B4-BE49-F238E27FC236}">
                <a16:creationId xmlns:a16="http://schemas.microsoft.com/office/drawing/2014/main" id="{FDFC0861-A8EF-E60C-B5D8-E5F99DEABE86}"/>
              </a:ext>
            </a:extLst>
          </p:cNvPr>
          <p:cNvSpPr txBox="1"/>
          <p:nvPr/>
        </p:nvSpPr>
        <p:spPr>
          <a:xfrm>
            <a:off x="215934" y="3743653"/>
            <a:ext cx="11760131" cy="413845"/>
          </a:xfrm>
          <a:prstGeom prst="roundRect">
            <a:avLst>
              <a:gd name="adj" fmla="val 17676"/>
            </a:avLst>
          </a:prstGeom>
          <a:solidFill>
            <a:srgbClr val="004A90"/>
          </a:solidFill>
          <a:ln/>
        </p:spPr>
        <p:txBody>
          <a:bodyPr wrap="square" lIns="683310" tIns="0" rIns="0" bIns="0" rtlCol="0" anchor="ctr"/>
          <a:lstStyle/>
          <a:p>
            <a:pPr marL="0" indent="0" algn="l">
              <a:buNone/>
            </a:pP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實際訓練時，資料怎麼走？</a:t>
            </a:r>
            <a:endParaRPr lang="zh-TW" sz="2000" dirty="0"/>
          </a:p>
        </p:txBody>
      </p:sp>
      <p:sp>
        <p:nvSpPr>
          <p:cNvPr id="52" name="區塊2 編號 54">
            <a:extLst>
              <a:ext uri="{FF2B5EF4-FFF2-40B4-BE49-F238E27FC236}">
                <a16:creationId xmlns:a16="http://schemas.microsoft.com/office/drawing/2014/main" id="{2DF5F04B-B82D-2628-AAFF-404B773A1033}"/>
              </a:ext>
            </a:extLst>
          </p:cNvPr>
          <p:cNvSpPr txBox="1"/>
          <p:nvPr/>
        </p:nvSpPr>
        <p:spPr>
          <a:xfrm>
            <a:off x="384021" y="3780604"/>
            <a:ext cx="339944" cy="33994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4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3" name="流向-X到3GPP 55">
            <a:extLst>
              <a:ext uri="{FF2B5EF4-FFF2-40B4-BE49-F238E27FC236}">
                <a16:creationId xmlns:a16="http://schemas.microsoft.com/office/drawing/2014/main" id="{C9A1B2E7-6420-3626-E31F-E4A19368E1A0}"/>
              </a:ext>
            </a:extLst>
          </p:cNvPr>
          <p:cNvSpPr/>
          <p:nvPr/>
        </p:nvSpPr>
        <p:spPr>
          <a:xfrm>
            <a:off x="1865726" y="4804268"/>
            <a:ext cx="855936" cy="413845"/>
          </a:xfrm>
          <a:custGeom>
            <a:avLst/>
            <a:gdLst/>
            <a:ahLst/>
            <a:cxnLst/>
            <a:rect l="l" t="t" r="r" b="b"/>
            <a:pathLst>
              <a:path w="855936" h="413845">
                <a:moveTo>
                  <a:pt x="0" y="413845"/>
                </a:moveTo>
                <a:lnTo>
                  <a:pt x="352444" y="413845"/>
                </a:lnTo>
                <a:quadBezTo>
                  <a:pt x="453143" y="413845"/>
                  <a:pt x="453143" y="310384"/>
                </a:quadBezTo>
                <a:lnTo>
                  <a:pt x="453143" y="103461"/>
                </a:lnTo>
                <a:quadBezTo>
                  <a:pt x="453143" y="0"/>
                  <a:pt x="553841" y="0"/>
                </a:quadBezTo>
                <a:lnTo>
                  <a:pt x="855936" y="0"/>
                </a:lnTo>
              </a:path>
            </a:pathLst>
          </a:custGeom>
          <a:noFill/>
          <a:ln w="44450">
            <a:solidFill>
              <a:srgbClr val="0B69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流向-X到AI 56">
            <a:extLst>
              <a:ext uri="{FF2B5EF4-FFF2-40B4-BE49-F238E27FC236}">
                <a16:creationId xmlns:a16="http://schemas.microsoft.com/office/drawing/2014/main" id="{1DE46222-A184-73D6-D2B9-8CD716A56439}"/>
              </a:ext>
            </a:extLst>
          </p:cNvPr>
          <p:cNvSpPr/>
          <p:nvPr/>
        </p:nvSpPr>
        <p:spPr>
          <a:xfrm>
            <a:off x="1865726" y="5402865"/>
            <a:ext cx="798394" cy="399065"/>
          </a:xfrm>
          <a:custGeom>
            <a:avLst/>
            <a:gdLst/>
            <a:ahLst/>
            <a:cxnLst/>
            <a:rect l="l" t="t" r="r" b="b"/>
            <a:pathLst>
              <a:path w="798394" h="399065">
                <a:moveTo>
                  <a:pt x="0" y="0"/>
                </a:moveTo>
                <a:lnTo>
                  <a:pt x="352444" y="0"/>
                </a:lnTo>
                <a:quadBezTo>
                  <a:pt x="453143" y="0"/>
                  <a:pt x="453143" y="103461"/>
                </a:quadBezTo>
                <a:lnTo>
                  <a:pt x="453143" y="295603"/>
                </a:lnTo>
                <a:quadBezTo>
                  <a:pt x="453143" y="399065"/>
                  <a:pt x="553841" y="399065"/>
                </a:quadBezTo>
                <a:lnTo>
                  <a:pt x="798394" y="399065"/>
                </a:lnTo>
              </a:path>
            </a:pathLst>
          </a:custGeom>
          <a:noFill/>
          <a:ln w="44450">
            <a:solidFill>
              <a:srgbClr val="0B69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流向-基準b到加總 57">
            <a:extLst>
              <a:ext uri="{FF2B5EF4-FFF2-40B4-BE49-F238E27FC236}">
                <a16:creationId xmlns:a16="http://schemas.microsoft.com/office/drawing/2014/main" id="{32F6E5C4-782B-A40C-623B-AD4B5AA9817E}"/>
              </a:ext>
            </a:extLst>
          </p:cNvPr>
          <p:cNvSpPr/>
          <p:nvPr/>
        </p:nvSpPr>
        <p:spPr>
          <a:xfrm>
            <a:off x="4944219" y="4789488"/>
            <a:ext cx="978213" cy="347334"/>
          </a:xfrm>
          <a:custGeom>
            <a:avLst/>
            <a:gdLst/>
            <a:ahLst/>
            <a:cxnLst/>
            <a:rect l="l" t="t" r="r" b="b"/>
            <a:pathLst>
              <a:path w="978213" h="347334">
                <a:moveTo>
                  <a:pt x="0" y="0"/>
                </a:moveTo>
                <a:lnTo>
                  <a:pt x="863129" y="0"/>
                </a:lnTo>
                <a:quadBezTo>
                  <a:pt x="978213" y="0"/>
                  <a:pt x="978213" y="118241"/>
                </a:quadBezTo>
                <a:lnTo>
                  <a:pt x="978213" y="347334"/>
                </a:lnTo>
              </a:path>
            </a:pathLst>
          </a:custGeom>
          <a:noFill/>
          <a:ln w="44450">
            <a:solidFill>
              <a:srgbClr val="0B69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流向-修正量到加總 58">
            <a:extLst>
              <a:ext uri="{FF2B5EF4-FFF2-40B4-BE49-F238E27FC236}">
                <a16:creationId xmlns:a16="http://schemas.microsoft.com/office/drawing/2014/main" id="{98CA78E0-E906-18C7-3D3E-651BF4AE7BD1}"/>
              </a:ext>
            </a:extLst>
          </p:cNvPr>
          <p:cNvSpPr/>
          <p:nvPr/>
        </p:nvSpPr>
        <p:spPr>
          <a:xfrm>
            <a:off x="5008953" y="5565447"/>
            <a:ext cx="913478" cy="258653"/>
          </a:xfrm>
          <a:custGeom>
            <a:avLst/>
            <a:gdLst/>
            <a:ahLst/>
            <a:cxnLst/>
            <a:rect l="l" t="t" r="r" b="b"/>
            <a:pathLst>
              <a:path w="913478" h="258653">
                <a:moveTo>
                  <a:pt x="0" y="258653"/>
                </a:moveTo>
                <a:lnTo>
                  <a:pt x="798394" y="258653"/>
                </a:lnTo>
                <a:quadBezTo>
                  <a:pt x="913478" y="258653"/>
                  <a:pt x="913478" y="140412"/>
                </a:quadBezTo>
                <a:lnTo>
                  <a:pt x="913478" y="0"/>
                </a:lnTo>
              </a:path>
            </a:pathLst>
          </a:custGeom>
          <a:noFill/>
          <a:ln w="44450">
            <a:solidFill>
              <a:srgbClr val="FA610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流向-加總到預測 59">
            <a:extLst>
              <a:ext uri="{FF2B5EF4-FFF2-40B4-BE49-F238E27FC236}">
                <a16:creationId xmlns:a16="http://schemas.microsoft.com/office/drawing/2014/main" id="{8BA57AD1-6D1A-6E81-9D90-E48929C56C09}"/>
              </a:ext>
            </a:extLst>
          </p:cNvPr>
          <p:cNvSpPr/>
          <p:nvPr/>
        </p:nvSpPr>
        <p:spPr>
          <a:xfrm>
            <a:off x="6123828" y="5336355"/>
            <a:ext cx="891900" cy="0"/>
          </a:xfrm>
          <a:prstGeom prst="line">
            <a:avLst/>
          </a:prstGeom>
          <a:noFill/>
          <a:ln w="44450">
            <a:solidFill>
              <a:srgbClr val="0B69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流向-預測到Loss 60">
            <a:extLst>
              <a:ext uri="{FF2B5EF4-FFF2-40B4-BE49-F238E27FC236}">
                <a16:creationId xmlns:a16="http://schemas.microsoft.com/office/drawing/2014/main" id="{8C9EF794-D5E2-B93B-EC27-FCC9DF4A1BD2}"/>
              </a:ext>
            </a:extLst>
          </p:cNvPr>
          <p:cNvSpPr/>
          <p:nvPr/>
        </p:nvSpPr>
        <p:spPr>
          <a:xfrm>
            <a:off x="8684444" y="5328964"/>
            <a:ext cx="733660" cy="0"/>
          </a:xfrm>
          <a:prstGeom prst="line">
            <a:avLst/>
          </a:prstGeom>
          <a:noFill/>
          <a:ln w="44450">
            <a:solidFill>
              <a:srgbClr val="0B69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流向-Loss到Backprop 61">
            <a:extLst>
              <a:ext uri="{FF2B5EF4-FFF2-40B4-BE49-F238E27FC236}">
                <a16:creationId xmlns:a16="http://schemas.microsoft.com/office/drawing/2014/main" id="{251D35FA-689D-5E58-1755-D965233237F7}"/>
              </a:ext>
            </a:extLst>
          </p:cNvPr>
          <p:cNvSpPr/>
          <p:nvPr/>
        </p:nvSpPr>
        <p:spPr>
          <a:xfrm>
            <a:off x="10504207" y="5779760"/>
            <a:ext cx="467528" cy="354724"/>
          </a:xfrm>
          <a:custGeom>
            <a:avLst/>
            <a:gdLst/>
            <a:ahLst/>
            <a:cxnLst/>
            <a:rect l="l" t="t" r="r" b="b"/>
            <a:pathLst>
              <a:path w="467528" h="354724">
                <a:moveTo>
                  <a:pt x="467528" y="0"/>
                </a:moveTo>
                <a:lnTo>
                  <a:pt x="467528" y="236483"/>
                </a:lnTo>
                <a:quadBezTo>
                  <a:pt x="467528" y="354724"/>
                  <a:pt x="352444" y="354724"/>
                </a:quadBezTo>
                <a:lnTo>
                  <a:pt x="0" y="354724"/>
                </a:lnTo>
              </a:path>
            </a:pathLst>
          </a:custGeom>
          <a:noFill/>
          <a:ln w="50800">
            <a:solidFill>
              <a:srgbClr val="FA610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流向-Backprop到更新 62">
            <a:extLst>
              <a:ext uri="{FF2B5EF4-FFF2-40B4-BE49-F238E27FC236}">
                <a16:creationId xmlns:a16="http://schemas.microsoft.com/office/drawing/2014/main" id="{BE8A1BAF-8D39-C196-05B6-762B3B64D60D}"/>
              </a:ext>
            </a:extLst>
          </p:cNvPr>
          <p:cNvSpPr/>
          <p:nvPr/>
        </p:nvSpPr>
        <p:spPr>
          <a:xfrm flipH="1">
            <a:off x="8677251" y="6134484"/>
            <a:ext cx="222975" cy="0"/>
          </a:xfrm>
          <a:prstGeom prst="line">
            <a:avLst/>
          </a:prstGeom>
          <a:noFill/>
          <a:ln w="50800">
            <a:solidFill>
              <a:srgbClr val="FA610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流向-誤差反傳 63">
            <a:extLst>
              <a:ext uri="{FF2B5EF4-FFF2-40B4-BE49-F238E27FC236}">
                <a16:creationId xmlns:a16="http://schemas.microsoft.com/office/drawing/2014/main" id="{334FC918-7663-BE17-3226-AD30130684DE}"/>
              </a:ext>
            </a:extLst>
          </p:cNvPr>
          <p:cNvSpPr/>
          <p:nvPr/>
        </p:nvSpPr>
        <p:spPr>
          <a:xfrm flipH="1">
            <a:off x="5030532" y="6038413"/>
            <a:ext cx="2165015" cy="0"/>
          </a:xfrm>
          <a:prstGeom prst="line">
            <a:avLst/>
          </a:prstGeom>
          <a:noFill/>
          <a:ln w="57150">
            <a:solidFill>
              <a:srgbClr val="FA610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流向-量測到Loss 64">
            <a:extLst>
              <a:ext uri="{FF2B5EF4-FFF2-40B4-BE49-F238E27FC236}">
                <a16:creationId xmlns:a16="http://schemas.microsoft.com/office/drawing/2014/main" id="{65966FE2-7D60-C0CA-16F5-8CB6E9368F5F}"/>
              </a:ext>
            </a:extLst>
          </p:cNvPr>
          <p:cNvSpPr/>
          <p:nvPr/>
        </p:nvSpPr>
        <p:spPr>
          <a:xfrm>
            <a:off x="10568942" y="4745148"/>
            <a:ext cx="208589" cy="177362"/>
          </a:xfrm>
          <a:prstGeom prst="downArrow">
            <a:avLst/>
          </a:prstGeom>
          <a:solidFill>
            <a:srgbClr val="01B2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輸入 X 65">
            <a:extLst>
              <a:ext uri="{FF2B5EF4-FFF2-40B4-BE49-F238E27FC236}">
                <a16:creationId xmlns:a16="http://schemas.microsoft.com/office/drawing/2014/main" id="{DCBFD299-ED4F-7D1D-9B43-C1B410A91FEF}"/>
              </a:ext>
            </a:extLst>
          </p:cNvPr>
          <p:cNvSpPr txBox="1"/>
          <p:nvPr/>
        </p:nvSpPr>
        <p:spPr>
          <a:xfrm>
            <a:off x="384021" y="4915120"/>
            <a:ext cx="1481705" cy="953321"/>
          </a:xfrm>
          <a:prstGeom prst="roundRect">
            <a:avLst>
              <a:gd name="adj" fmla="val 6714"/>
            </a:avLst>
          </a:prstGeom>
          <a:solidFill>
            <a:srgbClr val="DBF0FD"/>
          </a:solidFill>
          <a:ln w="25400">
            <a:solidFill>
              <a:srgbClr val="0051B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</a:t>
            </a:r>
            <a:r>
              <a:rPr lang="en-US" sz="1800" b="1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 </a:t>
            </a:r>
            <a:r>
              <a:rPr lang="en-US" sz="14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zh-TW" altLang="en-US" sz="13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、頻率 </a:t>
            </a:r>
            <a:r>
              <a:rPr lang="en-US" sz="14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4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4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2)</a:t>
            </a:r>
            <a:endParaRPr lang="en-US" sz="1300" dirty="0"/>
          </a:p>
        </p:txBody>
      </p:sp>
      <p:sp>
        <p:nvSpPr>
          <p:cNvPr id="64" name="3GPP固定公式 66">
            <a:extLst>
              <a:ext uri="{FF2B5EF4-FFF2-40B4-BE49-F238E27FC236}">
                <a16:creationId xmlns:a16="http://schemas.microsoft.com/office/drawing/2014/main" id="{3A1DEFA3-3BD1-68DA-6B7B-595692692AD9}"/>
              </a:ext>
            </a:extLst>
          </p:cNvPr>
          <p:cNvSpPr txBox="1"/>
          <p:nvPr/>
        </p:nvSpPr>
        <p:spPr>
          <a:xfrm>
            <a:off x="2736047" y="4530835"/>
            <a:ext cx="2208171" cy="561647"/>
          </a:xfrm>
          <a:prstGeom prst="roundRect">
            <a:avLst>
              <a:gd name="adj" fmla="val 11396"/>
            </a:avLst>
          </a:prstGeom>
          <a:solidFill>
            <a:srgbClr val="CFEBFD"/>
          </a:solidFill>
          <a:ln w="31750">
            <a:solidFill>
              <a:srgbClr val="067FE4"/>
            </a:solidFill>
          </a:ln>
        </p:spPr>
        <p:txBody>
          <a:bodyPr wrap="none" lIns="395601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3GPP固定公式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輸出基準 </a:t>
            </a:r>
            <a:r>
              <a:rPr lang="en-US" sz="1350" b="1" i="1" dirty="0">
                <a:solidFill>
                  <a:srgbClr val="1565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13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3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1</a:t>
            </a: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200" dirty="0"/>
          </a:p>
        </p:txBody>
      </p:sp>
      <p:grpSp>
        <p:nvGrpSpPr>
          <p:cNvPr id="65" name="鎖頭圖示">
            <a:extLst>
              <a:ext uri="{FF2B5EF4-FFF2-40B4-BE49-F238E27FC236}">
                <a16:creationId xmlns:a16="http://schemas.microsoft.com/office/drawing/2014/main" id="{5E0CFC89-1594-03CA-CAC5-AF3211D48F76}"/>
              </a:ext>
            </a:extLst>
          </p:cNvPr>
          <p:cNvGrpSpPr/>
          <p:nvPr/>
        </p:nvGrpSpPr>
        <p:grpSpPr>
          <a:xfrm>
            <a:off x="2915866" y="4647229"/>
            <a:ext cx="266131" cy="349182"/>
            <a:chOff x="2913060" y="4328743"/>
            <a:chExt cx="266131" cy="349182"/>
          </a:xfrm>
        </p:grpSpPr>
        <p:sp>
          <p:nvSpPr>
            <p:cNvPr id="66" name="鎖環 67">
              <a:extLst>
                <a:ext uri="{FF2B5EF4-FFF2-40B4-BE49-F238E27FC236}">
                  <a16:creationId xmlns:a16="http://schemas.microsoft.com/office/drawing/2014/main" id="{146F573F-706A-0747-1EC4-2AD8D53E6A15}"/>
                </a:ext>
              </a:extLst>
            </p:cNvPr>
            <p:cNvSpPr/>
            <p:nvPr/>
          </p:nvSpPr>
          <p:spPr>
            <a:xfrm>
              <a:off x="2970602" y="4328743"/>
              <a:ext cx="151048" cy="142259"/>
            </a:xfrm>
            <a:custGeom>
              <a:avLst/>
              <a:gdLst/>
              <a:ahLst/>
              <a:cxnLst/>
              <a:rect l="l" t="t" r="r" b="b"/>
              <a:pathLst>
                <a:path w="151048" h="142259">
                  <a:moveTo>
                    <a:pt x="0" y="142259"/>
                  </a:moveTo>
                  <a:lnTo>
                    <a:pt x="0" y="83138"/>
                  </a:lnTo>
                  <a:cubicBezTo>
                    <a:pt x="0" y="-27713"/>
                    <a:pt x="151048" y="-27713"/>
                    <a:pt x="151048" y="83138"/>
                  </a:cubicBezTo>
                  <a:lnTo>
                    <a:pt x="151048" y="142259"/>
                  </a:lnTo>
                </a:path>
              </a:pathLst>
            </a:custGeom>
            <a:noFill/>
            <a:ln w="44450">
              <a:solidFill>
                <a:srgbClr val="0766C9"/>
              </a:solidFill>
              <a:prstDash val="solid"/>
              <a:headEnd type="none"/>
              <a:tailEnd type="none"/>
            </a:ln>
          </p:spPr>
        </p:sp>
        <p:sp>
          <p:nvSpPr>
            <p:cNvPr id="67" name="鎖身 68">
              <a:extLst>
                <a:ext uri="{FF2B5EF4-FFF2-40B4-BE49-F238E27FC236}">
                  <a16:creationId xmlns:a16="http://schemas.microsoft.com/office/drawing/2014/main" id="{3AFE0E22-3A63-AB91-F917-64E114323A5B}"/>
                </a:ext>
              </a:extLst>
            </p:cNvPr>
            <p:cNvSpPr/>
            <p:nvPr/>
          </p:nvSpPr>
          <p:spPr>
            <a:xfrm>
              <a:off x="2913060" y="4456222"/>
              <a:ext cx="266131" cy="221703"/>
            </a:xfrm>
            <a:prstGeom prst="roundRect">
              <a:avLst>
                <a:gd name="adj" fmla="val 12373"/>
              </a:avLst>
            </a:prstGeom>
            <a:solidFill>
              <a:srgbClr val="0766C9"/>
            </a:solidFill>
            <a:ln/>
          </p:spPr>
        </p:sp>
        <p:sp>
          <p:nvSpPr>
            <p:cNvPr id="68" name="鑰匙孔 69">
              <a:extLst>
                <a:ext uri="{FF2B5EF4-FFF2-40B4-BE49-F238E27FC236}">
                  <a16:creationId xmlns:a16="http://schemas.microsoft.com/office/drawing/2014/main" id="{F888226E-6F24-701E-D3C9-B1938E301686}"/>
                </a:ext>
              </a:extLst>
            </p:cNvPr>
            <p:cNvSpPr/>
            <p:nvPr/>
          </p:nvSpPr>
          <p:spPr>
            <a:xfrm>
              <a:off x="3020232" y="4510909"/>
              <a:ext cx="51788" cy="53209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69" name="鑰匙孔 70">
              <a:extLst>
                <a:ext uri="{FF2B5EF4-FFF2-40B4-BE49-F238E27FC236}">
                  <a16:creationId xmlns:a16="http://schemas.microsoft.com/office/drawing/2014/main" id="{91042205-3347-A04F-F0E9-7A0347DDA54F}"/>
                </a:ext>
              </a:extLst>
            </p:cNvPr>
            <p:cNvSpPr/>
            <p:nvPr/>
          </p:nvSpPr>
          <p:spPr>
            <a:xfrm>
              <a:off x="3035337" y="4544903"/>
              <a:ext cx="21578" cy="66511"/>
            </a:xfrm>
            <a:prstGeom prst="rect">
              <a:avLst/>
            </a:prstGeom>
            <a:solidFill>
              <a:srgbClr val="FFFFFF"/>
            </a:solidFill>
            <a:ln/>
          </p:spPr>
        </p:sp>
      </p:grpSp>
      <p:sp>
        <p:nvSpPr>
          <p:cNvPr id="70" name="3GPP註解 71">
            <a:extLst>
              <a:ext uri="{FF2B5EF4-FFF2-40B4-BE49-F238E27FC236}">
                <a16:creationId xmlns:a16="http://schemas.microsoft.com/office/drawing/2014/main" id="{453B4708-4E37-D2B0-711C-CF36A1018D4A}"/>
              </a:ext>
            </a:extLst>
          </p:cNvPr>
          <p:cNvSpPr txBox="1"/>
          <p:nvPr/>
        </p:nvSpPr>
        <p:spPr>
          <a:xfrm>
            <a:off x="2879902" y="5158992"/>
            <a:ext cx="2157822" cy="184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∂b</a:t>
            </a:r>
            <a:r>
              <a:rPr lang="en-US" sz="14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4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∂θ</a:t>
            </a:r>
            <a:r>
              <a:rPr lang="en-US" sz="1400" i="1" baseline="300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4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0</a:t>
            </a: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；  公式不參與訓練</a:t>
            </a:r>
            <a:endParaRPr lang="en-US" sz="1400" dirty="0"/>
          </a:p>
        </p:txBody>
      </p:sp>
      <p:sp>
        <p:nvSpPr>
          <p:cNvPr id="71" name="AI傳播損耗校正模型 72">
            <a:extLst>
              <a:ext uri="{FF2B5EF4-FFF2-40B4-BE49-F238E27FC236}">
                <a16:creationId xmlns:a16="http://schemas.microsoft.com/office/drawing/2014/main" id="{F8748D7A-020F-95FE-CEA9-83D7F4B06E34}"/>
              </a:ext>
            </a:extLst>
          </p:cNvPr>
          <p:cNvSpPr txBox="1"/>
          <p:nvPr/>
        </p:nvSpPr>
        <p:spPr>
          <a:xfrm>
            <a:off x="2678505" y="5491546"/>
            <a:ext cx="2330448" cy="657718"/>
          </a:xfrm>
          <a:prstGeom prst="roundRect">
            <a:avLst>
              <a:gd name="adj" fmla="val 9732"/>
            </a:avLst>
          </a:prstGeom>
          <a:solidFill>
            <a:srgbClr val="FEEFE1"/>
          </a:solidFill>
          <a:ln w="31750">
            <a:solidFill>
              <a:srgbClr val="F26A1B"/>
            </a:solidFill>
          </a:ln>
        </p:spPr>
        <p:txBody>
          <a:bodyPr wrap="none" lIns="632961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F259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AI傳播損耗校正模型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F259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輸出修正量 </a:t>
            </a:r>
            <a:r>
              <a:rPr lang="en-US" sz="12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1200" b="1" i="1" baseline="-250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12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2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2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(</a:t>
            </a:r>
            <a:r>
              <a:rPr lang="en-US" sz="1200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2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1)</a:t>
            </a:r>
            <a:endParaRPr lang="en-US" sz="1100" dirty="0"/>
          </a:p>
        </p:txBody>
      </p:sp>
      <p:grpSp>
        <p:nvGrpSpPr>
          <p:cNvPr id="72" name="神經網路圖示">
            <a:extLst>
              <a:ext uri="{FF2B5EF4-FFF2-40B4-BE49-F238E27FC236}">
                <a16:creationId xmlns:a16="http://schemas.microsoft.com/office/drawing/2014/main" id="{9C8859CF-DC8E-8F2C-6B11-18543F87EEE5}"/>
              </a:ext>
            </a:extLst>
          </p:cNvPr>
          <p:cNvGrpSpPr/>
          <p:nvPr/>
        </p:nvGrpSpPr>
        <p:grpSpPr>
          <a:xfrm>
            <a:off x="2802221" y="5558796"/>
            <a:ext cx="507807" cy="541693"/>
            <a:chOff x="2799415" y="5240310"/>
            <a:chExt cx="507807" cy="541693"/>
          </a:xfrm>
        </p:grpSpPr>
        <p:sp>
          <p:nvSpPr>
            <p:cNvPr id="73" name="連線 73">
              <a:extLst>
                <a:ext uri="{FF2B5EF4-FFF2-40B4-BE49-F238E27FC236}">
                  <a16:creationId xmlns:a16="http://schemas.microsoft.com/office/drawing/2014/main" id="{2E2B622A-22BD-012D-E33E-FA6957B0E50B}"/>
                </a:ext>
              </a:extLst>
            </p:cNvPr>
            <p:cNvSpPr/>
            <p:nvPr/>
          </p:nvSpPr>
          <p:spPr>
            <a:xfrm>
              <a:off x="2846887" y="5287607"/>
              <a:ext cx="412863" cy="447100"/>
            </a:xfrm>
            <a:custGeom>
              <a:avLst/>
              <a:gdLst/>
              <a:ahLst/>
              <a:cxnLst/>
              <a:rect l="l" t="t" r="r" b="b"/>
              <a:pathLst>
                <a:path w="412863" h="447100">
                  <a:moveTo>
                    <a:pt x="0" y="114546"/>
                  </a:moveTo>
                  <a:lnTo>
                    <a:pt x="206432" y="0"/>
                  </a:lnTo>
                  <a:moveTo>
                    <a:pt x="0" y="114546"/>
                  </a:moveTo>
                  <a:lnTo>
                    <a:pt x="206432" y="223920"/>
                  </a:lnTo>
                  <a:moveTo>
                    <a:pt x="0" y="114546"/>
                  </a:moveTo>
                  <a:lnTo>
                    <a:pt x="206432" y="447100"/>
                  </a:lnTo>
                  <a:moveTo>
                    <a:pt x="0" y="354724"/>
                  </a:moveTo>
                  <a:lnTo>
                    <a:pt x="206432" y="0"/>
                  </a:lnTo>
                  <a:moveTo>
                    <a:pt x="0" y="354724"/>
                  </a:moveTo>
                  <a:lnTo>
                    <a:pt x="206432" y="223920"/>
                  </a:lnTo>
                  <a:moveTo>
                    <a:pt x="0" y="354724"/>
                  </a:moveTo>
                  <a:lnTo>
                    <a:pt x="206432" y="447100"/>
                  </a:lnTo>
                  <a:moveTo>
                    <a:pt x="206432" y="0"/>
                  </a:moveTo>
                  <a:lnTo>
                    <a:pt x="412863" y="114546"/>
                  </a:lnTo>
                  <a:moveTo>
                    <a:pt x="206432" y="0"/>
                  </a:moveTo>
                  <a:lnTo>
                    <a:pt x="412863" y="354724"/>
                  </a:lnTo>
                  <a:moveTo>
                    <a:pt x="206432" y="223920"/>
                  </a:moveTo>
                  <a:lnTo>
                    <a:pt x="412863" y="114546"/>
                  </a:lnTo>
                  <a:moveTo>
                    <a:pt x="206432" y="223920"/>
                  </a:moveTo>
                  <a:lnTo>
                    <a:pt x="412863" y="354724"/>
                  </a:lnTo>
                  <a:moveTo>
                    <a:pt x="206432" y="447100"/>
                  </a:moveTo>
                  <a:lnTo>
                    <a:pt x="412863" y="114546"/>
                  </a:lnTo>
                  <a:moveTo>
                    <a:pt x="206432" y="447100"/>
                  </a:moveTo>
                  <a:lnTo>
                    <a:pt x="412863" y="354724"/>
                  </a:lnTo>
                </a:path>
              </a:pathLst>
            </a:custGeom>
            <a:noFill/>
            <a:ln w="15875">
              <a:solidFill>
                <a:srgbClr val="E8500A"/>
              </a:solidFill>
              <a:prstDash val="solid"/>
              <a:headEnd type="none"/>
              <a:tailEnd type="none"/>
            </a:ln>
          </p:spPr>
        </p:sp>
        <p:sp>
          <p:nvSpPr>
            <p:cNvPr id="74" name="節點 74">
              <a:extLst>
                <a:ext uri="{FF2B5EF4-FFF2-40B4-BE49-F238E27FC236}">
                  <a16:creationId xmlns:a16="http://schemas.microsoft.com/office/drawing/2014/main" id="{14EAB088-1DF3-12D7-15AD-C40D53D95188}"/>
                </a:ext>
              </a:extLst>
            </p:cNvPr>
            <p:cNvSpPr/>
            <p:nvPr/>
          </p:nvSpPr>
          <p:spPr>
            <a:xfrm>
              <a:off x="2799415" y="5354856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  <p:sp>
          <p:nvSpPr>
            <p:cNvPr id="75" name="節點 75">
              <a:extLst>
                <a:ext uri="{FF2B5EF4-FFF2-40B4-BE49-F238E27FC236}">
                  <a16:creationId xmlns:a16="http://schemas.microsoft.com/office/drawing/2014/main" id="{C7BC5185-4E7D-0E92-ECC4-FD785D78489D}"/>
                </a:ext>
              </a:extLst>
            </p:cNvPr>
            <p:cNvSpPr/>
            <p:nvPr/>
          </p:nvSpPr>
          <p:spPr>
            <a:xfrm>
              <a:off x="2799415" y="5595034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  <p:sp>
          <p:nvSpPr>
            <p:cNvPr id="76" name="節點 76">
              <a:extLst>
                <a:ext uri="{FF2B5EF4-FFF2-40B4-BE49-F238E27FC236}">
                  <a16:creationId xmlns:a16="http://schemas.microsoft.com/office/drawing/2014/main" id="{883A7E66-2754-C104-C0B3-E25820C5163C}"/>
                </a:ext>
              </a:extLst>
            </p:cNvPr>
            <p:cNvSpPr/>
            <p:nvPr/>
          </p:nvSpPr>
          <p:spPr>
            <a:xfrm>
              <a:off x="3005846" y="5240310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  <p:sp>
          <p:nvSpPr>
            <p:cNvPr id="77" name="節點 77">
              <a:extLst>
                <a:ext uri="{FF2B5EF4-FFF2-40B4-BE49-F238E27FC236}">
                  <a16:creationId xmlns:a16="http://schemas.microsoft.com/office/drawing/2014/main" id="{F0B5A2BB-9645-94A0-52CE-810B9E4699F3}"/>
                </a:ext>
              </a:extLst>
            </p:cNvPr>
            <p:cNvSpPr/>
            <p:nvPr/>
          </p:nvSpPr>
          <p:spPr>
            <a:xfrm>
              <a:off x="3005846" y="5464230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  <p:sp>
          <p:nvSpPr>
            <p:cNvPr id="78" name="節點 78">
              <a:extLst>
                <a:ext uri="{FF2B5EF4-FFF2-40B4-BE49-F238E27FC236}">
                  <a16:creationId xmlns:a16="http://schemas.microsoft.com/office/drawing/2014/main" id="{33F9FDE6-B1C4-183E-2953-110C75EC70F5}"/>
                </a:ext>
              </a:extLst>
            </p:cNvPr>
            <p:cNvSpPr/>
            <p:nvPr/>
          </p:nvSpPr>
          <p:spPr>
            <a:xfrm>
              <a:off x="3005846" y="5687410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  <p:sp>
          <p:nvSpPr>
            <p:cNvPr id="79" name="節點 79">
              <a:extLst>
                <a:ext uri="{FF2B5EF4-FFF2-40B4-BE49-F238E27FC236}">
                  <a16:creationId xmlns:a16="http://schemas.microsoft.com/office/drawing/2014/main" id="{DB3800D2-D712-CE96-377F-495CC6A06291}"/>
                </a:ext>
              </a:extLst>
            </p:cNvPr>
            <p:cNvSpPr/>
            <p:nvPr/>
          </p:nvSpPr>
          <p:spPr>
            <a:xfrm>
              <a:off x="3212278" y="5354856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  <p:sp>
          <p:nvSpPr>
            <p:cNvPr id="80" name="節點 80">
              <a:extLst>
                <a:ext uri="{FF2B5EF4-FFF2-40B4-BE49-F238E27FC236}">
                  <a16:creationId xmlns:a16="http://schemas.microsoft.com/office/drawing/2014/main" id="{1C6BC2F9-46A5-CF40-30C7-1E58A14023E0}"/>
                </a:ext>
              </a:extLst>
            </p:cNvPr>
            <p:cNvSpPr/>
            <p:nvPr/>
          </p:nvSpPr>
          <p:spPr>
            <a:xfrm>
              <a:off x="3212278" y="5595034"/>
              <a:ext cx="94944" cy="94593"/>
            </a:xfrm>
            <a:prstGeom prst="ellipse">
              <a:avLst/>
            </a:prstGeom>
            <a:solidFill>
              <a:srgbClr val="FC6602"/>
            </a:solidFill>
            <a:ln/>
          </p:spPr>
        </p:sp>
      </p:grpSp>
      <p:sp>
        <p:nvSpPr>
          <p:cNvPr id="81" name="加總 81">
            <a:extLst>
              <a:ext uri="{FF2B5EF4-FFF2-40B4-BE49-F238E27FC236}">
                <a16:creationId xmlns:a16="http://schemas.microsoft.com/office/drawing/2014/main" id="{8DC745DE-9571-D864-BF46-64E2768BE43F}"/>
              </a:ext>
            </a:extLst>
          </p:cNvPr>
          <p:cNvSpPr txBox="1"/>
          <p:nvPr/>
        </p:nvSpPr>
        <p:spPr>
          <a:xfrm>
            <a:off x="5722899" y="5147907"/>
            <a:ext cx="399065" cy="3990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457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45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82" name="預測Path Loss 82">
            <a:extLst>
              <a:ext uri="{FF2B5EF4-FFF2-40B4-BE49-F238E27FC236}">
                <a16:creationId xmlns:a16="http://schemas.microsoft.com/office/drawing/2014/main" id="{3C2115A9-4EC0-15E6-15BE-3AAA65F3B7E8}"/>
              </a:ext>
            </a:extLst>
          </p:cNvPr>
          <p:cNvSpPr txBox="1"/>
          <p:nvPr/>
        </p:nvSpPr>
        <p:spPr>
          <a:xfrm>
            <a:off x="7037306" y="4966850"/>
            <a:ext cx="1639945" cy="687278"/>
          </a:xfrm>
          <a:prstGeom prst="roundRect">
            <a:avLst>
              <a:gd name="adj" fmla="val 9313"/>
            </a:avLst>
          </a:prstGeom>
          <a:solidFill>
            <a:srgbClr val="DDF1FD"/>
          </a:solidFill>
          <a:ln w="25400">
            <a:solidFill>
              <a:srgbClr val="175FC5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預測Path Loss</a:t>
            </a:r>
            <a:endParaRPr lang="en-US" sz="14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r>
              <a:rPr lang="zh-TW" altLang="en-US" sz="14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（</a:t>
            </a:r>
            <a:r>
              <a:rPr lang="en-US" sz="15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5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1</a:t>
            </a:r>
            <a:r>
              <a:rPr lang="zh-TW" altLang="en-US" sz="14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400" dirty="0"/>
          </a:p>
        </p:txBody>
      </p:sp>
      <p:sp>
        <p:nvSpPr>
          <p:cNvPr id="83" name="實網量測 y 83">
            <a:extLst>
              <a:ext uri="{FF2B5EF4-FFF2-40B4-BE49-F238E27FC236}">
                <a16:creationId xmlns:a16="http://schemas.microsoft.com/office/drawing/2014/main" id="{04C11EBE-C3DE-A51A-12F9-677CE53D438D}"/>
              </a:ext>
            </a:extLst>
          </p:cNvPr>
          <p:cNvSpPr txBox="1"/>
          <p:nvPr/>
        </p:nvSpPr>
        <p:spPr>
          <a:xfrm>
            <a:off x="9684235" y="4294352"/>
            <a:ext cx="1934847" cy="450795"/>
          </a:xfrm>
          <a:prstGeom prst="roundRect">
            <a:avLst>
              <a:gd name="adj" fmla="val 12170"/>
            </a:avLst>
          </a:prstGeom>
          <a:solidFill>
            <a:srgbClr val="CEF1EF"/>
          </a:solidFill>
          <a:ln w="25400">
            <a:solidFill>
              <a:srgbClr val="2BBDB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實網量測 </a:t>
            </a:r>
            <a:r>
              <a:rPr lang="en-US" sz="1700" b="1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1300" i="1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3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1</a:t>
            </a:r>
            <a:r>
              <a:rPr lang="zh-TW" altLang="en-US" sz="12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200" dirty="0"/>
          </a:p>
        </p:txBody>
      </p:sp>
      <p:sp>
        <p:nvSpPr>
          <p:cNvPr id="84" name="Loss Function 84">
            <a:extLst>
              <a:ext uri="{FF2B5EF4-FFF2-40B4-BE49-F238E27FC236}">
                <a16:creationId xmlns:a16="http://schemas.microsoft.com/office/drawing/2014/main" id="{1578CA0A-26DF-A7D1-590B-9F39C97949A1}"/>
              </a:ext>
            </a:extLst>
          </p:cNvPr>
          <p:cNvSpPr txBox="1"/>
          <p:nvPr/>
        </p:nvSpPr>
        <p:spPr>
          <a:xfrm>
            <a:off x="9439682" y="4922510"/>
            <a:ext cx="2380797" cy="857250"/>
          </a:xfrm>
          <a:prstGeom prst="roundRect">
            <a:avLst>
              <a:gd name="adj" fmla="val 7467"/>
            </a:avLst>
          </a:prstGeom>
          <a:solidFill>
            <a:srgbClr val="FEF1E6"/>
          </a:solidFill>
          <a:ln w="31750">
            <a:solidFill>
              <a:srgbClr val="F26A1B"/>
            </a:solidFill>
          </a:ln>
        </p:spPr>
        <p:txBody>
          <a:bodyPr wrap="none" lIns="0" tIns="6350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F259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Function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rgbClr val="0A1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</a:t>
            </a:r>
            <a:r>
              <a:rPr lang="en-US" sz="15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</a:t>
            </a:r>
            <a:r>
              <a:rPr lang="zh-TW" altLang="en-US" sz="1300" dirty="0">
                <a:solidFill>
                  <a:srgbClr val="0A1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15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300" dirty="0"/>
          </a:p>
        </p:txBody>
      </p:sp>
      <p:sp>
        <p:nvSpPr>
          <p:cNvPr id="85" name="Loss-流程 左式 85">
            <a:extLst>
              <a:ext uri="{FF2B5EF4-FFF2-40B4-BE49-F238E27FC236}">
                <a16:creationId xmlns:a16="http://schemas.microsoft.com/office/drawing/2014/main" id="{E56E2578-57CE-AA79-0516-6030033D3C7C}"/>
              </a:ext>
            </a:extLst>
          </p:cNvPr>
          <p:cNvSpPr txBox="1"/>
          <p:nvPr/>
        </p:nvSpPr>
        <p:spPr>
          <a:xfrm>
            <a:off x="9382570" y="5444742"/>
            <a:ext cx="76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A1A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ℒ</a:t>
            </a:r>
            <a:r>
              <a:rPr lang="en-US" sz="15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5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15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</a:t>
            </a:r>
            <a:endParaRPr lang="en-US" sz="1500" dirty="0"/>
          </a:p>
        </p:txBody>
      </p:sp>
      <p:sp>
        <p:nvSpPr>
          <p:cNvPr id="86" name="分子 86">
            <a:extLst>
              <a:ext uri="{FF2B5EF4-FFF2-40B4-BE49-F238E27FC236}">
                <a16:creationId xmlns:a16="http://schemas.microsoft.com/office/drawing/2014/main" id="{710BDB6D-3481-6815-621E-19E627387CCB}"/>
              </a:ext>
            </a:extLst>
          </p:cNvPr>
          <p:cNvSpPr txBox="1"/>
          <p:nvPr/>
        </p:nvSpPr>
        <p:spPr>
          <a:xfrm>
            <a:off x="10186480" y="5427597"/>
            <a:ext cx="190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20" dirty="0"/>
          </a:p>
        </p:txBody>
      </p:sp>
      <p:sp>
        <p:nvSpPr>
          <p:cNvPr id="87" name="分數線 87">
            <a:extLst>
              <a:ext uri="{FF2B5EF4-FFF2-40B4-BE49-F238E27FC236}">
                <a16:creationId xmlns:a16="http://schemas.microsoft.com/office/drawing/2014/main" id="{02B78792-FF11-32AA-404A-0B3251E0318B}"/>
              </a:ext>
            </a:extLst>
          </p:cNvPr>
          <p:cNvSpPr/>
          <p:nvPr/>
        </p:nvSpPr>
        <p:spPr>
          <a:xfrm>
            <a:off x="10216960" y="5587617"/>
            <a:ext cx="129540" cy="0"/>
          </a:xfrm>
          <a:prstGeom prst="line">
            <a:avLst/>
          </a:prstGeom>
          <a:noFill/>
          <a:ln w="12700">
            <a:solidFill>
              <a:srgbClr val="0A1A4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分母 88">
            <a:extLst>
              <a:ext uri="{FF2B5EF4-FFF2-40B4-BE49-F238E27FC236}">
                <a16:creationId xmlns:a16="http://schemas.microsoft.com/office/drawing/2014/main" id="{F2F4666C-AF6F-2F7E-EDBD-B3C1BCA1285D}"/>
              </a:ext>
            </a:extLst>
          </p:cNvPr>
          <p:cNvSpPr txBox="1"/>
          <p:nvPr/>
        </p:nvSpPr>
        <p:spPr>
          <a:xfrm>
            <a:off x="10186480" y="5595237"/>
            <a:ext cx="190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20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020" dirty="0"/>
          </a:p>
        </p:txBody>
      </p:sp>
      <p:sp>
        <p:nvSpPr>
          <p:cNvPr id="89" name="Loss-流程 範數 89">
            <a:extLst>
              <a:ext uri="{FF2B5EF4-FFF2-40B4-BE49-F238E27FC236}">
                <a16:creationId xmlns:a16="http://schemas.microsoft.com/office/drawing/2014/main" id="{49955B3E-F007-75D3-CE20-BE655F87B1E4}"/>
              </a:ext>
            </a:extLst>
          </p:cNvPr>
          <p:cNvSpPr txBox="1"/>
          <p:nvPr/>
        </p:nvSpPr>
        <p:spPr>
          <a:xfrm>
            <a:off x="10392220" y="5444742"/>
            <a:ext cx="122682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</a:t>
            </a:r>
            <a:r>
              <a:rPr lang="en-US" sz="1500" b="1" i="1" dirty="0">
                <a:solidFill>
                  <a:srgbClr val="1E7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5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15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1500" b="1" i="1" baseline="-250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1500" b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5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500" b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5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1500" b="1" i="1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150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</a:t>
            </a:r>
            <a:endParaRPr lang="en-US" sz="1500" dirty="0"/>
          </a:p>
        </p:txBody>
      </p:sp>
      <p:sp>
        <p:nvSpPr>
          <p:cNvPr id="90" name="平方 90">
            <a:extLst>
              <a:ext uri="{FF2B5EF4-FFF2-40B4-BE49-F238E27FC236}">
                <a16:creationId xmlns:a16="http://schemas.microsoft.com/office/drawing/2014/main" id="{EE16127F-6EE8-6860-ADDA-9A63112FB400}"/>
              </a:ext>
            </a:extLst>
          </p:cNvPr>
          <p:cNvSpPr txBox="1"/>
          <p:nvPr/>
        </p:nvSpPr>
        <p:spPr>
          <a:xfrm>
            <a:off x="11557226" y="5439027"/>
            <a:ext cx="95250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70" dirty="0"/>
          </a:p>
        </p:txBody>
      </p:sp>
      <p:sp>
        <p:nvSpPr>
          <p:cNvPr id="91" name="2-範數 91">
            <a:extLst>
              <a:ext uri="{FF2B5EF4-FFF2-40B4-BE49-F238E27FC236}">
                <a16:creationId xmlns:a16="http://schemas.microsoft.com/office/drawing/2014/main" id="{52F079D8-97F6-1059-B920-CC823C7F491B}"/>
              </a:ext>
            </a:extLst>
          </p:cNvPr>
          <p:cNvSpPr txBox="1"/>
          <p:nvPr/>
        </p:nvSpPr>
        <p:spPr>
          <a:xfrm>
            <a:off x="11557226" y="5583807"/>
            <a:ext cx="95250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0A1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70" dirty="0"/>
          </a:p>
        </p:txBody>
      </p:sp>
      <p:sp>
        <p:nvSpPr>
          <p:cNvPr id="92" name="Backpropagation 92">
            <a:extLst>
              <a:ext uri="{FF2B5EF4-FFF2-40B4-BE49-F238E27FC236}">
                <a16:creationId xmlns:a16="http://schemas.microsoft.com/office/drawing/2014/main" id="{428A3B59-2FCA-425F-54C4-6DF514AB1D73}"/>
              </a:ext>
            </a:extLst>
          </p:cNvPr>
          <p:cNvSpPr txBox="1"/>
          <p:nvPr/>
        </p:nvSpPr>
        <p:spPr>
          <a:xfrm>
            <a:off x="8900226" y="5898001"/>
            <a:ext cx="1582403" cy="458185"/>
          </a:xfrm>
          <a:prstGeom prst="roundRect">
            <a:avLst>
              <a:gd name="adj" fmla="val 13970"/>
            </a:avLst>
          </a:prstGeom>
          <a:solidFill>
            <a:srgbClr val="FDF0E1"/>
          </a:solidFill>
          <a:ln w="22225">
            <a:solidFill>
              <a:srgbClr val="F5A05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Backpropagation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</a:t>
            </a:r>
            <a:r>
              <a:rPr lang="en-US" sz="1400" dirty="0">
                <a:solidFill>
                  <a:srgbClr val="0B3A8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∇</a:t>
            </a:r>
            <a:r>
              <a:rPr lang="en-US" sz="1400" b="1" i="1" baseline="-25000" dirty="0">
                <a:solidFill>
                  <a:srgbClr val="0B3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1400" dirty="0">
                <a:solidFill>
                  <a:srgbClr val="0B3A8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ℒ</a:t>
            </a:r>
            <a:endParaRPr lang="en-US" sz="1300" dirty="0"/>
          </a:p>
        </p:txBody>
      </p:sp>
      <p:sp>
        <p:nvSpPr>
          <p:cNvPr id="93" name="更新 θ 93">
            <a:extLst>
              <a:ext uri="{FF2B5EF4-FFF2-40B4-BE49-F238E27FC236}">
                <a16:creationId xmlns:a16="http://schemas.microsoft.com/office/drawing/2014/main" id="{05455E56-8C87-2870-4DE6-5DC3C16B993F}"/>
              </a:ext>
            </a:extLst>
          </p:cNvPr>
          <p:cNvSpPr txBox="1"/>
          <p:nvPr/>
        </p:nvSpPr>
        <p:spPr>
          <a:xfrm>
            <a:off x="7195547" y="5890611"/>
            <a:ext cx="1460126" cy="472966"/>
          </a:xfrm>
          <a:prstGeom prst="roundRect">
            <a:avLst>
              <a:gd name="adj" fmla="val 13533"/>
            </a:avLst>
          </a:prstGeom>
          <a:solidFill>
            <a:srgbClr val="FDF0E1"/>
          </a:solidFill>
          <a:ln w="22225">
            <a:solidFill>
              <a:srgbClr val="F5A05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F259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 </a:t>
            </a:r>
            <a:r>
              <a:rPr lang="en-US" sz="14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950" dirty="0"/>
          </a:p>
          <a:p>
            <a:pPr marL="0" indent="0" algn="ctr">
              <a:buNone/>
            </a:pPr>
            <a:r>
              <a:rPr lang="zh-TW" altLang="en-US" sz="95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只更新 </a:t>
            </a:r>
            <a:r>
              <a:rPr lang="en-US" sz="1100" b="1" i="1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1100" b="1" i="1" baseline="-25000" dirty="0">
                <a:solidFill>
                  <a:srgbClr val="F25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zh-TW" altLang="en-US" sz="950" dirty="0">
                <a:solidFill>
                  <a:srgbClr val="0B3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的權重與偏置</a:t>
            </a:r>
            <a:endParaRPr lang="en-US" sz="950" dirty="0"/>
          </a:p>
        </p:txBody>
      </p:sp>
      <p:sp>
        <p:nvSpPr>
          <p:cNvPr id="94" name="標籤-誤差反傳 94">
            <a:extLst>
              <a:ext uri="{FF2B5EF4-FFF2-40B4-BE49-F238E27FC236}">
                <a16:creationId xmlns:a16="http://schemas.microsoft.com/office/drawing/2014/main" id="{5ED15E26-4430-D25C-8574-FE7F5FF64485}"/>
              </a:ext>
            </a:extLst>
          </p:cNvPr>
          <p:cNvSpPr txBox="1"/>
          <p:nvPr/>
        </p:nvSpPr>
        <p:spPr>
          <a:xfrm>
            <a:off x="5325434" y="6134484"/>
            <a:ext cx="1639945" cy="192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59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誤差反傳，只調整AI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9143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AD737-A41A-B04D-8A19-300531D8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目前開發成果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37D973-D4C3-5780-CDD3-A6D53701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63600"/>
            <a:ext cx="11037455" cy="5334001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altLang="zh-TW" sz="2000" b="1" dirty="0"/>
              <a:t>RAN Emulator </a:t>
            </a:r>
            <a:r>
              <a:rPr lang="zh-TW" altLang="en-US" sz="2000" b="1" dirty="0"/>
              <a:t>核心功能已完成</a:t>
            </a:r>
            <a:r>
              <a:rPr lang="zh-TW" altLang="en-US" sz="2000" dirty="0"/>
              <a:t>：支援網路拓樸建構、</a:t>
            </a:r>
            <a:r>
              <a:rPr lang="en-US" altLang="zh-TW" sz="2000" dirty="0"/>
              <a:t>UE/RU </a:t>
            </a:r>
            <a:r>
              <a:rPr lang="zh-TW" altLang="en-US" sz="2000" dirty="0"/>
              <a:t>情境模擬，以及 </a:t>
            </a:r>
            <a:r>
              <a:rPr lang="en-US" altLang="zh-TW" sz="2000" dirty="0"/>
              <a:t>RSRP</a:t>
            </a:r>
            <a:r>
              <a:rPr lang="zh-TW" altLang="en-US" sz="2000" dirty="0"/>
              <a:t>、</a:t>
            </a:r>
            <a:r>
              <a:rPr lang="en-US" altLang="zh-TW" sz="2000" dirty="0"/>
              <a:t>SINR</a:t>
            </a:r>
            <a:r>
              <a:rPr lang="zh-TW" altLang="en-US" sz="2000" dirty="0"/>
              <a:t>、</a:t>
            </a:r>
            <a:r>
              <a:rPr lang="en-US" altLang="zh-TW" sz="2000" dirty="0"/>
              <a:t>PRB</a:t>
            </a:r>
            <a:r>
              <a:rPr lang="zh-TW" altLang="en-US" sz="2000" dirty="0"/>
              <a:t>、</a:t>
            </a:r>
            <a:r>
              <a:rPr lang="en-US" altLang="zh-TW" sz="2000" dirty="0"/>
              <a:t>Throughput </a:t>
            </a:r>
            <a:r>
              <a:rPr lang="zh-TW" altLang="en-US" sz="2000" dirty="0"/>
              <a:t>等 </a:t>
            </a:r>
            <a:r>
              <a:rPr lang="en-US" altLang="zh-TW" sz="2000" dirty="0"/>
              <a:t>3GPP-based KPI </a:t>
            </a:r>
            <a:r>
              <a:rPr lang="zh-TW" altLang="en-US" sz="2000" dirty="0"/>
              <a:t>計算。 </a:t>
            </a:r>
          </a:p>
          <a:p>
            <a:pPr>
              <a:buFont typeface="+mj-lt"/>
              <a:buAutoNum type="arabicPeriod"/>
            </a:pPr>
            <a:r>
              <a:rPr lang="zh-TW" altLang="en-US" sz="2000" b="1" dirty="0"/>
              <a:t>系統整合與校正持續開發</a:t>
            </a:r>
            <a:r>
              <a:rPr lang="zh-TW" altLang="en-US" sz="2000" dirty="0"/>
              <a:t>：目前進行</a:t>
            </a:r>
            <a:r>
              <a:rPr lang="en-US" altLang="zh-TW" sz="2000" dirty="0"/>
              <a:t>O1/E2 Agent </a:t>
            </a:r>
            <a:r>
              <a:rPr lang="zh-TW" altLang="en-US" sz="2000" dirty="0"/>
              <a:t>與 </a:t>
            </a:r>
            <a:r>
              <a:rPr lang="en-US" altLang="zh-TW" sz="2000" dirty="0"/>
              <a:t>RIC/SMO </a:t>
            </a:r>
            <a:r>
              <a:rPr lang="zh-TW" altLang="en-US" sz="2000" dirty="0"/>
              <a:t>串接架構部署，實測數據蒐集及 </a:t>
            </a:r>
            <a:r>
              <a:rPr lang="en-US" altLang="zh-TW" sz="2000" b="1" dirty="0"/>
              <a:t>Vendor-Specific Model Calibration</a:t>
            </a:r>
            <a:r>
              <a:rPr lang="zh-TW" altLang="en-US" sz="2000" dirty="0"/>
              <a:t>。</a:t>
            </a:r>
          </a:p>
          <a:p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2CD7F-E23E-C1A4-324A-616710CEF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21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CA62B5-B81C-8606-6C01-672684C6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75" y="2304898"/>
            <a:ext cx="9304018" cy="417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81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A57B0-8983-8567-C87A-743B8869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E270DF-D1E5-7A5D-6804-4680011E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06500"/>
            <a:ext cx="11037455" cy="4991101"/>
          </a:xfrm>
        </p:spPr>
        <p:txBody>
          <a:bodyPr/>
          <a:lstStyle/>
          <a:p>
            <a:r>
              <a:rPr lang="zh-TW" altLang="en-US" dirty="0">
                <a:solidFill>
                  <a:srgbClr val="CCCCCC"/>
                </a:solidFill>
              </a:rPr>
              <a:t>全自動化驗證 </a:t>
            </a:r>
            <a:r>
              <a:rPr lang="en-US" altLang="zh-TW" dirty="0">
                <a:solidFill>
                  <a:srgbClr val="CCCCCC"/>
                </a:solidFill>
              </a:rPr>
              <a:t>Tester</a:t>
            </a:r>
            <a:r>
              <a:rPr lang="zh-TW" altLang="en-US" dirty="0">
                <a:solidFill>
                  <a:srgbClr val="CCCCCC"/>
                </a:solidFill>
              </a:rPr>
              <a:t> 開發</a:t>
            </a:r>
            <a:endParaRPr lang="en-US" altLang="zh-TW" dirty="0">
              <a:solidFill>
                <a:srgbClr val="CCCCCC"/>
              </a:solidFill>
            </a:endParaRPr>
          </a:p>
          <a:p>
            <a:pPr lvl="1"/>
            <a:r>
              <a:rPr lang="en-US" altLang="zh-TW" dirty="0">
                <a:solidFill>
                  <a:srgbClr val="CCCCCC"/>
                </a:solidFill>
              </a:rPr>
              <a:t>IM</a:t>
            </a:r>
            <a:r>
              <a:rPr lang="zh-TW" altLang="en-US" dirty="0">
                <a:solidFill>
                  <a:srgbClr val="CCCCCC"/>
                </a:solidFill>
              </a:rPr>
              <a:t> </a:t>
            </a:r>
            <a:r>
              <a:rPr lang="en-US" altLang="zh-TW" dirty="0">
                <a:solidFill>
                  <a:srgbClr val="CCCCCC"/>
                </a:solidFill>
              </a:rPr>
              <a:t>App</a:t>
            </a:r>
            <a:r>
              <a:rPr lang="zh-TW" altLang="en-US" dirty="0">
                <a:solidFill>
                  <a:srgbClr val="CCCCCC"/>
                </a:solidFill>
              </a:rPr>
              <a:t>效能驗證</a:t>
            </a:r>
            <a:r>
              <a:rPr lang="en-US" altLang="zh-TW" dirty="0">
                <a:solidFill>
                  <a:srgbClr val="CCCCCC"/>
                </a:solidFill>
              </a:rPr>
              <a:t>Tester</a:t>
            </a:r>
          </a:p>
          <a:p>
            <a:r>
              <a:rPr lang="zh-TW" altLang="en-US" dirty="0">
                <a:solidFill>
                  <a:srgbClr val="CCCCCC"/>
                </a:solidFill>
              </a:rPr>
              <a:t>網路場域建置</a:t>
            </a:r>
            <a:endParaRPr lang="en-US" altLang="zh-TW" dirty="0">
              <a:solidFill>
                <a:srgbClr val="CCCCCC"/>
              </a:solidFill>
            </a:endParaRPr>
          </a:p>
          <a:p>
            <a:pPr lvl="1"/>
            <a:r>
              <a:rPr lang="en-US" altLang="zh-TW" dirty="0">
                <a:solidFill>
                  <a:srgbClr val="CCCCCC"/>
                </a:solidFill>
              </a:rPr>
              <a:t>RAN</a:t>
            </a:r>
            <a:r>
              <a:rPr lang="zh-TW" altLang="en-US" dirty="0">
                <a:solidFill>
                  <a:srgbClr val="CCCCCC"/>
                </a:solidFill>
              </a:rPr>
              <a:t> </a:t>
            </a:r>
            <a:r>
              <a:rPr lang="en-US" altLang="zh-TW" dirty="0">
                <a:solidFill>
                  <a:srgbClr val="CCCCCC"/>
                </a:solidFill>
              </a:rPr>
              <a:t>Emulator</a:t>
            </a:r>
          </a:p>
          <a:p>
            <a:r>
              <a:rPr lang="en-US" altLang="zh-TW" sz="3200" b="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zh-TW" altLang="en-US" sz="3200" b="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驗證情境建置</a:t>
            </a:r>
            <a:endParaRPr lang="en-US" altLang="zh-TW" sz="3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TW" altLang="en-US" b="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展示情境優化（室內場域）</a:t>
            </a:r>
            <a:endParaRPr lang="en-US" altLang="zh-TW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3200" b="0" kern="12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Openhouse</a:t>
            </a:r>
            <a:r>
              <a:rPr lang="zh-TW" altLang="en-US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戰情室串接</a:t>
            </a:r>
            <a:endParaRPr lang="en-US" altLang="zh-TW" sz="3200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925466-D59D-4853-3413-4159CE0C8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22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956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787A2-E16F-37FE-EEF3-F28C6E32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室內</a:t>
            </a:r>
            <a:r>
              <a:rPr lang="en-US" altLang="zh-TW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 </a:t>
            </a:r>
            <a:r>
              <a:rPr lang="en-US" altLang="zh-TW" kern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展示場域配置</a:t>
            </a:r>
            <a:endParaRPr lang="zh-TW" altLang="en-US" kern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89F313-3BB4-B01F-069C-441014FBF4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23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F79B272-7C5F-E153-F902-B9FC624A4704}"/>
              </a:ext>
            </a:extLst>
          </p:cNvPr>
          <p:cNvGrpSpPr/>
          <p:nvPr/>
        </p:nvGrpSpPr>
        <p:grpSpPr>
          <a:xfrm>
            <a:off x="412970" y="1350818"/>
            <a:ext cx="11615086" cy="4701453"/>
            <a:chOff x="31970" y="804672"/>
            <a:chExt cx="11873518" cy="5268381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4FF7E5D9-C7FC-6B94-B79E-28F765C2BA47}"/>
                </a:ext>
              </a:extLst>
            </p:cNvPr>
            <p:cNvSpPr/>
            <p:nvPr/>
          </p:nvSpPr>
          <p:spPr>
            <a:xfrm>
              <a:off x="2651760" y="804672"/>
              <a:ext cx="777240" cy="0"/>
            </a:xfrm>
            <a:prstGeom prst="line">
              <a:avLst/>
            </a:prstGeom>
            <a:noFill/>
            <a:ln w="12700">
              <a:solidFill>
                <a:srgbClr val="9DB4CC"/>
              </a:solidFill>
              <a:prstDash val="solid"/>
            </a:ln>
          </p:spPr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6F01B62A-A80E-CEB0-0921-72BBFA66FA7C}"/>
                </a:ext>
              </a:extLst>
            </p:cNvPr>
            <p:cNvSpPr/>
            <p:nvPr/>
          </p:nvSpPr>
          <p:spPr>
            <a:xfrm>
              <a:off x="8778240" y="804672"/>
              <a:ext cx="777240" cy="0"/>
            </a:xfrm>
            <a:prstGeom prst="line">
              <a:avLst/>
            </a:prstGeom>
            <a:noFill/>
            <a:ln w="12700">
              <a:solidFill>
                <a:srgbClr val="9DB4CC"/>
              </a:solidFill>
              <a:prstDash val="solid"/>
            </a:ln>
          </p:spPr>
        </p:sp>
        <p:pic>
          <p:nvPicPr>
            <p:cNvPr id="7" name="Image 0" descr="/home/claude/floorplan_clean.png">
              <a:extLst>
                <a:ext uri="{FF2B5EF4-FFF2-40B4-BE49-F238E27FC236}">
                  <a16:creationId xmlns:a16="http://schemas.microsoft.com/office/drawing/2014/main" id="{6391BFBF-9FFF-2DEE-880A-B137555F0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608" y="932688"/>
              <a:ext cx="11612880" cy="5140365"/>
            </a:xfrm>
            <a:prstGeom prst="rect">
              <a:avLst/>
            </a:prstGeom>
          </p:spPr>
        </p:pic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72895E00-709C-9E60-9188-4FA18AEE5D53}"/>
                </a:ext>
              </a:extLst>
            </p:cNvPr>
            <p:cNvSpPr/>
            <p:nvPr/>
          </p:nvSpPr>
          <p:spPr>
            <a:xfrm>
              <a:off x="31970" y="925448"/>
              <a:ext cx="3619975" cy="3619975"/>
            </a:xfrm>
            <a:prstGeom prst="ellipse">
              <a:avLst/>
            </a:prstGeom>
            <a:solidFill>
              <a:srgbClr val="FFD27F">
                <a:alpha val="40000"/>
              </a:srgbClr>
            </a:solidFill>
            <a:ln w="12700">
              <a:solidFill>
                <a:srgbClr val="F5A623"/>
              </a:solidFill>
              <a:prstDash val="dash"/>
            </a:ln>
          </p:spPr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B3EC6D88-3D52-5F90-1BCF-5518832C125E}"/>
                </a:ext>
              </a:extLst>
            </p:cNvPr>
            <p:cNvSpPr/>
            <p:nvPr/>
          </p:nvSpPr>
          <p:spPr>
            <a:xfrm>
              <a:off x="2935190" y="1280206"/>
              <a:ext cx="4836287" cy="4054372"/>
            </a:xfrm>
            <a:prstGeom prst="ellipse">
              <a:avLst/>
            </a:prstGeom>
            <a:solidFill>
              <a:srgbClr val="FFD27F">
                <a:alpha val="40000"/>
              </a:srgbClr>
            </a:solidFill>
            <a:ln w="12700">
              <a:solidFill>
                <a:srgbClr val="F5A623"/>
              </a:solidFill>
              <a:prstDash val="dash"/>
            </a:ln>
          </p:spPr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DFD41E2A-FEAC-EFAD-2BEC-B87CA5428ED5}"/>
                </a:ext>
              </a:extLst>
            </p:cNvPr>
            <p:cNvSpPr/>
            <p:nvPr/>
          </p:nvSpPr>
          <p:spPr>
            <a:xfrm>
              <a:off x="2594912" y="4588863"/>
              <a:ext cx="1143912" cy="825354"/>
            </a:xfrm>
            <a:prstGeom prst="ellipse">
              <a:avLst/>
            </a:prstGeom>
            <a:solidFill>
              <a:srgbClr val="FFD27F">
                <a:alpha val="40000"/>
              </a:srgbClr>
            </a:solidFill>
            <a:ln w="12700">
              <a:solidFill>
                <a:srgbClr val="F5A623"/>
              </a:solidFill>
              <a:prstDash val="dash"/>
            </a:ln>
          </p:spPr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0F544C2E-4C0C-BEAC-3149-E3E5369F2587}"/>
                </a:ext>
              </a:extLst>
            </p:cNvPr>
            <p:cNvSpPr/>
            <p:nvPr/>
          </p:nvSpPr>
          <p:spPr>
            <a:xfrm>
              <a:off x="2095356" y="3336351"/>
              <a:ext cx="832594" cy="463357"/>
            </a:xfrm>
            <a:custGeom>
              <a:avLst/>
              <a:gdLst/>
              <a:ahLst/>
              <a:cxnLst/>
              <a:rect l="l" t="t" r="r" b="b"/>
              <a:pathLst>
                <a:path w="832594" h="463357">
                  <a:moveTo>
                    <a:pt x="0" y="231678"/>
                  </a:moveTo>
                  <a:lnTo>
                    <a:pt x="832594" y="0"/>
                  </a:lnTo>
                  <a:lnTo>
                    <a:pt x="832594" y="463357"/>
                  </a:lnTo>
                  <a:close/>
                </a:path>
              </a:pathLst>
            </a:custGeom>
            <a:solidFill>
              <a:srgbClr val="5BA4E6">
                <a:alpha val="38000"/>
              </a:srgbClr>
            </a:solidFill>
            <a:ln/>
          </p:spPr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7DF19586-FD13-A02A-28B0-569B222BCFD4}"/>
                </a:ext>
              </a:extLst>
            </p:cNvPr>
            <p:cNvSpPr/>
            <p:nvPr/>
          </p:nvSpPr>
          <p:spPr>
            <a:xfrm>
              <a:off x="5823930" y="3336351"/>
              <a:ext cx="832594" cy="463357"/>
            </a:xfrm>
            <a:custGeom>
              <a:avLst/>
              <a:gdLst/>
              <a:ahLst/>
              <a:cxnLst/>
              <a:rect l="l" t="t" r="r" b="b"/>
              <a:pathLst>
                <a:path w="832594" h="463357">
                  <a:moveTo>
                    <a:pt x="832594" y="231678"/>
                  </a:moveTo>
                  <a:lnTo>
                    <a:pt x="0" y="0"/>
                  </a:lnTo>
                  <a:lnTo>
                    <a:pt x="0" y="463357"/>
                  </a:lnTo>
                  <a:close/>
                </a:path>
              </a:pathLst>
            </a:custGeom>
            <a:solidFill>
              <a:srgbClr val="5BA4E6">
                <a:alpha val="38000"/>
              </a:srgbClr>
            </a:solidFill>
            <a:ln/>
          </p:spPr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BB1760C5-7CF6-88ED-76A4-D9E6580E3F7C}"/>
                </a:ext>
              </a:extLst>
            </p:cNvPr>
            <p:cNvSpPr/>
            <p:nvPr/>
          </p:nvSpPr>
          <p:spPr>
            <a:xfrm>
              <a:off x="3304427" y="5016020"/>
              <a:ext cx="506797" cy="419917"/>
            </a:xfrm>
            <a:custGeom>
              <a:avLst/>
              <a:gdLst/>
              <a:ahLst/>
              <a:cxnLst/>
              <a:rect l="l" t="t" r="r" b="b"/>
              <a:pathLst>
                <a:path w="506797" h="419917">
                  <a:moveTo>
                    <a:pt x="253398" y="419917"/>
                  </a:moveTo>
                  <a:lnTo>
                    <a:pt x="0" y="0"/>
                  </a:lnTo>
                  <a:lnTo>
                    <a:pt x="506797" y="0"/>
                  </a:lnTo>
                  <a:close/>
                </a:path>
              </a:pathLst>
            </a:custGeom>
            <a:solidFill>
              <a:srgbClr val="5BA4E6">
                <a:alpha val="38000"/>
              </a:srgbClr>
            </a:solidFill>
            <a:ln/>
          </p:spPr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207BF981-D1CE-BCCD-7B95-9959D6A36484}"/>
                </a:ext>
              </a:extLst>
            </p:cNvPr>
            <p:cNvSpPr/>
            <p:nvPr/>
          </p:nvSpPr>
          <p:spPr>
            <a:xfrm>
              <a:off x="3594025" y="3430471"/>
              <a:ext cx="622636" cy="318558"/>
            </a:xfrm>
            <a:custGeom>
              <a:avLst/>
              <a:gdLst/>
              <a:ahLst/>
              <a:cxnLst/>
              <a:rect l="l" t="t" r="r" b="b"/>
              <a:pathLst>
                <a:path w="622636" h="318558">
                  <a:moveTo>
                    <a:pt x="0" y="159279"/>
                  </a:moveTo>
                  <a:lnTo>
                    <a:pt x="622636" y="0"/>
                  </a:lnTo>
                  <a:lnTo>
                    <a:pt x="622636" y="318558"/>
                  </a:lnTo>
                  <a:close/>
                </a:path>
              </a:pathLst>
            </a:custGeom>
            <a:solidFill>
              <a:srgbClr val="5BA4E6">
                <a:alpha val="38000"/>
              </a:srgbClr>
            </a:solidFill>
            <a:ln/>
          </p:spPr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019413EA-B302-63F7-6148-21079A05A3E0}"/>
                </a:ext>
              </a:extLst>
            </p:cNvPr>
            <p:cNvSpPr/>
            <p:nvPr/>
          </p:nvSpPr>
          <p:spPr>
            <a:xfrm>
              <a:off x="1733358" y="2626836"/>
              <a:ext cx="217199" cy="217199"/>
            </a:xfrm>
            <a:prstGeom prst="ellipse">
              <a:avLst/>
            </a:prstGeom>
            <a:solidFill>
              <a:srgbClr val="F5A623"/>
            </a:solidFill>
            <a:ln w="12700">
              <a:solidFill>
                <a:srgbClr val="D9821A"/>
              </a:solidFill>
              <a:prstDash val="solid"/>
            </a:ln>
          </p:spPr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DC4DB1D0-351C-BE61-CA90-6D0B279278F5}"/>
                </a:ext>
              </a:extLst>
            </p:cNvPr>
            <p:cNvSpPr/>
            <p:nvPr/>
          </p:nvSpPr>
          <p:spPr>
            <a:xfrm>
              <a:off x="5642931" y="3459431"/>
              <a:ext cx="217199" cy="217199"/>
            </a:xfrm>
            <a:prstGeom prst="ellipse">
              <a:avLst/>
            </a:prstGeom>
            <a:solidFill>
              <a:srgbClr val="F5A623"/>
            </a:solidFill>
            <a:ln w="12700">
              <a:solidFill>
                <a:srgbClr val="D9821A"/>
              </a:solidFill>
              <a:prstDash val="solid"/>
            </a:ln>
          </p:spPr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7667BA78-1990-BB69-4545-961A0EB5145E}"/>
                </a:ext>
              </a:extLst>
            </p:cNvPr>
            <p:cNvSpPr/>
            <p:nvPr/>
          </p:nvSpPr>
          <p:spPr>
            <a:xfrm>
              <a:off x="3058269" y="4892941"/>
              <a:ext cx="217199" cy="217199"/>
            </a:xfrm>
            <a:prstGeom prst="ellipse">
              <a:avLst/>
            </a:prstGeom>
            <a:solidFill>
              <a:srgbClr val="F5A623"/>
            </a:solidFill>
            <a:ln w="12700">
              <a:solidFill>
                <a:srgbClr val="D9821A"/>
              </a:solidFill>
              <a:prstDash val="solid"/>
            </a:ln>
          </p:spPr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61612162-034B-82FA-C39F-9787446CAFF7}"/>
                </a:ext>
              </a:extLst>
            </p:cNvPr>
            <p:cNvSpPr/>
            <p:nvPr/>
          </p:nvSpPr>
          <p:spPr>
            <a:xfrm>
              <a:off x="3036549" y="3423231"/>
              <a:ext cx="2570182" cy="333038"/>
            </a:xfrm>
            <a:prstGeom prst="roundRect">
              <a:avLst>
                <a:gd name="adj" fmla="val 27456"/>
              </a:avLst>
            </a:prstGeom>
            <a:solidFill>
              <a:srgbClr val="FFC58A">
                <a:alpha val="55000"/>
              </a:srgbClr>
            </a:solidFill>
            <a:ln/>
          </p:spPr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4050CC0D-8E81-EA1F-73A1-AAFB3575F94D}"/>
                </a:ext>
              </a:extLst>
            </p:cNvPr>
            <p:cNvSpPr/>
            <p:nvPr/>
          </p:nvSpPr>
          <p:spPr>
            <a:xfrm flipV="1">
              <a:off x="2413915" y="3589750"/>
              <a:ext cx="3192817" cy="7239"/>
            </a:xfrm>
            <a:prstGeom prst="line">
              <a:avLst/>
            </a:prstGeom>
            <a:noFill/>
            <a:ln w="25400">
              <a:solidFill>
                <a:srgbClr val="E8622B"/>
              </a:solidFill>
              <a:prstDash val="dash"/>
              <a:tailEnd type="triangle"/>
            </a:ln>
          </p:spPr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DFB045B9-2140-4AD1-C82F-7C71402732E1}"/>
                </a:ext>
              </a:extLst>
            </p:cNvPr>
            <p:cNvSpPr/>
            <p:nvPr/>
          </p:nvSpPr>
          <p:spPr>
            <a:xfrm>
              <a:off x="4774137" y="3502870"/>
              <a:ext cx="637116" cy="173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B9242E51-7B6C-871F-B9A9-C7936828E7C4}"/>
                </a:ext>
              </a:extLst>
            </p:cNvPr>
            <p:cNvSpPr txBox="1"/>
            <p:nvPr/>
          </p:nvSpPr>
          <p:spPr>
            <a:xfrm>
              <a:off x="4774137" y="3502870"/>
              <a:ext cx="637116" cy="1737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826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行進方向</a:t>
              </a:r>
              <a:endParaRPr lang="en-US" sz="100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D85A8841-B704-1C11-9148-0E127B192ADE}"/>
                </a:ext>
              </a:extLst>
            </p:cNvPr>
            <p:cNvSpPr/>
            <p:nvPr/>
          </p:nvSpPr>
          <p:spPr>
            <a:xfrm>
              <a:off x="3159628" y="3495630"/>
              <a:ext cx="448877" cy="188239"/>
            </a:xfrm>
            <a:prstGeom prst="roundRect">
              <a:avLst>
                <a:gd name="adj" fmla="val 29146"/>
              </a:avLst>
            </a:prstGeom>
            <a:solidFill>
              <a:srgbClr val="E8262B"/>
            </a:solidFill>
            <a:ln w="12700">
              <a:solidFill>
                <a:srgbClr val="B71C1C"/>
              </a:solidFill>
              <a:prstDash val="solid"/>
            </a:ln>
          </p:spPr>
        </p:sp>
        <p:pic>
          <p:nvPicPr>
            <p:cNvPr id="23" name="Image 1" descr="preencoded.png">
              <a:extLst>
                <a:ext uri="{FF2B5EF4-FFF2-40B4-BE49-F238E27FC236}">
                  <a16:creationId xmlns:a16="http://schemas.microsoft.com/office/drawing/2014/main" id="{52F94EFC-04F4-E908-A3FE-F6CE3B45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5426" y="3546310"/>
              <a:ext cx="86879" cy="86879"/>
            </a:xfrm>
            <a:prstGeom prst="rect">
              <a:avLst/>
            </a:prstGeom>
          </p:spPr>
        </p:pic>
        <p:sp>
          <p:nvSpPr>
            <p:cNvPr id="24" name="Shape 19">
              <a:extLst>
                <a:ext uri="{FF2B5EF4-FFF2-40B4-BE49-F238E27FC236}">
                  <a16:creationId xmlns:a16="http://schemas.microsoft.com/office/drawing/2014/main" id="{2AD11B6B-0207-62B3-74AE-55D8900450B1}"/>
                </a:ext>
              </a:extLst>
            </p:cNvPr>
            <p:cNvSpPr/>
            <p:nvPr/>
          </p:nvSpPr>
          <p:spPr>
            <a:xfrm>
              <a:off x="3079989" y="3712829"/>
              <a:ext cx="608156" cy="173759"/>
            </a:xfrm>
            <a:prstGeom prst="roundRect">
              <a:avLst>
                <a:gd name="adj" fmla="val 15787"/>
              </a:avLst>
            </a:prstGeom>
            <a:solidFill>
              <a:srgbClr val="FFFFFF"/>
            </a:solidFill>
            <a:ln w="12700">
              <a:solidFill>
                <a:srgbClr val="E8262B"/>
              </a:solidFill>
              <a:prstDash val="solid"/>
            </a:ln>
          </p:spPr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58DFA291-9EF5-DF9D-652D-DE3475B6A707}"/>
                </a:ext>
              </a:extLst>
            </p:cNvPr>
            <p:cNvSpPr txBox="1"/>
            <p:nvPr/>
          </p:nvSpPr>
          <p:spPr>
            <a:xfrm>
              <a:off x="3079989" y="3712829"/>
              <a:ext cx="608156" cy="1737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826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AMR #2</a:t>
              </a:r>
              <a:endParaRPr lang="en-US" sz="1000" dirty="0"/>
            </a:p>
          </p:txBody>
        </p:sp>
        <p:sp>
          <p:nvSpPr>
            <p:cNvPr id="26" name="Shape 21">
              <a:extLst>
                <a:ext uri="{FF2B5EF4-FFF2-40B4-BE49-F238E27FC236}">
                  <a16:creationId xmlns:a16="http://schemas.microsoft.com/office/drawing/2014/main" id="{35D020A0-C37B-7114-E520-8F7AF79F71B5}"/>
                </a:ext>
              </a:extLst>
            </p:cNvPr>
            <p:cNvSpPr/>
            <p:nvPr/>
          </p:nvSpPr>
          <p:spPr>
            <a:xfrm>
              <a:off x="4187701" y="3495630"/>
              <a:ext cx="448877" cy="188239"/>
            </a:xfrm>
            <a:prstGeom prst="roundRect">
              <a:avLst>
                <a:gd name="adj" fmla="val 29146"/>
              </a:avLst>
            </a:prstGeom>
            <a:solidFill>
              <a:srgbClr val="E8262B"/>
            </a:solidFill>
            <a:ln w="12700">
              <a:solidFill>
                <a:srgbClr val="B71C1C"/>
              </a:solidFill>
              <a:prstDash val="solid"/>
            </a:ln>
          </p:spPr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1359D92D-052C-CC9F-93DB-40DA8780B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3499" y="3546310"/>
              <a:ext cx="86879" cy="86879"/>
            </a:xfrm>
            <a:prstGeom prst="rect">
              <a:avLst/>
            </a:prstGeom>
          </p:spPr>
        </p:pic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A43D01CC-80BC-CADC-3E61-279CFF524DB0}"/>
                </a:ext>
              </a:extLst>
            </p:cNvPr>
            <p:cNvSpPr/>
            <p:nvPr/>
          </p:nvSpPr>
          <p:spPr>
            <a:xfrm>
              <a:off x="4108062" y="3712829"/>
              <a:ext cx="608156" cy="173759"/>
            </a:xfrm>
            <a:prstGeom prst="roundRect">
              <a:avLst>
                <a:gd name="adj" fmla="val 15787"/>
              </a:avLst>
            </a:prstGeom>
            <a:solidFill>
              <a:srgbClr val="FFFFFF"/>
            </a:solidFill>
            <a:ln w="12700">
              <a:solidFill>
                <a:srgbClr val="E8262B"/>
              </a:solidFill>
              <a:prstDash val="solid"/>
            </a:ln>
          </p:spPr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48111C93-435D-4A7B-60F5-D6D21C8D8DBE}"/>
                </a:ext>
              </a:extLst>
            </p:cNvPr>
            <p:cNvSpPr txBox="1"/>
            <p:nvPr/>
          </p:nvSpPr>
          <p:spPr>
            <a:xfrm>
              <a:off x="4108062" y="3712829"/>
              <a:ext cx="608156" cy="1737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826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AMR #1</a:t>
              </a:r>
              <a:endParaRPr lang="en-US" sz="1000" dirty="0"/>
            </a:p>
          </p:txBody>
        </p:sp>
        <p:pic>
          <p:nvPicPr>
            <p:cNvPr id="30" name="Image 3" descr="preencoded.png">
              <a:extLst>
                <a:ext uri="{FF2B5EF4-FFF2-40B4-BE49-F238E27FC236}">
                  <a16:creationId xmlns:a16="http://schemas.microsoft.com/office/drawing/2014/main" id="{9BA88FFB-29F3-3360-4311-FE71EBA86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3263" y="3886588"/>
              <a:ext cx="173759" cy="202719"/>
            </a:xfrm>
            <a:prstGeom prst="rect">
              <a:avLst/>
            </a:prstGeom>
          </p:spPr>
        </p:pic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3B2D10B8-2D2F-BB7E-1B07-D4CCC2B1C70F}"/>
                </a:ext>
              </a:extLst>
            </p:cNvPr>
            <p:cNvSpPr txBox="1"/>
            <p:nvPr/>
          </p:nvSpPr>
          <p:spPr>
            <a:xfrm>
              <a:off x="3905343" y="4096546"/>
              <a:ext cx="289598" cy="1158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E8E5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UE</a:t>
              </a:r>
              <a:endParaRPr lang="en-US" sz="700" dirty="0"/>
            </a:p>
          </p:txBody>
        </p:sp>
        <p:pic>
          <p:nvPicPr>
            <p:cNvPr id="32" name="Image 4" descr="preencoded.png">
              <a:extLst>
                <a:ext uri="{FF2B5EF4-FFF2-40B4-BE49-F238E27FC236}">
                  <a16:creationId xmlns:a16="http://schemas.microsoft.com/office/drawing/2014/main" id="{D7B34F11-E067-0BCA-026E-C08450DDB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7452" y="3886588"/>
              <a:ext cx="173759" cy="202719"/>
            </a:xfrm>
            <a:prstGeom prst="rect">
              <a:avLst/>
            </a:prstGeom>
          </p:spPr>
        </p:pic>
        <p:sp>
          <p:nvSpPr>
            <p:cNvPr id="33" name="Text 25">
              <a:extLst>
                <a:ext uri="{FF2B5EF4-FFF2-40B4-BE49-F238E27FC236}">
                  <a16:creationId xmlns:a16="http://schemas.microsoft.com/office/drawing/2014/main" id="{EF65C478-5D2F-E959-AB5A-87F4A4999802}"/>
                </a:ext>
              </a:extLst>
            </p:cNvPr>
            <p:cNvSpPr txBox="1"/>
            <p:nvPr/>
          </p:nvSpPr>
          <p:spPr>
            <a:xfrm>
              <a:off x="5389533" y="4096546"/>
              <a:ext cx="289598" cy="1158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E8E5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UE</a:t>
              </a:r>
              <a:endParaRPr lang="en-US" sz="700" dirty="0"/>
            </a:p>
          </p:txBody>
        </p:sp>
        <p:pic>
          <p:nvPicPr>
            <p:cNvPr id="34" name="Image 5" descr="preencoded.png">
              <a:extLst>
                <a:ext uri="{FF2B5EF4-FFF2-40B4-BE49-F238E27FC236}">
                  <a16:creationId xmlns:a16="http://schemas.microsoft.com/office/drawing/2014/main" id="{EC9C029C-F168-72F5-2ADE-FD06680E8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1070" y="4987060"/>
              <a:ext cx="173759" cy="202719"/>
            </a:xfrm>
            <a:prstGeom prst="rect">
              <a:avLst/>
            </a:prstGeom>
          </p:spPr>
        </p:pic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08E1A2F9-0F12-B05D-2EE8-8EA1180DA402}"/>
                </a:ext>
              </a:extLst>
            </p:cNvPr>
            <p:cNvSpPr txBox="1"/>
            <p:nvPr/>
          </p:nvSpPr>
          <p:spPr>
            <a:xfrm>
              <a:off x="2783151" y="5197019"/>
              <a:ext cx="289598" cy="1158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E8E5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UE</a:t>
              </a:r>
              <a:endParaRPr lang="en-US" sz="70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E6555596-D821-A887-0627-103FE38F19F8}"/>
                </a:ext>
              </a:extLst>
            </p:cNvPr>
            <p:cNvSpPr/>
            <p:nvPr/>
          </p:nvSpPr>
          <p:spPr>
            <a:xfrm>
              <a:off x="3521626" y="2163480"/>
              <a:ext cx="579196" cy="173759"/>
            </a:xfrm>
            <a:prstGeom prst="roundRect">
              <a:avLst>
                <a:gd name="adj" fmla="val 15787"/>
              </a:avLst>
            </a:prstGeom>
            <a:solidFill>
              <a:srgbClr val="FFFFFF"/>
            </a:solidFill>
            <a:ln w="12700">
              <a:solidFill>
                <a:srgbClr val="D9821A"/>
              </a:solidFill>
              <a:prstDash val="solid"/>
            </a:ln>
          </p:spPr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72DC5255-A382-FBB4-2000-698889C84341}"/>
                </a:ext>
              </a:extLst>
            </p:cNvPr>
            <p:cNvSpPr txBox="1"/>
            <p:nvPr/>
          </p:nvSpPr>
          <p:spPr>
            <a:xfrm>
              <a:off x="3521626" y="2163480"/>
              <a:ext cx="579196" cy="1737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D9821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干擾區</a:t>
              </a:r>
              <a:endParaRPr lang="en-US" sz="1000" dirty="0"/>
            </a:p>
          </p:txBody>
        </p:sp>
        <p:sp>
          <p:nvSpPr>
            <p:cNvPr id="38" name="Shape 29">
              <a:extLst>
                <a:ext uri="{FF2B5EF4-FFF2-40B4-BE49-F238E27FC236}">
                  <a16:creationId xmlns:a16="http://schemas.microsoft.com/office/drawing/2014/main" id="{F839CFEE-3533-91A6-0FEB-43478BA52895}"/>
                </a:ext>
              </a:extLst>
            </p:cNvPr>
            <p:cNvSpPr/>
            <p:nvPr/>
          </p:nvSpPr>
          <p:spPr>
            <a:xfrm>
              <a:off x="2808679" y="4637645"/>
              <a:ext cx="752955" cy="173759"/>
            </a:xfrm>
            <a:prstGeom prst="roundRect">
              <a:avLst>
                <a:gd name="adj" fmla="val 15787"/>
              </a:avLst>
            </a:prstGeom>
            <a:solidFill>
              <a:srgbClr val="FFFFFF"/>
            </a:solidFill>
            <a:ln w="12700">
              <a:solidFill>
                <a:srgbClr val="D9821A"/>
              </a:solidFill>
              <a:prstDash val="solid"/>
            </a:ln>
          </p:spPr>
        </p:sp>
        <p:sp>
          <p:nvSpPr>
            <p:cNvPr id="39" name="Text 30">
              <a:extLst>
                <a:ext uri="{FF2B5EF4-FFF2-40B4-BE49-F238E27FC236}">
                  <a16:creationId xmlns:a16="http://schemas.microsoft.com/office/drawing/2014/main" id="{F817F08A-B503-78A7-5B23-5888D50DE3A7}"/>
                </a:ext>
              </a:extLst>
            </p:cNvPr>
            <p:cNvSpPr txBox="1"/>
            <p:nvPr/>
          </p:nvSpPr>
          <p:spPr>
            <a:xfrm>
              <a:off x="2826779" y="4632286"/>
              <a:ext cx="752955" cy="1737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D9821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訊號參考區</a:t>
              </a:r>
              <a:endParaRPr lang="en-US" sz="1000" dirty="0"/>
            </a:p>
          </p:txBody>
        </p:sp>
        <p:pic>
          <p:nvPicPr>
            <p:cNvPr id="40" name="Image 6" descr="preencoded.png">
              <a:extLst>
                <a:ext uri="{FF2B5EF4-FFF2-40B4-BE49-F238E27FC236}">
                  <a16:creationId xmlns:a16="http://schemas.microsoft.com/office/drawing/2014/main" id="{A313C642-134A-316B-4883-3B8070136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4038" y="3423231"/>
              <a:ext cx="289598" cy="289598"/>
            </a:xfrm>
            <a:prstGeom prst="rect">
              <a:avLst/>
            </a:prstGeom>
          </p:spPr>
        </p:pic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7C5E7CAE-3991-F0E8-7B2B-B969C80B3442}"/>
                </a:ext>
              </a:extLst>
            </p:cNvPr>
            <p:cNvSpPr/>
            <p:nvPr/>
          </p:nvSpPr>
          <p:spPr>
            <a:xfrm>
              <a:off x="1342401" y="3227752"/>
              <a:ext cx="781915" cy="188239"/>
            </a:xfrm>
            <a:prstGeom prst="roundRect">
              <a:avLst>
                <a:gd name="adj" fmla="val 14573"/>
              </a:avLst>
            </a:prstGeom>
            <a:solidFill>
              <a:srgbClr val="FFFFFF"/>
            </a:solidFill>
            <a:ln w="12700">
              <a:solidFill>
                <a:srgbClr val="1E6FD9"/>
              </a:solidFill>
              <a:prstDash val="solid"/>
            </a:ln>
          </p:spPr>
        </p:sp>
        <p:sp>
          <p:nvSpPr>
            <p:cNvPr id="42" name="Text 32">
              <a:extLst>
                <a:ext uri="{FF2B5EF4-FFF2-40B4-BE49-F238E27FC236}">
                  <a16:creationId xmlns:a16="http://schemas.microsoft.com/office/drawing/2014/main" id="{EAF451F8-F024-35F1-6CA3-12E4FEFE9753}"/>
                </a:ext>
              </a:extLst>
            </p:cNvPr>
            <p:cNvSpPr txBox="1"/>
            <p:nvPr/>
          </p:nvSpPr>
          <p:spPr>
            <a:xfrm>
              <a:off x="1342401" y="3227752"/>
              <a:ext cx="781915" cy="1882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6F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攝影機 #1</a:t>
              </a:r>
              <a:endParaRPr lang="en-US" sz="1000" dirty="0"/>
            </a:p>
          </p:txBody>
        </p:sp>
        <p:pic>
          <p:nvPicPr>
            <p:cNvPr id="43" name="Image 7" descr="preencoded.png">
              <a:extLst>
                <a:ext uri="{FF2B5EF4-FFF2-40B4-BE49-F238E27FC236}">
                  <a16:creationId xmlns:a16="http://schemas.microsoft.com/office/drawing/2014/main" id="{196143CB-C497-5A21-CB34-92843756D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78244" y="3423231"/>
              <a:ext cx="289598" cy="289598"/>
            </a:xfrm>
            <a:prstGeom prst="rect">
              <a:avLst/>
            </a:prstGeom>
          </p:spPr>
        </p:pic>
        <p:sp>
          <p:nvSpPr>
            <p:cNvPr id="44" name="Shape 33">
              <a:extLst>
                <a:ext uri="{FF2B5EF4-FFF2-40B4-BE49-F238E27FC236}">
                  <a16:creationId xmlns:a16="http://schemas.microsoft.com/office/drawing/2014/main" id="{201C33F5-E4DE-424C-4F85-F7B631E26A42}"/>
                </a:ext>
              </a:extLst>
            </p:cNvPr>
            <p:cNvSpPr/>
            <p:nvPr/>
          </p:nvSpPr>
          <p:spPr>
            <a:xfrm>
              <a:off x="7025762" y="3495630"/>
              <a:ext cx="781915" cy="188239"/>
            </a:xfrm>
            <a:prstGeom prst="roundRect">
              <a:avLst>
                <a:gd name="adj" fmla="val 14573"/>
              </a:avLst>
            </a:prstGeom>
            <a:solidFill>
              <a:srgbClr val="FFFFFF"/>
            </a:solidFill>
            <a:ln w="12700">
              <a:solidFill>
                <a:srgbClr val="1E6FD9"/>
              </a:solidFill>
              <a:prstDash val="solid"/>
            </a:ln>
          </p:spPr>
        </p:sp>
        <p:sp>
          <p:nvSpPr>
            <p:cNvPr id="45" name="Text 34">
              <a:extLst>
                <a:ext uri="{FF2B5EF4-FFF2-40B4-BE49-F238E27FC236}">
                  <a16:creationId xmlns:a16="http://schemas.microsoft.com/office/drawing/2014/main" id="{02C39878-CEB5-EA67-4751-511379C6B23C}"/>
                </a:ext>
              </a:extLst>
            </p:cNvPr>
            <p:cNvSpPr txBox="1"/>
            <p:nvPr/>
          </p:nvSpPr>
          <p:spPr>
            <a:xfrm>
              <a:off x="7025762" y="3495630"/>
              <a:ext cx="781915" cy="1882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6F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攝影機 #3</a:t>
              </a:r>
              <a:endParaRPr lang="en-US" sz="1000" dirty="0"/>
            </a:p>
          </p:txBody>
        </p:sp>
        <p:pic>
          <p:nvPicPr>
            <p:cNvPr id="46" name="Image 8" descr="preencoded.png">
              <a:extLst>
                <a:ext uri="{FF2B5EF4-FFF2-40B4-BE49-F238E27FC236}">
                  <a16:creationId xmlns:a16="http://schemas.microsoft.com/office/drawing/2014/main" id="{73183DE5-528D-7992-D909-DAF87285D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13027" y="5450417"/>
              <a:ext cx="289598" cy="289598"/>
            </a:xfrm>
            <a:prstGeom prst="rect">
              <a:avLst/>
            </a:prstGeom>
          </p:spPr>
        </p:pic>
        <p:sp>
          <p:nvSpPr>
            <p:cNvPr id="47" name="Shape 35">
              <a:extLst>
                <a:ext uri="{FF2B5EF4-FFF2-40B4-BE49-F238E27FC236}">
                  <a16:creationId xmlns:a16="http://schemas.microsoft.com/office/drawing/2014/main" id="{7BEF89CA-3452-18DE-B636-BF40D12D6462}"/>
                </a:ext>
              </a:extLst>
            </p:cNvPr>
            <p:cNvSpPr/>
            <p:nvPr/>
          </p:nvSpPr>
          <p:spPr>
            <a:xfrm>
              <a:off x="3166868" y="5740015"/>
              <a:ext cx="781915" cy="188239"/>
            </a:xfrm>
            <a:prstGeom prst="roundRect">
              <a:avLst>
                <a:gd name="adj" fmla="val 14573"/>
              </a:avLst>
            </a:prstGeom>
            <a:solidFill>
              <a:srgbClr val="FFFFFF"/>
            </a:solidFill>
            <a:ln w="12700">
              <a:solidFill>
                <a:srgbClr val="1E6FD9"/>
              </a:solidFill>
              <a:prstDash val="solid"/>
            </a:ln>
          </p:spPr>
        </p:sp>
        <p:sp>
          <p:nvSpPr>
            <p:cNvPr id="48" name="Text 36">
              <a:extLst>
                <a:ext uri="{FF2B5EF4-FFF2-40B4-BE49-F238E27FC236}">
                  <a16:creationId xmlns:a16="http://schemas.microsoft.com/office/drawing/2014/main" id="{66149BEF-142A-53B7-F83E-B4BF4FC3C6B5}"/>
                </a:ext>
              </a:extLst>
            </p:cNvPr>
            <p:cNvSpPr txBox="1"/>
            <p:nvPr/>
          </p:nvSpPr>
          <p:spPr>
            <a:xfrm>
              <a:off x="3166868" y="5740015"/>
              <a:ext cx="781915" cy="1882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6F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攝影機 #2</a:t>
              </a:r>
              <a:endParaRPr lang="en-US" sz="1000" dirty="0"/>
            </a:p>
          </p:txBody>
        </p:sp>
        <p:pic>
          <p:nvPicPr>
            <p:cNvPr id="49" name="Image 9" descr="preencoded.png">
              <a:extLst>
                <a:ext uri="{FF2B5EF4-FFF2-40B4-BE49-F238E27FC236}">
                  <a16:creationId xmlns:a16="http://schemas.microsoft.com/office/drawing/2014/main" id="{C929D901-3D21-769C-A28D-A3534C310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04427" y="3401511"/>
              <a:ext cx="159279" cy="159279"/>
            </a:xfrm>
            <a:prstGeom prst="rect">
              <a:avLst/>
            </a:prstGeom>
          </p:spPr>
        </p:pic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544DB812-B478-4319-80C3-9EB4CF9633D2}"/>
                </a:ext>
              </a:extLst>
            </p:cNvPr>
            <p:cNvSpPr/>
            <p:nvPr/>
          </p:nvSpPr>
          <p:spPr>
            <a:xfrm>
              <a:off x="3557826" y="3292912"/>
              <a:ext cx="0" cy="159279"/>
            </a:xfrm>
            <a:prstGeom prst="line">
              <a:avLst/>
            </a:prstGeom>
            <a:noFill/>
            <a:ln w="12700">
              <a:solidFill>
                <a:srgbClr val="1E6FD9"/>
              </a:solidFill>
              <a:prstDash val="solid"/>
            </a:ln>
          </p:spPr>
        </p:sp>
        <p:sp>
          <p:nvSpPr>
            <p:cNvPr id="51" name="Shape 38">
              <a:extLst>
                <a:ext uri="{FF2B5EF4-FFF2-40B4-BE49-F238E27FC236}">
                  <a16:creationId xmlns:a16="http://schemas.microsoft.com/office/drawing/2014/main" id="{E5961D54-4B69-251F-8A3D-8A40C7070616}"/>
                </a:ext>
              </a:extLst>
            </p:cNvPr>
            <p:cNvSpPr/>
            <p:nvPr/>
          </p:nvSpPr>
          <p:spPr>
            <a:xfrm>
              <a:off x="3543346" y="2771635"/>
              <a:ext cx="1230792" cy="535756"/>
            </a:xfrm>
            <a:prstGeom prst="roundRect">
              <a:avLst>
                <a:gd name="adj" fmla="val 5120"/>
              </a:avLst>
            </a:prstGeom>
            <a:solidFill>
              <a:srgbClr val="FFFFFF"/>
            </a:solidFill>
            <a:ln w="12700">
              <a:solidFill>
                <a:srgbClr val="1E6FD9"/>
              </a:solidFill>
              <a:prstDash val="solid"/>
            </a:ln>
          </p:spPr>
        </p:sp>
        <p:sp>
          <p:nvSpPr>
            <p:cNvPr id="52" name="Text 39">
              <a:extLst>
                <a:ext uri="{FF2B5EF4-FFF2-40B4-BE49-F238E27FC236}">
                  <a16:creationId xmlns:a16="http://schemas.microsoft.com/office/drawing/2014/main" id="{34E6B9BB-4D37-F6BB-5814-A0AD1800CBBD}"/>
                </a:ext>
              </a:extLst>
            </p:cNvPr>
            <p:cNvSpPr txBox="1"/>
            <p:nvPr/>
          </p:nvSpPr>
          <p:spPr>
            <a:xfrm>
              <a:off x="3543346" y="2771635"/>
              <a:ext cx="1230792" cy="1882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6F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攝影機 #4</a:t>
              </a:r>
              <a:endParaRPr lang="en-US" sz="1000" dirty="0"/>
            </a:p>
          </p:txBody>
        </p:sp>
        <p:sp>
          <p:nvSpPr>
            <p:cNvPr id="53" name="Text 40">
              <a:extLst>
                <a:ext uri="{FF2B5EF4-FFF2-40B4-BE49-F238E27FC236}">
                  <a16:creationId xmlns:a16="http://schemas.microsoft.com/office/drawing/2014/main" id="{4A977ADF-3D85-8846-CFB1-C3561418EB4D}"/>
                </a:ext>
              </a:extLst>
            </p:cNvPr>
            <p:cNvSpPr txBox="1"/>
            <p:nvPr/>
          </p:nvSpPr>
          <p:spPr>
            <a:xfrm>
              <a:off x="3615745" y="2959874"/>
              <a:ext cx="1085993" cy="333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5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搭載於 AMR #2，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1E3A5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拍攝前方 AMR #1</a:t>
              </a:r>
              <a:endParaRPr lang="en-US" sz="800" dirty="0"/>
            </a:p>
          </p:txBody>
        </p:sp>
      </p:grpSp>
      <p:sp>
        <p:nvSpPr>
          <p:cNvPr id="57" name="Shape 15">
            <a:extLst>
              <a:ext uri="{FF2B5EF4-FFF2-40B4-BE49-F238E27FC236}">
                <a16:creationId xmlns:a16="http://schemas.microsoft.com/office/drawing/2014/main" id="{D2B95DAE-9617-334B-D58E-35A5EAAB8F80}"/>
              </a:ext>
            </a:extLst>
          </p:cNvPr>
          <p:cNvSpPr/>
          <p:nvPr/>
        </p:nvSpPr>
        <p:spPr>
          <a:xfrm>
            <a:off x="2746611" y="2718466"/>
            <a:ext cx="3541" cy="1117729"/>
          </a:xfrm>
          <a:prstGeom prst="line">
            <a:avLst/>
          </a:prstGeom>
          <a:noFill/>
          <a:ln w="25400">
            <a:solidFill>
              <a:srgbClr val="E8622B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56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12E56B-E227-4F08-857E-5920F2BD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室內</a:t>
            </a:r>
            <a:r>
              <a:rPr lang="en-US" altLang="zh-TW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 </a:t>
            </a:r>
            <a:r>
              <a:rPr lang="en-US" altLang="zh-TW" kern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展示場域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3F2332-959C-44FD-93BD-0FF6CD5BA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9971"/>
            <a:ext cx="4544357" cy="5526371"/>
          </a:xfrm>
        </p:spPr>
        <p:txBody>
          <a:bodyPr/>
          <a:lstStyle/>
          <a:p>
            <a:r>
              <a:rPr lang="zh-TW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室內干擾管理（</a:t>
            </a:r>
            <a:r>
              <a:rPr lang="en-US" altLang="zh-TW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IM</a:t>
            </a:r>
            <a:r>
              <a:rPr lang="zh-TW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）</a:t>
            </a:r>
            <a:endParaRPr lang="en-US" altLang="zh-TW" sz="2000" b="1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lvl="1"/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針對室內走廊的訊號干擾，透過 </a:t>
            </a:r>
            <a:r>
              <a:rPr lang="en-US" altLang="zh-TW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IM App </a:t>
            </a:r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調整無線資源，改善 </a:t>
            </a:r>
            <a:r>
              <a:rPr lang="en-US" altLang="zh-TW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AMR </a:t>
            </a:r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的通訊品質。</a:t>
            </a:r>
            <a:endParaRPr lang="en-US" altLang="zh-TW" sz="1600" b="1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US" altLang="zh-TW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AMR </a:t>
            </a:r>
            <a:r>
              <a:rPr lang="zh-TW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自動行走量測</a:t>
            </a:r>
            <a:endParaRPr lang="en-US" altLang="zh-TW" sz="2000" b="1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lvl="1"/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設定固定行走路徑與速度，控制 </a:t>
            </a:r>
            <a:r>
              <a:rPr lang="en-US" altLang="zh-TW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AMR </a:t>
            </a:r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自動移動，維持每次測試條件一致。</a:t>
            </a:r>
            <a:endParaRPr lang="en-US" altLang="zh-TW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lvl="1"/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同步記錄 </a:t>
            </a:r>
            <a:r>
              <a:rPr lang="en-US" altLang="zh-TW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AMR </a:t>
            </a:r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位置與通訊量測資料，掌握沿途訊號品質變化。</a:t>
            </a:r>
            <a:endParaRPr lang="en-US" altLang="zh-TW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US" altLang="zh-TW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IM App </a:t>
            </a:r>
            <a:r>
              <a:rPr lang="zh-TW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優化效果驗證</a:t>
            </a:r>
            <a:endParaRPr lang="en-US" altLang="zh-TW" sz="2000" b="1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lvl="1"/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在相同路徑與干擾條件下，比較 </a:t>
            </a:r>
            <a:r>
              <a:rPr lang="en-US" altLang="zh-TW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IM App </a:t>
            </a:r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啟用前後的 </a:t>
            </a:r>
            <a:r>
              <a:rPr lang="en-US" altLang="zh-TW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SINR </a:t>
            </a:r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與傳輸效能。</a:t>
            </a:r>
            <a:endParaRPr lang="en-US" altLang="zh-TW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lvl="1"/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透過重複測試，確認干擾改善效果與測試結果的可重現性。</a:t>
            </a:r>
            <a:endParaRPr lang="en-US" altLang="zh-TW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endParaRPr lang="zh-TW" altLang="en-US" sz="24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03EA11-181A-42AA-ADA6-746FAD0881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24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EF16C25-C841-4B0D-992D-0D5A95840918}"/>
              </a:ext>
            </a:extLst>
          </p:cNvPr>
          <p:cNvSpPr txBox="1"/>
          <p:nvPr/>
        </p:nvSpPr>
        <p:spPr>
          <a:xfrm>
            <a:off x="6096000" y="3567016"/>
            <a:ext cx="4210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查看無人機當前位置與路徑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8403EE9-233B-44E5-BFEB-6F677C71C852}"/>
              </a:ext>
            </a:extLst>
          </p:cNvPr>
          <p:cNvSpPr txBox="1"/>
          <p:nvPr/>
        </p:nvSpPr>
        <p:spPr>
          <a:xfrm>
            <a:off x="9941007" y="1038486"/>
            <a:ext cx="137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無人機狀態監控</a:t>
            </a:r>
            <a:r>
              <a:rPr lang="en-US" altLang="zh-TW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</a:t>
            </a:r>
            <a:r>
              <a:rPr lang="zh-TW" altLang="en-US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電量、速度</a:t>
            </a:r>
            <a:r>
              <a:rPr lang="en-US" altLang="zh-TW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…)</a:t>
            </a:r>
            <a:endParaRPr lang="zh-TW" altLang="en-US" sz="16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4D41878-564B-44EF-AB73-1D58C0A791E9}"/>
              </a:ext>
            </a:extLst>
          </p:cNvPr>
          <p:cNvSpPr txBox="1"/>
          <p:nvPr/>
        </p:nvSpPr>
        <p:spPr>
          <a:xfrm>
            <a:off x="9893714" y="2634784"/>
            <a:ext cx="12541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訊號狀態監控</a:t>
            </a:r>
            <a:r>
              <a:rPr lang="en-US" altLang="zh-TW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(RSRP</a:t>
            </a:r>
            <a:r>
              <a:rPr lang="zh-TW" altLang="en-US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、</a:t>
            </a:r>
            <a:r>
              <a:rPr lang="en-US" altLang="zh-TW" sz="1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RSRQ…)</a:t>
            </a:r>
            <a:endParaRPr lang="zh-TW" altLang="en-US" sz="16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AA3DD5D-93B4-0ED0-0736-4B6B618A9BA3}"/>
              </a:ext>
            </a:extLst>
          </p:cNvPr>
          <p:cNvSpPr txBox="1"/>
          <p:nvPr/>
        </p:nvSpPr>
        <p:spPr>
          <a:xfrm>
            <a:off x="10862541" y="4480686"/>
            <a:ext cx="13237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飛行紀錄與通訊效能詳情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E53AC90-C5A6-55A9-937E-25C6FCFF69E2}"/>
              </a:ext>
            </a:extLst>
          </p:cNvPr>
          <p:cNvGrpSpPr/>
          <p:nvPr/>
        </p:nvGrpSpPr>
        <p:grpSpPr>
          <a:xfrm>
            <a:off x="4588071" y="926595"/>
            <a:ext cx="7489630" cy="5526371"/>
            <a:chOff x="5017656" y="457149"/>
            <a:chExt cx="7569438" cy="548645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227624C-DD5C-48E4-780F-AEA47E4E26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7656" y="3071685"/>
              <a:ext cx="3901625" cy="2871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B95C284F-4075-7DD6-BD63-30B47093D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9571" y="457149"/>
              <a:ext cx="7036470" cy="2824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730F37FB-19DE-DE5F-2608-BA026EEEC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9281" y="3281816"/>
              <a:ext cx="3667813" cy="2661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0620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A57B0-8983-8567-C87A-743B8869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E270DF-D1E5-7A5D-6804-4680011E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06500"/>
            <a:ext cx="11037455" cy="4991101"/>
          </a:xfrm>
        </p:spPr>
        <p:txBody>
          <a:bodyPr/>
          <a:lstStyle/>
          <a:p>
            <a:r>
              <a:rPr lang="zh-TW" altLang="en-US" dirty="0">
                <a:solidFill>
                  <a:srgbClr val="CCCCCC"/>
                </a:solidFill>
              </a:rPr>
              <a:t>全自動化驗證 </a:t>
            </a:r>
            <a:r>
              <a:rPr lang="en-US" altLang="zh-TW" dirty="0">
                <a:solidFill>
                  <a:srgbClr val="CCCCCC"/>
                </a:solidFill>
              </a:rPr>
              <a:t>Tester</a:t>
            </a:r>
            <a:r>
              <a:rPr lang="zh-TW" altLang="en-US" dirty="0">
                <a:solidFill>
                  <a:srgbClr val="CCCCCC"/>
                </a:solidFill>
              </a:rPr>
              <a:t> 開發</a:t>
            </a:r>
            <a:endParaRPr lang="en-US" altLang="zh-TW" dirty="0">
              <a:solidFill>
                <a:srgbClr val="CCCCCC"/>
              </a:solidFill>
            </a:endParaRPr>
          </a:p>
          <a:p>
            <a:pPr lvl="1"/>
            <a:r>
              <a:rPr lang="en-US" altLang="zh-TW" dirty="0">
                <a:solidFill>
                  <a:srgbClr val="CCCCCC"/>
                </a:solidFill>
              </a:rPr>
              <a:t>IM</a:t>
            </a:r>
            <a:r>
              <a:rPr lang="zh-TW" altLang="en-US" dirty="0">
                <a:solidFill>
                  <a:srgbClr val="CCCCCC"/>
                </a:solidFill>
              </a:rPr>
              <a:t> </a:t>
            </a:r>
            <a:r>
              <a:rPr lang="en-US" altLang="zh-TW" dirty="0">
                <a:solidFill>
                  <a:srgbClr val="CCCCCC"/>
                </a:solidFill>
              </a:rPr>
              <a:t>App</a:t>
            </a:r>
            <a:r>
              <a:rPr lang="zh-TW" altLang="en-US" dirty="0">
                <a:solidFill>
                  <a:srgbClr val="CCCCCC"/>
                </a:solidFill>
              </a:rPr>
              <a:t>效能驗證</a:t>
            </a:r>
            <a:r>
              <a:rPr lang="en-US" altLang="zh-TW" dirty="0">
                <a:solidFill>
                  <a:srgbClr val="CCCCCC"/>
                </a:solidFill>
              </a:rPr>
              <a:t>Tester</a:t>
            </a:r>
          </a:p>
          <a:p>
            <a:r>
              <a:rPr lang="zh-TW" altLang="en-US" dirty="0">
                <a:solidFill>
                  <a:srgbClr val="CCCCCC"/>
                </a:solidFill>
              </a:rPr>
              <a:t>網路場域建置</a:t>
            </a:r>
            <a:endParaRPr lang="en-US" altLang="zh-TW" dirty="0">
              <a:solidFill>
                <a:srgbClr val="CCCCCC"/>
              </a:solidFill>
            </a:endParaRPr>
          </a:p>
          <a:p>
            <a:pPr lvl="1"/>
            <a:r>
              <a:rPr lang="en-US" altLang="zh-TW" dirty="0">
                <a:solidFill>
                  <a:srgbClr val="CCCCCC"/>
                </a:solidFill>
              </a:rPr>
              <a:t>RAN</a:t>
            </a:r>
            <a:r>
              <a:rPr lang="zh-TW" altLang="en-US" dirty="0">
                <a:solidFill>
                  <a:srgbClr val="CCCCCC"/>
                </a:solidFill>
              </a:rPr>
              <a:t> </a:t>
            </a:r>
            <a:r>
              <a:rPr lang="en-US" altLang="zh-TW" dirty="0">
                <a:solidFill>
                  <a:srgbClr val="CCCCCC"/>
                </a:solidFill>
              </a:rPr>
              <a:t>Emulator</a:t>
            </a:r>
          </a:p>
          <a:p>
            <a:r>
              <a:rPr lang="en-US" altLang="zh-TW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zh-TW" altLang="en-US" sz="3200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驗證情境建置</a:t>
            </a:r>
            <a:endParaRPr lang="en-US" altLang="zh-TW" sz="3200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TW" altLang="en-US" b="0" kern="1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展示情境優化（室內場域）</a:t>
            </a:r>
            <a:endParaRPr lang="en-US" altLang="zh-TW" b="0" kern="12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3200" b="0" kern="120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Openhouse</a:t>
            </a:r>
            <a:r>
              <a:rPr lang="zh-TW" altLang="en-US" sz="3200" b="0" kern="12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戰情室串接</a:t>
            </a:r>
            <a:endParaRPr lang="en-US" altLang="zh-TW" sz="3200" b="0" kern="12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925466-D59D-4853-3413-4159CE0C8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25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479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06C4D-5D86-3DA3-ED40-A795E4D2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共通性測試平台顯示規劃與接入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96274E-030D-3901-92C8-4D66742B21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>
                <a:latin typeface="+mj-ea"/>
                <a:ea typeface="+mj-ea"/>
              </a:rPr>
              <a:pPr>
                <a:defRPr/>
              </a:pPr>
              <a:t>26</a:t>
            </a:fld>
            <a:endParaRPr lang="en-US" altLang="zh-TW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81BB3CD-7BD9-34DC-4982-0BB1FCB8C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4128133"/>
            <a:ext cx="10139065" cy="2403295"/>
          </a:xfrm>
        </p:spPr>
        <p:txBody>
          <a:bodyPr/>
          <a:lstStyle/>
          <a:p>
            <a:r>
              <a:rPr lang="zh-TW" altLang="en-US" sz="2000" b="1" dirty="0">
                <a:latin typeface="+mj-ea"/>
                <a:ea typeface="+mj-ea"/>
              </a:rPr>
              <a:t>已完成室內 </a:t>
            </a:r>
            <a:r>
              <a:rPr lang="en-US" altLang="zh-TW" sz="2000" b="1" dirty="0">
                <a:latin typeface="+mj-ea"/>
                <a:ea typeface="+mj-ea"/>
              </a:rPr>
              <a:t>IM</a:t>
            </a:r>
            <a:r>
              <a:rPr lang="zh-TW" altLang="en-US" sz="2000" b="1" dirty="0">
                <a:latin typeface="+mj-ea"/>
                <a:ea typeface="+mj-ea"/>
              </a:rPr>
              <a:t> 情境顯示規劃</a:t>
            </a:r>
            <a:endParaRPr lang="zh-TW" altLang="en-US" sz="2000" dirty="0">
              <a:latin typeface="+mj-ea"/>
              <a:ea typeface="+mj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+mj-ea"/>
                <a:ea typeface="+mj-ea"/>
              </a:rPr>
              <a:t>整合 </a:t>
            </a:r>
            <a:r>
              <a:rPr lang="en-US" altLang="zh-TW" sz="2000" dirty="0">
                <a:latin typeface="+mj-ea"/>
                <a:ea typeface="+mj-ea"/>
              </a:rPr>
              <a:t>3 </a:t>
            </a:r>
            <a:r>
              <a:rPr lang="zh-TW" altLang="en-US" sz="2000" dirty="0">
                <a:latin typeface="+mj-ea"/>
                <a:ea typeface="+mj-ea"/>
              </a:rPr>
              <a:t>台場域攝影機與 </a:t>
            </a:r>
            <a:r>
              <a:rPr lang="en-US" altLang="zh-TW" sz="2000" dirty="0">
                <a:latin typeface="+mj-ea"/>
                <a:ea typeface="+mj-ea"/>
              </a:rPr>
              <a:t>1 </a:t>
            </a:r>
            <a:r>
              <a:rPr lang="zh-TW" altLang="en-US" sz="2000" dirty="0">
                <a:latin typeface="+mj-ea"/>
                <a:ea typeface="+mj-ea"/>
              </a:rPr>
              <a:t>台 </a:t>
            </a:r>
            <a:r>
              <a:rPr lang="en-US" altLang="zh-TW" sz="2000" dirty="0">
                <a:latin typeface="+mj-ea"/>
                <a:ea typeface="+mj-ea"/>
              </a:rPr>
              <a:t>AMR </a:t>
            </a:r>
            <a:r>
              <a:rPr lang="zh-TW" altLang="en-US" sz="2000" dirty="0">
                <a:latin typeface="+mj-ea"/>
                <a:ea typeface="+mj-ea"/>
              </a:rPr>
              <a:t>車載攝影機影像，呈現現場測試情形。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+mj-ea"/>
                <a:ea typeface="+mj-ea"/>
              </a:rPr>
              <a:t>顯示測試項目、測試結果與設備基本資訊，並支援遠端觸發測試情境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E6C679B-B929-0322-13FE-99D1F8C8E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1" y="865566"/>
            <a:ext cx="11134325" cy="313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24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F638A-2869-3EE1-782B-48D9CC0D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7D04AC-1469-8A14-647E-CAF125FADBED}"/>
              </a:ext>
            </a:extLst>
          </p:cNvPr>
          <p:cNvSpPr txBox="1">
            <a:spLocks/>
          </p:cNvSpPr>
          <p:nvPr/>
        </p:nvSpPr>
        <p:spPr>
          <a:xfrm>
            <a:off x="441385" y="76245"/>
            <a:ext cx="11309230" cy="1025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2-3</a:t>
            </a:r>
            <a:r>
              <a:rPr lang="zh-TW" altLang="en-US" sz="4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每月研發時程進度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29F6C82-72BC-5DFA-203F-FACA2C5B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854807"/>
              </p:ext>
            </p:extLst>
          </p:nvPr>
        </p:nvGraphicFramePr>
        <p:xfrm>
          <a:off x="318122" y="954811"/>
          <a:ext cx="11735333" cy="5212080"/>
        </p:xfrm>
        <a:graphic>
          <a:graphicData uri="http://schemas.openxmlformats.org/drawingml/2006/table">
            <a:tbl>
              <a:tblPr firstRow="1" bandRow="1"/>
              <a:tblGrid>
                <a:gridCol w="992634">
                  <a:extLst>
                    <a:ext uri="{9D8B030D-6E8A-4147-A177-3AD203B41FA5}">
                      <a16:colId xmlns:a16="http://schemas.microsoft.com/office/drawing/2014/main" val="1062149114"/>
                    </a:ext>
                  </a:extLst>
                </a:gridCol>
                <a:gridCol w="10742699">
                  <a:extLst>
                    <a:ext uri="{9D8B030D-6E8A-4147-A177-3AD203B41FA5}">
                      <a16:colId xmlns:a16="http://schemas.microsoft.com/office/drawing/2014/main" val="259960909"/>
                    </a:ext>
                  </a:extLst>
                </a:gridCol>
              </a:tblGrid>
              <a:tr h="2342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月份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研發時程進度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420317"/>
                  </a:ext>
                </a:extLst>
              </a:tr>
              <a:tr h="2342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Tester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前端設計與環境建置，室內、室外情境驗測場域同步建置上線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013064"/>
                  </a:ext>
                </a:extLst>
              </a:tr>
              <a:tr h="2342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Tester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前端開發持續推進，室內、室外情境驗測持續執行累積測試數據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19418"/>
                  </a:ext>
                </a:extLst>
              </a:tr>
              <a:tr h="404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 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里程碑：啟動連接性測試案例定義作業，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Endorsed Lab 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申請文件準備就緒，同步參與 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RAN Alliance 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資料規範與測試規劃工作組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38683"/>
                  </a:ext>
                </a:extLst>
              </a:tr>
              <a:tr h="2342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TW" altLang="en-US" sz="1600" dirty="0"/>
                        <a:t>啟動介面驗測案例蒐集，確認 </a:t>
                      </a:r>
                      <a:r>
                        <a:rPr lang="en-US" altLang="zh-TW" sz="1600" dirty="0"/>
                        <a:t>78 </a:t>
                      </a:r>
                      <a:r>
                        <a:rPr lang="zh-TW" altLang="en-US" sz="1600" dirty="0"/>
                        <a:t>館戰情室 </a:t>
                      </a:r>
                      <a:r>
                        <a:rPr lang="en-US" altLang="zh-TW" sz="1600" dirty="0"/>
                        <a:t>Camera </a:t>
                      </a:r>
                      <a:r>
                        <a:rPr lang="zh-TW" altLang="en-US" sz="1600" dirty="0"/>
                        <a:t>串流接入規格。</a:t>
                      </a:r>
                      <a:r>
                        <a:rPr lang="en-US" altLang="zh-TW" sz="1600" dirty="0"/>
                        <a:t>AI RAN Alliance </a:t>
                      </a:r>
                      <a:r>
                        <a:rPr lang="zh-TW" altLang="en-US" sz="1600" dirty="0"/>
                        <a:t>聯盟審查與認證作業正式啟動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16208"/>
                  </a:ext>
                </a:extLst>
              </a:tr>
              <a:tr h="5255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已初步開發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Near-real Time RIC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介面之驗測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Tester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，並接入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Agentic AI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，可自動觸發測試案例並生成測試報告。室外場域硬體安裝已完成，並同步進行室外場域情境設計。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RAN Alliance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已正式將本實驗室申請文件納入官方文件空間。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27488"/>
                  </a:ext>
                </a:extLst>
              </a:tr>
              <a:tr h="575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Near-RT RIC Tester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開發，並驗證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K2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自研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Near-RT RIC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，實現一鍵驗測與自動產出報告；完成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RAN Emulator E2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O1 Agent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開發及介面串接；完成室外場域硬體建置、網路優化場景探索，以及與共通性測試平台整合，可遠端控制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Near-RT RIC Tester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58100"/>
                  </a:ext>
                </a:extLst>
              </a:tr>
              <a:tr h="7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 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Non-Real-Time RIC Tester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開發並與戰情室完成串接，已支援 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R1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介面共 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項測試案例；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 Tester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部分已完成室外情境之無人機自動飛行初步測試，可呈現飛行路徑上的網路效能變化；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RAN Emulator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部分則已完成基本系統架構與網路情境模擬流程建置，可依 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Scenario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產生 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RAN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UE 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模擬結果及對應管理、效能資料，並持續透過實際場域資料進行模型比對與校正。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461942"/>
                  </a:ext>
                </a:extLst>
              </a:tr>
              <a:tr h="754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rgbClr val="0000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 RAN Emulator 核心功能開發，支援拓樸建構與 UE／RU 情境模擬，可計算 RSRP、SINR、PRB、Throughput 等 KPI，並導入 AI 傳播損耗校正模型與 O1／E2 Agent 串接；完成室內 IM 展示情境優化，以 AMR 自動行走量測驗證 IM App 啟用前後之效能改善；Open house 戰情室完成室內 IM 情境顯示規劃並支援遠端觸發測試。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22781"/>
                  </a:ext>
                </a:extLst>
              </a:tr>
            </a:tbl>
          </a:graphicData>
        </a:graphic>
      </p:graphicFrame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B634C5-8D9D-F97D-3796-CED65A08D6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619878"/>
            <a:ext cx="7620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27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446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89D2160-8778-8D0C-5ECE-8BF208F2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90" y="85335"/>
            <a:ext cx="11309230" cy="794232"/>
          </a:xfrm>
        </p:spPr>
        <p:txBody>
          <a:bodyPr>
            <a:normAutofit/>
          </a:bodyPr>
          <a:lstStyle/>
          <a:p>
            <a:r>
              <a:rPr lang="zh-TW" altLang="en-US" b="1" dirty="0"/>
              <a:t>經費動支情形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B70C448-246C-FF7D-9AFC-EAF67D293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7258" y="768900"/>
            <a:ext cx="9795243" cy="357111"/>
          </a:xfrm>
        </p:spPr>
        <p:txBody>
          <a:bodyPr>
            <a:noAutofit/>
          </a:bodyPr>
          <a:lstStyle/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2.3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智慧網路實驗網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截至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9/19)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04E0A61-05E6-288D-8897-3797A5FFF429}"/>
              </a:ext>
            </a:extLst>
          </p:cNvPr>
          <p:cNvSpPr txBox="1">
            <a:spLocks/>
          </p:cNvSpPr>
          <p:nvPr/>
        </p:nvSpPr>
        <p:spPr>
          <a:xfrm>
            <a:off x="10271359" y="878094"/>
            <a:ext cx="1453851" cy="410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1pPr>
            <a:lvl2pPr marL="623888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2pPr>
            <a:lvl3pPr marL="89693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3pPr>
            <a:lvl4pPr marL="11699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單位：千元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5DADC7F-1590-FAE5-47E4-93A030FF0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63324"/>
              </p:ext>
            </p:extLst>
          </p:nvPr>
        </p:nvGraphicFramePr>
        <p:xfrm>
          <a:off x="626430" y="1288868"/>
          <a:ext cx="11149590" cy="3995825"/>
        </p:xfrm>
        <a:graphic>
          <a:graphicData uri="http://schemas.openxmlformats.org/drawingml/2006/table">
            <a:tbl>
              <a:tblPr firstRow="1" firstCol="1" bandRow="1"/>
              <a:tblGrid>
                <a:gridCol w="2271887">
                  <a:extLst>
                    <a:ext uri="{9D8B030D-6E8A-4147-A177-3AD203B41FA5}">
                      <a16:colId xmlns:a16="http://schemas.microsoft.com/office/drawing/2014/main" val="2989385942"/>
                    </a:ext>
                  </a:extLst>
                </a:gridCol>
                <a:gridCol w="2273344">
                  <a:extLst>
                    <a:ext uri="{9D8B030D-6E8A-4147-A177-3AD203B41FA5}">
                      <a16:colId xmlns:a16="http://schemas.microsoft.com/office/drawing/2014/main" val="3170724789"/>
                    </a:ext>
                  </a:extLst>
                </a:gridCol>
                <a:gridCol w="1898304">
                  <a:extLst>
                    <a:ext uri="{9D8B030D-6E8A-4147-A177-3AD203B41FA5}">
                      <a16:colId xmlns:a16="http://schemas.microsoft.com/office/drawing/2014/main" val="4033680333"/>
                    </a:ext>
                  </a:extLst>
                </a:gridCol>
                <a:gridCol w="2020302">
                  <a:extLst>
                    <a:ext uri="{9D8B030D-6E8A-4147-A177-3AD203B41FA5}">
                      <a16:colId xmlns:a16="http://schemas.microsoft.com/office/drawing/2014/main" val="2231806607"/>
                    </a:ext>
                  </a:extLst>
                </a:gridCol>
                <a:gridCol w="2685753">
                  <a:extLst>
                    <a:ext uri="{9D8B030D-6E8A-4147-A177-3AD203B41FA5}">
                      <a16:colId xmlns:a16="http://schemas.microsoft.com/office/drawing/2014/main" val="3879034277"/>
                    </a:ext>
                  </a:extLst>
                </a:gridCol>
              </a:tblGrid>
              <a:tr h="32473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0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TW" sz="20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預算數</a:t>
                      </a:r>
                      <a:r>
                        <a:rPr lang="en-US" sz="20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(A)</a:t>
                      </a:r>
                      <a:endParaRPr lang="zh-TW" sz="20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TW" sz="20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動支率</a:t>
                      </a:r>
                      <a:r>
                        <a:rPr lang="en-US" sz="20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(C) </a:t>
                      </a:r>
                      <a:endParaRPr lang="zh-TW" sz="20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sz="20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C= B/A</a:t>
                      </a:r>
                      <a:endParaRPr lang="zh-TW" sz="20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998962"/>
                  </a:ext>
                </a:extLst>
              </a:tr>
              <a:tr h="32889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TW" altLang="en-US" sz="20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動支數</a:t>
                      </a:r>
                      <a:endParaRPr lang="zh-TW" altLang="en-US" sz="2000" b="1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TW" altLang="en-US" sz="20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預估數</a:t>
                      </a:r>
                      <a:endParaRPr lang="zh-TW" altLang="en-US" sz="2000" b="1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381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628973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人事費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8,722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5,155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2,166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2282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旅運費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226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29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987469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材料費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 </a:t>
                      </a:r>
                      <a:r>
                        <a:rPr lang="en-US" altLang="zh-TW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287699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28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94253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業務費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19,596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</a:t>
                      </a:r>
                      <a:r>
                        <a:rPr lang="en-US" altLang="zh-TW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1,645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17,976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32249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設使費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</a:t>
                      </a:r>
                      <a:r>
                        <a:rPr lang="en-US" altLang="zh-TW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153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0981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管理費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2,165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1,467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  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64073"/>
                  </a:ext>
                </a:extLst>
              </a:tr>
              <a:tr h="41777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合計</a:t>
                      </a:r>
                      <a:endParaRPr lang="en-US" altLang="zh-TW" sz="20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31,195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8,686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20,197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93%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414644"/>
                  </a:ext>
                </a:extLst>
              </a:tr>
            </a:tbl>
          </a:graphicData>
        </a:graphic>
      </p:graphicFrame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DAF65E55-CAE9-8D5A-63E5-903BFC0E3F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619878"/>
            <a:ext cx="762000" cy="238125"/>
          </a:xfrm>
        </p:spPr>
        <p:txBody>
          <a:bodyPr/>
          <a:lstStyle/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71FFAD-F905-4792-971B-681FA4F61CA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86551B39-568D-5E39-F80B-84D239C15174}"/>
              </a:ext>
            </a:extLst>
          </p:cNvPr>
          <p:cNvSpPr txBox="1">
            <a:spLocks/>
          </p:cNvSpPr>
          <p:nvPr/>
        </p:nvSpPr>
        <p:spPr>
          <a:xfrm>
            <a:off x="661409" y="5281885"/>
            <a:ext cx="11149591" cy="1218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1pPr>
            <a:lvl2pPr marL="623888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2pPr>
            <a:lvl3pPr marL="89693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3pPr>
            <a:lvl4pPr marL="11699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Noto Sans TC" panose="020B0500000000000000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endParaRPr kumimoji="1" lang="en-US" altLang="zh-TW" sz="1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以上經費含</a:t>
            </a:r>
            <a:r>
              <a:rPr kumimoji="1" lang="en-US" alt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K+M</a:t>
            </a: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endParaRPr kumimoji="1" lang="en-US" altLang="zh-TW" sz="1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lvl="1" indent="-28575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旅運費：</a:t>
            </a:r>
            <a:r>
              <a:rPr kumimoji="1" lang="en-US" alt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EuCNC_1</a:t>
            </a: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趟次</a:t>
            </a:r>
            <a:endParaRPr kumimoji="1" lang="en-US" altLang="zh-TW" sz="1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lvl="1" indent="-28575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業務費：</a:t>
            </a:r>
            <a:r>
              <a:rPr kumimoji="1" lang="en-US" alt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2.2</a:t>
            </a: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子項流入</a:t>
            </a:r>
            <a:r>
              <a:rPr kumimoji="1" lang="en-US" alt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9,285K</a:t>
            </a: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en-US" alt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K0</a:t>
            </a:r>
            <a:r>
              <a:rPr kumimoji="1" lang="zh-TW" altLang="en-US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流入</a:t>
            </a:r>
            <a:r>
              <a:rPr kumimoji="1" lang="en-US" alt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1,500K</a:t>
            </a:r>
          </a:p>
        </p:txBody>
      </p:sp>
    </p:spTree>
    <p:extLst>
      <p:ext uri="{BB962C8B-B14F-4D97-AF65-F5344CB8AC3E}">
        <p14:creationId xmlns:p14="http://schemas.microsoft.com/office/powerpoint/2010/main" val="1517107678"/>
      </p:ext>
    </p:extLst>
  </p:cSld>
  <p:clrMapOvr>
    <a:masterClrMapping/>
  </p:clrMapOvr>
</p:sld>
</file>

<file path=ppt/theme/theme1.xml><?xml version="1.0" encoding="utf-8"?>
<a:theme xmlns:a="http://schemas.openxmlformats.org/drawingml/2006/main" name="簡報內頁">
  <a:themeElements>
    <a:clrScheme name="簡報內頁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簡報內頁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簡報內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72A3E3-B301-4E08-8349-970114BCC2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040ee0c-f263-4870-8391-f24582d73bb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25786</TotalTime>
  <Words>3948</Words>
  <Application>Microsoft Office PowerPoint</Application>
  <PresentationFormat>寬螢幕</PresentationFormat>
  <Paragraphs>783</Paragraphs>
  <Slides>28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Microsoft JhengHei</vt:lpstr>
      <vt:lpstr>Microsoft JhengHei</vt:lpstr>
      <vt:lpstr>Arial</vt:lpstr>
      <vt:lpstr>Calibri</vt:lpstr>
      <vt:lpstr>Segoe UI Symbol</vt:lpstr>
      <vt:lpstr>Times New Roman</vt:lpstr>
      <vt:lpstr>Wingdings</vt:lpstr>
      <vt:lpstr>簡報內頁</vt:lpstr>
      <vt:lpstr>FY115 6G與衛星地面設備國際合作暨實驗網計畫(1/4) 檢視會議</vt:lpstr>
      <vt:lpstr>PowerPoint 簡報</vt:lpstr>
      <vt:lpstr>PowerPoint 簡報</vt:lpstr>
      <vt:lpstr>2.3 智慧網路實驗網</vt:lpstr>
      <vt:lpstr>2.3 智慧網路實驗網</vt:lpstr>
      <vt:lpstr>目錄</vt:lpstr>
      <vt:lpstr>全自動化驗證 Tester 架構圖</vt:lpstr>
      <vt:lpstr>室內App效能驗證Tester 架構</vt:lpstr>
      <vt:lpstr>室內App效能驗證Tester 運作</vt:lpstr>
      <vt:lpstr>目錄</vt:lpstr>
      <vt:lpstr>RAN Emulator</vt:lpstr>
      <vt:lpstr>RAN Emulator 整體架構</vt:lpstr>
      <vt:lpstr>RAN Emulator規格</vt:lpstr>
      <vt:lpstr>RAN Emulator Architecture</vt:lpstr>
      <vt:lpstr>建立 3GPP-based 網路資料引擎</vt:lpstr>
      <vt:lpstr>建立 3GPP-based 網路資料引擎</vt:lpstr>
      <vt:lpstr>建立 3GPP-based 網路資料引擎</vt:lpstr>
      <vt:lpstr>RAN Emulator Architecture</vt:lpstr>
      <vt:lpstr>如何結合3GPP公式與AI，提高模擬真實性？</vt:lpstr>
      <vt:lpstr>如何利用實網資料訓練AI模型?</vt:lpstr>
      <vt:lpstr>目前開發成果</vt:lpstr>
      <vt:lpstr>目錄</vt:lpstr>
      <vt:lpstr>室內 IM 展示場域配置</vt:lpstr>
      <vt:lpstr>室內 IM 展示場域</vt:lpstr>
      <vt:lpstr>目錄</vt:lpstr>
      <vt:lpstr>共通性測試平台顯示規劃與接入 </vt:lpstr>
      <vt:lpstr>PowerPoint 簡報</vt:lpstr>
      <vt:lpstr>經費動支情形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ITRI投影片範本B</dc:title>
  <dc:creator>ITRI</dc:creator>
  <cp:keywords>2008NewCIS</cp:keywords>
  <cp:lastModifiedBy>莊雨樵</cp:lastModifiedBy>
  <cp:revision>1433</cp:revision>
  <dcterms:created xsi:type="dcterms:W3CDTF">2008-05-08T04:38:45Z</dcterms:created>
  <dcterms:modified xsi:type="dcterms:W3CDTF">2026-09-22T03:57:43Z</dcterms:modified>
</cp:coreProperties>
</file>