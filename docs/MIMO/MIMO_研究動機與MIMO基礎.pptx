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</c:v>
                </c:pt>
              </c:strCache>
            </c:strRef>
          </c:tx>
          <c:spPr>
            <a:solidFill>
              <a:srgbClr val="4FC8B4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穿透玻璃</c:v>
                  </c:pt>
                  <c:pt idx="1">
                    <c:v>穿透木板</c:v>
                  </c:pt>
                  <c:pt idx="2">
                    <c:v>穿透混凝土</c:v>
                  </c:pt>
                  <c:pt idx="3">
                    <c:v>波束切換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5.3</c:v>
                </c:pt>
                <c:pt idx="2">
                  <c:v>19</c:v>
                </c:pt>
                <c:pt idx="3">
                  <c:v>18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650" u="none">
                  <a:solidFill>
                    <a:srgbClr val="E8ED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9AA8B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2C38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D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C242E"/>
        </a:solidFill>
        <a:ln>
          <a:noFill/>
        </a:ln>
        <a:effectLst/>
      </c:spPr>
    </c:plotArea>
    <c:plotVisOnly val="1"/>
    <c:dispBlanksAs val="span"/>
  </c:chart>
  <c:spPr>
    <a:solidFill>
      <a:srgbClr val="1C24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我們現行的架構是以 3GPP 公式為基準、由 AI 學習殘差。整條計算鏈的準確度取決於第一環 Path Loss。射線追蹤精度高但每次都要重算;3GPP 公式便宜但只看距離與頻率。本研究以 3GPP 為基準、AI 學修正量,並以實網量測訓練。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頁的 RSRP 式沒有天線增益,這在全向假設下沒問題。但實網量測值是經過天線與波束成形後的結果。實測減公式,殘差同時含環境效應與天線效應,而輸入只有距離和頻率,模型拆不開。用第 15 頁公式代入:同一支手機,不做波束成形 −70 dBm,波束對準 −52 dBm,差 18 dB,與穿一面混凝土牆(19 dB)同量級。天線效應有公式可算,應先扣掉,這就是要先讀 MIMO 規範的原因。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總覽圖。左到右是訊號路徑:layer 乘 W 成 port,port 乘 w 到單元,經空中到 UE。決定順序相反:先有 w(SSB 掃描),UE 量 CSI-RS 回報 PMI 後才有 W。CSI-RS 在 port 發,已含 w、未含 W,所以 RSRP 含 G_beam 不含 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 G_element 從哪裡來。區塊1:TR 38.901 用 (Mg,Ng,M,N,P) 描述陣列,範例 64 單元。區塊2:Table 7.3-1 單元場型,正對 8 dBi、偏 40 度剩 3.5 dBi,所以手機角度必須進輸入。區塊3:手機看到的不是 64 根天線而是 port,單元經類比合成到 TXRU、再經數位映射 W 成 port;H_eff = H_phys W,係數 256 降到 16;port 的 RSRP 已含 W 的增益。區塊4:算 G_element 需要陣列朝向、GCS 到 LCS 轉換、場型參數;商用天線實際場型是 [SIM] 留白。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區塊1:陣列因子,8 單元實算,對準 17 dBi、轉向 20 度後手機在 0 度只剩 4 dBi,同位置差 13 dB;TRP 不隨波束改變。區塊2:O-RAN beamId 15 bit、0 為不做 BF,五種方法中 PDBF/WDBF/ABBF 用 beamId;權重檔格式廠商自訂。區塊3:基本 MIMO 與 massive MIMO 對照,SSB 波束數 4/8/64;6G 新課題是近場與空間非平穩性。區塊4:算 G_beam 需要 beamId、指向與寬度、峰值增益、權重;資料收集時 beamId 是必填欄位。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區塊1:少單元波束寬會重疊、只能輪流;多單元波束窄可同時服務多支,這是 massive MIMO 的主要驅動力之一。區塊2:CSI 迴圈,H_eff 4x4、翻碼本(兩邊同一本表,手機純計算挑頁)、SINR 查表得 CQI、回報 RI/PMI/CQI 三個整數。區塊3:層數取四個上限最小;每層 SINR 是自己除以層間漏加雜訊;多層速率乘 r 但功率減半、層間漏增加,RI 取峰值;Type I 與 Type II 碼本差別。區塊4:MU 干擾項;RSRP 瀑布圖用第 2 頁算例逐項加到 -52 dBm,橘色兩級就是 b_ext 要扣的。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 是 38.211 定義的邏輯發射通道,不是實體天線、不是波束、不是層。CSI-RS 是已知內容的探測訊號;手機判定 port 的方式是知道去哪一格收哪個序列,除以已知序列得到有效通道,再貼上 port 標籤。實體上是 Tx 連 Rx,手機認知裡是 port 連 Rx。好處是估 4x4 而非 4x64。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這頁先解釋天線總表每個欄位的意義、定義它的文件、以及官方區間的原文。下一頁的總表就不再重複出處,只說明每格值的來由。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每一列一支天線,欄位分產品規格、部署參數、執行狀態三群。第三列說明每格值的來由。範例值為示意配置。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1 / 2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研究目標:以 3GPP + AI 混合模型取代射線追蹤計算 Path Loss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658368"/>
            <a:ext cx="8503920" cy="141732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749808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" y="749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7315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現行資料引擎的計算鏈(第 15、16 頁)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1005840"/>
            <a:ext cx="73152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35608" y="1005840"/>
            <a:ext cx="86868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7FB3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35608" y="1005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Loss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304288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05456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05456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RSRP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3072384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73552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73552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SINR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840480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41648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41648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CQI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608576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9744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09744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MCS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376672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1005840"/>
            <a:ext cx="86868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77840" y="1005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2920" y="1353312"/>
            <a:ext cx="8138160" cy="329184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1353312"/>
            <a:ext cx="27432" cy="329184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135331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 = 32.4 + 17.3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+ 20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 Step 2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RSRP =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PL − 10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12)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 Step 3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1737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整條鏈的準確度取決於第一環 PL。現行 PL 為自由空間近似式,僅含距離與頻率,無法反映穿透、反射、繞射。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2194560"/>
            <a:ext cx="4160520" cy="269748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" y="228600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2976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04088" y="226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三條路徑的取捨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38862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109728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精度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對場景資訊的依賴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射線追蹤(Sionna RT)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每次場景或天線變動均須重算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需完整幾何與材質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3GPP 公式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極低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僅需 d、f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3GPP + AI 校正(本研究)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以實測校正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推論一次前向傳播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由實測資料學得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56" name="Text 53"/>
          <p:cNvSpPr txBox="1"/>
          <p:nvPr/>
        </p:nvSpPr>
        <p:spPr>
          <a:xfrm>
            <a:off x="457200" y="42245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目標:給定場景資訊(座標、幾何、材質)與系統組態(天線配置、RAN 參數),由 </a:t>
            </a:r>
            <a:pPr indent="0" marL="0">
              <a:buNone/>
            </a:pPr>
            <a:r>
              <a:rPr lang="en-US" sz="900" i="1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900" baseline="-40000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直接輸出損耗修正量,並以實網量測為訓練標的,使模型於不同場域仍維持精度。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663440" y="2194560"/>
            <a:ext cx="4160520" cy="269748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73168" y="228600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77316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5047488" y="226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模型定義(第 19、20 頁)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800600" y="2542032"/>
            <a:ext cx="3886200" cy="6400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800600" y="2542032"/>
            <a:ext cx="27432" cy="640080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937760" y="2542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3GPP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穿透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反射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繞射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4800600" y="3273552"/>
            <a:ext cx="3886200" cy="6400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800600" y="3273552"/>
            <a:ext cx="27432" cy="640080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937760" y="3273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i="1" dirty="0">
                <a:solidFill>
                  <a:srgbClr val="7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3GPP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  ∂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/∂θ</a:t>
            </a:r>
            <a:pPr indent="0" marL="0">
              <a:buNone/>
            </a:pPr>
            <a:r>
              <a:rPr lang="en-US" sz="1100" baseline="3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ℒ(θ) = (1/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‖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100" baseline="3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4800600" y="40233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公式固定、只更新 </a:t>
            </a:r>
            <a:pPr indent="0" marL="0">
              <a:buNone/>
            </a:pPr>
            <a:r>
              <a:rPr lang="en-US" sz="900" i="1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900" baseline="-40000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pPr indent="0" marL="0">
              <a:buNone/>
            </a:pPr>
            <a:r>
              <a:rPr lang="en-US" sz="85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青色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AI 應學習的對象:純環境效應。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786384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·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2 / 2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問題:實網量測值內含天線效應,殘差模型會學到錯誤對象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658368"/>
            <a:ext cx="8503920" cy="713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749808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" y="749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7315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量測值的物理組成(TR 38.901 §7.5:先算傳播,再套天線場型)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969264"/>
            <a:ext cx="8138160" cy="347472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969264"/>
            <a:ext cx="27432" cy="347472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969264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RSRP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indent="0" marL="0">
              <a:buNone/>
            </a:pPr>
            <a:r>
              <a:rPr lang="en-US" sz="1100" dirty="0">
                <a:solidFill>
                  <a:srgbClr val="7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pPr indent="0" marL="0">
              <a:buNone/>
            </a:pPr>
            <a:r>
              <a:rPr lang="en-US" sz="1100" baseline="-4000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傳播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(θ, φ) + </a:t>
            </a:r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</a:t>
            </a:r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(beamId, θ, φ)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12)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頁原式為全向假設;本式補上天線兩項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1463040"/>
            <a:ext cx="4160520" cy="2999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155448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量測值是怎麼組成的,公式又算了哪些</a:t>
            </a:r>
            <a:endParaRPr lang="en-US" sz="1000" dirty="0"/>
          </a:p>
        </p:txBody>
      </p:sp>
      <p:pic>
        <p:nvPicPr>
          <p:cNvPr id="34" name="Image 0" descr="bl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3977640" cy="2169622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4663440" y="1463040"/>
            <a:ext cx="4160520" cy="2999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73168" y="155448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7316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5047488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嚴重性:天線效應與牆的損耗同一量級,殘差裡分不出來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800600" y="17647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 用第 15 頁公式算給你看(同一支手機、同一位置)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4800600" y="19202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假設:PTx=30 dBm、fc=3.5 GHz、d=50 m、NPRB=273、64 單元、手機正對陣列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20756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PL3GPP = 72.7 dB(第 15 頁式代入);10log10(273×12) = 35.2 dB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4800600" y="223113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Gelement = 8 dBi(正對,38.901 Table 7.3-1)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800600" y="2432304"/>
            <a:ext cx="1920240" cy="658368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864608" y="24597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情況 1:beamId = 0,不做波束成形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4864608" y="265176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O-RAN:能量平均送到所有單元,Gbeam=0</a:t>
            </a:r>
            <a:endParaRPr lang="en-US" sz="620" dirty="0"/>
          </a:p>
        </p:txBody>
      </p:sp>
      <p:sp>
        <p:nvSpPr>
          <p:cNvPr id="46" name="Text 43"/>
          <p:cNvSpPr txBox="1"/>
          <p:nvPr/>
        </p:nvSpPr>
        <p:spPr>
          <a:xfrm>
            <a:off x="4864608" y="286207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= 30−72.7−35.2+8 = </a:t>
            </a:r>
            <a:pPr indent="0" marL="0">
              <a:buNone/>
            </a:pPr>
            <a:r>
              <a:rPr lang="en-US" sz="7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−70 dBm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6812280" y="2432304"/>
            <a:ext cx="1920240" cy="658368"/>
          </a:xfrm>
          <a:prstGeom prst="rect">
            <a:avLst/>
          </a:prstGeom>
          <a:solidFill>
            <a:srgbClr val="0F151C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76288" y="24597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情況 2:波束對準手機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6876288" y="265176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單元同相疊加,Gbeam=10log10(64)=18</a:t>
            </a:r>
            <a:endParaRPr lang="en-US" sz="620" dirty="0"/>
          </a:p>
        </p:txBody>
      </p:sp>
      <p:sp>
        <p:nvSpPr>
          <p:cNvPr id="50" name="Text 47"/>
          <p:cNvSpPr txBox="1"/>
          <p:nvPr/>
        </p:nvSpPr>
        <p:spPr>
          <a:xfrm>
            <a:off x="6876288" y="286207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= −70 + 18 = </a:t>
            </a:r>
            <a:pPr indent="0" marL="0">
              <a:buNone/>
            </a:pPr>
            <a:r>
              <a:rPr lang="en-US" sz="7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−52 dBm</a:t>
            </a:r>
            <a:endParaRPr lang="en-US" sz="700" dirty="0"/>
          </a:p>
        </p:txBody>
      </p:sp>
      <p:sp>
        <p:nvSpPr>
          <p:cNvPr id="51" name="Text 48"/>
          <p:cNvSpPr txBox="1"/>
          <p:nvPr/>
        </p:nvSpPr>
        <p:spPr>
          <a:xfrm>
            <a:off x="480060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d、f 完全相同,y 差 18 dB。模型輸入看不到差在哪。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4800600" y="331927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 這 18 dB 有多大?和牆比一比(3.5 GHz)</a:t>
            </a:r>
            <a:endParaRPr lang="en-US" sz="75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4709160" y="3474720"/>
          <a:ext cx="2697480" cy="932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4" name="Text 50"/>
          <p:cNvSpPr txBox="1"/>
          <p:nvPr/>
        </p:nvSpPr>
        <p:spPr>
          <a:xfrm>
            <a:off x="7424928" y="349300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青:38.901 Table 7.4.3-1</a:t>
            </a:r>
            <a:endParaRPr lang="en-US" sz="650" dirty="0"/>
          </a:p>
        </p:txBody>
      </p:sp>
      <p:sp>
        <p:nvSpPr>
          <p:cNvPr id="55" name="Text 51"/>
          <p:cNvSpPr txBox="1"/>
          <p:nvPr/>
        </p:nvSpPr>
        <p:spPr>
          <a:xfrm>
            <a:off x="7424928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玻璃 2+0.2f、木 4.85+0.12f、混凝土 5+4f</a:t>
            </a:r>
            <a:endParaRPr lang="en-US" sz="600" dirty="0"/>
          </a:p>
        </p:txBody>
      </p:sp>
      <p:sp>
        <p:nvSpPr>
          <p:cNvPr id="56" name="Text 52"/>
          <p:cNvSpPr txBox="1"/>
          <p:nvPr/>
        </p:nvSpPr>
        <p:spPr>
          <a:xfrm>
            <a:off x="7424928" y="391363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橘:上方情況 1 與 2 之差</a:t>
            </a:r>
            <a:endParaRPr lang="en-US" sz="650" dirty="0"/>
          </a:p>
        </p:txBody>
      </p:sp>
      <p:sp>
        <p:nvSpPr>
          <p:cNvPr id="57" name="Text 53"/>
          <p:cNvSpPr txBox="1"/>
          <p:nvPr/>
        </p:nvSpPr>
        <p:spPr>
          <a:xfrm>
            <a:off x="7424928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殘差多 18 dB:是牆還是波束?分不出。</a:t>
            </a:r>
            <a:endParaRPr lang="en-US" sz="680" dirty="0"/>
          </a:p>
        </p:txBody>
      </p:sp>
      <p:sp>
        <p:nvSpPr>
          <p:cNvPr id="58" name="Shape 54"/>
          <p:cNvSpPr/>
          <p:nvPr/>
        </p:nvSpPr>
        <p:spPr>
          <a:xfrm>
            <a:off x="320040" y="4553712"/>
            <a:ext cx="8503920" cy="45720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29768" y="4645152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429768" y="4645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7"/>
          <p:cNvSpPr txBox="1"/>
          <p:nvPr/>
        </p:nvSpPr>
        <p:spPr>
          <a:xfrm>
            <a:off x="704088" y="4626864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結論與銜接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1828800" y="462686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天線效應具解析解</a:t>
            </a:r>
            <a:pPr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,不應由 AI 學習,應自殘差移出、併入基準 b。計算 G_element、G_beam 需先依規範釐清天線單元、陣列幾何、波束識別與權重,此即先探討 MIMO 規範之原因。</a:t>
            </a:r>
            <a:endParaRPr lang="en-US" sz="850" dirty="0"/>
          </a:p>
        </p:txBody>
      </p:sp>
      <p:sp>
        <p:nvSpPr>
          <p:cNvPr id="63" name="Text 59"/>
          <p:cNvSpPr txBox="1"/>
          <p:nvPr/>
        </p:nvSpPr>
        <p:spPr>
          <a:xfrm>
            <a:off x="7863840" y="50292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· 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一張圖看完:DU → RU → 單元 → UE,每段誰在加權、UE 看得到什麼、我們要扣什麼</a:t>
            </a:r>
            <a:endParaRPr lang="en-US" sz="800" dirty="0"/>
          </a:p>
        </p:txBody>
      </p:sp>
      <p:pic>
        <p:nvPicPr>
          <p:cNvPr id="23" name="Image 0" descr="body_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8503920" cy="43292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863840" y="4956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1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 MIMO:天線單元與陣列幾何,決定 G_element(θ, φ)</a:t>
            </a:r>
            <a:endParaRPr lang="en-US" sz="800" dirty="0"/>
          </a:p>
        </p:txBody>
      </p:sp>
      <p:pic>
        <p:nvPicPr>
          <p:cNvPr id="23" name="Image 0" descr="body_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8503920" cy="43292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863840" y="4956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1 / 3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2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Massive MIMO 與波束成形:權重 W 決定 G_beam(beamId, θ, φ)</a:t>
            </a:r>
            <a:endParaRPr lang="en-US" sz="800" dirty="0"/>
          </a:p>
        </p:txBody>
      </p:sp>
      <p:pic>
        <p:nvPicPr>
          <p:cNvPr id="23" name="Image 0" descr="body_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8503920" cy="43292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863840" y="4956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2 / 3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3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MU-MIMO 與 DU 側處理:誰決定層數與預編碼,量測值因此怎麼變</a:t>
            </a:r>
            <a:endParaRPr lang="en-US" sz="800" dirty="0"/>
          </a:p>
        </p:txBody>
      </p:sp>
      <p:pic>
        <p:nvPicPr>
          <p:cNvPr id="23" name="Image 0" descr="body_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8503920" cy="43292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863840" y="4956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基礎 3 / 3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1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模擬計算方法:Step 1–4 設定、幾何、路徑損耗、單元增益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640080"/>
            <a:ext cx="3794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1. Setup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Cell1…Cellm、UE1…UEn;Tx Power / Frequency / Bandwidth / PRB / SCS;UE / RU Position(同第 15 頁)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陣列 (Mg,Ng,M,N,P)、dH、dV、單元場型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方位 α / 下傾 β / 斜角 γ;port 數 P;碼本種類;beamId 表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2. Geometry(MIMO 新增)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Distance(RU_i, UE_j) = ‖x_UE − x_RU‖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(θ″, φ″) = 把 UE 方向由全域座標 GCS 旋轉到天線座標 LCS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= Rz(α)·Ry(β)·Rx(γ),用 R^T 反轉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3. Pathloss Calculation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PL(RU_i, UE_j) = 32.4 + 17.3 log10(d) + 20 log10(fc)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Σ L_penetration(玻璃 2+0.2f、木 4.85+0.12f、混凝土 5+4f)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4. Element Gain(MIMO 新增)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A_V = −min{12((θ″−90°)/θ3dB)², SLA_V}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A_H = −min{12(φ″/φ3dB)², A_max}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G_elem(θ″,φ″) = G_E,max − min{−(A_V+A_H), A_max}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640080"/>
          <a:ext cx="45720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011680"/>
                <a:gridCol w="19019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Formula / Calculation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參數與說明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Array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(M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M, N, P),  d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d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 列、N 行、P 極化;dH、dV 單元間距(λ)。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§7.3.0;O-RAN MP tx-arrays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Orient.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 = 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(α)·R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(β)·R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(γ)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 方位、β 下傾、γ 斜角;GCS→LCS。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§7.1.3 Eq 7.1-2~5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Angle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(θ″, φ″) = sph( R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·(x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UE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− x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θ″ 自天頂量、φ″ 自法線量;0°/90° = 正對天線板。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§7.1.1、§7.1.3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Path Loss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 = 32.4 + 17.3 log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+ 20 log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+ Σ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pen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d:距離 (m);fc:載波 (GHz);L_pen:材質穿透 (dB)。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15 頁 Step 2;TR 38.901 Tab 7.4.1-1、7.4.3-1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Element Gain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(θ″,φ″) =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E,max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− min{−(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),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}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θ3dB = φ3dB = 65°、SLA_V = A_max = 30 dB、G_E,max = 8 dBi。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Table 7.3-1(校準假設,商用天線用廠商場型 [SIM])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橘色 = 相對第 15、16 頁新增之步驟。Step 2 的角度是 Step 4、5 的輸入;沒有它,天線增益無從計算。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983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1 / 3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2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模擬計算方法:Step 5–7 波束增益、RSRP、有效通道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640080"/>
            <a:ext cx="3794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5. Beam Gain(MIMO 新增)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 = BeamTable[beamId](PDBF)或 DU 送來的權重(WDBF)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規範唯一給的權重式:w_m = (1/√M)·exp(−j2π(m−1)dV cosθ_etilt/λ)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G_beam(θ″,φ″) = |Σ_m w_m·e^{jk·r_m(θ″,φ″)}|²,峰值 ≤ 10 log10 N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beamId = 0 → 不做 BF,G_beam = 0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6. RSRP Calculation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RSRP(RU_i, UE_j) = PTx − PL − 10 log10(NPRB × 12)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G_elem(θ″,φ″) + G_beam(beamId, θ″,φ″)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Serving RU = argmax RSRP;Neighbor = other active RUs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SS-RSRP 用 SSB 波束的 w;CSI-RSRP 用該 port 的 W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7. Effective Channel(MIMO 新增)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H_phys[u,s]:UE 第 u 根 × RU 第 s 單元,逐單元由 38.901 §7.5 產生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H_eff = H_phys · W_port,維度 N_rx × P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只量得到 H_eff(每個 port 一組 CSI-RS)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640080"/>
          <a:ext cx="45720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011680"/>
                <a:gridCol w="19019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Formula / Calculation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參數與說明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Weights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(1/√M)·e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−j2π(m−1)dV cosθetilt/λ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θ_etilt:電下傾(zenith 角,102° = 下壓 12°)。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§7.3.1 Eq 7.3-1;beamId→w:O-RAN CUS §12.4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 Gain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beam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|Σ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jk·r_m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|²  ≤ 10 log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單元同相疊加上限;64 單元 → 18 dB。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推導值;峰值可用 38.104 §9.2 EIRP 宣告反推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beamId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bit, 0..32767;  0 = 不做 BF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 O-DU C-plane 帶給 O-RU;權重檔格式廠商自訂 [SIM]。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CUS §7.5.3.9、§12.4.2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RSRP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RSRP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− PL − 10log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PRB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·12) +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beam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15 頁 Step 3 加天線兩項;定義:載 RS 之 RE 功率線性平均。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38.215 §5.1.1(SS)、§5.1.2(CSI)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H_eff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eff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H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phys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·W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  (N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×P) = (N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rx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×N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)(N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×P)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W_port:單元→TXRU→port 的合成矩陣;UE 看不到 H_phys。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Eq 7.5-22;TS 38.211 §4.4.1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 與 Step 5 兩項即研究動機中 b_ext 要自實測扣除者;Step 6 說明實測 RSRP 為何必含此二項。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983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2 / 3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3 / 3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MIMO 模擬計算方法:Step 8–10 干擾、CSI 與層數、MCS 與 Throughput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640080"/>
            <a:ext cx="3794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8. Noise &amp; Interference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Noise = −174 + 10 log10(BHz) + NF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Interference = Σ Neighbor RSRP,鄰居 RSRP 用鄰居波束在本 UE 方向的 G_beam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MU-MIMO 同 PRB 配對干擾 Σ_{j≠k} |H_k W_j|²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9. CSI → Layers(MIMO 新增)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 對碼本每頁 W_k 算 SINR,回報 RI / PMI / CQI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= min{UE maxLayers, cell maxMIMO-Layers, rank_碼本, P}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SINR_l = 1 / [(I + (ρ/r) GᴴG)⁻¹]_ll − 1,G = H_eff W^(r)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CQI(UE_j) = Lookup Table(SINR_eff, BLER 0.1)(同第 16 頁 Step 6)</a:t>
            </a:r>
            <a:endParaRPr lang="en-US" sz="10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10. MCS &amp; Throughput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MCS(UE_j) = Scheduler(CQI) → Qm, Code Rate R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Throughput = Σ_{l=1..r} NPRB·12·(14−OH)·Qm,l·Rl·(1−BLER)</a:t>
            </a:r>
            <a:endParaRPr lang="en-US" sz="10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6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層數 r 是乘在最前面的那一項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640080"/>
          <a:ext cx="45720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011680"/>
                <a:gridCol w="19019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Formula / Calculation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參數與說明</a:t>
                      </a:r>
                      <a:endParaRPr lang="en-US" sz="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Noise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dBm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−174 + 10log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Hz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+ NF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同第 16 頁 Step 4。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Interf.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Σ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RSRP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(G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beam,n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(θ″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,φ″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)) + Σ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j≠k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|H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|²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鄰居用其波束指向本 UE 的增益;紅色為 MU 配對干擾。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16 頁 Step 4 擴充;TS 38.300 §5.2.1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Codebook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(1/√P)[v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l,m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; φ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l,m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],  φ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e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jπn/2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Type I 單面板;v 為 DFT 向量;PMI = (l,m,n)。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38.214 Table 5.2.2.2.1-5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Layers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min{UE, cell, rank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cb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P}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rank 上限:TypeI-SP 8 / MP 4 / TypeII 2 / eTypeII 4;MU 每 UE ≤ 4 DM-RS port。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38.306 / 38.331 / 38.214 / 38.300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SINR / CQI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SINR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1/[(I+(ρ/r)G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G)</a:t>
                      </a:r>
                      <a:pPr indent="0" marL="0">
                        <a:buNone/>
                      </a:pPr>
                      <a:r>
                        <a:rPr lang="en-US" sz="850" baseline="3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]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− 1;  CQI = LUT(SINR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eff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0.1)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MMSE 接收、功率均分(慣例);CQI 表同第 16 頁。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38.214 §5.2.2.1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Thr.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Σ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l=1..r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N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PRB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·12·(14−OH)·Q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m,l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·R</a:t>
                      </a:r>
                      <a:pPr indent="0" marL="0">
                        <a:buNone/>
                      </a:pPr>
                      <a:r>
                        <a:rPr lang="en-US" sz="850" baseline="-4000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8EDF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·(1−BLER)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16 頁 Step 8;層數對應 v_Layers。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
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38.214 §5.1.3.2</a:t>
                      </a:r>
                      <a:endParaRPr lang="en-US" sz="12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[SIM] 留白:單元→TXRU 分組與 W_port(Step 7)、beamId 對應權重 w(Step 5)、商用天線場型(Step 4)、鄰居干擾採用的波束假設(Step 8)。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983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 3 / 3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Antenna Port:它是什麼、怎麼判定、為什麼需要</a:t>
            </a:r>
            <a:endParaRPr lang="en-US" sz="800" dirty="0"/>
          </a:p>
        </p:txBody>
      </p:sp>
      <p:pic>
        <p:nvPicPr>
          <p:cNvPr id="23" name="Image 0" descr="body_sli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40080"/>
            <a:ext cx="8503920" cy="43292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863840" y="49560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B-1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天線欄位說明:是什麼、哪份文件定義、官方區間原文怎麼寫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03504"/>
          <a:ext cx="85039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86000"/>
                <a:gridCol w="2103120"/>
                <a:gridCol w="315468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這是什麼(白話)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哪份文件定義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官方區間 / 合法值(依原文)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(M,N,P)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陣列有幾列、幾行、每個位置幾個極化;相乘就是單元總數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§7.3.0;O-RAN M-plane tx-arrays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YANG:number-of-rows / columns 為 uint16,無上限;polarisations list min 1 max 2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d_H / d_V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相鄰單元的水平、垂直間距,以波長 λ 為單位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M-plane spacing;TR 38.901 Tab 7.8-6A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YANG:decimal64(公尺),未限制範圍;38.901 校準表用 0.5λ / 0.7λ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單元場型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一個單元往各方向的增益形狀,三個參數描述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Table 7.3-1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固定值:θ3dB = φ3dB = 65°、SLA_V = A_max = 30 dB、G_E,max = 8 dBi(校準假設)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TXRU T/R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射頻收發鏈數,決定能獨立控制幾路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38.104 §4.3.2、§4.3.3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條文:≥1;BS type 1-O 須 ≥8;沒有上限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 Cat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預編碼在 DU 做(A)還是 RU 做(B)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module-cap ru-supported-category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YANG enum:{CAT_A, CAT_B}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CSI-RS port 數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手機能量到幾個邏輯發射通道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38.211 §7.4.1.5;TS 38.214 §5.2.2.2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條文列舉:{1, 2, 4, 8, 12, 16, 24, 32};Rel-19 可聚合至 128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SSB L_max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同步訊號最多掃幾個波束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38.213 §4.1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條文:依頻段 case 為 4、8 或 64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BF 方法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 支援哪幾種波束成形方式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M-plane beamforming-method-type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YANG enum 共 7 值:NOBF, PDBF, WDBF, ABBF, CIBF, DMRS_BF_EQ, DMRS_BF_NEQ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beamId 區段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這片陣列可用的波束編號範圍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BF YANG;CUS §7.5.3.9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YANG:initial-beam-id、max-number-of-beam-ids 各 uint16 0..32767;beamId 本身 15 bit,0 = 不做 BF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RET 範圍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電調下傾能調的上下限,天線出廠決定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37.466 Annex B 欄位 0x06 / 0x07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int16,單位 0.1°;上下限由天線 device data 自報,規範不定數值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碼本 / max layers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預編碼型錄種類,以及最多同時傳幾層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38.214 §5.2.2.2;TS 38.331 maxMIMO-Layers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ASN.1:layers INTEGER (1..8);rank 上限 TypeI-SP 8 / MP 4 / TypeII 2 / eTypeII 4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高度 h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天線離地高度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§7.2 場景表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無區間;場景值 UMa 25 m、UMi 10 m、InH 3 m(待核對原文)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方位 α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天線板正面朝哪個水平方向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38.901 §7.1.3;Table 7.8-1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實數 (°) 無區間;校準值 30 / 150 / 270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下傾 電 / 機 / 數位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三種往下壓的角度,會疊加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37.466;安裝;O-RAN MP beam-tilt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電:RET 範圍內;機:規範不管;數位:int16 −90..90,granularity 0..30;校準 102° zenith = 下壓 12°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beamId(每 slot)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這個 slot 實際用的波束編號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O-RAN CUS §7.5.3.9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0..32767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layers / RI / PMI / CQI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實際層數與手機回報的三個整數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38.214 §5.1.1;TS 38.212 Tab 6.3.1.1.2-x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layers 1..8;RI 1..8;PMI 為多個索引各有位寬;CQI 0..15(4 bit)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SS-RSRP</a:t>
                      </a:r>
                      <a:endParaRPr lang="en-US" sz="6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手機量到的同步訊號功率</a:t>
                      </a:r>
                      <a:endParaRPr lang="en-US" sz="63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TS 38.215 §5.1.1;TS 38.133 Tab 10.1.6.1-1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回報 7 bit,對應 −140 到 −44 dBm,步進 1 dB</a:t>
                      </a:r>
                      <a:endParaRPr lang="en-US" sz="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7863840" y="4983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B-1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1477409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1417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2698786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2794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G_elem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3920163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4171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波束 G_beam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141541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5549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 / DU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362918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solidFill>
            <a:srgbClr val="1C242E"/>
          </a:solidFill>
          <a:ln w="6350">
            <a:solidFill>
              <a:srgbClr val="2C38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6926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模擬流程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7584295" y="54864"/>
            <a:ext cx="82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7B8C"/>
                </a:solidFill>
              </a:rPr>
              <a:t>›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solidFill>
            <a:srgbClr val="7FB3FF"/>
          </a:solidFill>
          <a:ln w="6350">
            <a:solidFill>
              <a:srgbClr val="7FB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48303" y="54864"/>
            <a:ext cx="117565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194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B-2   </a:t>
            </a:r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天線總表:四種天線型態各一列,第三列說明每格為何填此值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621792"/>
          <a:ext cx="8659368" cy="914400"/>
        </p:xfrm>
        <a:graphic>
          <a:graphicData uri="http://schemas.openxmlformats.org/drawingml/2006/table">
            <a:tbl>
              <a:tblPr/>
              <a:tblGrid>
                <a:gridCol w="256032"/>
                <a:gridCol w="566928"/>
                <a:gridCol w="457200"/>
                <a:gridCol w="502920"/>
                <a:gridCol w="566928"/>
                <a:gridCol w="457200"/>
                <a:gridCol w="384048"/>
                <a:gridCol w="566928"/>
                <a:gridCol w="548640"/>
                <a:gridCol w="502920"/>
                <a:gridCol w="502920"/>
                <a:gridCol w="603504"/>
                <a:gridCol w="457200"/>
                <a:gridCol w="457200"/>
                <a:gridCol w="566928"/>
                <a:gridCol w="411480"/>
                <a:gridCol w="502920"/>
                <a:gridCol w="530352"/>
              </a:tblGrid>
              <a:tr h="18288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識別</a:t>
                      </a:r>
                      <a:endParaRPr lang="en-US" sz="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 hMerge="1">
                  <a:tcPr/>
                </a:tc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天線產品規格(RU 自報 / 廠商宣告)</a:t>
                      </a:r>
                      <a:endParaRPr lang="en-US" sz="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4FC8B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部署參數(站點設定)</a:t>
                      </a:r>
                      <a:endParaRPr lang="en-US" sz="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執行狀態(每 slot)</a:t>
                      </a:r>
                      <a:endParaRPr lang="en-US" sz="6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天線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型態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(M,N,P)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d_H / d_V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單元場型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TXRU T/R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RU Cat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CSI-RS port / SSB L_max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BF 方法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beamId 區段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RET 範圍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碼本 / max layers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高度 h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方位 α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下傾 電 / 機 / 數位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beamId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layers / RI / PMI / CQI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SS-RSRP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為何填此值 →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自訂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64T64R 為常見宏站產品;(8,4,2) 依 38.901 記法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38.901 Tab 7.8-6A Config 1 的校準值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商用天線無公開場型,先用 Tab 7.3-1;C 型標 [SIM]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依產品 T/R 數;≥8 符合 1-O 條文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宏站多為 CAT_B(RU 內預編碼),小站 CAT_A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4、2 為列舉合法值;L_max 依頻段 8 或 4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宏站支援 PDBF+WDBF;NOBF 對應無 BF 的基本 MIMO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區段由 RU 宣告;此處只示意分段,0 = 不做 BF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上下限由 device data 自報,此處不填數值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宏站 typeI-SP;室內 MU 用 typeII(rank ≤ 2)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38.901 §7.2 場景值 UMa 25 / UMi 10 / InH 3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38.901 Tab 7.8-1 三扇區 30 / 150 / 270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電下傾 12° = 校準 zenith 102°;室內 20° = 110°;機械、數位不填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量測欄位,每 slot 記錄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量測欄位,每 slot 記錄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4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量測欄位,每筆量測記錄</a:t>
                      </a:r>
                      <a:endParaRPr lang="en-US" sz="5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64T64R 宏站(UMa)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(8,4,2)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/ 0.7 λ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 7.3-1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64T64R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CAT_B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8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PDBF,WDBF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 宣告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data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typeI-SP / ≤8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150 / 270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12° / — / 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每筆量測記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16T16R 小站(UMi)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(4,2,2)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/ 0.5 λ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 7.3-1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16T16R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CAT_A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8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 宣告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data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typeI-SP / ≤4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150 / 270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12° / — / 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每筆量測記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4T4R 基本 MIMO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(1,2,2)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/ — λ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廠商 [SIM]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4T4R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CAT_A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4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typeI-SP / ≤4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150 / 270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/ — / —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每筆量測記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dirty="0">
                          <a:solidFill>
                            <a:srgbClr val="F2A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62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8T8R 室內(InH)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(2,2,2)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/ 0.5 λ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 7.3-1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8T8R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CAT_B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/ 4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WDBF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 宣告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typeII / ≤2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20° / — / 0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slot 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E8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每筆量測記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20040" y="3291840"/>
            <a:ext cx="3291840" cy="8686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3291840"/>
            <a:ext cx="27432" cy="868680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" y="331927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怎麼讀:</a:t>
            </a:r>
            <a:pPr indent="0" marL="0">
              <a:buNone/>
            </a:pPr>
            <a:r>
              <a:rPr lang="en-US" sz="72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每列一支天線(一台 RU 的一個扇區面板)。欄位定義、文件與區間見前一頁 B-1;本頁第三列寫每格值的來由:引用文件校準值、產品慣例、或量測欄位。「RU 宣告」「device data」表示由設備自報。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703320" y="3291840"/>
            <a:ext cx="2651760" cy="8686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703320" y="3291840"/>
            <a:ext cx="27432" cy="868680"/>
          </a:xfrm>
          <a:prstGeom prst="rect">
            <a:avLst/>
          </a:prstGeom>
          <a:solidFill>
            <a:srgbClr val="4FC8B4"/>
          </a:solidFill>
          <a:ln w="12700">
            <a:solidFill>
              <a:srgbClr val="4FC8B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94760" y="331927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B 段來源:</a:t>
            </a:r>
            <a:pPr indent="0" marL="0">
              <a:buNone/>
            </a:pPr>
            <a:r>
              <a:rPr lang="en-US" sz="72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方位 30/150/270、電下傾 12°(38.901 寫 zenith 102°)、室內 20°(110°)為 Table 7.8-1 校準假設;高度 25/10/3 m 為 §7.2 場景表(待核對原文)。三欄文件沒給區間:單元總數、TXRU 上限、機械下傾。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446520" y="3291840"/>
            <a:ext cx="2377440" cy="8686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46520" y="3291840"/>
            <a:ext cx="27432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37960" y="3319272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整併方式為本研究設計 [DERIVED]:</a:t>
            </a:r>
            <a:pPr indent="0" marL="0">
              <a:buNone/>
            </a:pPr>
            <a:r>
              <a:rPr lang="en-US" sz="72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沒有任何一份規範定義「一支天線的完整 spec」,A/B/C 三段各有各的文件;合成一列是為了讓模擬 Step 1 一次取得所有輸入。[SIM] 欄:單元→TXRU 接法、beamId 權重、C 的廠商場型。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4983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B-2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2026-09-29T09:08:15Z</dcterms:created>
  <dcterms:modified xsi:type="dcterms:W3CDTF">2026-09-29T09:08:15Z</dcterms:modified>
</cp:coreProperties>
</file>