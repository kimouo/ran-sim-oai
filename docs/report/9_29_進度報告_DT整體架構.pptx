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39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8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F3B63"/>
                </a:solidFill>
                <a:latin typeface="微軟正黑體"/>
              </a:rPr>
              <a:t>接 RIC、目標 4×:最慢一場倍速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最慢一場實際倍速</c:v>
                </c:pt>
              </c:strCache>
            </c:strRef>
          </c:tx>
          <c:dPt>
            <c:idx val="0"/>
            <c:spPr>
              <a:solidFill>
                <a:srgbClr val="1F3B63"/>
              </a:solidFill>
            </c:spPr>
          </c:dPt>
          <c:dPt>
            <c:idx val="1"/>
            <c:spPr>
              <a:solidFill>
                <a:srgbClr val="1F3B63"/>
              </a:solidFill>
            </c:spPr>
          </c:dPt>
          <c:dPt>
            <c:idx val="2"/>
            <c:spPr>
              <a:solidFill>
                <a:srgbClr val="1F3B63"/>
              </a:solidFill>
            </c:spPr>
          </c:dPt>
          <c:dPt>
            <c:idx val="3"/>
            <c:spPr>
              <a:solidFill>
                <a:srgbClr val="1F3B63"/>
              </a:solidFill>
            </c:spPr>
          </c:dPt>
          <c:dPt>
            <c:idx val="4"/>
            <c:spPr>
              <a:solidFill>
                <a:srgbClr val="C25B1E"/>
              </a:solidFill>
            </c:spPr>
          </c:dPt>
          <c:cat>
            <c:strRef>
              <c:f>Sheet1!$A$2:$A$6</c:f>
              <c:strCache>
                <c:ptCount val="5"/>
                <c:pt idx="0">
                  <c:v>1 場</c:v>
                </c:pt>
                <c:pt idx="1">
                  <c:v>2 場</c:v>
                </c:pt>
                <c:pt idx="2">
                  <c:v>3 場</c:v>
                </c:pt>
                <c:pt idx="3">
                  <c:v>4 場</c:v>
                </c:pt>
                <c:pt idx="4">
                  <c:v>5 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4.01</c:v>
                </c:pt>
                <c:pt idx="1">
                  <c:v>3.74</c:v>
                </c:pt>
                <c:pt idx="2">
                  <c:v>4.0</c:v>
                </c:pt>
                <c:pt idx="3">
                  <c:v>3.59</c:v>
                </c:pt>
                <c:pt idx="4">
                  <c:v>3.39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sz="800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3333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5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模擬平台中每個 gNB 為一個獨立 E2 node,各自以 SCTP 連線至 RIC;通道由 Sionna 射線追蹤產生,提供即時(live)與預算快取(cache)兩種模式。Omniverse 平台尚未串接。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① 於管理平台配置場景、網路元件與載具,存入場景資料庫。② Sionna 射線追蹤預先計算通道快取;未預算之場景以 live 模式 1× 執行。③ 編排器依拓樸建立容器與資料庫,向 RIC 閘道登錄場景並部署場景 xApp。④ 各 gNB 經 e2adapter 以 E2 上報 FULLKPM 與 ANR,dt-preproc 彙整為觀測視窗。⑤ xApp 依觀測下達 RC、CCC、ANR 控制,經 rc-probe 與 e2term 送達對應 gNB。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資料表:scene_layout_scene → radio_access_element_gnb → radio_access_element_du → radio_access_element_cell → radio_access_element_ru;user_equipment_ue(waypoint、traffic、active_window);simulation_run_scene_run、simulation_run_run_instance。前端 3D 以 Three.js(React Three Fiber)渲染。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天線預設:3GPP 系列 2T2R 小站(1×1 cross)、4T4R(2×1 cross)、8T8R(2×2 cross)、16T16R(4×2 cross,Cat B)、32T32R、mMIMO 8×8 cross(Cat B)、64T64R 12×8 cross(Cat B);其他 1×1 iso(對應 OAI rfsim)、gNB 2×1 cross tr38901。DU 模板(OAI 對齊):DDDDDDDSUU、106 PRB、每 UE 最少 5 PRB、PF α 0.05、RLC discard 300 ms、RLC 緩衝 10 MB、HARQ 4 次、PF 排程。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編排器掛載 docker.sock,以 Docker SDK 依 per_run_template.json 建立容器。第一階段起 CU、DU、RU、UE(同一內部網路),健康檢查通過後第二階段起 e2adapter(主機網路以綁定 SCTP)。資料庫:每個 CU、DU 與 RU 各一個 PostgreSQL 資料庫,啟動前建立、停場刪除;歸檔器將換手、RLF、KPM 與控制事件寫入歸檔資料庫。容量:1× 倍速同時 7 場,瓶頸為主機 CPU。圖為接 RIC、目標 4× 之量測:4 場皆維持 3.6× 以上,第 5 場最慢一場降至約 3.4×;RIC 端 5 場 15 個 E2 node 未見劣化。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CU-CP:UE 連線與 RRC 狀態、A3 事件判斷、換手與斷線重建、鄰區關係維護,並彙整部分 KPM 上送。CU-UP:使用者資料面(PDCP),提供與補充 KPM 所需資訊。DU:每拍排程與鏈路適應(PRB 分配、MCS、MU-MIMO 配對、RLC 緩衝、RLF 偵測與量測報告)。RU:通道取得與物理量計算(RSRP、SINR、波束選擇、rank / PMI、CQI),回傳 DU。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① DU 每 sim_dt(500 ms 場景時間)觸發,查詢 RLC 緩衝並做 RLF 偵測(SINR 與 T310 狀態機)。② MU-MIMO 配對、PF 排程分配 PRB;MCS 外迴路每 100 ms,查 OAI BLER 曲線。③ DL_TTI.request 以背景執行緒非同步送 RU。④ RU 取得 path gain 與通道矩陣 H,計算含跨 cell 干擾之 SINR、波束、rank / PMI、CQI。⑤ RU 回傳 CQI indication,約晚一拍於 DU 生效。⑥ PM 視窗(預設 1 s)統計,經 F1 送出量測報告。cached 模式 SINR 由 DU 直讀通道快取;live 模式全部由 RU 即時計算。UE 位置由 UE 容器另行推送至 RU。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每條路徑之複數係數已包含距離衰減、依材質之反射與穿透損失,以及收發端天線圖樣增益(例:tr38901 圖樣之 8 dBi)。雜訊:−174 dBm/Hz + 10·log10(頻寬)+ UE 雜訊指數 7 dB,106 PRB、30 kHz 約 −91.2 dBm。失真上限:1/SINR_最終 = 1/SINR + 1/SNR_EVM,SNR_EVM ≈ 29.1 dB(3GPP EVM 3.5%)。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波束成形:基地台 N 根天線時 Sionna 提供每根天線至 UE 之通道向量 h(1×N),RU 自波束網格選擇權重 w,接收功率由平均 path gain 變為 |h·w|²。MIMO:UE M 根天線時通道為 M×N 矩陣 H,RU 代 UE 嘗試各層數與預編碼,以 MMSE 計算每層 SINR,選總容量最大之組合;總功率分配至各層,每層 SINR 降低但傳輸量倍增。mMIMO:32 或 64 埠大陣列採預先定義之波束網格(O-RAN Cat B),方向不同之 UE 可同頻同時傳輸,配對 UE 功率各半並將對方洩漏視為干擾。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RC(ran_func 3):Style 3 Action 1 換手;Style 2 Action 6 切片 PRB 配額;Style 2 Action 8 電子下傾角、可用波束、最大層數;Style 9 Action 1 ReportCGI。CCC(ran_func 4):administrativeState LOCKED / UNLOCKED;energySaving 兩階段節能。ANR(ran_func 6):ADD、REMOVE(受保護條目拒絕)、FLAG(hoBlocklist、noRemove、xnBlocklist)。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① 編排器呼叫 ric-scenario-gw 建立 scenarioId,登錄場景所屬之 E2 node,對應關係存於 Redis。② 閘道之 deployer 以 Kubernetes API 為每個場景建立兩個訂閱用 xApp:dt-fullkpm 與 dt-anr,Pod 注入 SCENARIO_ID。③ 兩個 xApp 經 SubMgr 對場景內每個 gNB(E2 node)各訂閱一筆:dt-fullkpm 訂閱 ran_func 5(DT-E2SM-FULLKPM,量測與 KPM),dt-anr 訂閱 ran_func 6(E2SM-ANR,鄰區關係);每個 gNB 有兩筆訂閱。④ 上報資料由 dt-preproc 彙整為觀測視窗。⑤ Agent 部署之 xApp 以 GET /v1/scenarios/{id}/observation 自 dt-preproc 取得觀測視窗。⑥ Agent xApp 依觀測判斷後,送出 scenarioId、控制目標、style 與參數。⑦⑧ 閘道依 Redis 對應場景 → rc-probe 編為 E2 訊息(ASN.1)→ e2term → 對應場景之 RAN。隔離:每個場景擁有獨立 scenarioId;閘道檢查控制之來源 Cell 須屬於指定 node,跨場景請求於閘道即被拒絕。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進度報告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1F3B63"/>
                </a:solidFill>
                <a:latin typeface="微軟正黑體"/>
                <a:ea typeface="微軟正黑體"/>
              </a:rPr>
              <a:t>數位孿生 RAN 模擬平台整體架構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</a:rPr>
              <a:t>Student：台科大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333333"/>
                </a:solidFill>
                <a:latin typeface="微軟正黑體"/>
                <a:ea typeface="微軟正黑體"/>
              </a:rPr>
              <a:t>Date: 2026.09.29 Tue.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微軟正黑體"/>
                <a:ea typeface="微軟正黑體"/>
              </a:rPr>
              <a:t>National Taiwan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3333"/>
                </a:solidFill>
                <a:latin typeface="微軟正黑體"/>
                <a:ea typeface="微軟正黑體"/>
              </a:rP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  <a:p>
            <a:pPr lvl="1"/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</a:rPr>
              <a:t>一、系統總體架構與端到端運作流程</a:t>
            </a:r>
          </a:p>
          <a:p>
            <a:pPr lvl="1"/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</a:rPr>
              <a:t>二、模擬管理平台：場域模型與可調整參數</a:t>
            </a:r>
          </a:p>
          <a:p>
            <a:pPr lvl="1"/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</a:rPr>
              <a:t>三、模擬平台：編排器、RAN 節點與通道模擬</a:t>
            </a:r>
          </a:p>
          <a:p>
            <a:pPr lvl="1"/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</a:rPr>
              <a:t>四、Near-RT RIC 平台：E2 服務模型與多場景路由</a:t>
            </a:r>
          </a:p>
          <a:p>
            <a:pPr/>
            <a:r>
              <a:rPr sz="1700" b="1">
                <a:solidFill>
                  <a:srgbClr val="333333"/>
                </a:solidFill>
                <a:latin typeface="微軟正黑體"/>
                <a:ea typeface="微軟正黑體"/>
              </a:rPr>
              <a:t>下週進度規劃與預期成果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一、系統總體架構：三個平台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2148840" cy="26974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  <a:ea typeface="微軟正黑體"/>
              </a:rPr>
              <a:t>模擬管理平台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764792"/>
            <a:ext cx="1929384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UI 場景編輯器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場景、網路元件、載具配置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3D 預覽（Three.js）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2724912"/>
            <a:ext cx="1929384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Backend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場域資料庫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gNB → DU → Cell → RU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UE 路徑與流量、場次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417320"/>
            <a:ext cx="2788920" cy="26974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  <a:ea typeface="微軟正黑體"/>
              </a:rPr>
              <a:t>模擬平台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764792"/>
            <a:ext cx="2569464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Orchestrator 編排器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267712"/>
            <a:ext cx="795528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gNB 1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e2adapter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CU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DU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67328" y="2267712"/>
            <a:ext cx="795528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gNB 2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e2adapter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CU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DU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2267712"/>
            <a:ext cx="795528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gNB 3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e2adapter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CU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DU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3364992"/>
            <a:ext cx="25694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Physics：Sionna 射線追蹤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live 即時計算 / cache 預算快取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417320"/>
            <a:ext cx="2926080" cy="19202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3B63"/>
                </a:solidFill>
                <a:latin typeface="微軟正黑體"/>
                <a:ea typeface="微軟正黑體"/>
              </a:rPr>
              <a:t>OSC Near-RT RIC 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7608" y="1764792"/>
            <a:ext cx="270662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RIC 核心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e2term、e2mgr、rtmgr、submgr、appmgr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7608" y="2286000"/>
            <a:ext cx="270662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場景管理與資料處理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ric-scenario-gw、dt-fullkpm、dt-anr、dt-preproc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7608" y="2807208"/>
            <a:ext cx="270662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控制與儲存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333333"/>
                </a:solidFill>
                <a:latin typeface="微軟正黑體"/>
                <a:ea typeface="微軟正黑體"/>
              </a:rPr>
              <a:t>Agent xApp、rc-probe、dbaas、InfluxDB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42900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75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7585"/>
                </a:solidFill>
                <a:latin typeface="微軟正黑體"/>
                <a:ea typeface="微軟正黑體"/>
              </a:rPr>
              <a:t>Omniverse 平台（尚未串接）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6B7585"/>
                </a:solidFill>
                <a:latin typeface="微軟正黑體"/>
                <a:ea typeface="微軟正黑體"/>
              </a:rPr>
              <a:t>現階段 3D 由前端 Three.js 渲染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68880" y="2011680"/>
            <a:ext cx="32004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2011680"/>
            <a:ext cx="32004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77840" y="2240280"/>
            <a:ext cx="32004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0" y="1755648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1F3B63"/>
                </a:solidFill>
                <a:latin typeface="微軟正黑體"/>
                <a:ea typeface="微軟正黑體"/>
              </a:rPr>
              <a:t>E2AP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279392"/>
            <a:ext cx="8503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3B63"/>
                </a:solidFill>
                <a:latin typeface="微軟正黑體"/>
                <a:ea typeface="微軟正黑體"/>
              </a:rPr>
              <a:t>每個 gNB 為一個獨立 E2 node，各自連線至 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一、端到端運作流程：從場域建立到控制落地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1572768" cy="329184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① 建立場域</a:t>
            </a:r>
          </a:p>
        </p:txBody>
      </p:sp>
      <p:pic>
        <p:nvPicPr>
          <p:cNvPr id="5" name="Picture 4" descr="editor3d_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47088"/>
            <a:ext cx="1572768" cy="201168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01751" y="3931920"/>
            <a:ext cx="160934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場景編輯器配置 gNB、Cell、UE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1" y="1581912"/>
            <a:ext cx="137161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48255" y="1417320"/>
            <a:ext cx="1572768" cy="329184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② 通道預算</a:t>
            </a:r>
          </a:p>
        </p:txBody>
      </p:sp>
      <p:pic>
        <p:nvPicPr>
          <p:cNvPr id="9" name="Picture 8" descr="coverage_t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5" y="1847088"/>
            <a:ext cx="1572768" cy="201168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029967" y="3931920"/>
            <a:ext cx="160934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Sionna 射線追蹤產生覆蓋與通道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30168" y="1581912"/>
            <a:ext cx="13716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76472" y="1417320"/>
            <a:ext cx="1572768" cy="329184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③ 啟動場次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6472" y="1847088"/>
            <a:ext cx="1572768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9624" y="1965960"/>
            <a:ext cx="1426464" cy="27432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</a:rPr>
              <a:t>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9624" y="2514600"/>
            <a:ext cx="43891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CU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2514600"/>
            <a:ext cx="43891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18888" y="2514600"/>
            <a:ext cx="43891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RU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9624" y="2971800"/>
            <a:ext cx="43891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971800"/>
            <a:ext cx="43891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E2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3474720"/>
            <a:ext cx="157276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6B7585"/>
                </a:solidFill>
                <a:latin typeface="微軟正黑體"/>
                <a:ea typeface="微軟正黑體"/>
              </a:rPr>
              <a:t>每個 gNB 一組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3931920"/>
            <a:ext cx="160934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編排器建立容器並向 RIC 登錄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58383" y="1581912"/>
            <a:ext cx="137161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04688" y="1417320"/>
            <a:ext cx="1572768" cy="329184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④ 觀測上報</a:t>
            </a:r>
          </a:p>
        </p:txBody>
      </p:sp>
      <p:pic>
        <p:nvPicPr>
          <p:cNvPr id="24" name="Picture 23" descr="dashboard_t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1847088"/>
            <a:ext cx="1572768" cy="201168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5486400" y="3931920"/>
            <a:ext cx="160934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E2 上報 KPM，監控平台即時呈現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86599" y="1581912"/>
            <a:ext cx="13716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32903" y="1417320"/>
            <a:ext cx="1572768" cy="329184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⑤ 控制落地</a:t>
            </a:r>
          </a:p>
        </p:txBody>
      </p:sp>
      <p:pic>
        <p:nvPicPr>
          <p:cNvPr id="28" name="Picture 27" descr="events_tal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3" y="1847088"/>
            <a:ext cx="1572768" cy="201168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7214616" y="3931920"/>
            <a:ext cx="160934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xApp 下達控制，事件流逐筆記錄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二、模擬管理平台：場域模型</a:t>
            </a:r>
          </a:p>
        </p:txBody>
      </p:sp>
      <p:pic>
        <p:nvPicPr>
          <p:cNvPr id="4" name="Picture 3" descr="osm3d_lb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3749039" cy="294071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411480" y="4005072"/>
            <a:ext cx="1691640" cy="237744"/>
          </a:xfrm>
          <a:prstGeom prst="roundRect">
            <a:avLst>
              <a:gd name="adj" fmla="val 35000"/>
            </a:avLst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gNB：三支扇區天線 = 3 個 Cell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234440" y="3493008"/>
            <a:ext cx="228600" cy="512064"/>
          </a:xfrm>
          <a:prstGeom prst="line">
            <a:avLst/>
          </a:prstGeom>
          <a:ln w="15875">
            <a:solidFill>
              <a:srgbClr val="C25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4005072"/>
            <a:ext cx="1691640" cy="237744"/>
          </a:xfrm>
          <a:prstGeom prst="roundRect">
            <a:avLst>
              <a:gd name="adj" fmla="val 35000"/>
            </a:avLst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UE：顏色 = 所連的 Cell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2121408" y="3840480"/>
            <a:ext cx="530352" cy="164592"/>
          </a:xfrm>
          <a:prstGeom prst="line">
            <a:avLst/>
          </a:prstGeom>
          <a:ln w="15875">
            <a:solidFill>
              <a:srgbClr val="C25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691640"/>
            <a:ext cx="1188720" cy="237744"/>
          </a:xfrm>
          <a:prstGeom prst="roundRect">
            <a:avLst>
              <a:gd name="adj" fmla="val 35000"/>
            </a:avLst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建築：OSM 匯入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929384"/>
            <a:ext cx="228600" cy="521208"/>
          </a:xfrm>
          <a:prstGeom prst="line">
            <a:avLst/>
          </a:prstGeom>
          <a:ln w="15875">
            <a:solidFill>
              <a:srgbClr val="C25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83080" y="1481328"/>
            <a:ext cx="914400" cy="237744"/>
          </a:xfrm>
          <a:prstGeom prst="roundRect">
            <a:avLst>
              <a:gd name="adj" fmla="val 35000"/>
            </a:avLst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Cell 顏色對照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00200" y="1600200"/>
            <a:ext cx="182880" cy="91440"/>
          </a:xfrm>
          <a:prstGeom prst="line">
            <a:avLst/>
          </a:prstGeom>
          <a:ln w="15875">
            <a:solidFill>
              <a:srgbClr val="C25B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" y="4416552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6B7585"/>
                </a:solidFill>
                <a:latin typeface="微軟正黑體"/>
                <a:ea typeface="微軟正黑體"/>
              </a:rPr>
              <a:t>osm_ntust_test 場景：OSM 建築、2 gNB × 3 Cell、6 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463040"/>
            <a:ext cx="1188720" cy="292608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軟正黑體"/>
                <a:ea typeface="微軟正黑體"/>
              </a:rPr>
              <a:t>場域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0328" y="1847088"/>
            <a:ext cx="0" cy="219456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10328" y="206654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192024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場景幾何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4767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Google 地圖、雷達 .glb、OSM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0328" y="2258568"/>
            <a:ext cx="0" cy="219456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10328" y="247802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74920" y="233172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gNB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59151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基地台站點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30368" y="2606040"/>
            <a:ext cx="0" cy="237744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30368" y="284378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94960" y="269748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72491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可多個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50408" y="2971800"/>
            <a:ext cx="0" cy="237744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50408" y="320954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715000" y="306324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09067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可多個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70448" y="3337560"/>
            <a:ext cx="0" cy="237744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70448" y="357530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035040" y="342900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RU / 天線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45643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一個 Cell 一個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10328" y="3767328"/>
            <a:ext cx="0" cy="219456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910328" y="398678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074920" y="384048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86791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路徑點、流量、出現時段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10328" y="4178808"/>
            <a:ext cx="0" cy="219456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910328" y="4398264"/>
            <a:ext cx="164592" cy="0"/>
          </a:xfrm>
          <a:prstGeom prst="line">
            <a:avLst/>
          </a:prstGeom>
          <a:ln w="12700">
            <a:solidFill>
              <a:srgbClr val="C9D6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074920" y="4251960"/>
            <a:ext cx="1097280" cy="2926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場次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27939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執行紀錄與容器實例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二、模擬管理平台：網路元件可調整參數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8503920" cy="3310128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447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gNB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1014983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名稱 / gNB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99616" y="1737360"/>
            <a:ext cx="1014983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PLMN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29967"/>
            <a:ext cx="1014983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位置 x, y, 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9616" y="2029967"/>
            <a:ext cx="1014983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啟用 / 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22576"/>
            <a:ext cx="1014983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A3 offset / hys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99616" y="2322576"/>
            <a:ext cx="1014983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A3 TTT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554480"/>
            <a:ext cx="5989320" cy="3063240"/>
          </a:xfrm>
          <a:prstGeom prst="roundRect">
            <a:avLst>
              <a:gd name="adj" fmla="val 8000"/>
            </a:avLst>
          </a:prstGeom>
          <a:solidFill>
            <a:srgbClr val="E3EAF3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572768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865376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排程器 PF/RR/MT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5" y="1865376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TDD 樣式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157984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PRB 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5" y="2157984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每 UE 最少 PRB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2450592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PF 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5615" y="2450592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HARQ 重傳上限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743200"/>
            <a:ext cx="923544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RLC discard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691640"/>
            <a:ext cx="3657600" cy="2788920"/>
          </a:xfrm>
          <a:prstGeom prst="roundRect">
            <a:avLst>
              <a:gd name="adj" fmla="val 8000"/>
            </a:avLst>
          </a:prstGeom>
          <a:solidFill>
            <a:srgbClr val="D6E1EE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709928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Cell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002536"/>
            <a:ext cx="146304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PCI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295144"/>
            <a:ext cx="146304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頻段 / 中心頻率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2587752"/>
            <a:ext cx="146304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頻寬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2880360"/>
            <a:ext cx="146304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發射功率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3172968"/>
            <a:ext cx="146304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方位角 / 下傾角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65576"/>
            <a:ext cx="146304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開啟 / 關閉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1828800"/>
            <a:ext cx="1828800" cy="2514600"/>
          </a:xfrm>
          <a:prstGeom prst="roundRect">
            <a:avLst>
              <a:gd name="adj" fmla="val 8000"/>
            </a:avLst>
          </a:prstGeom>
          <a:solidFill>
            <a:srgbClr val="C6D4E6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1847088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天線（RU）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2" y="2139696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陣列預設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2432303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天線圖樣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2724912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列數 × 行數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56832" y="3017520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極化 V/H/cross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56832" y="3310128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面板數 / TRX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56832" y="3602736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電子下傾角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3895344"/>
            <a:ext cx="1682496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CSI 埠 / 波束網格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160520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天線預設：2T2R ~ 64T64R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37083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DU 模板：OAI 對齊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三、模擬平台：編排器與多場次管理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63040"/>
            <a:ext cx="1371600" cy="36576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47088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6B7585"/>
                </a:solidFill>
                <a:latin typeface="微軟正黑體"/>
                <a:ea typeface="微軟正黑體"/>
              </a:rPr>
              <a:t>Docker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37160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89888"/>
            <a:ext cx="3291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① 核心容器（內部網路）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691640"/>
            <a:ext cx="1005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gNB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993392"/>
            <a:ext cx="420624" cy="237744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CU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608" y="1993392"/>
            <a:ext cx="420624" cy="237744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691640"/>
            <a:ext cx="1005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gNB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993392"/>
            <a:ext cx="420624" cy="237744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CU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8" y="1993392"/>
            <a:ext cx="420624" cy="237744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10058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gNB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93392"/>
            <a:ext cx="420624" cy="237744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CU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1993392"/>
            <a:ext cx="420624" cy="237744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2450592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RU（共用）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450592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UE（共用）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2926080"/>
            <a:ext cx="3429000" cy="65836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944368"/>
            <a:ext cx="3291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② 健康檢查通過後：e2adapter（主機網路）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3227832"/>
            <a:ext cx="10058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e2adapter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3227832"/>
            <a:ext cx="10058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e2adapter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227832"/>
            <a:ext cx="10058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B63"/>
                </a:solidFill>
                <a:latin typeface="微軟正黑體"/>
                <a:ea typeface="微軟正黑體"/>
              </a:rPr>
              <a:t>e2adapter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91640" y="1645920"/>
            <a:ext cx="274320" cy="13716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91640" y="1737360"/>
            <a:ext cx="274320" cy="141732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n 25"/>
          <p:cNvSpPr/>
          <p:nvPr/>
        </p:nvSpPr>
        <p:spPr>
          <a:xfrm>
            <a:off x="502920" y="2377440"/>
            <a:ext cx="1005840" cy="822960"/>
          </a:xfrm>
          <a:prstGeom prst="can">
            <a:avLst/>
          </a:prstGeom>
          <a:solidFill>
            <a:srgbClr val="E3EAF3"/>
          </a:solidFill>
          <a:ln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9144" bIns="9144"/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1F3B63"/>
                </a:solidFill>
                <a:latin typeface="微軟正黑體"/>
                <a:ea typeface="微軟正黑體"/>
              </a:rPr>
              <a:t>PostgreSQL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1F3B63"/>
                </a:solidFill>
                <a:latin typeface="微軟正黑體"/>
                <a:ea typeface="微軟正黑體"/>
              </a:rPr>
              <a:t>每 CU / DU / RU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1F3B63"/>
                </a:solidFill>
                <a:latin typeface="微軟正黑體"/>
                <a:ea typeface="微軟正黑體"/>
              </a:rPr>
              <a:t>一個資料庫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508760" y="2194560"/>
            <a:ext cx="457200" cy="594360"/>
          </a:xfrm>
          <a:prstGeom prst="line">
            <a:avLst/>
          </a:prstGeom>
          <a:ln w="12700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0040" y="3749039"/>
            <a:ext cx="5074920" cy="274320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場次狀態：閒置 → 預算中 → 執行中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069080"/>
            <a:ext cx="5074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已預算以 cache 執行（≤ 10×）；未預算以 live 1× 執行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623560" y="1371600"/>
          <a:ext cx="32004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623560" y="3931920"/>
            <a:ext cx="3200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上限 7 場（1× 倍速），瓶頸為 CPU bound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187952"/>
            <a:ext cx="3200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6B7585"/>
                </a:solidFill>
                <a:latin typeface="微軟正黑體"/>
                <a:ea typeface="微軟正黑體"/>
              </a:rPr>
              <a:t>場景：3 gNB / 3 Cell / 15 UE；live 模式同時 1 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三、模擬平台：RAN 節點功能拆分（每個 gNB）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e2adapter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79" y="1783080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E2AP 編解碼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79" y="2093976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SCTP 連線 RIC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5648" y="2423160"/>
            <a:ext cx="301752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45919" y="2148840"/>
            <a:ext cx="521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1F3B63"/>
                </a:solidFill>
                <a:latin typeface="微軟正黑體"/>
                <a:ea typeface="微軟正黑體"/>
              </a:rPr>
              <a:t>E2AP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566160"/>
            <a:ext cx="1417320" cy="274320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與 RIC 交換 E2 訊息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141732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1783080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cu_cp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2093976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cu_up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11296" y="2423160"/>
            <a:ext cx="301752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01568" y="2148840"/>
            <a:ext cx="521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1F3B63"/>
                </a:solidFill>
                <a:latin typeface="微軟正黑體"/>
                <a:ea typeface="微軟正黑體"/>
              </a:rPr>
              <a:t>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75688" y="3566160"/>
            <a:ext cx="1417320" cy="274320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連線管理、換手決策、彙整 KPM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31335" y="141732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DU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22775" y="1783080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f1ap_du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22775" y="2093976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RLC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22775" y="2404872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MAC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22775" y="2715768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fapi_north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66943" y="2423160"/>
            <a:ext cx="301753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57216" y="2148840"/>
            <a:ext cx="521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1F3B63"/>
                </a:solidFill>
                <a:latin typeface="微軟正黑體"/>
                <a:ea typeface="微軟正黑體"/>
              </a:rPr>
              <a:t>FAPI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31335" y="3566160"/>
            <a:ext cx="1417320" cy="274320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排程、MCS、RLF 偵測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6983" y="141732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8423" y="1783080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fapi_south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3" y="2093976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physics_client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8423" y="2404872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beamforming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8423" y="2715768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Antenna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8423" y="3026664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Phy_low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22591" y="2423160"/>
            <a:ext cx="301753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12864" y="2148840"/>
            <a:ext cx="521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1F3B63"/>
                </a:solidFill>
                <a:latin typeface="微軟正黑體"/>
                <a:ea typeface="微軟正黑體"/>
              </a:rPr>
              <a:t>通道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6983" y="3566160"/>
            <a:ext cx="1417320" cy="274320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RSRP、SINR、波束、CQI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42631" y="1417320"/>
            <a:ext cx="141732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Physics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4071" y="1783080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Sionna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34071" y="2093976"/>
            <a:ext cx="1234440" cy="2468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live / cache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42631" y="3566160"/>
            <a:ext cx="1417320" cy="274320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F3B63"/>
                </a:solidFill>
                <a:latin typeface="微軟正黑體"/>
                <a:ea typeface="微軟正黑體"/>
              </a:rPr>
              <a:t>射線追蹤產生通道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023360"/>
            <a:ext cx="8503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CU-CP：RRC 狀態、A3、換手與重建；CU-UP：PDCP 使用者資料面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三、模擬平台：DU / RU 每拍處理流程（每 500 ms 場景時間）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79" y="1371600"/>
            <a:ext cx="1005840" cy="310896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CU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682496"/>
            <a:ext cx="0" cy="2935224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1371600"/>
            <a:ext cx="1005840" cy="310896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DU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1682496"/>
            <a:ext cx="0" cy="2935224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92040" y="1371600"/>
            <a:ext cx="1005840" cy="310896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RU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682496"/>
            <a:ext cx="0" cy="2935224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69480" y="1371600"/>
            <a:ext cx="1005840" cy="310896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Physics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1682496"/>
            <a:ext cx="0" cy="2935224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94560" y="1828800"/>
            <a:ext cx="1645920" cy="329184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F3B63"/>
                </a:solidFill>
                <a:latin typeface="微軟正黑體"/>
                <a:ea typeface="微軟正黑體"/>
              </a:rPr>
              <a:t>① tick 觸發、RLF 偵測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286000"/>
            <a:ext cx="1645920" cy="329184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F3B63"/>
                </a:solidFill>
                <a:latin typeface="微軟正黑體"/>
                <a:ea typeface="微軟正黑體"/>
              </a:rPr>
              <a:t>② 排程 PRB、決定 MCS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880360"/>
            <a:ext cx="237744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17520" y="263347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③ DL_TTI.request（非同步）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3291840"/>
            <a:ext cx="237744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94960" y="3044952"/>
            <a:ext cx="237743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④ 取通道 H / path gain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29000"/>
            <a:ext cx="1645920" cy="329184"/>
          </a:xfrm>
          <a:prstGeom prst="roundRect">
            <a:avLst>
              <a:gd name="adj" fmla="val 20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F3B63"/>
                </a:solidFill>
                <a:latin typeface="微軟正黑體"/>
                <a:ea typeface="微軟正黑體"/>
              </a:rPr>
              <a:t> 算 RSRP、SINR、CQI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017520" y="4023360"/>
            <a:ext cx="2377440" cy="0"/>
          </a:xfrm>
          <a:prstGeom prst="line">
            <a:avLst/>
          </a:prstGeom>
          <a:ln w="15875">
            <a:solidFill>
              <a:srgbClr val="C25B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17520" y="3776472"/>
            <a:ext cx="2377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⑤ CQI indication（次一拍生效）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914400" y="4434840"/>
            <a:ext cx="210312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187952"/>
            <a:ext cx="21031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⑥ 量測報告（F1）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三、模擬平台：Sionna 射線追蹤與物理量換算</a:t>
            </a:r>
          </a:p>
        </p:txBody>
      </p:sp>
      <p:pic>
        <p:nvPicPr>
          <p:cNvPr id="4" name="Picture 3" descr="multi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2818501" cy="3017520"/>
          </a:xfrm>
          <a:prstGeom prst="rect">
            <a:avLst/>
          </a:prstGeom>
          <a:ln w="9525">
            <a:solidFill>
              <a:srgbClr val="C9D6E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20040" y="4434840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6B7585"/>
                </a:solidFill>
                <a:latin typeface="微軟正黑體"/>
                <a:ea typeface="微軟正黑體"/>
              </a:rPr>
              <a:t>圖：直射與反射路徑（平台自產示意）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417320"/>
            <a:ext cx="1234440" cy="36576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path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481328"/>
            <a:ext cx="3703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Sionna：直射、反射、繞射、穿透（≤ 5 次）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07408" y="1792224"/>
            <a:ext cx="0" cy="18288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94760" y="1984248"/>
            <a:ext cx="1234440" cy="36576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RSRP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48255"/>
            <a:ext cx="3703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發射功率 + 10·log10(path gain)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7408" y="2359152"/>
            <a:ext cx="0" cy="18288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551176"/>
            <a:ext cx="1234440" cy="36576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SINR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15184"/>
            <a:ext cx="3703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含跨 Cell 干擾；EVM 3.5% 上限約 29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07408" y="2926080"/>
            <a:ext cx="0" cy="18288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94760" y="3118104"/>
            <a:ext cx="1234440" cy="36576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CQI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182112"/>
            <a:ext cx="3703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查 DU 與 RU 共用 CQI 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7408" y="3493008"/>
            <a:ext cx="0" cy="18288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94760" y="3685032"/>
            <a:ext cx="1234440" cy="36576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軟正黑體"/>
                <a:ea typeface="微軟正黑體"/>
              </a:rPr>
              <a:t>MCS / 吞吐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49040"/>
            <a:ext cx="3703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OAI BLER 曲線與外迴路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4279392"/>
            <a:ext cx="1920240" cy="310896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3B63"/>
                </a:solidFill>
                <a:latin typeface="微軟正黑體"/>
                <a:ea typeface="微軟正黑體"/>
              </a:rPr>
              <a:t>live：即時計算，≤ 2×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4279392"/>
            <a:ext cx="1920240" cy="310896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3B63"/>
                </a:solidFill>
                <a:latin typeface="微軟正黑體"/>
                <a:ea typeface="微軟正黑體"/>
              </a:rPr>
              <a:t>cache：預算快取，≤ 10×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三、模擬平台：波束成形、MIMO 與 MU-MIMO 之建模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27432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波束成形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986784"/>
            <a:ext cx="2743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增益上限 ≈ 10·log10(N)；32 埠約 +15 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17320"/>
            <a:ext cx="27432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MIMO 多層傳輸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86784"/>
            <a:ext cx="2743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每層各自 SINR，傳輸量隨層數倍增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417320"/>
            <a:ext cx="27432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B63"/>
                </a:solidFill>
                <a:latin typeface="微軟正黑體"/>
                <a:ea typeface="微軟正黑體"/>
              </a:rPr>
              <a:t>MU-MIMO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3986784"/>
            <a:ext cx="2743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微軟正黑體"/>
                <a:ea typeface="微軟正黑體"/>
              </a:rPr>
              <a:t>兩 UE 同頻同時傳輸；對方波束洩漏計為干擾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03120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221991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40863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59736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578608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697479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21120000">
            <a:off x="777240" y="2240280"/>
            <a:ext cx="1737360" cy="457200"/>
          </a:xfrm>
          <a:prstGeom prst="ellipse">
            <a:avLst/>
          </a:prstGeom>
          <a:solidFill>
            <a:srgbClr val="1F3B6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4600" y="2148840"/>
            <a:ext cx="146304" cy="237744"/>
          </a:xfrm>
          <a:prstGeom prst="roundRect">
            <a:avLst/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395728"/>
            <a:ext cx="6035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2608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6B7585"/>
                </a:solidFill>
                <a:latin typeface="微軟正黑體"/>
                <a:ea typeface="微軟正黑體"/>
              </a:rPr>
              <a:t>N 根天線同相疊加 → 窄波束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103120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2221991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2340863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2459736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0" y="2578608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2697479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657600" y="2212848"/>
            <a:ext cx="1417320" cy="0"/>
          </a:xfrm>
          <a:prstGeom prst="line">
            <a:avLst/>
          </a:prstGeom>
          <a:ln w="190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23360" y="1965960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F3B63"/>
                </a:solidFill>
                <a:latin typeface="微軟正黑體"/>
                <a:ea typeface="微軟正黑體"/>
              </a:rPr>
              <a:t>第 1 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0" y="2468880"/>
            <a:ext cx="1417320" cy="0"/>
          </a:xfrm>
          <a:prstGeom prst="line">
            <a:avLst/>
          </a:prstGeom>
          <a:ln w="190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23360" y="2221991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1F3B63"/>
                </a:solidFill>
                <a:latin typeface="微軟正黑體"/>
                <a:ea typeface="微軟正黑體"/>
              </a:rPr>
              <a:t>第 2 層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57600" y="2724912"/>
            <a:ext cx="1417320" cy="0"/>
          </a:xfrm>
          <a:prstGeom prst="line">
            <a:avLst/>
          </a:prstGeom>
          <a:ln w="19050">
            <a:solidFill>
              <a:srgbClr val="C9D6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23360" y="2478024"/>
            <a:ext cx="8229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6B7585"/>
                </a:solidFill>
                <a:latin typeface="微軟正黑體"/>
                <a:ea typeface="微軟正黑體"/>
              </a:rPr>
              <a:t>第 3 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2240280"/>
            <a:ext cx="146304" cy="237744"/>
          </a:xfrm>
          <a:prstGeom prst="roundRect">
            <a:avLst/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2487168"/>
            <a:ext cx="6035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UE（M 根）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063240"/>
            <a:ext cx="2560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6B7585"/>
                </a:solidFill>
                <a:latin typeface="微軟正黑體"/>
                <a:ea typeface="微軟正黑體"/>
              </a:rPr>
              <a:t>RU 以 MMSE 選 rank 與 PMI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103120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2221991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2340863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2459736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2578608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2697479"/>
            <a:ext cx="91440" cy="9144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 rot="20520000">
            <a:off x="6492240" y="1874519"/>
            <a:ext cx="1737360" cy="384048"/>
          </a:xfrm>
          <a:prstGeom prst="ellipse">
            <a:avLst/>
          </a:prstGeom>
          <a:solidFill>
            <a:srgbClr val="1F3B6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1080000">
            <a:off x="6492240" y="2606040"/>
            <a:ext cx="1737360" cy="384048"/>
          </a:xfrm>
          <a:prstGeom prst="ellipse">
            <a:avLst/>
          </a:prstGeom>
          <a:solidFill>
            <a:srgbClr val="2E8B57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29600" y="1737360"/>
            <a:ext cx="146304" cy="237744"/>
          </a:xfrm>
          <a:prstGeom prst="roundRect">
            <a:avLst/>
          </a:prstGeom>
          <a:solidFill>
            <a:srgbClr val="C25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1984248"/>
            <a:ext cx="6035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UE 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2788920"/>
            <a:ext cx="146304" cy="237744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3035808"/>
            <a:ext cx="603504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UE B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80960" y="2148840"/>
            <a:ext cx="457200" cy="594360"/>
          </a:xfrm>
          <a:prstGeom prst="line">
            <a:avLst/>
          </a:prstGeom>
          <a:ln w="12700">
            <a:solidFill>
              <a:srgbClr val="C25B1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269480" y="2331720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C25B1E"/>
                </a:solidFill>
                <a:latin typeface="微軟正黑體"/>
                <a:ea typeface="微軟正黑體"/>
              </a:rPr>
              <a:t>洩漏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4434840"/>
            <a:ext cx="7315200" cy="310896"/>
          </a:xfrm>
          <a:prstGeom prst="roundRect">
            <a:avLst>
              <a:gd name="adj" fmla="val 35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3B63"/>
                </a:solidFill>
                <a:latin typeface="微軟正黑體"/>
                <a:ea typeface="微軟正黑體"/>
              </a:rPr>
              <a:t>RIC 可控制：電子下傾角、可用波束子集、最大層數（RC 2-8）；Cell 開關與節能（CCC）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四、Near-RT RIC 平台：E2 上報與控制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7315200" cy="41148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Near-RT RIC（xApp：dt-fullkpm、dt-anr、Agent xApp）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160520"/>
            <a:ext cx="7315200" cy="411480"/>
          </a:xfrm>
          <a:prstGeom prst="roundRect">
            <a:avLst>
              <a:gd name="adj" fmla="val 35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gNB(E2 node)× 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3B63"/>
                </a:solidFill>
                <a:latin typeface="微軟正黑體"/>
                <a:ea typeface="微軟正黑體"/>
              </a:rPr>
              <a:t>上報（訂閱）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DT-E2SM-FULLKPM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Cell PM 與逐 UE 無線量測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E2SM-ANR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鄰區關係、換手與 RLF 統計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645920" y="3630168"/>
            <a:ext cx="0" cy="512064"/>
          </a:xfrm>
          <a:prstGeom prst="line">
            <a:avLst/>
          </a:prstGeom>
          <a:ln w="317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645920" y="1856231"/>
            <a:ext cx="0" cy="274321"/>
          </a:xfrm>
          <a:prstGeom prst="line">
            <a:avLst/>
          </a:prstGeom>
          <a:ln w="3175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63240" y="2148840"/>
            <a:ext cx="1463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3B63"/>
                </a:solidFill>
                <a:latin typeface="微軟正黑體"/>
                <a:ea typeface="微軟正黑體"/>
              </a:rPr>
              <a:t>RC 控制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換手（3-1）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PRB 配額（2-6）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天線與波束（2-8）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ReportCGI(9-1)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1856231"/>
            <a:ext cx="0" cy="274321"/>
          </a:xfrm>
          <a:prstGeom prst="line">
            <a:avLst/>
          </a:prstGeom>
          <a:ln w="317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94760" y="3630168"/>
            <a:ext cx="0" cy="512064"/>
          </a:xfrm>
          <a:prstGeom prst="line">
            <a:avLst/>
          </a:prstGeom>
          <a:ln w="317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36008" y="2148840"/>
            <a:ext cx="1463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3B63"/>
                </a:solidFill>
                <a:latin typeface="微軟正黑體"/>
                <a:ea typeface="微軟正黑體"/>
              </a:rPr>
              <a:t>CCC 控制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Cell 開 / 關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兩階段節能：先移 UE 再關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67528" y="1856231"/>
            <a:ext cx="0" cy="274321"/>
          </a:xfrm>
          <a:prstGeom prst="line">
            <a:avLst/>
          </a:prstGeom>
          <a:ln w="317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67528" y="3630168"/>
            <a:ext cx="0" cy="512064"/>
          </a:xfrm>
          <a:prstGeom prst="line">
            <a:avLst/>
          </a:prstGeom>
          <a:ln w="317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08776" y="2148840"/>
            <a:ext cx="1463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3B63"/>
                </a:solidFill>
                <a:latin typeface="微軟正黑體"/>
                <a:ea typeface="微軟正黑體"/>
              </a:rPr>
              <a:t>ANR 控制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新增 / 移除鄰區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333333"/>
                </a:solidFill>
                <a:latin typeface="微軟正黑體"/>
                <a:ea typeface="微軟正黑體"/>
              </a:rPr>
              <a:t>設定旗標（hoBlocklist 等）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0296" y="1856231"/>
            <a:ext cx="0" cy="274321"/>
          </a:xfrm>
          <a:prstGeom prst="line">
            <a:avLst/>
          </a:prstGeom>
          <a:ln w="317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0296" y="3630168"/>
            <a:ext cx="0" cy="512064"/>
          </a:xfrm>
          <a:prstGeom prst="line">
            <a:avLst/>
          </a:prstGeom>
          <a:ln w="31750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800" y="3767328"/>
            <a:ext cx="1097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8B57"/>
                </a:solidFill>
                <a:latin typeface="微軟正黑體"/>
                <a:ea typeface="微軟正黑體"/>
              </a:rPr>
              <a:t>▲ 週期上報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651760"/>
            <a:ext cx="1005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F3B63"/>
                </a:solidFill>
                <a:latin typeface="微軟正黑體"/>
                <a:ea typeface="微軟正黑體"/>
              </a:rPr>
              <a:t>▼ 控制請求
ACK / Failure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四、Near-RT RIC 平台：多場景隔離與命令路由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編排器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417319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ric-scenario-gw</a:t>
            </a:r>
          </a:p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+ Redis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6040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場景 xApp ×2</a:t>
            </a:r>
          </a:p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（訂閱）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94760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dt-preproc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83480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Agent xApp</a:t>
            </a:r>
          </a:p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（判斷與控制）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rc-probe / e2term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084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1371600"/>
            <a:ext cx="1097280" cy="420624"/>
          </a:xfrm>
          <a:prstGeom prst="roundRect">
            <a:avLst>
              <a:gd name="adj" fmla="val 2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bIns="9144" tIns="9144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軟正黑體"/>
                <a:ea typeface="微軟正黑體"/>
              </a:rPr>
              <a:t>RAN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9560" y="1792224"/>
            <a:ext cx="0" cy="2596896"/>
          </a:xfrm>
          <a:prstGeom prst="line">
            <a:avLst/>
          </a:prstGeom>
          <a:ln w="15875">
            <a:solidFill>
              <a:srgbClr val="C9D6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" y="2011680"/>
            <a:ext cx="118872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1773936"/>
            <a:ext cx="137159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① 登錄場景與 E2 node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2331720"/>
            <a:ext cx="118872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4519" y="2093976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② 部署 2 個 xApp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54680" y="2651760"/>
            <a:ext cx="475488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63240" y="2414015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③ dt-fullkpm（量測）、dt-anr（鄰區）各向每個 gNB 訂閱一筆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54680" y="2971800"/>
            <a:ext cx="118872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63240" y="2734056"/>
            <a:ext cx="137159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④ 上報資料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343400" y="3291840"/>
            <a:ext cx="118872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51960" y="3054096"/>
            <a:ext cx="137159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⑤ 讀取觀測視窗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965960" y="3611880"/>
            <a:ext cx="356616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74519" y="33741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⑥ 依觀測判斷後送出控制請求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65960" y="3931920"/>
            <a:ext cx="475488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74519" y="3694176"/>
            <a:ext cx="4937759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⑦ 依 Redis 對應場景轉送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20840" y="4251960"/>
            <a:ext cx="1188720" cy="0"/>
          </a:xfrm>
          <a:prstGeom prst="line">
            <a:avLst/>
          </a:prstGeom>
          <a:ln w="15875">
            <a:solidFill>
              <a:srgbClr val="1F3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29400" y="4014216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軟正黑體"/>
                <a:ea typeface="微軟正黑體"/>
              </a:rPr>
              <a:t>⑧ E2 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434840"/>
            <a:ext cx="7315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3B63"/>
                </a:solidFill>
                <a:latin typeface="微軟正黑體"/>
                <a:ea typeface="微軟正黑體"/>
              </a:rPr>
              <a:t>訂閱由場景 xApp 負責，判斷與控制由 Agent xApp 負責；跨場景請求於閘道即被拒絕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</a:rPr>
              <a:t>下週進度規劃與預期成果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1005840"/>
            <a:ext cx="84124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B63"/>
                </a:solidFill>
                <a:latin typeface="微軟正黑體"/>
                <a:ea typeface="微軟正黑體"/>
              </a:rPr>
              <a:t>工作規劃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417320"/>
          <a:ext cx="850391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39"/>
                <a:gridCol w="3931919"/>
                <a:gridCol w="3566159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工作性質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工作規劃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預期成果</a:t>
                      </a:r>
                    </a:p>
                  </a:txBody>
                  <a:tcPr marL="45720" marR="45720" marT="18288" marB="18288">
                    <a:solidFill>
                      <a:srgbClr val="1F3B6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3B63"/>
                          </a:solidFill>
                          <a:latin typeface="微軟正黑體"/>
                          <a:ea typeface="微軟正黑體"/>
                        </a:rPr>
                        <a:t>整合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</a:rPr>
                        <a:t>Omniverse 平台串接：場景 USD 與模擬狀態同步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</a:rPr>
                        <a:t>3D 畫面由 Omniverse 呈現模擬中之 UE 與 Cell 狀態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3B63"/>
                          </a:solidFill>
                          <a:latin typeface="微軟正黑體"/>
                          <a:ea typeface="微軟正黑體"/>
                        </a:rPr>
                        <a:t>效能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</a:rPr>
                        <a:t>同時執行場數之瓶頸分析：CPU 負載分布與資料庫連線配置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</a:rPr>
                        <a:t>提出提升同時場數之方案與預估效益</a:t>
                      </a:r>
                    </a:p>
                  </a:txBody>
                  <a:tcPr marL="45720" marR="45720" marT="18288" marB="18288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F3B63"/>
                          </a:solidFill>
                          <a:latin typeface="微軟正黑體"/>
                          <a:ea typeface="微軟正黑體"/>
                        </a:rPr>
                        <a:t>驗證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</a:rPr>
                        <a:t>外部 Agent 以場景介面完成端到端題型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微軟正黑體"/>
                          <a:ea typeface="微軟正黑體"/>
                        </a:rPr>
                        <a:t>取得觀測、下達控制與稽核對帳之完整紀錄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209</Words>
  <Application>Microsoft Office PowerPoint</Application>
  <PresentationFormat>如螢幕大小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11</cp:revision>
  <dcterms:modified xsi:type="dcterms:W3CDTF">2026-08-26T01:12:23Z</dcterms:modified>
</cp:coreProperties>
</file>