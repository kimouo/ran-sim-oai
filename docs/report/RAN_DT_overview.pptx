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0B0B"/>
                </a:solidFill>
                <a:latin typeface="Microsoft JhengHei"/>
              </a:defRPr>
            </a:pPr>
            <a:r>
              <a:rPr sz="1400" b="0" i="0" u="none" strike="noStrike">
                <a:solidFill>
                  <a:srgbClr val="0B0B0B"/>
                </a:solidFill>
                <a:latin typeface="Microsoft JhengHei"/>
              </a:rPr>
              <a:t>各項命中率（%）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DT 校正前</c:v>
                </c:pt>
              </c:strCache>
            </c:strRef>
          </c:tx>
          <c:spPr>
            <a:solidFill>
              <a:srgbClr val="8A898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251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服務 cell 一致</c:v>
                  </c:pt>
                  <c:pt idx="1">
                    <c:v>RSRP ±3 dB</c:v>
                  </c:pt>
                  <c:pt idx="2">
                    <c:v>SINR ±3 dB</c:v>
                  </c:pt>
                  <c:pt idx="3">
                    <c:v>Throughput ±10%</c:v>
                  </c:pt>
                  <c:pt idx="4">
                    <c:v>四項同時命中</c:v>
                  </c:pt>
                  <c:pt idx="5">
                    <c:v>cell throughput 準確度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16</c:v>
                </c:pt>
                <c:pt idx="2">
                  <c:v>40.6</c:v>
                </c:pt>
                <c:pt idx="3">
                  <c:v>56.6</c:v>
                </c:pt>
                <c:pt idx="4">
                  <c:v>3.4</c:v>
                </c:pt>
                <c:pt idx="5">
                  <c:v>88.8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DT 校正後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251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服務 cell 一致</c:v>
                  </c:pt>
                  <c:pt idx="1">
                    <c:v>RSRP ±3 dB</c:v>
                  </c:pt>
                  <c:pt idx="2">
                    <c:v>SINR ±3 dB</c:v>
                  </c:pt>
                  <c:pt idx="3">
                    <c:v>Throughput ±10%</c:v>
                  </c:pt>
                  <c:pt idx="4">
                    <c:v>四項同時命中</c:v>
                  </c:pt>
                  <c:pt idx="5">
                    <c:v>cell throughput 準確度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86.6</c:v>
                </c:pt>
                <c:pt idx="2">
                  <c:v>95.3</c:v>
                </c:pt>
                <c:pt idx="3">
                  <c:v>80</c:v>
                </c:pt>
                <c:pt idx="4">
                  <c:v>66.1</c:v>
                </c:pt>
                <c:pt idx="5">
                  <c:v>99.1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52514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0B0B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RAN Digital Twin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Core Network + SMO 拓樸，推理場域效能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22376" y="3657600"/>
            <a:ext cx="1783080" cy="868680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拓樸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SMO 拓樸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51176" y="4091940"/>
            <a:ext cx="36576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2962656" y="3657600"/>
            <a:ext cx="1783080" cy="86868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= −1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建立物件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91456" y="4091940"/>
            <a:ext cx="36576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202936" y="3657600"/>
            <a:ext cx="1783080" cy="86868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= 0⁻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建立關係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31736" y="4091940"/>
            <a:ext cx="36576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443216" y="3657600"/>
            <a:ext cx="1783080" cy="86868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= 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AI/ML 效能模型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272016" y="4091940"/>
            <a:ext cx="36576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9683496" y="3657600"/>
            <a:ext cx="1783080" cy="868680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13048" y="5029200"/>
            <a:ext cx="457200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50208" y="50292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RAN Emulator：逐個 CLK 推理 + 實網校正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9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github.com/jych1a0/ran_dt　·　2026-09-29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201168"/>
            <a:ext cx="8714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RAN Emulator：從拓樸到場域效能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109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§7–§13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338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run_emulator() → PerformanceReport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8686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一、每個 CLK：建立關係並計算效能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673352"/>
            <a:ext cx="1600200" cy="768096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拓樸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SMO 拓樸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6459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12848" y="17190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7007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建立物件 t=−1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029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cell / UE 物件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網元與傳輸拓樸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16459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84648" y="17190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17007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建立關係 t=0⁻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029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 / 干擾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Scheduler 佇列、核網路徑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56448" y="17190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17007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計算效能 t=0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029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AI/ML 效能模型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→ Y [4, M, N]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18745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18745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關係表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195560" y="1618488"/>
            <a:ext cx="1691640" cy="877824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效能矩陣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[4, M, N]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20240" y="20574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690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9834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408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552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12680" y="20574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993392" y="12527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只初始化一次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86100" y="15636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7936992" y="12527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距離・功率・天線・環境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029700" y="15636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1041380" y="2496312"/>
            <a:ext cx="0" cy="384048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2880360"/>
            <a:ext cx="104927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2880360"/>
            <a:ext cx="0" cy="4572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20040" y="292608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29260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二、終端運作，進入下一個 CLK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320040" y="3730752"/>
            <a:ext cx="1600200" cy="768096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效能矩陣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[4, M, N]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03120" y="37033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212848" y="37764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2560320" y="37581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終端運作 t=0⁺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2194560" y="4087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收送資料、移動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 UE Report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74920" y="37033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84648" y="37764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532120" y="37581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下一個 CLK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166360" y="4087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用新位置與負載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重新建立關係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046720" y="37033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156448" y="37764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503920" y="37581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彙整報表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138160" y="4087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cell KPI、E2E 延遲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網元負載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4160520" y="39319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新狀態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7132320" y="39319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時間序列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10195560" y="3675888"/>
            <a:ext cx="1691640" cy="877824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Performance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Report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920240" y="41148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0690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9834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0408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9552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0012680" y="41148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4965192" y="33101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CLK = 2 s，共 30 CLK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057900" y="36210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1993392" y="4617720"/>
            <a:ext cx="2185416" cy="27432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handover：A3 遲滯 3 dB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 flipV="1">
            <a:off x="3086100" y="4526280"/>
            <a:ext cx="0" cy="9144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11041380" y="4553712"/>
            <a:ext cx="0" cy="384048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4937760"/>
            <a:ext cx="104927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8640" y="4937760"/>
            <a:ext cx="0" cy="4572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320040" y="498348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57200" y="49834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三、量測比對、校正並驗收</a:t>
            </a:r>
            <a:endParaRPr lang="en-US" sz="1500" dirty="0"/>
          </a:p>
        </p:txBody>
      </p:sp>
      <p:sp>
        <p:nvSpPr>
          <p:cNvPr id="69" name="Text 67"/>
          <p:cNvSpPr txBox="1"/>
          <p:nvPr/>
        </p:nvSpPr>
        <p:spPr>
          <a:xfrm>
            <a:off x="320040" y="5788152"/>
            <a:ext cx="1600200" cy="768096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Report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103120" y="57607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2212848" y="58338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2560320" y="58155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量測比對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2194560" y="6144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相同關係、配置、時段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逐筆 (CLK, UE) 比對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074920" y="57607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184648" y="58338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5532120" y="58155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校正參數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5166360" y="6144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path loss offset、效率係數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（AI/ML：微調權重）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8046720" y="57607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156448" y="58338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8503920" y="58155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仿真率驗收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8138160" y="6144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RSRP / SINR ±3 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Throughput ±10%</a:t>
            </a:r>
            <a:endParaRPr 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4160520" y="59893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</a:t>
            </a:r>
            <a:endParaRPr lang="en-US" sz="800" dirty="0"/>
          </a:p>
        </p:txBody>
      </p:sp>
      <p:sp>
        <p:nvSpPr>
          <p:cNvPr id="83" name="Text 81"/>
          <p:cNvSpPr txBox="1"/>
          <p:nvPr/>
        </p:nvSpPr>
        <p:spPr>
          <a:xfrm>
            <a:off x="7132320" y="59893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新參數</a:t>
            </a:r>
            <a:endParaRPr lang="en-US" sz="800" dirty="0"/>
          </a:p>
        </p:txBody>
      </p:sp>
      <p:sp>
        <p:nvSpPr>
          <p:cNvPr id="84" name="Text 82"/>
          <p:cNvSpPr txBox="1"/>
          <p:nvPr/>
        </p:nvSpPr>
        <p:spPr>
          <a:xfrm>
            <a:off x="10195560" y="5733288"/>
            <a:ext cx="1691640" cy="877824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仿真率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53% → 91%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920240" y="61722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40690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49834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70408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79552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10012680" y="61722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1" name="Text 89"/>
          <p:cNvSpPr txBox="1"/>
          <p:nvPr/>
        </p:nvSpPr>
        <p:spPr>
          <a:xfrm>
            <a:off x="7936992" y="5367528"/>
            <a:ext cx="2185416" cy="310896"/>
          </a:xfrm>
          <a:prstGeom prst="parallelogram">
            <a:avLst/>
          </a:prstGeom>
          <a:solidFill>
            <a:srgbClr val="FDE4DF"/>
          </a:solidFill>
          <a:ln w="12700">
            <a:solidFill>
              <a:srgbClr val="E3867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實網目前為假資料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029700" y="56784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201168"/>
            <a:ext cx="8714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+ RAN 如何組成 E2E 拓樸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109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§7.1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338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build_topology()</a:t>
            </a:r>
            <a:endParaRPr lang="en-US" sz="750" dirty="0"/>
          </a:p>
        </p:txBody>
      </p:sp>
      <p:pic>
        <p:nvPicPr>
          <p:cNvPr id="5" name="Image 0" descr="/root/ran_dt/figures/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80389"/>
            <a:ext cx="7406640" cy="45373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91440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91440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跨域只有兩條介面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001000" y="1463040"/>
            <a:ext cx="386791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1591056"/>
            <a:ext cx="310896" cy="310896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155448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N2（控制面・靜態）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993392"/>
            <a:ext cx="3547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CU-CP 在 SMO 設定的 AMF 位址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 AMF 的 n2_address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且 AMF 服務該 gNB 的 TAC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01000" y="3017520"/>
            <a:ext cx="386791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3145536"/>
            <a:ext cx="310896" cy="310896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49640" y="310896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N3（使用者面・動態）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547872"/>
            <a:ext cx="3547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UPF 由 SMF 選，所以列出候選：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UPF 服務區含 gNB 的 TAC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且 CU-UP 與 UPF 有共同切片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4572000"/>
            <a:ext cx="3867912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38160" y="4700016"/>
            <a:ext cx="310896" cy="310896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466344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 使用者面路徑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5102352"/>
            <a:ext cx="3547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Cell → RU → DU → CU-UP → UPF → DN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有路徑，cell 才能服務這個切片的 UE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否則對該 UE 只能是干擾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6172200"/>
            <a:ext cx="3867912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延遲 / 頻寬：兩端 site 在傳輸網路上的最短路徑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201168"/>
            <a:ext cx="8714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位置怎麼來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109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§7.3 / §10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338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spawn_ues() / ue_operate()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8686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一、模擬：初始撒點（t = −1）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673352"/>
            <a:ext cx="1600200" cy="768096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Scenario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6459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12848" y="17190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7007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選扇區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029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UE 群指定的 cell 為中心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方位角 θ = cell 方位角 ± 50°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16459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84648" y="17190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17007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抽距離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029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= √U(r_min², r_max²)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開根號 → 面積上均勻分佈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56448" y="17190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17007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換算座標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029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x_cell + r · sin 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y_cell + r · cos θ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18745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θ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18745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195560" y="1618488"/>
            <a:ext cx="1691640" cy="877824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初始位置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(x, y)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20240" y="20574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690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9834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408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552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12680" y="20574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993392" y="12527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UeGroup.cell（初始 cell）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86100" y="15636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965192" y="12527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半徑 30–350 m（車 300–600 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57900" y="15636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936992" y="12527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原點 = 場域中心，x 東、y 北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029700" y="15636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1041380" y="2496312"/>
            <a:ext cx="0" cy="384048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2880360"/>
            <a:ext cx="104927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2880360"/>
            <a:ext cx="0" cy="4572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20040" y="292608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" y="29260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二、模擬：每個 CLK 移動（t = 0⁺）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320040" y="3730752"/>
            <a:ext cx="1600200" cy="768096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上一個 CLK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的位置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03120" y="37033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212848" y="37764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2560320" y="37581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調整方向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2194560" y="4087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heading += N(0, 0.25 rad)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隨機微調行進方向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74920" y="37033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184648" y="37764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532120" y="37581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前進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166360" y="4087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+= v · Δt · sin(heading)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+= v · Δt · cos(heading)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046720" y="37033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56448" y="37764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503920" y="37581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邊界反彈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8138160" y="4087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超出場域（cell 外圍 600 m）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方向反射、位置夾回邊界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4160520" y="39319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7132320" y="39319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新座標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10195560" y="3675888"/>
            <a:ext cx="1691640" cy="877824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新位置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下一個 CLK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重新建立關係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920240" y="41148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0690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9834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0408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79552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10012680" y="41148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4965192" y="33101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v：人 1–1.5、車 10 m/s；Δt 2 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057900" y="36210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7936992" y="4617720"/>
            <a:ext cx="2185416" cy="27432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X 的距離、夾角特徵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 flipV="1">
            <a:off x="9029700" y="4526280"/>
            <a:ext cx="0" cy="9144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1041380" y="4553712"/>
            <a:ext cx="0" cy="384048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8640" y="4937760"/>
            <a:ext cx="104927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640" y="4937760"/>
            <a:ext cx="0" cy="4572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20040" y="498348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57200" y="49834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三、實網：UE 位置從哪裡來</a:t>
            </a:r>
            <a:endParaRPr lang="en-US" sz="1500" dirty="0"/>
          </a:p>
        </p:txBody>
      </p:sp>
      <p:sp>
        <p:nvSpPr>
          <p:cNvPr id="71" name="Text 69"/>
          <p:cNvSpPr txBox="1"/>
          <p:nvPr/>
        </p:nvSpPr>
        <p:spPr>
          <a:xfrm>
            <a:off x="320040" y="5788152"/>
            <a:ext cx="1600200" cy="768096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實網量測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103120" y="57607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2212848" y="58338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2560320" y="58155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MDT / GNSS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2194560" y="6144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Report 直接帶經緯度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最準，但需 UE 支援並開啟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074920" y="57607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184648" y="58338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5532120" y="58155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E-CID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5166360" y="6144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 cell + TA + 天線方位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精度約數十～數百公尺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046720" y="57607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156448" y="58338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8503920" y="58155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指紋 / NR 定位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8138160" y="6144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RSRP 指紋比對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LMF：DL-TDOA、multi-RTT</a:t>
            </a:r>
            <a:endParaRPr lang="en-US" sz="950" dirty="0"/>
          </a:p>
        </p:txBody>
      </p:sp>
      <p:sp>
        <p:nvSpPr>
          <p:cNvPr id="84" name="Text 82"/>
          <p:cNvSpPr txBox="1"/>
          <p:nvPr/>
        </p:nvSpPr>
        <p:spPr>
          <a:xfrm>
            <a:off x="4160520" y="59893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GNSS</a:t>
            </a:r>
            <a:endParaRPr lang="en-US" sz="800" dirty="0"/>
          </a:p>
        </p:txBody>
      </p:sp>
      <p:sp>
        <p:nvSpPr>
          <p:cNvPr id="85" name="Text 83"/>
          <p:cNvSpPr txBox="1"/>
          <p:nvPr/>
        </p:nvSpPr>
        <p:spPr>
          <a:xfrm>
            <a:off x="7132320" y="59893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要更準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10195560" y="5733288"/>
            <a:ext cx="1691640" cy="877824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位置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(lat, lon)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換成 (x, y)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1920240" y="61722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40690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49834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70408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79552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10012680" y="61722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3" name="Text 91"/>
          <p:cNvSpPr txBox="1"/>
          <p:nvPr/>
        </p:nvSpPr>
        <p:spPr>
          <a:xfrm>
            <a:off x="1993392" y="5367528"/>
            <a:ext cx="2185416" cy="310896"/>
          </a:xfrm>
          <a:prstGeom prst="parallelogram">
            <a:avLst/>
          </a:prstGeom>
          <a:solidFill>
            <a:srgbClr val="FDE4DF"/>
          </a:solidFill>
          <a:ln w="12700">
            <a:solidFill>
              <a:srgbClr val="E3867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目前範例的 UE 位置是模擬產生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3086100" y="56784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5" name="Text 93"/>
          <p:cNvSpPr txBox="1"/>
          <p:nvPr/>
        </p:nvSpPr>
        <p:spPr>
          <a:xfrm>
            <a:off x="7936992" y="53675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精度依部署與設定而定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9029700" y="56784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201168"/>
            <a:ext cx="8714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= 0⁻　建立關係：服務 / 干擾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109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§8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338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build_relations() → RelationTable</a:t>
            </a:r>
            <a:endParaRPr lang="en-US" sz="750" dirty="0"/>
          </a:p>
        </p:txBody>
      </p:sp>
      <p:pic>
        <p:nvPicPr>
          <p:cNvPr id="5" name="Image 0" descr="/root/ran_dt/figures/rel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60972"/>
            <a:ext cx="5394960" cy="49761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914400"/>
            <a:ext cx="5879592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0" y="914400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產物：關係表 [M, N]（節錄）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417320"/>
          <a:ext cx="58795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325880"/>
                <a:gridCol w="868680"/>
                <a:gridCol w="868680"/>
                <a:gridCol w="868680"/>
                <a:gridCol w="117043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slice / DNN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1001-1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1001-2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1002-1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 RSRP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ue-000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eMBB/internet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-108.8 dBm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ue-001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eMBB/internet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-108.8 dBm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ue-060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URLLC/mec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-102.5 dBm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ue-061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URLLC/mec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干擾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9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-96.0 dBm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ue-070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eMBB/internet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干擾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干擾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9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-99.4 dBm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ue-072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eMBB/internet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干擾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9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-72.1 dBm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ue-110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eMBB/internet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-74.4 dBm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ue-111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eMBB/internet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干擾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-99.0 dBm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ue-190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eMBB/internet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干擾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9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-108.3 dBm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ue-192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eMBB/internet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干擾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干擾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9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-111.4 dBm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035040" y="4764024"/>
            <a:ext cx="292608" cy="292608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446520" y="470916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可服務　</a:t>
            </a:r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核網有 E2E 路徑（slice + DNN）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035040" y="5330952"/>
            <a:ext cx="292608" cy="292608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5276088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　</a:t>
            </a:r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可服務 cell 中 RSRP 最強；A3 遲滯 3 dB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035040" y="5897880"/>
            <a:ext cx="292608" cy="292608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5843016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干擾　</a:t>
            </a:r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 RSRP ≥ −120 dBm 的 cell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201168"/>
            <a:ext cx="8714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AI/ML 模型的輸入輸出：Shape 的物理意義與資料來源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109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§9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338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build_features() → model.predict()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8686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一、張量每一軸的物理意義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673352"/>
            <a:ext cx="1600200" cy="768096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[B, T, F, M, N]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[B, T, 4, M, N]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6459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12848" y="17190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7007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樣本 B／時間 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029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B：第幾個時間視窗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T：視窗內第幾個 CLK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16459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84648" y="17190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17007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特徵 F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029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每個通道 = 一種物理量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距離、角度、功率、負載…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56448" y="17190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17007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M × cell 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029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 = 一條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UE–cell 無線鏈路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18745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CLK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18745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每個物理量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195560" y="1618488"/>
            <a:ext cx="1691640" cy="877824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X[b,t,f,m,n]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窗 b・CLK 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m 對 cell 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20240" y="20574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690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9834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408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552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12680" y="20574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993392" y="12527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CLK = 2 s；T_in = 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86100" y="15636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965192" y="12527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 = 16（FEATURES 表）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57900" y="15636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936992" y="12527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/ cell 清單順序固定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029700" y="15636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7936992" y="2560320"/>
            <a:ext cx="2185416" cy="27432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mask [B, T, M]：UE 是否在場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 flipV="1">
            <a:off x="9029700" y="2468880"/>
            <a:ext cx="0" cy="9144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1041380" y="2496312"/>
            <a:ext cx="0" cy="384048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2880360"/>
            <a:ext cx="104927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2880360"/>
            <a:ext cx="0" cy="4572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20040" y="292608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7200" y="29260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二、16 個特徵從哪裡來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320040" y="3730752"/>
            <a:ext cx="1600200" cy="768096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Core／SMO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場景／實網量測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103120" y="37033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212848" y="37764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2560320" y="37581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SMO 拓樸（O1）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2194560" y="4087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 位置、方位角、下傾、高度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Cell 功率、頻率、頻寬、SCS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74920" y="37033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184648" y="37764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532120" y="37581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拓樸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166360" y="4087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UPF 服務區、切片、DNN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傳輸網路延遲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046720" y="37033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156448" y="37764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8503920" y="37581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關係／環境／狀態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8138160" y="4087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關係表、LOS、建物損耗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上一個 CLK 負載、UE buffer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4160520" y="39319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UE 位置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7132320" y="39319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關係表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10195560" y="3675888"/>
            <a:ext cx="1691640" cy="877824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的 16 個特徵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[F, M, N]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920240" y="41148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0690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9834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70408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79552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0012680" y="41148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7936992" y="33101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實網：PM counter、MR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9029700" y="36210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1993392" y="4617720"/>
            <a:ext cx="2185416" cy="27432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距離・夾角・功率・頻率・PRB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 flipV="1">
            <a:off x="3086100" y="4526280"/>
            <a:ext cx="0" cy="9144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8" name="Text 66"/>
          <p:cNvSpPr txBox="1"/>
          <p:nvPr/>
        </p:nvSpPr>
        <p:spPr>
          <a:xfrm>
            <a:off x="4965192" y="4617720"/>
            <a:ext cx="2185416" cy="27432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allowed・transport・sst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 flipV="1">
            <a:off x="6057900" y="4526280"/>
            <a:ext cx="0" cy="9144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70" name="Text 68"/>
          <p:cNvSpPr txBox="1"/>
          <p:nvPr/>
        </p:nvSpPr>
        <p:spPr>
          <a:xfrm>
            <a:off x="7936992" y="4617720"/>
            <a:ext cx="2185416" cy="27432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relation・los・load・request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 flipV="1">
            <a:off x="9029700" y="4526280"/>
            <a:ext cx="0" cy="9144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11041380" y="4553712"/>
            <a:ext cx="0" cy="384048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8640" y="4937760"/>
            <a:ext cx="104927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48640" y="4937760"/>
            <a:ext cx="0" cy="4572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320040" y="498348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57200" y="49834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三、輸出 Y 的物理意義與真值來源</a:t>
            </a:r>
            <a:endParaRPr lang="en-US" sz="1500" dirty="0"/>
          </a:p>
        </p:txBody>
      </p:sp>
      <p:sp>
        <p:nvSpPr>
          <p:cNvPr id="77" name="Text 75"/>
          <p:cNvSpPr txBox="1"/>
          <p:nvPr/>
        </p:nvSpPr>
        <p:spPr>
          <a:xfrm>
            <a:off x="320040" y="5788152"/>
            <a:ext cx="1600200" cy="768096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[B, T_in, F, M, N]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103120" y="57607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212848" y="58338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2560320" y="58155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AI/ML 模型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2194560" y="6144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目前：3GPP 公式替身（只讀 X）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之後：GNN／Transformer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074920" y="57607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184648" y="58338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5532120" y="58155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個效能指標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5166360" y="6144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RSRP：每格都有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SINR・SNR・Tput：服務 cell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8046720" y="57607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156448" y="58338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88" name="Text 86"/>
          <p:cNvSpPr txBox="1"/>
          <p:nvPr/>
        </p:nvSpPr>
        <p:spPr>
          <a:xfrm>
            <a:off x="8503920" y="58155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真值與比對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8138160" y="6144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實網 UE Report／MR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模擬時：Emulator 產生</a:t>
            </a:r>
            <a:endParaRPr lang="en-US" sz="900" dirty="0"/>
          </a:p>
        </p:txBody>
      </p:sp>
      <p:sp>
        <p:nvSpPr>
          <p:cNvPr id="90" name="Text 88"/>
          <p:cNvSpPr txBox="1"/>
          <p:nvPr/>
        </p:nvSpPr>
        <p:spPr>
          <a:xfrm>
            <a:off x="4160520" y="59893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Y_pred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7132320" y="59893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比對真值</a:t>
            </a:r>
            <a:endParaRPr lang="en-US" sz="800" dirty="0"/>
          </a:p>
        </p:txBody>
      </p:sp>
      <p:sp>
        <p:nvSpPr>
          <p:cNvPr id="92" name="Text 90"/>
          <p:cNvSpPr txBox="1"/>
          <p:nvPr/>
        </p:nvSpPr>
        <p:spPr>
          <a:xfrm>
            <a:off x="10195560" y="5733288"/>
            <a:ext cx="1691640" cy="877824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[B, T_out, 4, M, N]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非服務 cell = NaN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1920240" y="61722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40690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49834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70408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79552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10012680" y="61722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9" name="Text 97"/>
          <p:cNvSpPr txBox="1"/>
          <p:nvPr/>
        </p:nvSpPr>
        <p:spPr>
          <a:xfrm>
            <a:off x="4965192" y="53675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Y[k,m,n]：UE m 在 cell n 的指標 k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057900" y="56784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101" name="Text 99"/>
          <p:cNvSpPr txBox="1"/>
          <p:nvPr/>
        </p:nvSpPr>
        <p:spPr>
          <a:xfrm>
            <a:off x="7936992" y="53675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仿真率 = 命中率平均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9029700" y="56784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201168"/>
            <a:ext cx="8714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模型輸入 X 的 16 個特徵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109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§9.1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338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FEATURES / build_features()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76809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554480"/>
                <a:gridCol w="914400"/>
                <a:gridCol w="2651760"/>
                <a:gridCol w="21945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特徵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層級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物理意義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資料來源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relation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UE×cell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關係：0 無 / 1 服務 / 2 干擾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= 0⁻ 關係表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allowed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UE×cell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核網有 E2E 路徑 (1 / 0)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Core 拓樸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dist_3d_m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UE×cell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 到 RU 的 3D 距離 (m)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SMO RU 位置 + UE 位置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h_angle_deg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UE×cell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偏離天線方位角 (°)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SMO RU 方位角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v_angle_deg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UE×cell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偏離天線下傾角 (°)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SMO RU 高度 / 下傾角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UE×cell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直視 LOS (1 / 0)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環境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clutter_db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UE×cell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環境額外損耗 (dB)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環境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transport_ms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UE×cell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經此 cell 到 DN 的傳輸延遲 (ms)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Core 拓樸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tx_re_dbm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 RE 發射功率 (dBm)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SMO 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freq_ghz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中心頻率 (GHz)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SMO 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n_prb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PRB 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SMO 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scs_khz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子載波間距 (kHz)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SMO 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dl_ratio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TDD 下行比例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SMO 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cell_load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PRB 使用率（上一個 CLK）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 / 上一個 CLK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request_mbps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這個 CLK 要傳的資料量 (Mbps)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 buffer / Scenario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898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切片類型 (SST)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Core / Scenario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960120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41080" y="96012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三個層級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503920" y="1508760"/>
            <a:ext cx="3364992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41080" y="1636776"/>
            <a:ext cx="310896" cy="310896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160020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UE×cell（8 個）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2039112"/>
            <a:ext cx="3044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每一格各自不同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距離、夾角、關係、路徑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503920" y="3017520"/>
            <a:ext cx="3364992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41080" y="3145536"/>
            <a:ext cx="310896" cy="310896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052560" y="310896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cell（6 個）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3547872"/>
            <a:ext cx="3044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 cell 對每個 UE 相同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沿 UE 方向複製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503920" y="4526280"/>
            <a:ext cx="3364992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41080" y="4654296"/>
            <a:ext cx="310896" cy="310896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0" y="461772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UE（2 個）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5056632"/>
            <a:ext cx="3044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 UE 對每個 cell 相同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沿 cell 方向複製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6080760"/>
            <a:ext cx="3364992" cy="457200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合起來：X = [16, M, N]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201168"/>
            <a:ext cx="8714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 frame 輸入：滑動視窗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109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§11.2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338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make_windows(XS, YS, present, T_in, T_out)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144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一、張量定義（T_in = 5、T_out = 1）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17320"/>
          <a:ext cx="115488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2377440"/>
                <a:gridCol w="597103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張量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shape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本範例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[B, T_in, F, M, N]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[25, 5, 16, 210, 3]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個視窗，每個是連續 T_in 個 frame 的特徵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[B, T_out, 4, M, N]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[25, 1, 4, 210, 3]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每個視窗之後 T_out 個 frame 的效能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mask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[B, T_in, M]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[25, 5, 210]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 frame 裡 UE 是否在場（1 / 0）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306324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0632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二、切法：B = T − T_in − T_out + 1</a:t>
            </a:r>
            <a:endParaRPr lang="en-US" sz="1500" dirty="0"/>
          </a:p>
        </p:txBody>
      </p:sp>
      <p:pic>
        <p:nvPicPr>
          <p:cNvPr id="10" name="Image 0" descr="/root/ran_dt/figures/sliding_windo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785016"/>
            <a:ext cx="7589520" cy="248836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183880" y="3520440"/>
            <a:ext cx="3685032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21040" y="3648456"/>
            <a:ext cx="310896" cy="310896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732520" y="3611880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T_out 決定任務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366760" y="4050792"/>
            <a:ext cx="33649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0：nowcast（推最後一個 frame）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1：預測下一個 frame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K：預測接下來 K 個 frame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83880" y="5074920"/>
            <a:ext cx="3685032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321040" y="5202936"/>
            <a:ext cx="310896" cy="310896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732520" y="5166360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要注意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366760" y="5605272"/>
            <a:ext cx="3364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同一視窗內 UE / cell 順序固定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進出場域 → 補 0，mask = 0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frame 間隔固定（1 CLK = 2 s）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201168"/>
            <a:ext cx="8714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虛實仿真率：校正前 vs 校正後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109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§13.1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338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fidelity()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144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仿真率（四項命中率平均）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508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A89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53.3%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校正前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108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A78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90.5%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校正後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4892040"/>
            <a:ext cx="4023360" cy="68580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命中條件：服務 cell 相同、RSRP / SINR ±3 dB、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Throughput ±10%；6,300 筆 (CLK × UE)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5760720"/>
            <a:ext cx="4023360" cy="731520"/>
          </a:xfrm>
          <a:prstGeom prst="parallelogram">
            <a:avLst/>
          </a:prstGeom>
          <a:solidFill>
            <a:srgbClr val="FDE4DF"/>
          </a:solidFill>
          <a:ln w="12700">
            <a:solidFill>
              <a:srgbClr val="E3867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實網目前為假資料（真值參數 + 雜訊）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只證明校正流程有效，不是真實準確度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663440" y="914400"/>
          <a:ext cx="7205472" cy="5577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201168"/>
            <a:ext cx="8714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虛實比較：實網 UE Report vs Digital Twin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109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§13.2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338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figures/dt_vs_real.mp4</a:t>
            </a:r>
            <a:endParaRPr lang="en-US" sz="750" dirty="0"/>
          </a:p>
        </p:txBody>
      </p:sp>
      <p:pic>
        <p:nvPicPr>
          <p:cNvPr id="5" name="Image 0" descr="/root/ran_dt/figures/dt_vs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221" y="868680"/>
            <a:ext cx="9476509" cy="5212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6217920"/>
            <a:ext cx="3291840" cy="41148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動畫：figures/dt_vs_real.mp4（30 CLK）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794760" y="6217920"/>
            <a:ext cx="4023360" cy="41148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同一批 UE、同樣軌跡，點的顏色 = SINR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6217920"/>
            <a:ext cx="3867912" cy="411480"/>
          </a:xfrm>
          <a:prstGeom prst="parallelogram">
            <a:avLst/>
          </a:prstGeom>
          <a:solidFill>
            <a:srgbClr val="FDE4DF"/>
          </a:solidFill>
          <a:ln w="12700">
            <a:solidFill>
              <a:srgbClr val="E3867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實網目前為假資料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201168"/>
            <a:ext cx="8714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下一步：從假資料到真實場域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515600" y="109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0" y="338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sim-to-real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8686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一、接入真實資料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673352"/>
            <a:ext cx="1600200" cy="768096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Core／SMO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實網匯出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6459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12848" y="17190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7007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拓樸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029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SMO O1：gNB / DU / RU / Cell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Core：AMF / SMF / UPF / 傳輸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16459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84648" y="17190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17007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負載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029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PM counter：各 cell 連線數、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流量 → 產生 Scenario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56448" y="17190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17007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029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Report / MR / 路測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RSRP、SINR、Throughput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18745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PM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18745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量測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195560" y="1618488"/>
            <a:ext cx="1691640" cy="877824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與 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20240" y="20574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690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9834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408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55280" y="20574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12680" y="20574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1041380" y="2496312"/>
            <a:ext cx="0" cy="384048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2880360"/>
            <a:ext cx="104927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2880360"/>
            <a:ext cx="0" cy="4572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20040" y="292608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29260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二、訓練 AI/ML 效能模型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20040" y="3730752"/>
            <a:ext cx="1600200" cy="768096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Emulator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03120" y="37033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212848" y="37764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560320" y="37581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預訓練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2194560" y="4087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Emulator 隨機產生大量場景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學會物理規律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74920" y="37033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84648" y="37764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532120" y="37581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模型架構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166360" y="4087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UE–cell 二分圖 GNN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吃任意 M、N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046720" y="37033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56448" y="37764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503920" y="37581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實網微調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8138160" y="4087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少量實網 UE Report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sim-to-real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4160520" y="39319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權重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7132320" y="39319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權重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10195560" y="3675888"/>
            <a:ext cx="1691640" cy="877824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AI/ML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效能模型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920240" y="41148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0690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9834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0408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955280" y="41148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10012680" y="41148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4965192" y="33101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介面不變：X → 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057900" y="36210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1041380" y="4553712"/>
            <a:ext cx="0" cy="384048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8640" y="4937760"/>
            <a:ext cx="104927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8640" y="4937760"/>
            <a:ext cx="0" cy="4572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320040" y="498348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7200" y="49834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三、驗收與應用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320040" y="5788152"/>
            <a:ext cx="1600200" cy="768096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AI/ML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效能模型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103120" y="57607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212848" y="58338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560320" y="58155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仿真率驗收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2194560" y="6144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同一套命中條件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baseline 比較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074920" y="57607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184648" y="58338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5532120" y="58155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what-if 推理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5166360" y="6144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改天線、功率、切片、UPF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先在 DT 看效果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046720" y="5760720"/>
            <a:ext cx="19659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156448" y="5833872"/>
            <a:ext cx="274320" cy="274320"/>
          </a:xfrm>
          <a:prstGeom prst="ellipse">
            <a:avLst/>
          </a:prstGeom>
          <a:solidFill>
            <a:srgbClr val="123A6B"/>
          </a:solidFill>
          <a:ln>
            <a:solidFill>
              <a:srgbClr val="123A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8503920" y="5815584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下發建議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8138160" y="6144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 / O1 / A1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 RIC / SMO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4160520" y="59893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合格</a:t>
            </a:r>
            <a:endParaRPr lang="en-US" sz="800" dirty="0"/>
          </a:p>
        </p:txBody>
      </p:sp>
      <p:sp>
        <p:nvSpPr>
          <p:cNvPr id="77" name="Text 75"/>
          <p:cNvSpPr txBox="1"/>
          <p:nvPr/>
        </p:nvSpPr>
        <p:spPr>
          <a:xfrm>
            <a:off x="7132320" y="5989320"/>
            <a:ext cx="822960" cy="365760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10195560" y="5733288"/>
            <a:ext cx="1691640" cy="877824"/>
          </a:xfrm>
          <a:prstGeom prst="parallelogram">
            <a:avLst/>
          </a:prstGeom>
          <a:solidFill>
            <a:srgbClr val="E3F1DC"/>
          </a:solidFill>
          <a:ln w="12700">
            <a:solidFill>
              <a:srgbClr val="7CB66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場域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優化建議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920240" y="61722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40690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49834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70408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7955280" y="6172200"/>
            <a:ext cx="9144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10012680" y="6172200"/>
            <a:ext cx="182880" cy="0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85" name="Text 83"/>
          <p:cNvSpPr txBox="1"/>
          <p:nvPr/>
        </p:nvSpPr>
        <p:spPr>
          <a:xfrm>
            <a:off x="1993392" y="5367528"/>
            <a:ext cx="2185416" cy="310896"/>
          </a:xfrm>
          <a:prstGeom prst="parallelogram">
            <a:avLst/>
          </a:prstGeom>
          <a:solidFill>
            <a:srgbClr val="DDE9F8"/>
          </a:solidFill>
          <a:ln w="12700">
            <a:solidFill>
              <a:srgbClr val="7AA7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0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驗收標準由場域需求決定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086100" y="5678424"/>
            <a:ext cx="0" cy="82296"/>
          </a:xfrm>
          <a:prstGeom prst="line">
            <a:avLst/>
          </a:prstGeom>
          <a:noFill/>
          <a:ln w="15875">
            <a:solidFill>
              <a:srgbClr val="0B0B0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 Digital Twin</dc:title>
  <dc:subject>PptxGenJS Presentation</dc:subject>
  <dc:creator>PptxGenJS</dc:creator>
  <cp:lastModifiedBy>PptxGenJS</cp:lastModifiedBy>
  <cp:revision>1</cp:revision>
  <dcterms:created xsi:type="dcterms:W3CDTF">2026-09-30T04:44:17Z</dcterms:created>
  <dcterms:modified xsi:type="dcterms:W3CDTF">2026-09-30T04:44:17Z</dcterms:modified>
</cp:coreProperties>
</file>