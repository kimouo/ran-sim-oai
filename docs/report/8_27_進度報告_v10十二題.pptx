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332" r:id="rId4"/>
    <p:sldId id="391" r:id="rId5"/>
    <p:sldId id="392" r:id="rId6"/>
    <p:sldId id="394" r:id="rId16"/>
    <p:sldId id="395" r:id="rId17"/>
    <p:sldId id="396" r:id="rId18"/>
    <p:sldId id="397" r:id="rId19"/>
    <p:sldId id="398" r:id="rId20"/>
    <p:sldId id="399" r:id="rId21"/>
    <p:sldId id="400" r:id="rId22"/>
    <p:sldId id="401" r:id="rId23"/>
    <p:sldId id="402" r:id="rId24"/>
    <p:sldId id="403" r:id="rId25"/>
    <p:sldId id="393" r:id="rId7"/>
    <p:sldId id="325" r:id="rId8"/>
    <p:sldId id="404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目錄" id="{46BFBF1B-B2D1-48AF-8DA5-056D75D2AFDD}">
          <p14:sldIdLst>
            <p14:sldId id="256"/>
            <p14:sldId id="257"/>
          </p14:sldIdLst>
        </p14:section>
        <p14:section name="本週進度與成果" id="{88722481-4458-47B8-9FC3-46CAF2CEFC2A}">
          <p14:sldIdLst>
            <p14:sldId id="332"/>
            <p14:sldId id="391"/>
            <p14:sldId id="392"/>
            <p14:sldId id="393"/>
          </p14:sldIdLst>
        </p14:section>
        <p14:section name="問題討論" id="{AE608AC6-9860-4D48-9CFB-7A72212F63E1}">
          <p14:sldIdLst/>
        </p14:section>
        <p14:section name="下週進度規劃與預期成果" id="{110C45DB-8A16-4491-AFF5-6652A4F18330}">
          <p14:sldIdLst>
            <p14:sldId id="325"/>
          </p14:sldIdLst>
        </p14:section>
        <p14:section name="參考資料/文獻" id="{9323E052-3489-4776-B0C5-348091FB5C0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6" roundtripDataSignature="AMtx7mhhBnEAGo8vbriVIWbHZq7/dNB8n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C68462F-314F-23CA-75CD-2878F472933F}" name="Shu Sheng Wang" initials="SW" userId="20e76af2fa6d7525" providerId="Windows Live"/>
  <p188:author id="{7B57B147-8FC0-5194-1C79-34EF26AFFAD2}" name="彥廷 陳" initials="彥陳" userId="5723c54b4ddaed1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32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78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56" Type="http://customschemas.google.com/relationships/presentationmetadata" Target="metadata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Relationship Id="rId61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86062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8919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7bc1bce13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e7bc1bce13_1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887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3213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2857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8515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849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7A961-3932-E37F-D51C-C17FCF211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AD9EB9F-7F80-B1C1-786B-72B876F76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56A11DF-E2C8-64D3-134B-3E929D27F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04347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7"/>
          <p:cNvSpPr txBox="1">
            <a:spLocks noGrp="1"/>
          </p:cNvSpPr>
          <p:nvPr>
            <p:ph type="ctrTitle"/>
          </p:nvPr>
        </p:nvSpPr>
        <p:spPr>
          <a:xfrm>
            <a:off x="685800" y="910307"/>
            <a:ext cx="7848600" cy="144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7"/>
          <p:cNvSpPr txBox="1">
            <a:spLocks noGrp="1"/>
          </p:cNvSpPr>
          <p:nvPr>
            <p:ph type="subTitle" idx="1"/>
          </p:nvPr>
        </p:nvSpPr>
        <p:spPr>
          <a:xfrm>
            <a:off x="685800" y="2733768"/>
            <a:ext cx="5074332" cy="79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97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0" name="Google Shape;20;p97"/>
          <p:cNvCxnSpPr/>
          <p:nvPr/>
        </p:nvCxnSpPr>
        <p:spPr>
          <a:xfrm>
            <a:off x="685800" y="2548890"/>
            <a:ext cx="7848600" cy="119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97"/>
          <p:cNvSpPr txBox="1">
            <a:spLocks noGrp="1"/>
          </p:cNvSpPr>
          <p:nvPr>
            <p:ph type="body" idx="2"/>
          </p:nvPr>
        </p:nvSpPr>
        <p:spPr>
          <a:xfrm>
            <a:off x="5056616" y="3566182"/>
            <a:ext cx="3996444" cy="1080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2100"/>
            </a:lvl1pPr>
            <a:lvl2pPr marL="914400" lvl="1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8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0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4000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492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98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8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98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98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0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0"/>
          <p:cNvSpPr txBox="1">
            <a:spLocks noGrp="1"/>
          </p:cNvSpPr>
          <p:nvPr>
            <p:ph type="body" idx="1"/>
          </p:nvPr>
        </p:nvSpPr>
        <p:spPr>
          <a:xfrm>
            <a:off x="457200" y="1255014"/>
            <a:ext cx="4038600" cy="3538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100"/>
            </a:lvl1pPr>
            <a:lvl2pPr marL="914400" lvl="1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5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39" name="Google Shape;39;p100"/>
          <p:cNvSpPr txBox="1">
            <a:spLocks noGrp="1"/>
          </p:cNvSpPr>
          <p:nvPr>
            <p:ph type="body" idx="2"/>
          </p:nvPr>
        </p:nvSpPr>
        <p:spPr>
          <a:xfrm>
            <a:off x="4648200" y="1255014"/>
            <a:ext cx="4038600" cy="3538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100"/>
            </a:lvl1pPr>
            <a:lvl2pPr marL="914400" lvl="1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5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40" name="Google Shape;40;p100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0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00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100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1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body" idx="2"/>
          </p:nvPr>
        </p:nvSpPr>
        <p:spPr>
          <a:xfrm>
            <a:off x="457200" y="1828800"/>
            <a:ext cx="393192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1pPr>
            <a:lvl2pPr marL="914400" lvl="1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Char char="•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3"/>
          </p:nvPr>
        </p:nvSpPr>
        <p:spPr>
          <a:xfrm>
            <a:off x="4754880" y="1257300"/>
            <a:ext cx="393192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body" idx="4"/>
          </p:nvPr>
        </p:nvSpPr>
        <p:spPr>
          <a:xfrm>
            <a:off x="4754880" y="1828800"/>
            <a:ext cx="393192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1pPr>
            <a:lvl2pPr marL="914400" lvl="1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Char char="•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50" name="Google Shape;50;p101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1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01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3" name="Google Shape;53;p101"/>
          <p:cNvCxnSpPr/>
          <p:nvPr/>
        </p:nvCxnSpPr>
        <p:spPr>
          <a:xfrm rot="5400000">
            <a:off x="2806462" y="3034268"/>
            <a:ext cx="3531870" cy="79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4" name="Google Shape;54;p101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2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2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2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2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102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3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3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3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103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4"/>
          <p:cNvSpPr txBox="1"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4"/>
          <p:cNvSpPr txBox="1">
            <a:spLocks noGrp="1"/>
          </p:cNvSpPr>
          <p:nvPr>
            <p:ph type="body" idx="1"/>
          </p:nvPr>
        </p:nvSpPr>
        <p:spPr>
          <a:xfrm>
            <a:off x="2971800" y="594060"/>
            <a:ext cx="571500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 sz="2100"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9" name="Google Shape;69;p104"/>
          <p:cNvSpPr txBox="1">
            <a:spLocks noGrp="1"/>
          </p:cNvSpPr>
          <p:nvPr>
            <p:ph type="body" idx="2"/>
          </p:nvPr>
        </p:nvSpPr>
        <p:spPr>
          <a:xfrm>
            <a:off x="457201" y="1597915"/>
            <a:ext cx="2139696" cy="318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70" name="Google Shape;70;p104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4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4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3" name="Google Shape;73;p104"/>
          <p:cNvCxnSpPr/>
          <p:nvPr/>
        </p:nvCxnSpPr>
        <p:spPr>
          <a:xfrm rot="5400000">
            <a:off x="684114" y="2684957"/>
            <a:ext cx="4183380" cy="158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4" name="Google Shape;74;p104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5"/>
          <p:cNvSpPr txBox="1"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5"/>
          <p:cNvSpPr>
            <a:spLocks noGrp="1"/>
          </p:cNvSpPr>
          <p:nvPr>
            <p:ph type="pic" idx="2"/>
          </p:nvPr>
        </p:nvSpPr>
        <p:spPr>
          <a:xfrm>
            <a:off x="2858610" y="628651"/>
            <a:ext cx="5904390" cy="4125342"/>
          </a:xfrm>
          <a:prstGeom prst="rect">
            <a:avLst/>
          </a:prstGeom>
          <a:solidFill>
            <a:schemeClr val="lt2"/>
          </a:solidFill>
          <a:ln w="762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12700" dir="5400000" algn="t" rotWithShape="0">
              <a:srgbClr val="000000">
                <a:alpha val="57647"/>
              </a:srgbClr>
            </a:outerShdw>
          </a:effectLst>
        </p:spPr>
      </p:sp>
      <p:sp>
        <p:nvSpPr>
          <p:cNvPr id="78" name="Google Shape;78;p10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2139696" cy="318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pic>
        <p:nvPicPr>
          <p:cNvPr id="79" name="Google Shape;79;p105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5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5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5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6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6"/>
          <p:cNvSpPr txBox="1">
            <a:spLocks noGrp="1"/>
          </p:cNvSpPr>
          <p:nvPr>
            <p:ph type="body" idx="1"/>
          </p:nvPr>
        </p:nvSpPr>
        <p:spPr>
          <a:xfrm rot="5400000">
            <a:off x="2771985" y="-1114635"/>
            <a:ext cx="360003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06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06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6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p106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7"/>
          <p:cNvSpPr txBox="1">
            <a:spLocks noGrp="1"/>
          </p:cNvSpPr>
          <p:nvPr>
            <p:ph type="title"/>
          </p:nvPr>
        </p:nvSpPr>
        <p:spPr>
          <a:xfrm rot="5400000">
            <a:off x="5486610" y="1599990"/>
            <a:ext cx="434298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7"/>
          <p:cNvSpPr txBox="1">
            <a:spLocks noGrp="1"/>
          </p:cNvSpPr>
          <p:nvPr>
            <p:ph type="body" idx="1"/>
          </p:nvPr>
        </p:nvSpPr>
        <p:spPr>
          <a:xfrm rot="5400000">
            <a:off x="1295610" y="-381210"/>
            <a:ext cx="4342981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07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07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07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p107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6"/>
          <p:cNvSpPr/>
          <p:nvPr/>
        </p:nvSpPr>
        <p:spPr>
          <a:xfrm>
            <a:off x="0" y="165589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96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omic Sans MS"/>
              <a:buNone/>
              <a:defRPr sz="30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8" name="Google Shape;8;p9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omic Sans MS"/>
              <a:buChar char="•"/>
              <a:defRPr sz="27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914400" marR="0" lvl="1" indent="-3619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omic Sans MS"/>
              <a:buChar char="•"/>
              <a:defRPr sz="21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omic Sans MS"/>
              <a:buChar char="•"/>
              <a:defRPr sz="19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1828800" marR="0" lvl="3" indent="-3365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omic Sans MS"/>
              <a:buChar char="•"/>
              <a:defRPr sz="17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omic Sans MS"/>
              <a:buChar char="•"/>
              <a:defRPr sz="16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9" name="Google Shape;9;p96"/>
          <p:cNvSpPr/>
          <p:nvPr/>
        </p:nvSpPr>
        <p:spPr>
          <a:xfrm>
            <a:off x="0" y="0"/>
            <a:ext cx="9144000" cy="1655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96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6"/>
          <p:cNvSpPr/>
          <p:nvPr/>
        </p:nvSpPr>
        <p:spPr>
          <a:xfrm>
            <a:off x="6298952" y="4857750"/>
            <a:ext cx="2845048" cy="154893"/>
          </a:xfrm>
          <a:prstGeom prst="rect">
            <a:avLst/>
          </a:prstGeom>
          <a:solidFill>
            <a:srgbClr val="65747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96"/>
          <p:cNvSpPr/>
          <p:nvPr/>
        </p:nvSpPr>
        <p:spPr>
          <a:xfrm>
            <a:off x="-1240" y="4857750"/>
            <a:ext cx="2845048" cy="154893"/>
          </a:xfrm>
          <a:prstGeom prst="rect">
            <a:avLst/>
          </a:prstGeom>
          <a:solidFill>
            <a:srgbClr val="65747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96"/>
          <p:cNvSpPr txBox="1"/>
          <p:nvPr/>
        </p:nvSpPr>
        <p:spPr>
          <a:xfrm>
            <a:off x="2902025" y="4815950"/>
            <a:ext cx="33387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NTUST -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obilizing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nformation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echnology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endParaRPr sz="1100" b="1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9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496" y="3522"/>
            <a:ext cx="1223628" cy="297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9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10468" y="-745"/>
            <a:ext cx="2009119" cy="3377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691100" y="389650"/>
            <a:ext cx="8050564" cy="2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進度報告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 l="34250" t="37759" r="11019" b="25516"/>
          <a:stretch/>
        </p:blipFill>
        <p:spPr>
          <a:xfrm>
            <a:off x="89502" y="4299942"/>
            <a:ext cx="1728192" cy="50353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>
            <a:spLocks noGrp="1"/>
          </p:cNvSpPr>
          <p:nvPr>
            <p:ph type="body" idx="2"/>
          </p:nvPr>
        </p:nvSpPr>
        <p:spPr>
          <a:xfrm>
            <a:off x="4307489" y="3682028"/>
            <a:ext cx="4838247" cy="81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Student: </a:t>
            </a:r>
            <a:r>
              <a:rPr lang="zh-TW" altLang="en-US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台科大 </a:t>
            </a:r>
            <a:endParaRPr lang="en-US" altLang="zh-TW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rPr lang="en-US" sz="1350" b="0" dirty="0">
                <a:latin typeface="Arial" panose="020B0604030504040204" pitchFamily="34" charset="-120"/>
                <a:ea typeface="Microsoft JhengHei" panose="020B0604030504040204" pitchFamily="34" charset="-120"/>
                <a:sym typeface="Comic Sans MS"/>
              </a:rPr>
              <a:t>Date: 2026.08.27 Thu.</a:t>
            </a:r>
            <a:r>
              <a:rPr lang="en-US" sz="1350" b="1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/>
            </a:r>
            <a:r>
              <a:rPr lang="en-US" altLang="zh-TW" sz="13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r>
              <a:rPr lang="en-US" sz="1350" b="1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/>
            </a: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/>
            </a: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r>
              <a:rPr lang="en-US" sz="1350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/>
            </a:r>
            <a:r>
              <a:rPr lang="en-US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/>
            </a:r>
            <a:endParaRPr sz="1350" b="1" dirty="0">
              <a:latin typeface="微軟正黑體" panose="020B0604030504040204" pitchFamily="34" charset="-120"/>
              <a:ea typeface="微軟正黑體" panose="020B0604030504040204" pitchFamily="34" charset="-120"/>
              <a:sym typeface="Comic Sans MS"/>
            </a:endParaRPr>
          </a:p>
          <a:p>
            <a:pPr marL="514350" lvl="0" indent="-5143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National Taiwan University of Science and Technology</a:t>
            </a:r>
            <a:endParaRPr sz="1350" b="1" dirty="0">
              <a:latin typeface="微軟正黑體" panose="020B0604030504040204" pitchFamily="34" charset="-120"/>
              <a:ea typeface="微軟正黑體" panose="020B0604030504040204" pitchFamily="34" charset="-120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7bc1bce13_1_63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Overview</a:t>
            </a: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  <a:sym typeface="Comic Sans MS"/>
            </a:endParaRPr>
          </a:p>
        </p:txBody>
      </p:sp>
      <p:sp>
        <p:nvSpPr>
          <p:cNvPr id="111" name="Google Shape;111;g2e7bc1bce13_1_63"/>
          <p:cNvSpPr txBox="1">
            <a:spLocks noGrp="1"/>
          </p:cNvSpPr>
          <p:nvPr>
            <p:ph type="body" idx="1"/>
          </p:nvPr>
        </p:nvSpPr>
        <p:spPr>
          <a:xfrm>
            <a:off x="457200" y="1047750"/>
            <a:ext cx="8229600" cy="3518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indent="-381000">
              <a:spcBef>
                <a:spcPts val="0"/>
              </a:spcBef>
              <a:buSzPts val="2400"/>
              <a:buAutoNum type="arabicPeriod"/>
            </a:pPr>
            <a:r>
              <a:rPr 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本週進度與成果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381000">
              <a:spcBef>
                <a:spcPts val="0"/>
              </a:spcBef>
              <a:buSzPts val="2400"/>
              <a:buFont typeface="Comic Sans MS"/>
              <a:buAutoNum type="arabicPeriod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下週進度規劃與預期成果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參考資料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文獻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2" name="Google Shape;112;g2e7bc1bce13_1_63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fld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0EE780-989B-9566-7D97-5A65459AB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573" y="1056092"/>
            <a:ext cx="8229600" cy="343218"/>
          </a:xfrm>
        </p:spPr>
        <p:txBody>
          <a:bodyPr>
            <a:noAutofit/>
          </a:bodyPr>
          <a:lstStyle/>
          <a:p>
            <a:pPr marL="552450" lvl="1" indent="0">
              <a:buNone/>
            </a:pPr>
            <a:r>
              <a:rPr lang="zh-TW" altLang="en-US" sz="1400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目前可以模擬的場景</a:t>
            </a:r>
            <a:endParaRPr lang="en-US" altLang="zh-TW" sz="1400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508760"/>
          <a:ext cx="850392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960120"/>
                <a:gridCol w="3246120"/>
                <a:gridCol w="2606040"/>
                <a:gridCol w="1371600"/>
              </a:tblGrid>
              <a:tr h="26376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#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問題名稱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問題原因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預計操作結果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狀態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缺鄰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目標 cell 未入 NRT,UE 換手失敗以重建回流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解析 CGI 後補建關係,RLF 歸零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閉環抽驗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2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換手縫隙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鄰區已入 A3 範圍但 NRT 無關係,UE 滯留劣化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事前偵測補關係(不等 RLF)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離線 fixture + live ADD 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深邊緣缺鄰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深邊緣覆蓋劣化:serving 極弱、鄰區相對強,樣本天然稀疏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改看相對增益+持續性,取代量能門檻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live 重佈 ✅(08/26)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4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未知鄰區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全新 NCGI 出現,任何關係都不指向它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解析並單向建立關係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離線 fixture + live ADD 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PCI 混淆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兩顆不同 NCGI 共用同一 PCI,按 PCI 換手必賭錯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v10 正解:以 CGI 群組換手繞過歧義 + SMO 重規劃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全循環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6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Xn TNL 不通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Xn 傳輸層斷,連 Handover Request 都送不出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止血 → 等修復 → 行為證明恢復(三段)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全循環 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有害鄰居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目標 cell RA 壞/劣質:UE 抵達卻接不進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成對旗標封鎖 + L4 自動恢復探測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全循環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8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頻率關係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異頻鄰區存在但頻率關係未建,整層量測看不見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先補頻率關係,才輪得到 cell 級 ADD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離線 fixture 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NRT 容量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NRT 滿載,新關係加不進來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try-prune:試刪最冷條目騰位(被拒即止)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離線 fixture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10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劣化重指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目標改 PCI、條目存舊值 → 每次換手 CellNotAvailable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REMOVE+ADD 原子重指到正確 PCI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閉環抽驗 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11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殭屍關係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條目長期無人使用(cell 已拆/搬)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雙歸零滿窗才回收;判準是使用量不是年齡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全循環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63772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12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封鎖稽核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關係被無據封鎖(誤操作殘留);旗標不可觀測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由四項行為訊號推論,只修無據、不碰正當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離線 + live 自然發生 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57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0EE780-989B-9566-7D97-5A65459AB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573" y="1056092"/>
            <a:ext cx="8229600" cy="343218"/>
          </a:xfrm>
        </p:spPr>
        <p:txBody>
          <a:bodyPr>
            <a:noAutofit/>
          </a:bodyPr>
          <a:lstStyle/>
          <a:p>
            <a:pPr marL="552450" lvl="1" indent="0">
              <a:buNone/>
            </a:pPr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目前可以模擬的場景|第一題 缺鄰</a:t>
            </a:r>
            <a:endParaRPr lang="en-US" altLang="zh-TW" sz="1400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reestabInboundByPreviousPci ≥0.2/min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A3 想換手卻被 NRT 閘擋下 → 訊號續弱到 T310 逾時 → 宣告 RLF → 就近重建到對向 cell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從同一個 pci 大量重建進來 = 那個方向本來就該有換手路徑;證據落在目標側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bySourceCell 來源歸屬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每筆回報記下「當下」的 serving cell(08/26 改為量測當時,不是查詢當下)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缺鄰要補在「來源→目標」這條有向邊上;沒有來源歸屬只知道有人掉線,不知道該對哪顆 cell 下 ADD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NRT 查無該關係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佈病把 src→nbr 條目從表上刪掉;兩端 cell 與量測全部正常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訊號夠強且持續、表上卻查無 —— 這就是卷面分類一的判準本身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① 請基地台叫 UE 去讀目標的全域識別(CGI)——「REPORTCGI」,解析結果唯一才算數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② 送 ADD 請 gNB 建立這條鄰區關係(只建單向;反向由對方 gNB 自己建)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③ 等 NRT 回讀確認真的寫進去了(推播或下一張快照)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④ 看 UE 開始走新關係、掉線重建歸零 = 真的修好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預計操作結果:解析 CGI 後補建關係,RLF 歸零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268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驗證:閉環抽驗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乾淨重跑:03:24:36 ADD → A3 SUCC 4/0 → RLF 歸零</a:t>
            </a:r>
          </a:p>
        </p:txBody>
      </p:sp>
      <p:sp>
        <p:nvSpPr>
          <p:cNvPr id="8" name="SimInjection"/>
          <p:cNvSpPr/>
          <p:nvPr/>
        </p:nvSpPr>
        <p:spPr>
          <a:xfrm>
            <a:off x="320040" y="4060000"/>
            <a:ext cx="5577840" cy="800000"/>
          </a:xfrm>
          <a:prstGeom prst="roundRect">
            <a:avLst/>
          </a:prstGeom>
          <a:solidFill>
            <a:srgbClr val="44546A"/>
          </a:solidFill>
          <a:ln w="12700">
            <a:solidFill>
              <a:srgbClr val="1CADE4"/>
            </a:solidFill>
          </a:ln>
          <a:effectLst/>
        </p:spPr>
        <p:txBody>
          <a:bodyPr rtlCol="0" anchor="ctr" wrap="square" tIns="45720" bIns="4572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D966"/>
                </a:solidFill>
                <a:latin typeface="Arial"/>
                <a:ea typeface="Microsoft JhengHei"/>
              </a:rPr>
              <a:t>sim 端怎麼把這個病做出來</a:t>
            </a:r>
          </a:p>
          <a:p>
            <a:pPr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Arial"/>
                <a:ea typeface="Microsoft JhengHei"/>
              </a:rPr>
              <a:t>佈病只做一件事:把 NRT 裡 src→nbr 那一條刪掉。關鍵是 sim 的 A3 有 NRT 閘(ANR_REQUIRE_NRT)—— 表上沒有這條關係就不准換手,UE 只能一路撐到訊號低於 Qout、T310 逾時宣告 RLF,再就近重建到對向 cell。所以「掉線重建」不是另外注入的,是缺關係的必然結果,xApp 才有重建統計可以反推缺了哪一條。</a:t>
            </a:r>
          </a:p>
        </p:txBody>
      </p:sp>
    </p:spTree>
    <p:extLst>
      <p:ext uri="{BB962C8B-B14F-4D97-AF65-F5344CB8AC3E}">
        <p14:creationId xmlns:p14="http://schemas.microsoft.com/office/powerpoint/2010/main" val="3660842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0EE780-989B-9566-7D97-5A65459AB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573" y="1056092"/>
            <a:ext cx="8229600" cy="343218"/>
          </a:xfrm>
        </p:spPr>
        <p:txBody>
          <a:bodyPr>
            <a:noAutofit/>
          </a:bodyPr>
          <a:lstStyle/>
          <a:p>
            <a:pPr marL="552450" lvl="1" indent="0">
              <a:buNone/>
            </a:pPr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目前可以模擬的場景|第二題 換手縫隙</a:t>
            </a:r>
            <a:endParaRPr lang="en-US" altLang="zh-TW" sz="1400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gap = serving − 鄰區 ≤ 6dB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UE 位置由 PathSolver 逐點實測挑出:鄰區逼近 serving 但 SINR 仍 ≥ −2,不會掉線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「該換卻沒得換」的訊號差;落在換手等效門檻內才算真候選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RSRP ≥ −85dBm ∧ 率 ≥20/min ∧ 3窗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5 台 UE 沿邊界來回,量測持續進來而非偶發經過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單一窗口撞到不算數,要連續多窗才排除雜訊(卷面 L4 持續性要求)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NRT 查無 + 既有關係否決規則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佈病剪掉 s25→n35,其餘既有關係維持健康高成功率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只有「有具名失敗的既有關係」才可否決建關係;單純沒人用不構成否決理由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① 這題不必等 UE 掉線 —— 量測就看得出「該換卻沒有關係」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② 讀出目標 CGI → 送 ADD 建關係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③ 若該基地台把 ANR 自動建立關掉了:只偵測、不寫入,改送 SMO 請管理面處理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預計操作結果:事前偵測補關係(不等 RLF)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驗證:離線 fixture + live ADD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q2_v1..5(6.1dB 邊界正反)+ 抽驗中 live ADD</a:t>
            </a:r>
          </a:p>
        </p:txBody>
      </p:sp>
      <p:sp>
        <p:nvSpPr>
          <p:cNvPr id="8" name="SimInjection"/>
          <p:cNvSpPr/>
          <p:nvPr/>
        </p:nvSpPr>
        <p:spPr>
          <a:xfrm>
            <a:off x="320040" y="4060000"/>
            <a:ext cx="5577840" cy="800000"/>
          </a:xfrm>
          <a:prstGeom prst="roundRect">
            <a:avLst/>
          </a:prstGeom>
          <a:solidFill>
            <a:srgbClr val="44546A"/>
          </a:solidFill>
          <a:ln w="12700">
            <a:solidFill>
              <a:srgbClr val="1CADE4"/>
            </a:solidFill>
          </a:ln>
          <a:effectLst/>
        </p:spPr>
        <p:txBody>
          <a:bodyPr rtlCol="0" anchor="ctr" wrap="square" tIns="45720" bIns="4572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D966"/>
                </a:solidFill>
                <a:latin typeface="Arial"/>
                <a:ea typeface="Microsoft JhengHei"/>
              </a:rPr>
              <a:t>sim 端怎麼把這個病做出來</a:t>
            </a:r>
          </a:p>
          <a:p>
            <a:pPr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Arial"/>
                <a:ea typeface="Microsoft JhengHei"/>
              </a:rPr>
              <a:t>同樣是剪掉關係,難的是位置:要讓鄰區訊號逼近 serving(進入換手等效門檻)卻又不能讓 UE 掉線,否則就退化成第 1 題。用 PathSolver 逐點實測挑出 gap≈0.1dB、SINR≥−2 的窄窗,再讓 5 台 UE 沿邊界來回維持樣本。自由空間公式在這裡估不準(兩天線主瓣重疊同一走廊),一定要實測。</a:t>
            </a:r>
          </a:p>
        </p:txBody>
      </p:sp>
    </p:spTree>
    <p:extLst>
      <p:ext uri="{BB962C8B-B14F-4D97-AF65-F5344CB8AC3E}">
        <p14:creationId xmlns:p14="http://schemas.microsoft.com/office/powerpoint/2010/main" val="647530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0EE780-989B-9566-7D97-5A65459AB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573" y="1056092"/>
            <a:ext cx="8229600" cy="343218"/>
          </a:xfrm>
        </p:spPr>
        <p:txBody>
          <a:bodyPr>
            <a:noAutofit/>
          </a:bodyPr>
          <a:lstStyle/>
          <a:p>
            <a:pPr marL="552450" lvl="1" indent="0">
              <a:buNone/>
            </a:pPr>
            <a:r>
              <a:rPr lang="zh-TW" altLang="en-US" sz="1400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已完成項目</a:t>
            </a:r>
            <a:endParaRPr lang="en-US" altLang="zh-TW" sz="1400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508760"/>
          <a:ext cx="8503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520"/>
                <a:gridCol w="1965960"/>
                <a:gridCol w="237744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劇本 / 工作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驗法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完成情況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v10 格式遷移(資料契約重構,12 guard 全數改寫)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168 離線測試 + live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完結(35 輪協同)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模組交換窗 + ANR_SCHEMA=v10 切換 + 共存煙霧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20 分靜默四項全零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Q6 Xn TNL:止血→修復→行為恢復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全循環(live 病灶)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RECOVERED succ=0.9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Q7 有害鄰居:成對旗標 + L4 探測/倍增/封頂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全循環(live 病灶)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RECOVERED(流量背書)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Q5 PCI 混淆:Format 3 群組換手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全循環(live 病灶)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EXECUTED 5/5、twc=0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Q11 殭屍關係:四型矩陣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全循環(live 病灶)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含拒後不重試修復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Q1 缺鄰 / Q10 劣化重指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閉環抽驗(live)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ADD→RLF 歸零 / 原子重指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Q2/Q3/Q4/Q8/Q9/Q12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真實疾病 fixture 離線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✅(Q12 另有 live 自然發生)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v10.1:快照新鮮度閘 + confirm() 慣用式(action-2 推播)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離線 + wire 自測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0.1.1 / 0.1.2 上線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442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DE520-AA65-5DA0-F613-112787A3D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C090A8-08EC-93DD-AC27-731B0341A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下週進度規劃與預期成果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4E4FA73-A466-9932-B2D6-96F8156F6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SzPct val="120000"/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accent2"/>
                </a:solidFill>
                <a:latin typeface="+mn-lt"/>
                <a:ea typeface="微軟正黑體"/>
              </a:rPr>
              <a:t>工作規劃</a:t>
            </a:r>
            <a:endParaRPr lang="en-US" altLang="zh-TW" sz="1400" dirty="0">
              <a:solidFill>
                <a:schemeClr val="accent2"/>
              </a:solidFill>
              <a:latin typeface="+mn-lt"/>
              <a:ea typeface="微軟正黑體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DF2152-D5B9-4635-42CC-A44B738FD7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023360"/>
                <a:gridCol w="310896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工作性質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工作規劃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預期成果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開發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資料前處理 xApp(preprocess)方向定案與復工:清洗 v10 觀測資料入獨立庫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v10 資料 → 文件式 JSON 清洗管線(缺值 null + _meta,絕不填 0)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聯合驗證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陪測 sim「CU 重啟 ⇒ 斷流」三層根因修復(E2 訂閱/adapter polling/UE manager)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CU 重啟後全鏈路自癒,無需人工重訂;新鮮度閘 wire 實證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整備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E2AP 版本盤點;觀測資料 ASN.1 化(IndicationMessage Format 3)評估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規範對齊差異清單與工作量估算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319589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目前可以模擬的場景|第三題 深邊緣缺鄰(稀疏樣本)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servingRsrp 中位 ≤ −105dBm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UE 停在 s28 天線零陷內的深邊緣點,live 實測 serving −107.5dBm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「深邊緣」定義在 serving 絕對值,不是距離遠近;拉距離拉不出來,靠場型零陷做到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相對增益 ≥10dB(鄰區 − 同報 serving)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n91 佈在 UE 的 45° 側 → −87.8dBm,較 serving 高 +19.8dB(卷面 +18.5)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判準改看相對增益:絕對值再低,只要比 serving 好 10dB 就值得建關係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樣本稀疏(簽名,不作判準)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本場實測 140/min;要做出卷面的 0.6/min 需 UE 只偶爾經過,與持續窗互斥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卷面明列「以量能門檻過濾」為典型錯誤 —— 稀疏不得作為駁回理由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① 深邊緣本來人就少,不可以因為「量測次數太少」把它駁回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② 目標 CGI 連續抽樣 3 次結果一致才採信 → 送 ADD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③ 若鄰區表已滿,讓第 9 題的容量修剪先處理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預計操作結果:以「相對增益+持續性」取代量能門檻補關係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驗證:live 重佈通過(待收綠)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08/26 依卷面重佈:serving −107.5 ✓、增益 +19.8dB ✓、來源歸屬單一;xApp 07:43 已 ADD 補上關係</a:t>
            </a:r>
          </a:p>
        </p:txBody>
      </p:sp>
      <p:sp>
        <p:nvSpPr>
          <p:cNvPr id="7" name="SimInjection"/>
          <p:cNvSpPr/>
          <p:nvPr/>
        </p:nvSpPr>
        <p:spPr>
          <a:xfrm>
            <a:off x="320040" y="4060000"/>
            <a:ext cx="5577840" cy="800000"/>
          </a:xfrm>
          <a:prstGeom prst="roundRect">
            <a:avLst/>
          </a:prstGeom>
          <a:solidFill>
            <a:srgbClr val="44546A"/>
          </a:solidFill>
          <a:ln w="12700">
            <a:solidFill>
              <a:srgbClr val="1CADE4"/>
            </a:solidFill>
          </a:ln>
          <a:effectLst/>
        </p:spPr>
        <p:txBody>
          <a:bodyPr rtlCol="0" anchor="ctr" wrap="square" tIns="45720" bIns="4572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D966"/>
                </a:solidFill>
                <a:latin typeface="Arial"/>
                <a:ea typeface="Microsoft JhengHei"/>
              </a:rPr>
              <a:t>sim 端怎麼把這個病做出來</a:t>
            </a:r>
          </a:p>
          <a:p>
            <a:pPr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Arial"/>
                <a:ea typeface="Microsoft JhengHei"/>
              </a:rPr>
              <a:t>依卷面重佈(08/26):不動 TX 功率,改用天線場型與幾何。s28 的場型零陷在 ±z 方向,把 UE 停在 (0,−420) 就得到 serving −107.5dBm 的深邊緣;n51/n52 排在同一條 z 軸更遠處,比 serving 還弱,才不會用 A3 把 UE 拉走或搶走駐留;n91 擺在 45° 側取得 +19.8dB 相對增益。n91 另標 cellBarred,否則 UE 一 RLF 就重建過去,深邊緣狀態當場消失。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目前可以模擬的場景|第四題 未知鄰區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NRT 全表查無的 (pci,arfcn)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場景多放一顆 unk_c0(pci 301),且不建任何指向它的關係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「全表查無」才算新面孔;只要出現在既有 targets 裡就不是這題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率 ≥30/min ∧ RSRP ≥ −100dBm ∧ 2窗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UE 走近它,量測強度與回報率都穩定達標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夠強又持續才值得建,避免把偶發雜訊當成新鄰居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既有關係 succ ≥0.95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其餘既有關係維持高成功率,不注入任何失敗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排除「其實是既有關係壞掉」的可能;結果型 KPI 不可單獨當根因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① 先確認這個 (PCI, 頻點) 不在任何既有關係裡 —— 真的是新面孔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② 目標 CGI 抽樣 2 次一致 → 送 ADD 建單向關係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預計操作結果:解析並單向建立關係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驗證:離線 fixture + live ADD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q4_v1..4 + 抽驗中 live ADD(RLF-rank 猜來源已退役)</a:t>
            </a:r>
          </a:p>
        </p:txBody>
      </p:sp>
      <p:sp>
        <p:nvSpPr>
          <p:cNvPr id="7" name="SimInjection"/>
          <p:cNvSpPr/>
          <p:nvPr/>
        </p:nvSpPr>
        <p:spPr>
          <a:xfrm>
            <a:off x="320040" y="4060000"/>
            <a:ext cx="5577840" cy="800000"/>
          </a:xfrm>
          <a:prstGeom prst="roundRect">
            <a:avLst/>
          </a:prstGeom>
          <a:solidFill>
            <a:srgbClr val="44546A"/>
          </a:solidFill>
          <a:ln w="12700">
            <a:solidFill>
              <a:srgbClr val="1CADE4"/>
            </a:solidFill>
          </a:ln>
          <a:effectLst/>
        </p:spPr>
        <p:txBody>
          <a:bodyPr rtlCol="0" anchor="ctr" wrap="square" tIns="45720" bIns="4572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D966"/>
                </a:solidFill>
                <a:latin typeface="Arial"/>
                <a:ea typeface="Microsoft JhengHei"/>
              </a:rPr>
              <a:t>sim 端怎麼把這個病做出來</a:t>
            </a:r>
          </a:p>
          <a:p>
            <a:pPr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Arial"/>
                <a:ea typeface="Microsoft JhengHei"/>
              </a:rPr>
              <a:t>場景多放一顆 unk_c0(pci 301),並確保沒有任何關係指向它 —— cell 真的存在、UE 量得到、CGI 也解得出來,唯獨表上查無。與第 1 題的差別在於這顆是全新的,不是既有關係被刪掉;所以 xApp 必須先確認它不在任何既有 targets 裡,才不會把既有病誤判成新鄰居。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目前可以模擬的場景|第五題 PCI 混淆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cgiResolutionSampling confusion=true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場景讓 west_c7 與 east_c7 兩顆不同 cell 共用 pci=7,UE 在中間兩顆都量得到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同一個 PCI 解出兩個不同 NCGI —— 這就是撞號的直接證據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nrCellIdentityByNcgi 映射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解析結果逐 NCGI 附上 36-bit NR Cell Identity(08/26 新增欄位)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群組換手必須指定「正確那一顆」的全域識別,不能靠 PCI 指路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NRT 消歧:owned 唯一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佈病把來源 mid_c0 的表只留 east 一條(刪掉 west)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消歧唯一才敢動手;兩顆都在或都不在表上時,正解只剩通報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① 先送 SMO:PCI 撞號要靠重新規劃才能根治,xApp 只能止血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② 撞號期間不建關係(會建到錯的那一顆)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③ 改用「群組換手」:條件寫 PCI、目標直接指定正確的 CGI,繞過歧義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④ 確認換錯 cell 的比率 ≤5% 才算有效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預計操作結果:v10 正解:以 CGI 群組換手繞過歧義 + SMO 重規劃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驗證:全循環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02:09:35 EXECUTED 5/5 → twc=0;NO_MATCH=掃動 UE 正常,重試即可</a:t>
            </a:r>
          </a:p>
        </p:txBody>
      </p:sp>
      <p:sp>
        <p:nvSpPr>
          <p:cNvPr id="7" name="SimInjection"/>
          <p:cNvSpPr/>
          <p:nvPr/>
        </p:nvSpPr>
        <p:spPr>
          <a:xfrm>
            <a:off x="320040" y="4060000"/>
            <a:ext cx="5577840" cy="800000"/>
          </a:xfrm>
          <a:prstGeom prst="roundRect">
            <a:avLst/>
          </a:prstGeom>
          <a:solidFill>
            <a:srgbClr val="44546A"/>
          </a:solidFill>
          <a:ln w="12700">
            <a:solidFill>
              <a:srgbClr val="1CADE4"/>
            </a:solidFill>
          </a:ln>
          <a:effectLst/>
        </p:spPr>
        <p:txBody>
          <a:bodyPr rtlCol="0" anchor="ctr" wrap="square" tIns="45720" bIns="4572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D966"/>
                </a:solidFill>
                <a:latin typeface="Arial"/>
                <a:ea typeface="Microsoft JhengHei"/>
              </a:rPr>
              <a:t>sim 端怎麼把這個病做出來</a:t>
            </a:r>
          </a:p>
          <a:p>
            <a:pPr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Arial"/>
                <a:ea typeface="Microsoft JhengHei"/>
              </a:rPr>
              <a:t>撞號直接寫在場景裡:west_c7 與 east_c7 兩顆不同 cell 給同一個 pci=7,UE 在中間的 mid_c0 上兩顆都量得到。佈病再把 mid 的表只留 east(刪掉 west),造出「owned 唯一」—— 這是 xApp 敢下群組換手的前提。若兩顆都在或都不在表上,正解就只剩通報,不得猜。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目前可以模擬的場景|第六題 Xn TNL 不通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HoPrepInterFail(TXnRELOCprepExpiry)佔比 ≥0.8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關係與量測全部正常,只把 xn_x2_established 改成 false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連 Handover Request 都送不出去 = 傳輸層問題,不是鄰居本身壞掉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xnX2Established = false / true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旗標 false 造病、CASE=q6_restore 改回 true 代表管理面把 Xn 接好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旗標只是止血與解除的觸發訊號,本身不能當恢復證據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succ_last50 ≥ 0.9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修好後 A3 恢復,成功率由真實換手一筆一筆累積起來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行為回升才算恢復;UE 靜止不動造成的「零失敗」不算數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① 設 xnBlocklist:關係留著,但禁止拿它當換手目標(止血,不拆線)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② Xn 是管理面的事,xApp 修不了 → 送 SMO 請人修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③ 看到 Xn 恢復就解除封鎖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④ 用「換手成功率回升」證明真的好了 —— 旗標本身不算證據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預計操作結果:止血 → 等修復 → 行為證明恢復(三段)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驗證:全循環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SET(att 5→0)→ CLEAR → 17:07:10 RECOVERED succ=0.9</a:t>
            </a:r>
          </a:p>
        </p:txBody>
      </p:sp>
      <p:sp>
        <p:nvSpPr>
          <p:cNvPr id="7" name="SimInjection"/>
          <p:cNvSpPr/>
          <p:nvPr/>
        </p:nvSpPr>
        <p:spPr>
          <a:xfrm>
            <a:off x="320040" y="4060000"/>
            <a:ext cx="5577840" cy="800000"/>
          </a:xfrm>
          <a:prstGeom prst="roundRect">
            <a:avLst/>
          </a:prstGeom>
          <a:solidFill>
            <a:srgbClr val="44546A"/>
          </a:solidFill>
          <a:ln w="12700">
            <a:solidFill>
              <a:srgbClr val="1CADE4"/>
            </a:solidFill>
          </a:ln>
          <a:effectLst/>
        </p:spPr>
        <p:txBody>
          <a:bodyPr rtlCol="0" anchor="ctr" wrap="square" tIns="45720" bIns="4572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D966"/>
                </a:solidFill>
                <a:latin typeface="Arial"/>
                <a:ea typeface="Microsoft JhengHei"/>
              </a:rPr>
              <a:t>sim 端怎麼把這個病做出來</a:t>
            </a:r>
          </a:p>
          <a:p>
            <a:pPr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Arial"/>
                <a:ea typeface="Microsoft JhengHei"/>
              </a:rPr>
              <a:t>關係、量測、UE 全部正常,只把 xn_x2_established 改成 false。換手 executor 一看 Xn 沒通,就在準備階段回 TXnRELOCprepExpiry —— 連 Handover Request 都送不出去,這正是與第 7 題(執行階段 RA 失敗)的鑑別線。修復用 CASE=q6_restore 把旗標改回 true,代表管理面已把 Xn 接好。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目前可以模擬的場景|第七題 有害鄰居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HoExeInterFail(RandomAccessProblem)主導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檔案熱開關指定 n30_c0 → executor 對該目標每次換手都在執行階段回 RA 失敗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UE 到得了卻接不進 = 鄰居本身有問題;與第 6 題的準備階段失敗分家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succ ≤0.6 ∧ att ≥0.5/min ∧ 樣本 ≥10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由真實 A3 驅動嘗試,不灌假事件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要病重(成功率低)又有流量(樣本足)才動手,避免小樣本誤判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cum 凍結 / att→0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止血後 A3 跳過該目標,換手嘗試自然歸零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失敗累計凍結 + 嘗試歸零 = 封鎖真的生效的行為證據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① 一次設兩個旗標:禁止換過去(hoBlocklist)+ 禁止被刪掉(noRemove,保住失敗歷史)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② 不永久封鎖:時間到自動探測一次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③ 探測又失敗就重新封鎖,間隔加倍(最多 4 倍)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④ 要「乾淨且真的有流量」才判定恢復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預計操作結果:成對旗標封鎖 + L4 自動恢復探測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驗證:全循環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倍增鏈 300→600→1200 封頂 → 19:18:36 RECOVERED(流量背書)</a:t>
            </a:r>
          </a:p>
        </p:txBody>
      </p:sp>
      <p:sp>
        <p:nvSpPr>
          <p:cNvPr id="7" name="SimInjection"/>
          <p:cNvSpPr/>
          <p:nvPr/>
        </p:nvSpPr>
        <p:spPr>
          <a:xfrm>
            <a:off x="320040" y="4060000"/>
            <a:ext cx="5577840" cy="800000"/>
          </a:xfrm>
          <a:prstGeom prst="roundRect">
            <a:avLst/>
          </a:prstGeom>
          <a:solidFill>
            <a:srgbClr val="44546A"/>
          </a:solidFill>
          <a:ln w="12700">
            <a:solidFill>
              <a:srgbClr val="1CADE4"/>
            </a:solidFill>
          </a:ln>
          <a:effectLst/>
        </p:spPr>
        <p:txBody>
          <a:bodyPr rtlCol="0" anchor="ctr" wrap="square" tIns="45720" bIns="4572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D966"/>
                </a:solidFill>
                <a:latin typeface="Arial"/>
                <a:ea typeface="Microsoft JhengHei"/>
              </a:rPr>
              <a:t>sim 端怎麼把這個病做出來</a:t>
            </a:r>
          </a:p>
          <a:p>
            <a:pPr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Arial"/>
                <a:ea typeface="Microsoft JhengHei"/>
              </a:rPr>
              <a:t>Random Access 壞掉:在 tmp/ho_force_fail.txt 寫一行「n30_c0,RandomAccessProblem」,executor 對該目標的每次換手都在執行階段回 RA 失敗(UE 到得了、接不進)。用檔案而不用環境變數,是因為改 env 要重啟容器 —— 會打斷 xApp 的 L4 探測計時,而且 env 曾經跨場景撞名污染到別題。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目前可以模擬的場景|第八題 頻率關係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外來 arfcn 上成批 ≥2 強 PCI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場景放 3 顆 2.1GHz cell,佈病把 3.5G→2.1G 整層關係(3 條)一次砍掉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一次冒出多顆外來頻點的強 PCI = 缺的是整個頻率層,不是單一鄰居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RSRP ≥ −88dBm ∧ 率 ≥20/min ∧ 3窗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UE 位置讓 2.1G 訊號穩定達標;通道計算的干擾只算同頻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夠強又持續才建,避免把偶發的跨頻樣本當成缺層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known_for(src) per-source 頻率集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每個來源 cell 各自維護已知頻點集合,含「完全空表」的病例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空表不得直接跳過 —— 從沒建過任何跨頻關係的 cell 才最需要補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① 先確認這個頻點不在本 cell 已知的頻率清單裡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② 逐個 PCI 讀 CGI(帶上外來頻點)→ 送 ADD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③ 頻率層關係由 gNB 自己長出來,xApp 不用另外建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預計操作結果:先補頻率關係,才輪得到 cell 級 ADD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驗證:離線 fixture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q8_v1..5(空表 bug 由真實 fixture 抓出)</a:t>
            </a:r>
          </a:p>
        </p:txBody>
      </p:sp>
      <p:sp>
        <p:nvSpPr>
          <p:cNvPr id="7" name="SimInjection"/>
          <p:cNvSpPr/>
          <p:nvPr/>
        </p:nvSpPr>
        <p:spPr>
          <a:xfrm>
            <a:off x="320040" y="4060000"/>
            <a:ext cx="5577840" cy="800000"/>
          </a:xfrm>
          <a:prstGeom prst="roundRect">
            <a:avLst/>
          </a:prstGeom>
          <a:solidFill>
            <a:srgbClr val="44546A"/>
          </a:solidFill>
          <a:ln w="12700">
            <a:solidFill>
              <a:srgbClr val="1CADE4"/>
            </a:solidFill>
          </a:ln>
          <a:effectLst/>
        </p:spPr>
        <p:txBody>
          <a:bodyPr rtlCol="0" anchor="ctr" wrap="square" tIns="45720" bIns="4572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D966"/>
                </a:solidFill>
                <a:latin typeface="Arial"/>
                <a:ea typeface="Microsoft JhengHei"/>
              </a:rPr>
              <a:t>sim 端怎麼把這個病做出來</a:t>
            </a:r>
          </a:p>
          <a:p>
            <a:pPr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Arial"/>
                <a:ea typeface="Microsoft JhengHei"/>
              </a:rPr>
              <a:t>場景本來就有 3 顆 2.1GHz cell,佈病把 3.5G→2.1G 的整層關係(3 條)一次砍掉。通道計算的干擾只算同頻,所以 2.1G 這一層對 UE 是「看得到、量得到、就是換不過去」。這題考的是頻率層關係要先補起來,cell 級的 ADD 才輪得到 —— 順序反了就永遠補不進去。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目前可以模擬的場景|第九題 NRT 容量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nrtCapacity.usedByCell ≥ limit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灌入合成關係,把三顆 cell 的鄰區表各自填到 used == limit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容量是 per-cell 概念:總量沒滿不代表某一顆沒滿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候選冷度:meas ≤1/min ∧ att=0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其中放一條零量測、零換手的 x24 當修剪對象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最冷的先刪;還有人在用的條目不能動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REJECTED_PROTECTED 事後拒絕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另放一條 noRemove 的 x25,刪它 CU 一定回絕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v10 看不到 isRemoveAllowed,只能刪下去才知道 → 事後防線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① 挑最冷的條目(沒量測也沒換手)最多 3 條,送 REMOVE 騰位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② 騰出空間後再送 ADD 建新關係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③ 若全被拒(受保護條目)→ 停手送 SMO,不硬刪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④ 這段期間其他分支看到滿載會自動讓路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預計操作結果:try-prune:試刪最冷條目騰位(被拒即止)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驗證:離線 fixture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q9_v1..4(v10 遷移曾漏數的第 6 支重工)</a:t>
            </a:r>
          </a:p>
        </p:txBody>
      </p:sp>
      <p:sp>
        <p:nvSpPr>
          <p:cNvPr id="7" name="SimInjection"/>
          <p:cNvSpPr/>
          <p:nvPr/>
        </p:nvSpPr>
        <p:spPr>
          <a:xfrm>
            <a:off x="320040" y="4060000"/>
            <a:ext cx="5577840" cy="800000"/>
          </a:xfrm>
          <a:prstGeom prst="roundRect">
            <a:avLst/>
          </a:prstGeom>
          <a:solidFill>
            <a:srgbClr val="44546A"/>
          </a:solidFill>
          <a:ln w="12700">
            <a:solidFill>
              <a:srgbClr val="1CADE4"/>
            </a:solidFill>
          </a:ln>
          <a:effectLst/>
        </p:spPr>
        <p:txBody>
          <a:bodyPr rtlCol="0" anchor="ctr" wrap="square" tIns="45720" bIns="4572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D966"/>
                </a:solidFill>
                <a:latin typeface="Arial"/>
                <a:ea typeface="Microsoft JhengHei"/>
              </a:rPr>
              <a:t>sim 端怎麼把這個病做出來</a:t>
            </a:r>
          </a:p>
          <a:p>
            <a:pPr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Arial"/>
                <a:ea typeface="Microsoft JhengHei"/>
              </a:rPr>
              <a:t>灌入合成關係把三顆 cell 的鄰區表各自填到 used == limit(容量是 per-cell,不是全網總量)。裡面刻意混兩種條目:一條零量測零換手的 x24(該被修剪的最冷者),一條 noRemove 的 x25(刪它 CU 一定拒絕)。這樣 try-prune 的兩種結局 —— 騰位成功、被拒停手 —— 在同一場都驗得到。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目前可以模擬的場景|第十題 劣化重指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CellNotAvailable ≥0.5/min 持續 20s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條目 target_pci 留舊值 205、cell 實際已是 233 → 每次換手回 CellNotAvailable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打不到的目標:關係還在,但表裡記的對應已經失真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REPORTCGI 反查 UE 實量 PCI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用 REPORTCGI 反查 UE 實際量到的 PCI,會解回同一個 CGI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解回同一顆 = 該修對應(remap);解回別顆才是新鄰居(第 4 題)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PRB 主導旁路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病本身把 PRB 打到 100%(換手失敗,UE 全塞在來源 cell)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被病汙染的指標不能當排除條件,否則永遠誤判成壅塞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① 先驗證:表裡記的 PCI 若其實還對就不動(避免誤修)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② 確認過期 → 刪舊條目 + 建正確的新條目,同一步完成不留空窗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③ 看換手失敗率消退確認修好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預計操作結果:REMOVE+ADD 原子重指到正確 PCI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268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驗證:閉環抽驗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03:14:56 同秒重指 → pci=233、CNA 歸零、SUCC 恢復</a:t>
            </a:r>
          </a:p>
        </p:txBody>
      </p:sp>
      <p:sp>
        <p:nvSpPr>
          <p:cNvPr id="7" name="SimInjection"/>
          <p:cNvSpPr/>
          <p:nvPr/>
        </p:nvSpPr>
        <p:spPr>
          <a:xfrm>
            <a:off x="320040" y="4060000"/>
            <a:ext cx="5577840" cy="800000"/>
          </a:xfrm>
          <a:prstGeom prst="roundRect">
            <a:avLst/>
          </a:prstGeom>
          <a:solidFill>
            <a:srgbClr val="44546A"/>
          </a:solidFill>
          <a:ln w="12700">
            <a:solidFill>
              <a:srgbClr val="1CADE4"/>
            </a:solidFill>
          </a:ln>
          <a:effectLst/>
        </p:spPr>
        <p:txBody>
          <a:bodyPr rtlCol="0" anchor="ctr" wrap="square" tIns="45720" bIns="4572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D966"/>
                </a:solidFill>
                <a:latin typeface="Arial"/>
                <a:ea typeface="Microsoft JhengHei"/>
              </a:rPr>
              <a:t>sim 端怎麼把這個病做出來</a:t>
            </a:r>
          </a:p>
          <a:p>
            <a:pPr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Arial"/>
                <a:ea typeface="Microsoft JhengHei"/>
              </a:rPr>
              <a:t>Neighbor 還在,但表裡的資訊過期:只把條目的 target_pci 改成舊值 205,而 cell 實際 pci 已經是 233。executor 換手前比對兩者不符,直接回 CellNotAvailable。UE 必須先搬回 s15,A3 才會反覆去撞這條壞掉的對應;不搬的話 att=0、病徵長不出來 —— 這是坑 1 的教訓。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目前可以模擬的場景|第十一題 殭屍關係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measSampleRate=0 ∧ att=0 同步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建 ghost 條目 main→dead_c0,目標 cell 根本不存在 → 兩項天生同時為零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雙歸零才回收;只有一項為零可能只是暫時沒人走那個方向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持續 21600s(6h;測試壓縮 300s)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另留 main→tmp_c0 當單零對照:量得到,但沒人換過去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單零不刪 —— 卷面把「單訊號歸零就刪」明列為典型錯誤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REMOVE_REJECTED 事件(wire)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再建一條 protected 條目,REMOVE 下去 CU 必定拒絕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拒絕事件是 xApp 重啟後重建「不再重試」帳本的唯一料源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① 量測與換手嘗試「同時為零」且持續滿窗,才送 REMOVE 回收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② 被拒(受保護)= 記進「不再重試」帳本 + 送 SMO,絕不重複下手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③ 重啟後靠事件流把帳本補回來,不會忘記自己做過什麼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預計操作結果:雙歸零滿窗才回收;判準是使用量不是年齡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驗證:全循環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四型矩陣:乾淨 REMOVED / 拒後零重發 / 單零不誤刪 / 活躍不碰</a:t>
            </a:r>
          </a:p>
        </p:txBody>
      </p:sp>
      <p:sp>
        <p:nvSpPr>
          <p:cNvPr id="7" name="SimInjection"/>
          <p:cNvSpPr/>
          <p:nvPr/>
        </p:nvSpPr>
        <p:spPr>
          <a:xfrm>
            <a:off x="320040" y="4060000"/>
            <a:ext cx="5577840" cy="800000"/>
          </a:xfrm>
          <a:prstGeom prst="roundRect">
            <a:avLst/>
          </a:prstGeom>
          <a:solidFill>
            <a:srgbClr val="44546A"/>
          </a:solidFill>
          <a:ln w="12700">
            <a:solidFill>
              <a:srgbClr val="1CADE4"/>
            </a:solidFill>
          </a:ln>
          <a:effectLst/>
        </p:spPr>
        <p:txBody>
          <a:bodyPr rtlCol="0" anchor="ctr" wrap="square" tIns="45720" bIns="4572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D966"/>
                </a:solidFill>
                <a:latin typeface="Arial"/>
                <a:ea typeface="Microsoft JhengHei"/>
              </a:rPr>
              <a:t>sim 端怎麼把這個病做出來</a:t>
            </a:r>
          </a:p>
          <a:p>
            <a:pPr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Arial"/>
                <a:ea typeface="Microsoft JhengHei"/>
              </a:rPr>
              <a:t>建 ghost 條目 main→dead_c0:目標 cell 根本不存在,所以量測與換手嘗試天生同時為零。另外建 main→old_c0 並標 protected(驗 REMOVE 被拒的路徑),再留 main→tmp_c0 當單零對照(量得到但沒人換過去,不得誤刪)。三種條目同場,回收判準的三種結局才驗得完整。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 b="1">
                <a:solidFill>
                  <a:srgbClr val="335B74"/>
                </a:solidFill>
                <a:latin typeface="Arial"/>
                <a:ea typeface="Microsoft JhengHei"/>
              </a:rPr>
              <a:t>目前可以模擬的場景|第十二題 封鎖稽核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9164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指標名稱(門檻)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指標模擬方式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指標意義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量測強(≥10/min,≥−95dBm)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兩條關係的量測都很強(UE 就在旁邊,需求真實存在)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先要「有人想去」,才談得上是不是被擋住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att ≡ 0 ∧ hoValidated=false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兩條的旗標設成一模一樣,差別只造在 hoValidated 與失敗史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旗標在 E2 看不到,只能靠行為訊號分辨哪一條該修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cum = 0(無失敗史)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n80 注入 40 筆歷史 RA 失敗;d02 一筆都沒有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有失敗史 = 正當封鎖(不動);沒有 = 無據封鎖(該修)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35040" y="1600200"/>
            <a:ext cx="2788920" cy="1965960"/>
          </a:xfrm>
          <a:prstGeom prst="roundRect">
            <a:avLst/>
          </a:prstGeom>
          <a:solidFill>
            <a:srgbClr val="EFF5F8"/>
          </a:solidFill>
          <a:ln w="12700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35B74"/>
                </a:solidFill>
                <a:latin typeface="Arial"/>
                <a:ea typeface="Microsoft JhengHei"/>
              </a:rPr>
              <a:t>xApp 處置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① 旗標在 E2 看不到,只能從行為推論是不是被無故封鎖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② 判定「無據」→ 成對解除 + 告警 + 確認 UE 真的開始走</a:t>
            </a:r>
          </a:p>
          <a:p>
            <a:pPr>
              <a:spcAft>
                <a:spcPts val="300"/>
              </a:spcAft>
            </a:pPr>
            <a:r>
              <a:rPr sz="800" b="0">
                <a:solidFill>
                  <a:srgbClr val="222A30"/>
                </a:solidFill>
                <a:latin typeface="Arial"/>
                <a:ea typeface="Microsoft JhengHei"/>
              </a:rPr>
              <a:t>③ 判定「正當」(有失敗歷史)→ 看過就好,不動、也不告警</a:t>
            </a:r>
          </a:p>
          <a:p>
            <a:pPr>
              <a:spcAft>
                <a:spcPts val="200"/>
              </a:spcAft>
            </a:pPr>
            <a:r>
              <a:rPr sz="400" b="0">
                <a:latin typeface="Arial"/>
                <a:ea typeface="Microsoft JhengHei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05A60"/>
                </a:solidFill>
                <a:latin typeface="Arial"/>
                <a:ea typeface="Microsoft JhengHei"/>
              </a:rPr>
              <a:t>預計操作結果:由四項行為訊號推論,只修無據、不碰正當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703320"/>
            <a:ext cx="2788920" cy="960120"/>
          </a:xfrm>
          <a:prstGeom prst="roundRect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rial"/>
                <a:ea typeface="Microsoft JhengHei"/>
              </a:rPr>
              <a:t>驗證:離線 + live 自然發生 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Arial"/>
                <a:ea typeface="Microsoft JhengHei"/>
              </a:rPr>
              <a:t>live:正當封鎖不碰(cum 有史)✅;sim hoValidated 已修並回填(08/26),假陽性成因消失,待 RIC 補「新生關係寬限」後重驗</a:t>
            </a:r>
          </a:p>
        </p:txBody>
      </p:sp>
      <p:sp>
        <p:nvSpPr>
          <p:cNvPr id="7" name="SimInjection"/>
          <p:cNvSpPr/>
          <p:nvPr/>
        </p:nvSpPr>
        <p:spPr>
          <a:xfrm>
            <a:off x="320040" y="4060000"/>
            <a:ext cx="5577840" cy="800000"/>
          </a:xfrm>
          <a:prstGeom prst="roundRect">
            <a:avLst/>
          </a:prstGeom>
          <a:solidFill>
            <a:srgbClr val="44546A"/>
          </a:solidFill>
          <a:ln w="12700">
            <a:solidFill>
              <a:srgbClr val="1CADE4"/>
            </a:solidFill>
          </a:ln>
          <a:effectLst/>
        </p:spPr>
        <p:txBody>
          <a:bodyPr rtlCol="0" anchor="ctr" wrap="square" tIns="45720" bIns="4572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D966"/>
                </a:solidFill>
                <a:latin typeface="Arial"/>
                <a:ea typeface="Microsoft JhengHei"/>
              </a:rPr>
              <a:t>sim 端怎麼把這個病做出來</a:t>
            </a:r>
          </a:p>
          <a:p>
            <a:pPr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Arial"/>
                <a:ea typeface="Microsoft JhengHei"/>
              </a:rPr>
              <a:t>兩條關係的旗標設成一模一樣(hoBlocklist+xnBlocklist),差別只造在行為訊號:n80 注入 40 筆歷史 RA 失敗事件並標 hoValidated=true(曾經正常服務過);d02 零失敗史、hoValidated=false。因為 v10 規定旗標在 E2 不可觀測,xApp 只能靠這些行為訊號分辨哪一條該修、哪一條不能碰。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參考資料 / 文獻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03A42"/>
                </a:solidFill>
                <a:latin typeface="Arial"/>
                <a:ea typeface="Microsoft JhengHei"/>
              </a:rPr>
              <a:t>ANR情境測驗_v10.docx(DT-sim 團隊,2026-08)—— 十二題卷面、可用 API、參數定義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03A42"/>
                </a:solidFill>
                <a:latin typeface="Arial"/>
                <a:ea typeface="Microsoft JhengHei"/>
              </a:rPr>
              <a:t>O-RAN.WG3.TS.E2SM-RC-R005-v10.00 —— RC 服務模型(REPORTCGI Style 9、HO Control Style 3、E2NodeInfo Style 3)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03A42"/>
                </a:solidFill>
                <a:latin typeface="Arial"/>
                <a:ea typeface="Microsoft JhengHei"/>
              </a:rPr>
              <a:t>O-RAN.WG3.TS.E2SM-KPM-R005-v08.00 —— KPM 服務模型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03A42"/>
                </a:solidFill>
                <a:latin typeface="Arial"/>
                <a:ea typeface="Microsoft JhengHei"/>
              </a:rPr>
              <a:t>3GPP TS 28.313 —— SON ANR 管理(§6.4.1.3.5 Handover Blocklisting)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03A42"/>
                </a:solidFill>
                <a:latin typeface="Arial"/>
                <a:ea typeface="Microsoft JhengHei"/>
              </a:rPr>
              <a:t>3GPP TS 38.300 §15.3.3 —— NR ANR 功能與 Xn 自建反向關係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03A42"/>
                </a:solidFill>
                <a:latin typeface="Arial"/>
                <a:ea typeface="Microsoft JhengHei"/>
              </a:rPr>
              <a:t>實作與驗測記錄:anr/ANR_十二題完整規格_v10.md、anr/V10_FINAL_REPORT.md(本團隊 repo)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TLab-Version_Wai">
  <a:themeElements>
    <a:clrScheme name="藍色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209</Words>
  <Application>Microsoft Office PowerPoint</Application>
  <PresentationFormat>如螢幕大小 (16:9)</PresentationFormat>
  <Paragraphs>45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微軟正黑體</vt:lpstr>
      <vt:lpstr>Arial</vt:lpstr>
      <vt:lpstr>Comic Sans MS</vt:lpstr>
      <vt:lpstr>MITLab-Version_Wai</vt:lpstr>
      <vt:lpstr>進度報告</vt:lpstr>
      <vt:lpstr>Overview</vt:lpstr>
      <vt:lpstr>本週進度與成果</vt:lpstr>
      <vt:lpstr>本週進度與成果</vt:lpstr>
      <vt:lpstr>本週進度與成果</vt:lpstr>
      <vt:lpstr>本週進度與成果</vt:lpstr>
      <vt:lpstr>下週進度規劃與預期成果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Intent-Based SMO 進度報告</dc:title>
  <dc:creator>yihua</dc:creator>
  <cp:lastModifiedBy>耀慶 黃</cp:lastModifiedBy>
  <cp:revision>11</cp:revision>
  <dcterms:modified xsi:type="dcterms:W3CDTF">2026-08-26T01:12:23Z</dcterms:modified>
</cp:coreProperties>
</file>