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32" r:id="rId4"/>
    <p:sldId id="391" r:id="rId5"/>
    <p:sldId id="392" r:id="rId6"/>
    <p:sldId id="394" r:id="rId16"/>
    <p:sldId id="395" r:id="rId17"/>
    <p:sldId id="396" r:id="rId18"/>
    <p:sldId id="397" r:id="rId19"/>
    <p:sldId id="398" r:id="rId20"/>
    <p:sldId id="399" r:id="rId21"/>
    <p:sldId id="400" r:id="rId22"/>
    <p:sldId id="401" r:id="rId23"/>
    <p:sldId id="402" r:id="rId24"/>
    <p:sldId id="403" r:id="rId25"/>
    <p:sldId id="393" r:id="rId7"/>
    <p:sldId id="325" r:id="rId8"/>
    <p:sldId id="404" r:id="rId2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目錄" id="{46BFBF1B-B2D1-48AF-8DA5-056D75D2AFDD}">
          <p14:sldIdLst>
            <p14:sldId id="256"/>
            <p14:sldId id="257"/>
          </p14:sldIdLst>
        </p14:section>
        <p14:section name="本週進度與成果" id="{88722481-4458-47B8-9FC3-46CAF2CEFC2A}">
          <p14:sldIdLst>
            <p14:sldId id="332"/>
            <p14:sldId id="391"/>
            <p14:sldId id="392"/>
            <p14:sldId id="393"/>
          </p14:sldIdLst>
        </p14:section>
        <p14:section name="問題討論" id="{AE608AC6-9860-4D48-9CFB-7A72212F63E1}">
          <p14:sldIdLst/>
        </p14:section>
        <p14:section name="下週進度規劃與預期成果" id="{110C45DB-8A16-4491-AFF5-6652A4F18330}">
          <p14:sldIdLst>
            <p14:sldId id="325"/>
          </p14:sldIdLst>
        </p14:section>
        <p14:section name="參考資料/文獻" id="{9323E052-3489-4776-B0C5-348091FB5C0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6" roundtripDataSignature="AMtx7mhhBnEAGo8vbriVIWbHZq7/dNB8nQ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C68462F-314F-23CA-75CD-2878F472933F}" name="Shu Sheng Wang" initials="SW" userId="20e76af2fa6d7525" providerId="Windows Live"/>
  <p188:author id="{7B57B147-8FC0-5194-1C79-34EF26AFFAD2}" name="彥廷 陳" initials="彥陳" userId="5723c54b4ddaed17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2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78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56" Type="http://customschemas.google.com/relationships/presentationmetadata" Target="metadata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860623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0" name="Google Shape;10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89193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e7bc1bce13_1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2e7bc1bce13_1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887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3213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285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8515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8849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7A961-3932-E37F-D51C-C17FCF211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9EB9F-7F80-B1C1-786B-72B876F76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56A11DF-E2C8-64D3-134B-3E929D27F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04347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7"/>
          <p:cNvSpPr txBox="1">
            <a:spLocks noGrp="1"/>
          </p:cNvSpPr>
          <p:nvPr>
            <p:ph type="ctrTitle"/>
          </p:nvPr>
        </p:nvSpPr>
        <p:spPr>
          <a:xfrm>
            <a:off x="685800" y="910307"/>
            <a:ext cx="7848600" cy="14454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  <a:defRPr sz="21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7"/>
          <p:cNvSpPr txBox="1">
            <a:spLocks noGrp="1"/>
          </p:cNvSpPr>
          <p:nvPr>
            <p:ph type="subTitle" idx="1"/>
          </p:nvPr>
        </p:nvSpPr>
        <p:spPr>
          <a:xfrm>
            <a:off x="685800" y="2733768"/>
            <a:ext cx="5074332" cy="79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3F3F3F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9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0" name="Google Shape;20;p97"/>
          <p:cNvCxnSpPr/>
          <p:nvPr/>
        </p:nvCxnSpPr>
        <p:spPr>
          <a:xfrm>
            <a:off x="685800" y="2548890"/>
            <a:ext cx="7848600" cy="119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97"/>
          <p:cNvSpPr txBox="1">
            <a:spLocks noGrp="1"/>
          </p:cNvSpPr>
          <p:nvPr>
            <p:ph type="body" idx="2"/>
          </p:nvPr>
        </p:nvSpPr>
        <p:spPr>
          <a:xfrm>
            <a:off x="5056616" y="3566182"/>
            <a:ext cx="3996444" cy="108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00"/>
              <a:buNone/>
              <a:defRPr sz="2100"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98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0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4000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7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9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98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8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98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8" name="Google Shape;28;p98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兩項物件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0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0"/>
          <p:cNvSpPr txBox="1">
            <a:spLocks noGrp="1"/>
          </p:cNvSpPr>
          <p:nvPr>
            <p:ph type="body" idx="1"/>
          </p:nvPr>
        </p:nvSpPr>
        <p:spPr>
          <a:xfrm>
            <a:off x="457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39" name="Google Shape;39;p100"/>
          <p:cNvSpPr txBox="1">
            <a:spLocks noGrp="1"/>
          </p:cNvSpPr>
          <p:nvPr>
            <p:ph type="body" idx="2"/>
          </p:nvPr>
        </p:nvSpPr>
        <p:spPr>
          <a:xfrm>
            <a:off x="4648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40" name="Google Shape;40;p100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0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00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" name="Google Shape;43;p100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對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1"/>
          <p:cNvSpPr txBox="1">
            <a:spLocks noGrp="1"/>
          </p:cNvSpPr>
          <p:nvPr>
            <p:ph type="body" idx="1"/>
          </p:nvPr>
        </p:nvSpPr>
        <p:spPr>
          <a:xfrm>
            <a:off x="45720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body" idx="2"/>
          </p:nvPr>
        </p:nvSpPr>
        <p:spPr>
          <a:xfrm>
            <a:off x="45720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3"/>
          </p:nvPr>
        </p:nvSpPr>
        <p:spPr>
          <a:xfrm>
            <a:off x="475488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body" idx="4"/>
          </p:nvPr>
        </p:nvSpPr>
        <p:spPr>
          <a:xfrm>
            <a:off x="475488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50" name="Google Shape;50;p101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1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01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3" name="Google Shape;53;p101"/>
          <p:cNvCxnSpPr/>
          <p:nvPr/>
        </p:nvCxnSpPr>
        <p:spPr>
          <a:xfrm rot="5400000">
            <a:off x="2806462" y="3034268"/>
            <a:ext cx="3531870" cy="79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4" name="Google Shape;54;p101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2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2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2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2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0" name="Google Shape;60;p102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3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3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0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5" name="Google Shape;65;p103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內容" type="objTx">
  <p:cSld name="OBJECT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4"/>
          <p:cNvSpPr txBox="1">
            <a:spLocks noGrp="1"/>
          </p:cNvSpPr>
          <p:nvPr>
            <p:ph type="title"/>
          </p:nvPr>
        </p:nvSpPr>
        <p:spPr>
          <a:xfrm>
            <a:off x="457200" y="594060"/>
            <a:ext cx="2139696" cy="946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4"/>
          <p:cNvSpPr txBox="1">
            <a:spLocks noGrp="1"/>
          </p:cNvSpPr>
          <p:nvPr>
            <p:ph type="body" idx="1"/>
          </p:nvPr>
        </p:nvSpPr>
        <p:spPr>
          <a:xfrm>
            <a:off x="2971800" y="594060"/>
            <a:ext cx="571500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6pPr>
            <a:lvl7pPr marL="3200400" lvl="6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7pPr>
            <a:lvl8pPr marL="3657600" lvl="7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8pPr>
            <a:lvl9pPr marL="4114800" lvl="8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9" name="Google Shape;69;p104"/>
          <p:cNvSpPr txBox="1">
            <a:spLocks noGrp="1"/>
          </p:cNvSpPr>
          <p:nvPr>
            <p:ph type="body" idx="2"/>
          </p:nvPr>
        </p:nvSpPr>
        <p:spPr>
          <a:xfrm>
            <a:off x="457201" y="1597915"/>
            <a:ext cx="2139696" cy="31827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70" name="Google Shape;70;p104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4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04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3" name="Google Shape;73;p104"/>
          <p:cNvCxnSpPr/>
          <p:nvPr/>
        </p:nvCxnSpPr>
        <p:spPr>
          <a:xfrm rot="5400000">
            <a:off x="684114" y="2684957"/>
            <a:ext cx="4183380" cy="158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74" name="Google Shape;74;p104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圖片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5"/>
          <p:cNvSpPr txBox="1">
            <a:spLocks noGrp="1"/>
          </p:cNvSpPr>
          <p:nvPr>
            <p:ph type="title"/>
          </p:nvPr>
        </p:nvSpPr>
        <p:spPr>
          <a:xfrm>
            <a:off x="457200" y="594360"/>
            <a:ext cx="2142680" cy="948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5"/>
          <p:cNvSpPr>
            <a:spLocks noGrp="1"/>
          </p:cNvSpPr>
          <p:nvPr>
            <p:ph type="pic" idx="2"/>
          </p:nvPr>
        </p:nvSpPr>
        <p:spPr>
          <a:xfrm>
            <a:off x="2858610" y="628651"/>
            <a:ext cx="5904390" cy="4125342"/>
          </a:xfrm>
          <a:prstGeom prst="rect">
            <a:avLst/>
          </a:prstGeom>
          <a:solidFill>
            <a:schemeClr val="lt2"/>
          </a:solidFill>
          <a:ln w="762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12700" dir="5400000" algn="t" rotWithShape="0">
              <a:srgbClr val="000000">
                <a:alpha val="57647"/>
              </a:srgbClr>
            </a:outerShdw>
          </a:effectLst>
        </p:spPr>
      </p:sp>
      <p:sp>
        <p:nvSpPr>
          <p:cNvPr id="78" name="Google Shape;78;p10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2139696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pic>
        <p:nvPicPr>
          <p:cNvPr id="79" name="Google Shape;79;p105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5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5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05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06"/>
          <p:cNvSpPr txBox="1">
            <a:spLocks noGrp="1"/>
          </p:cNvSpPr>
          <p:nvPr>
            <p:ph type="body" idx="1"/>
          </p:nvPr>
        </p:nvSpPr>
        <p:spPr>
          <a:xfrm rot="5400000">
            <a:off x="2771985" y="-1114635"/>
            <a:ext cx="3600031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0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06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6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106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07"/>
          <p:cNvSpPr txBox="1">
            <a:spLocks noGrp="1"/>
          </p:cNvSpPr>
          <p:nvPr>
            <p:ph type="title"/>
          </p:nvPr>
        </p:nvSpPr>
        <p:spPr>
          <a:xfrm rot="5400000">
            <a:off x="5486610" y="1599990"/>
            <a:ext cx="434298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07"/>
          <p:cNvSpPr txBox="1">
            <a:spLocks noGrp="1"/>
          </p:cNvSpPr>
          <p:nvPr>
            <p:ph type="body" idx="1"/>
          </p:nvPr>
        </p:nvSpPr>
        <p:spPr>
          <a:xfrm rot="5400000">
            <a:off x="1295610" y="-381210"/>
            <a:ext cx="4342981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0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07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7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6" name="Google Shape;96;p107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6"/>
          <p:cNvSpPr/>
          <p:nvPr/>
        </p:nvSpPr>
        <p:spPr>
          <a:xfrm>
            <a:off x="0" y="165589"/>
            <a:ext cx="9144000" cy="171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9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omic Sans MS"/>
              <a:buNone/>
              <a:defRPr sz="3000" b="1" i="0" u="none" strike="noStrike" cap="none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8" name="Google Shape;8;p9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4000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Comic Sans MS"/>
              <a:buChar char="•"/>
              <a:defRPr sz="2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L="914400" marR="0" lvl="1" indent="-3619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omic Sans MS"/>
              <a:buChar char="•"/>
              <a:defRPr sz="21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L="1371600" marR="0" lvl="2" indent="-3365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9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L="1828800" marR="0" lvl="3" indent="-3365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omic Sans MS"/>
              <a:buChar char="•"/>
              <a:defRPr sz="16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9" name="Google Shape;9;p96"/>
          <p:cNvSpPr/>
          <p:nvPr/>
        </p:nvSpPr>
        <p:spPr>
          <a:xfrm>
            <a:off x="0" y="0"/>
            <a:ext cx="9144000" cy="1655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9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96"/>
          <p:cNvSpPr/>
          <p:nvPr/>
        </p:nvSpPr>
        <p:spPr>
          <a:xfrm>
            <a:off x="6298952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96"/>
          <p:cNvSpPr/>
          <p:nvPr/>
        </p:nvSpPr>
        <p:spPr>
          <a:xfrm>
            <a:off x="-1240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96"/>
          <p:cNvSpPr txBox="1"/>
          <p:nvPr/>
        </p:nvSpPr>
        <p:spPr>
          <a:xfrm>
            <a:off x="2902025" y="4815950"/>
            <a:ext cx="33387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NTUST -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obilizing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nformation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echnology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Lab</a:t>
            </a:r>
            <a:endParaRPr sz="1100" b="1" i="0" u="none" strike="noStrike" cap="non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Google Shape;14;p9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5496" y="3522"/>
            <a:ext cx="1223628" cy="2975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9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110468" y="-745"/>
            <a:ext cx="2009119" cy="33778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691100" y="389650"/>
            <a:ext cx="8050564" cy="2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進度報告</a:t>
            </a:r>
            <a:endParaRPr lang="en-US" altLang="zh-TW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3" name="Google Shape;103;p1"/>
          <p:cNvPicPr preferRelativeResize="0"/>
          <p:nvPr/>
        </p:nvPicPr>
        <p:blipFill rotWithShape="1">
          <a:blip r:embed="rId3">
            <a:alphaModFix/>
          </a:blip>
          <a:srcRect l="34250" t="37759" r="11019" b="25516"/>
          <a:stretch/>
        </p:blipFill>
        <p:spPr>
          <a:xfrm>
            <a:off x="89502" y="4299942"/>
            <a:ext cx="1728192" cy="5035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"/>
          <p:cNvSpPr txBox="1">
            <a:spLocks noGrp="1"/>
          </p:cNvSpPr>
          <p:nvPr>
            <p:ph type="body" idx="2"/>
          </p:nvPr>
        </p:nvSpPr>
        <p:spPr>
          <a:xfrm>
            <a:off x="4307489" y="3682028"/>
            <a:ext cx="4838247" cy="81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Student: </a:t>
            </a:r>
            <a:r>
              <a:rPr lang="zh-TW" alt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台科大 </a:t>
            </a:r>
            <a:endParaRPr lang="en-US" altLang="zh-TW" sz="13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0" dirty="0">
                <a:latin typeface="Arial" panose="020B0604030504040204" pitchFamily="34" charset="-120"/>
                <a:ea typeface="Microsoft JhengHei" panose="020B0604030504040204" pitchFamily="34" charset="-120"/>
                <a:sym typeface="Comic Sans MS"/>
              </a:rPr>
              <a:t>Date: 2026.08.27 Thu.</a:t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altLang="zh-TW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  <a:p>
            <a:pPr marL="514350" lvl="0" indent="-5143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National Taiwan University of Science and Technology</a:t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7bc1bce13_1_63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Overview</a:t>
            </a:r>
            <a:endParaRPr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  <p:sp>
        <p:nvSpPr>
          <p:cNvPr id="111" name="Google Shape;111;g2e7bc1bce13_1_63"/>
          <p:cNvSpPr txBox="1">
            <a:spLocks noGrp="1"/>
          </p:cNvSpPr>
          <p:nvPr>
            <p:ph type="body" idx="1"/>
          </p:nvPr>
        </p:nvSpPr>
        <p:spPr>
          <a:xfrm>
            <a:off x="457200" y="1047750"/>
            <a:ext cx="8229600" cy="3518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indent="-381000">
              <a:spcBef>
                <a:spcPts val="0"/>
              </a:spcBef>
              <a:buSzPts val="2400"/>
              <a:buAutoNum type="arabicPeriod"/>
            </a:pPr>
            <a:r>
              <a:rPr lang="zh-TW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本週進度與成果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-381000">
              <a:spcBef>
                <a:spcPts val="0"/>
              </a:spcBef>
              <a:buSzPts val="2400"/>
              <a:buFont typeface="Comic Sans MS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文獻</a:t>
            </a:r>
            <a:endParaRPr lang="en-US" altLang="zh-TW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Google Shape;112;g2e7bc1bce13_1_6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目前可以模擬的場景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960120"/>
                <a:gridCol w="3246120"/>
                <a:gridCol w="2606040"/>
                <a:gridCol w="1371600"/>
              </a:tblGrid>
              <a:tr h="26376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#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問題名稱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問題原因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預計操作結果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狀態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表上缺這條關係 → A3 換不了手,UE 撐到掉線才靠重建跳過去(證據在目標側)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 CGI 後補建關係,RLF 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換手縫隙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同樣缺關係,但 UE 還沒掉線 —— 只能從量測面發現(落後 serving ≤6dB 卻查無)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 UE 掉線前就補上;ANR 自動建立被關掉時改走通報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在覆蓋極邊緣、旁邊有明顯更好的 cell 卻不在 NRT;該處人少,樣本天生稀疏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xApp 改看「比 serving 好 ≥10dB 且連 3 窗」而非樣本量 → 解析 CGI → 請 gNB 補關係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4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未知鄰區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全新 NCGI 出現,任何關係都不指向它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解析並單向建立關係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PCI 混淆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兩顆不同 NCGI 共用同一 PCI,按 PCI 換手必賭錯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正解:以 CGI 群組換手繞過歧義 + SMO 重規劃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6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TNL 不通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傳輸層斷,連 Handover Request 都送不出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 → 等修復 → 行為證明恢復(三段)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有害鄰居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cell RA 壞/劣質:UE 抵達卻接不進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成對旗標封鎖 + L4 自動恢復探測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頻率關係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異頻鄰區存在但頻率關係未建,整層量測看不見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先補頻率關係,才輪得到 cell 級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容量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滿載,新關係加不進來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try-prune:試刪最冷條目騰位(被拒即止)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劣化重指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目標改 PCI、條目存舊值 → 每次換手 CellNotAvailable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REMOVE+ADD 原子重指到正確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殭屍關係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條目長期無人使用(cell 已拆/搬)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雙歸零滿窗才回收;判準是使用量不是年齡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封鎖稽核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關係被無據封鎖(誤操作殘留);旗標不可觀測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由四項行為訊號推論,只修無據、不碰正當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157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目前可以模擬的場景|第一題 缺鄰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走到兩顆 cell 的邊界,想換到對面那顆,但鄰區表裡沒有這條關係 —— A3 被擋住,UE 只能撐到訊號斷掉、用「重建」硬跳過去。證據不在來源 cell,而在目標那一側:它收到一堆「從同一個 PCI 重建進來」的 UE。難點:要從目標側的統計反推「該幫誰補關係」,而 PCI 可能撞號,反推前得先消歧。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reestabInboundByPreviousPci ≥0.2/min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A3 想換手卻被 NRT 閘擋下 → 訊號續弱到 T310 逾時 → 宣告 RLF → 就近重建到對向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從同一個 pci 大量重建進來 = 那個方向本來就該有換手路徑;證據落在目標側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bySourceCell 來源歸屬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每筆回報記下「當下」的 serving cell(08/26 改為量測當時,不是查詢當下)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缺鄰要補在「來源→目標」這條有向邊上;沒有來源歸屬只知道有人掉線,不知道該對哪顆 cell 下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查無該關係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 src→nbr 條目從表上刪掉;兩端 cell 與量測全部正常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訊號夠強且持續、表上卻查無 —— 這就是卷面分類一的判準本身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目標 cell 的重建進入速率異常升高,且集中在同一個 previousPCI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消歧:同一 PCI 可能不只一顆(異地同碼)—— 用量測量能確認是哪一顆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讀系統資訊,解出全域識別 CGI,唯一才採信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在「來源 cell」補這條關係(反向由對方 gNB 自建)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等 NRT 回讀確認 → A3 接手換手、掉線重建歸零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預計操作結果:從目標側的重建統計反推出缺哪一條,補上後掉線重建歸零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乾淨重跑:03:24:36 ADD → A3 SUCC 4/0 → RLF 歸零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佈病只做一件事:把 NRT 裡 src→nbr 那一條刪掉。關鍵是 sim 的 A3 有 NRT 閘(ANR_REQUIRE_NRT)—— 表上沒有這條關係就不准換手,UE 只能一路撐到訊號低於 Qout、T310 逾時宣告 RLF,再就近重建到對向 cell。所以「掉線重建」不是另外注入的,是缺關係的必然結果,xApp 才有重建統計可以反推缺了哪一條。</a:t>
            </a:r>
          </a:p>
        </p:txBody>
      </p:sp>
    </p:spTree>
    <p:extLst>
      <p:ext uri="{BB962C8B-B14F-4D97-AF65-F5344CB8AC3E}">
        <p14:creationId xmlns:p14="http://schemas.microsoft.com/office/powerpoint/2010/main" val="3660842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目前可以模擬的場景|第二題 換手縫隙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這題在演什麼:跟第 1 題同一種病(表上缺一條關係),但 UE 還撐得住、沒有掉線 —— 所以完全沒有重建統計可用。證據只剩量測面:某顆 cell 被穩定量到、只落後目前服務 cell 6dB 以內(已達「該換手」的等效門檻),表上卻查無。考點:能不能在 UE 掉線「之前」就發現並補上。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落後 serving ≤ 6dB(換手等效門檻內)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位置由 PathSolver 逐點實測挑出:鄰區逼近 serving 但 SINR 仍 ≥ −2,不會掉線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「該換卻沒得換」的訊號差;落在換手等效門檻內才算真候選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−85dBm ∧ 率 ≥5/min ∧ 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 台 UE 沿邊界來回,量測持續進來而非偶發經過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單一窗口撞到不算數,要連續多窗才排除雜訊(卷面 L4 持續性要求)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查無;既有關係要否決須有具名失敗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佈病剪掉 s25→n35,其餘既有關係維持健康高成功率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只有「有具名失敗的既有關係」才可否決建關係;單純沒人用不構成否決理由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量測面掃描:哪顆 cell 落後 serving ≤6dB 又夠強夠久(不必等掉線)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前置檢查:該基地台的「ANR 自動建立」開關是否開著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開著 → 解析 CGI(抽樣 5 次一致)→ 送 ADD 請 gNB 建關係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關著 → 只偵測不寫入,改送 SMO 請管理面建立(停用 ≠ 禁止改 NRT)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別被既有關係帶偏:成功率難看但樣本不足(如 0.1 次/分)不得當根因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預計操作結果:在 UE 掉線前就從量測面發現並補關係;ANR 停用時改走通報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5 組樣本(含剛好卡在邊界的正例與反例),餵給 xApp 判斷邏輯,全部判對。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同樣是剪掉關係,難的是位置:要讓鄰區訊號逼近 serving(進入換手等效門檻)卻又不能讓 UE 掉線,否則就退化成第 1 題。用 PathSolver 逐點實測挑出 gap≈0.1dB、SINR≥−2 的窄窗,再讓 5 台 UE 沿邊界來回維持樣本。自由空間公式在這裡估不準(兩天線主瓣重疊同一走廊),一定要實測。</a:t>
            </a:r>
          </a:p>
        </p:txBody>
      </p:sp>
    </p:spTree>
    <p:extLst>
      <p:ext uri="{BB962C8B-B14F-4D97-AF65-F5344CB8AC3E}">
        <p14:creationId xmlns:p14="http://schemas.microsoft.com/office/powerpoint/2010/main" val="647530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已完成項目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96596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劇本 / 工作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驗法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完成情況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格式遷移(資料契約重構,12 guard 全數改寫)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168 離線測試 + live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完結(35 輪協同)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模組交換窗 + ANR_SCHEMA=v10 切換 + 共存煙霧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20 分靜默四項全零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Q6 Xn TNL:止血→修復→行為恢復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 succ=0.9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Q7 有害鄰居:成對旗標 + L4 探測/倍增/封頂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RECOVERED(流量背書)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Q5 PCI 混淆:Format 3 群組換手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EXECUTED 5/5、twc=0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Q11 殭屍關係:四型矩陣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含拒後不重試修復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 缺鄰 / Q10 劣化重指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閉環抽驗(live)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ADD→RLF 歸零 / 原子重指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Q2/Q3/Q4/Q8/Q9/Q12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真實疾病 fixture 離線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✅(Q12 另有 live 自然發生)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v10.1:快照新鮮度閘 + confirm() 慣用式(action-2 推播)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wire 自測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0.1.1 / 0.1.2 上線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442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E520-AA65-5DA0-F613-112787A3D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C090A8-08EC-93DD-AC27-731B0341A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E4FA73-A466-9932-B2D6-96F8156F6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SzPct val="120000"/>
              <a:buFont typeface="Arial" panose="020B0604020202020204" pitchFamily="34" charset="0"/>
              <a:buChar char="•"/>
            </a:pPr>
            <a:r>
              <a:rPr lang="zh-TW" altLang="en-US" sz="1400" dirty="0">
                <a:solidFill>
                  <a:schemeClr val="accent2"/>
                </a:solidFill>
                <a:latin typeface="+mn-lt"/>
                <a:ea typeface="微軟正黑體"/>
              </a:rPr>
              <a:t>工作規劃</a:t>
            </a:r>
            <a:endParaRPr lang="en-US" altLang="zh-TW" sz="1400" dirty="0">
              <a:solidFill>
                <a:schemeClr val="accent2"/>
              </a:solidFill>
              <a:latin typeface="+mn-lt"/>
              <a:ea typeface="微軟正黑體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DF2152-D5B9-4635-42CC-A44B738FD7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023360"/>
                <a:gridCol w="310896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工作性質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工作規劃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預期成果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開發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資料前處理 xApp(preprocess)方向定案與復工:清洗 v10 觀測資料入獨立庫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資料 → 文件式 JSON 清洗管線(缺值 null + _meta,絕不填 0)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聯合驗證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陪測 sim「CU 重啟 ⇒ 斷流」三層根因修復(E2 訂閱/adapter polling/UE manager)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 重啟後全鏈路自癒,無需人工重訂;新鮮度閘 wire 實證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E2AP 版本盤點;觀測資料 ASN.1 化(IndicationMessage Format 3)評估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規範對齊差異清單與工作量估算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831958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目前可以模擬的場景|第三題 深邊緣缺鄰(稀疏樣本)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站在服務 cell 的覆蓋極邊緣(訊號只有 −107.5dBm),旁邊有一顆好上 20dB 的 cell,但鄰區表裡沒有這條關係 —— 換不過去,只能撐到掉線重建。難點:深邊緣人少、訊號又天生弱,傳統「樣本要夠多、訊號要夠強」的門檻會直接把它篩掉。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servingRsrp 中位 ≤ −105dBm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停在 s28 天線零陷內的深邊緣點,live 實測 serving −107.5dBm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「深邊緣」定義在 serving 絕對值,不是距離遠近;拉距離拉不出來,靠場型零陷做到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相對增益 ≥10dB(鄰區 − 同報 serving)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n91 佈在 UE 的 45° 側 → −87.8dBm,較 serving 高 +19.8dB(卷面 +18.5)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判準改看相對增益:絕對值再低,只要比 serving 好 10dB 就值得建關係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樣本稀疏(簽名,不作判準)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本場實測 140/min;要做出卷面的 0.6/min 需 UE 只偶爾經過,與持續窗互斥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卷面明列「以量能門檻過濾」為典型錯誤 —— 稀疏不得作為駁回理由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每 5 分鐘算一次:鄰區 RSRP − 同報 serving = 相對增益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連 3 個窗都成立才動手(serving ≤−105、增益 ≥10dB、NRT 查無)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讀目標系統資訊解出 CGI,抽樣 3 次一致才採信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建關係(xApp 不自己寫 NRT),等 NRT 回讀確認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A3 把 UE 換過去、深邊緣狀態消失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預計操作結果:xApp 靠相對增益(而非樣本量)認出深邊緣缺鄰,請 gNB 補上關係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依卷面重佈後實測:serving −107.5dBm ✓、相對增益 +19.8dB ✓;xApp 已認出並補上關係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依卷面重佈(08/26):不動 TX 功率,改用天線場型與幾何。s28 的場型零陷在 ±z 方向,把 UE 停在 (0,−420) 就得到 serving −107.5dBm 的深邊緣;n51/n52 排在同一條 z 軸更遠處,比 serving 還弱,才不會用 A3 把 UE 拉走或搶走駐留;n91 擺在 45° 側取得 +19.8dB 相對增益。n91 另標 cellBarred,否則 UE 一 RLF 就重建過去,深邊緣狀態當場消失。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目前可以模擬的場景|第四題 未知鄰區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這題在演什麼:網路裡冒出一顆全新的 cell(剛開台、或鄰家設備上線),UE 量得到、也解得出它的全域識別,但整張鄰區表裡沒有任何一條指向它。與第 1、2 題的差別:那兩題是「本來該有的關係被漏掉」,這題是「這顆 cell 從來沒被登記過」。所以動手前要先確認它真的不在任何既有關係裡,否則會把既有的病誤判成新鄰居。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全表查無的 (pci,arfcn)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場景多放一顆 unk_c0(pci 301),且不建任何指向它的關係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「全表查無」才算新面孔;只要出現在既有 targets 裡就不是這題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率 ≥5/min ∧ RSRP ≥ −100dBm ∧ 連 2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走近它,量測強度與回報率穩定達標(門檻 08/26 由 30 改回卷面的 5/min)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夠強又持續才值得建,避免把偶發雜訊當成新鄰居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既有關係 succ ≥0.95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其餘既有關係維持高成功率,不注入任何失敗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排除「其實是既有關係壞掉」的可能;結果型 KPI 不可單獨當根因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掃描量測面:某個 (PCI,頻點) 在整張鄰區表裡完全查不到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確認夠強、夠頻繁、連 2 個窗都在(排除偶發雜訊)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確認不是既有關係壞掉:既有關係成功率仍 ≥0.95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REPORTCGI 解出 CGI,抽樣 2 次一致才採信(不一致=撞號,改走第 5 題)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送 ADD 請 gNB 建單向關係(反向由對方 gNB 自建),等 NRT 回讀確認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預計操作結果:認出全新 cell 並補上單向關係;來源 cell 由 bySourceCell 直接讀出,不再用 v8 那套「RLF 率最高者大概就是來源」的排名猜測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4 組樣本,餵給 xApp 判斷邏輯,全部判對。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場景多放一顆 unk_c0(pci 301),並確保沒有任何關係指向它 —— cell 真的存在、UE 量得到、CGI 也解得出來,唯獨表上查無。與第 1 題的差別在於這顆是全新的,不是既有關係被刪掉;所以 xApp 必須先確認它不在任何既有 targets 裡,才不會把既有病誤判成新鄰居。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目前可以模擬的場景|第五題 PCI 混淆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這題在演什麼:兩顆不同的 cell 用了同一個 PCI(實體識別碼只有 1008 個,會撞號)。UE 回報「我看到 PCI 7」時,基地台無法確定指的是哪一顆 —— 照 PCI 換手就是在賭,賭錯就把 UE 送去錯的 cell。難點:要先確定「該換到哪一顆」才敢動作,而 PCI 本身給不出答案。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解析同一 PCI → 兩個不同 CGI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場景讓 west_c7 與 east_c7 兩顆 cell 共用 pci=7,UE 在中間兩顆都量得到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這是撞號的直接證據,但它只說「有歧義」,不會告訴你該選哪一顆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來源鄰區表裡只有其中一顆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佈病把來源 mid_c0 的表只留 east 一條(刪掉 west)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這條既有關係就是依據:它才是 mid 本來就該換過去的鄰居 —— 有它才敢動作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該顆的全域識別碼(NR Cell Identity)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解析結果逐一附上各候選的 36-bit 識別碼(08/26 新增欄位)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換手指令只能填全域識別碼;PCI 正在撞號,拿它指路必然賭錯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發現同一個 PCI 解出兩個不同的 cell → 確認撞號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立刻通報 SMO:根治要重新規劃 PCI,那是管理面的事,xApp 只能止血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撞號期間不建關係 —— 會建到錯的那一顆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查來源的鄰區表:剛好只有一顆在裡面 → 它就是目標;兩顆都在或都不在就不准猜,只通報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下群組換手:條件寫 PCI、目標直接填那顆的全域識別碼,繞過歧義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⑥ 確認換錯 cell 的比率 ≤5%,才算真的有效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預計操作結果:UE 不再賭 PCI,改用全域識別碼直接指定正確的 cell;撞號本身交管理面重新規劃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02:09:35 一次導正 5 台 UE 全數成功,換錯 cell 比率 0;UE 巡迴經過時才抓得到人,沒抓到就下一輪再試,屬正常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撞號直接寫在場景裡:west_c7 與 east_c7 兩顆不同 cell 給同一個 pci=7,UE 在中間的 mid_c0 上兩顆都量得到。佈病再把 mid 的表只留 east(刪掉 west),造出「owned 唯一」—— 這是 xApp 敢下群組換手的前提。若兩顆都在或都不在表上,正解就只剩通報,不得猜。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目前可以模擬的場景|第六題 Xn TNL 不通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HoPrepInterFail(TXnRELOCprepExpiry)佔比 ≥0.8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關係與量測全部正常,只把 xn_x2_established 改成 false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連 Handover Request 都送不出去 = 傳輸層問題,不是鄰居本身壞掉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xnX2Established = false / true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 false 造病、CASE=q6_restore 改回 true 代表管理面把 Xn 接好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旗標只是止血與解除的觸發訊號,本身不能當恢復證據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succ_last50 ≥ 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修好後 A3 恢復,成功率由真實換手一筆一筆累積起來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行為回升才算恢復;UE 靜止不動造成的「零失敗」不算數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設 xnBlocklist:關係留著,但禁止拿它當換手目標(止血,不拆線)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Xn 是管理面的事,xApp 修不了 → 送 SMO 請人修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看到 Xn 恢復就解除封鎖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用「換手成功率回升」證明真的好了 —— 旗標本身不算證據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預計操作結果:止血 → 等修復 → 行為證明恢復(三段)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SET(att 5→0)→ CLEAR → 17:07:10 RECOVERED succ=0.9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關係、量測、UE 全部正常,只把 xn_x2_established 改成 false。換手 executor 一看 Xn 沒通,就在準備階段回 TXnRELOCprepExpiry —— 連 Handover Request 都送不出去,這正是與第 7 題(執行階段 RA 失敗)的鑑別線。修復用 CASE=q6_restore 把旗標改回 true,代表管理面已把 Xn 接好。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目前可以模擬的場景|第七題 有害鄰居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3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8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量到的訊號一切正常,換手也真的發起了,卻在最後一步「接進去」時失敗 —— 目標 cell 的隨機接取程序壞掉了。與第 6 題的分野:第 6 題是連換手請求都送不出去(準備階段),這題是送得出去、UE 也走過去了、就是接不進(執行階段)。難點:所有訊號指標都正常,只能從「失敗原因的分佈」看出來;而且這種病可能自己好,不能一關就永遠關著。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換手失敗集中在「接入失敗」這個原因(佔比高)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在檔案熱開關指名目標 cell,執行器讓每次換手都在執行階段回接入失敗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到得了卻接不進 = 鄰居本身壞掉;與第 6 題的準備階段失敗分家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成功率 ≤0.5 ∧ 嘗試 ≥0.5/min ∧ 樣本 ≥50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由真實 A3 驅動嘗試,不灌假事件;樣本要真的累積到 50 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病重(成功率低)又有人在用(樣本足)才動手,避免兩三筆就誤判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止血後:失敗累計凍結、換手嘗試歸零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封鎖後 A3 自動跳過該目標,嘗試數自然降到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不是靠旗標說了算,而是行為真的變了才算止血生效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失敗集中在接入失敗、成功率夠低、樣本夠多 → 確認是鄰居本身的問題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一次設兩個旗標:禁止換過去 + 禁止被刪掉(保住失敗歷史當證據)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不永久封鎖:時間到自動探測一次,看它是不是已經好了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探測又失敗就重新封鎖,下次間隔加倍(最多 4 倍才封頂)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要「乾淨且真的有流量」才判定恢復 —— 沒人用的安靜不算好了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預計操作結果:封而不刪、定期回頭探測;好了自動放行,沒好就加長間隔再等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封鎖後嘗試數立刻歸零;探測—重封的間隔依序加倍到封頂,病治好後再探測一次、確認有流量且乾淨,才判定恢復(全程約 2 小時)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FFFFFF"/>
                </a:solidFill>
                <a:latin typeface="Arial"/>
                <a:ea typeface="Microsoft JhengHei"/>
              </a:rPr>
              <a:t>這題不是改旗標,是直接注入結果:在 tmp/ho_force_fail.txt 寫一行「n30_c0,RandomAccessProblem」,換手執行器每次換手都讀這個檔,目標中名單就讓這次換手在執行階段失敗、原因填「接入失敗」。為什麼不用物理做:訊號模型算得出 RSRP/SINR,但隨機接取壞掉屬於接取程序層級,模型裡沒有 —— 與其假造成因,不如忠實重現結果。為什麼用檔案不用環境變數:改 env 要重啟容器,會打斷 xApp 長達兩小時的探測計時,而且 env 曾經跨場景撞名污染到別題。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目前可以模擬的場景|第八題 頻率關係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4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這題在演什麼:網路有兩層頻段 —— UE 現在待在 3.5GHz,另一層 2.1GHz 也有基地台。UE 明明量得到 2.1GHz 那層的好幾顆 cell,卻一顆都換不過去,因為鄰區表裡「整層」都沒有。與前幾題的差別:缺的不是某一條關係,是整個頻率層 —— 所以要先讓基地台知道「這個頻點值得量」,個別 cell 的關係才輪得到補。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同一個「外來頻點」上一次出現 ≥2 顆強 PCI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場景佈兩層:3.5GHz 的 s11(服務)+ 2.1GHz 的 f55/f61/f68 三顆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要求成批出現:單獨一顆可能誤讀,一次多顆才代表整層真的在那裡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 ≥ −88dBm ∧ 回報率 ≥5/min ∧ 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位置讓 2.1GHz 訊號穩定達標;干擾計算只算同頻,不會拖累 3.5G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夠強又持續才補,避免把偶發的跨頻樣本當成缺層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這個頻點不在該來源 cell 的「已知頻點清單」裡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清單 = 自己的頻率 + 既有關係涉及的頻率,每顆 cell 各自一份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清單空的(從沒建過跨頻關係)最需要補,卻最容易被程式直接跳過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量測報告裡出現一個不在「這顆 cell 已知頻點清單」裡的頻點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看它上面是不是一次有 2 顆以上夠強的 PCI —— 成批才是整層缺失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確認夠強又持續(連 3 窗),排除偶發經過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對每顆 PCI 解出全域識別碼 → 送 ADD 請 gNB 建關係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頻率層關係由 gNB 自己長出來,xApp 不用另外建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預計操作結果:補上整層跨頻關係,UE 才有機會被分流到另一個頻段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5 組樣本全部判對;其中「該 cell 從沒建過任何跨頻關係」那組,抓出 xApp 會直接跳過不處理的 bug。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00000"/>
            <a:ext cx="5577840" cy="88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50" b="0">
                <a:solidFill>
                  <a:srgbClr val="FFFFFF"/>
                </a:solidFill>
                <a:latin typeface="Arial"/>
                <a:ea typeface="Microsoft JhengHei"/>
              </a:rPr>
              <a:t>場景長這樣:3.5GHz 層有 s11(UE 目前的服務 cell,pci 160)和同頻鄰居 n50(pci 172);2.1GHz 層另外佈了三顆 f55 / f61 / f68(pci 55/61/68),錯落在 s11 周邊 150~240 公尺處。UE 待在 s11 上,五顆 cell 全部量得到。佈病只做一個動作:把 s11 通往那三顆 2.1GHz cell 的關係一次全砍(整層消失),再把 UE 搬回 s11。「看得到卻換不過去」靠兩個機制同時成立:①干擾只算同頻 —— 2.1GHz 的訊號不會拉低 3.5GHz 的 SINR,UE 待著很穩不會掉線,病徵才不會變成別題;②沒有關係 → A3 被鄰區表的閘擋住,想換也換不了。同頻的 s11→n50 關係刻意保持健康,當對照組。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目前可以模擬的場景|第九題 NRT 容量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這題在演什麼:鄰區表有容量上限(本場設每顆 cell 8 條)。三顆 cell 的表都已經塞滿,而旁邊真的有一顆新 cell 需要被加進來 —— 表滿了,加不進去。難點:得先騰位,但「哪一條可以刪」事先看不出來(v10 把「可否移除」這個欄位拿掉了),只能刪下去才知道會不會被拒絕。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某顆 cell 的鄰區表已達上限(8/8)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灌合成條目,把 n60/n61/n62 三顆的表各自填到剛好 8 條滿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容量是每顆 cell 各自算的;全網總數沒滿,不代表某一顆沒滿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修剪候選 = 量測 ≤1/min 且換手嘗試 = 0(最冷)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灌進去的條目指向場景裡根本不存在的 cell,UE 永遠量不到、也不會換過去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「冷」就是沒人在用;最冷的先刪,還有人在用的不能動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刪下去才知道會不會被拒(受保護條目)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其中一條刻意標成受保護,刪它 CU 一定回絕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看不到「可否移除」,所以這是事後防線,不是事前檢查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發現某顆 cell 的鄰區表已滿,而且還有新鄰居需要進來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從表裡挑最冷的(沒量測也沒換手)最多 3 條,送 REMOVE 試著騰位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刪成功 → 空出位子 → 送 ADD 把新鄰居加進來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被拒絕(受保護)→ 不硬刪、不重試,改送 SMO 請人處理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這段期間,其他負責「發現新鄰居」的分支看到這顆滿載會自己不送 ADD,等騰位完成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預計操作結果:先騰位再加人;騰不出來就交給人,不硬幹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兩種結局同一場都驗到:刪掉最冷的騰出位子後成功加入;動到受保護那條則被回絕,xApp 停手改送通報。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00000"/>
            <a:ext cx="5577840" cy="88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50" b="0">
                <a:solidFill>
                  <a:srgbClr val="FFFFFF"/>
                </a:solidFill>
                <a:latin typeface="Arial"/>
                <a:ea typeface="Microsoft JhengHei"/>
              </a:rPr>
              <a:t>場景長這樣:三顆同頻 cell n60 / n61 / n62 一字排開(相距 300 公尺),另有一顆 n77 在北側 200 公尺處 —— 它是「真的該被加進表裡」的新鄰居(UE 量得到,但標成不可駐留,所以只會被當成鄰居看待)。佈病做三件事:①砍掉三顆 cell 通往 n77 的關係,讓它變成待加入的新鄰居;②各灌一條零活動的 x24(可刪)與一條受保護的 x25(刪不掉);③再用合成條目 pad01… 把每顆的表填到剛好 8 條上限。x24 / x25 / pad 指向的 cell 在場景裡都不存在,所以天生零量測、零換手 —— 冷度滿分;而 n77 是真實 cell、有量測,對比就出來了。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目前可以模擬的場景|第十題 劣化重指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4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這題在演什麼:鄰區關係還在,但表裡記的目標 PCI 是舊的(205),那顆 cell 早就改成 233 了。每次 A3 想換手,系統照表去找 205 → 找不到 → 回「目標不可用」。UE 換不過去又沒掉線,就一直卡在原地反覆嘗試。難點有兩個:①這是「該修對應」不是「該建新關係」,兩者處置完全不同;②病本身會把來源 cell 的資源使用率推到滿,很容易被誤判成壅塞而放過。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換手失敗集中在「目標不可用」且持續(≥0.5/min、20 秒以上)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關係裡記的 PCI 留舊值 205、cell 實際是 233;執行器換手前比對不符就回失敗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打不到的目標:關係還在,但表裡的對應已經失真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反查 UE 實際量到的 PCI,解回同一顆 cell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量得到 b07 的真實 PCI 233,解析出的全域識別與表裡那條指的是同一顆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解回同一顆 = 該修對應;解回別顆才是新鄰居(第 4 題)—— 這是兩題的鑑別線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換手嘗試率 &gt; 0(真的有人在試)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 UE 搬回 s15,A3 才會反覆去撞這條壞掉的對應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沒人嘗試就沒有失敗率;嘗試 = 0 的「零失敗」是沒人走,不是健康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① 換手失敗集中在「目標不可用」,而且持續(不是偶發)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② 先驗證再動手:反查 UE 實際量到的 PCI,表裡記的若其實還對就不動(避免誤修)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③ 確認是同一顆 cell 換了 PCI → 刪舊條目 + 建正確的新條目,同一步完成不留空窗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④ 別被資源使用率騙了:換手一直失敗會讓 UE 全塞在來源 cell、把使用率推到滿 —— 那是病的結果不是原因,不得拿它當「這是壅塞、不是鄰區問題」的排除理由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⑤ 看失敗率消退、換手成功恢復,才算修好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預計操作結果:把對應改正(刪舊+建新同一步完成),換手立刻恢復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刪舊條目與建新條目在同一秒完成(不留空窗);對應改正後失敗歸零、換手成功率回升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00000"/>
            <a:ext cx="5577840" cy="88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50" b="0">
                <a:solidFill>
                  <a:srgbClr val="FFFFFF"/>
                </a:solidFill>
                <a:latin typeface="Arial"/>
                <a:ea typeface="Microsoft JhengHei"/>
              </a:rPr>
              <a:t>場景長這樣:兩顆同頻 cell,s15(pci 200)在西、b07(pci 233)在東,相距 300 公尺。UE 在 s15 這側 15 公尺的小範圍來回 —— 訊號好到足以觸發 A3 去換 b07,又不會掉線(A3 門檻刻意調低到 1.0/0.5dB,讓觸發窗落在不會 RLF 的安全區)。佈病只改一個欄位:把 s15→b07 這條關係裡記的目標 PCI 改成舊值 205。執行器換手前會比對「表裡的 PCI」與「cell 實際的 PCI」,不符就回目標不可用 —— 這個比對是真的在算,不是我們填答案。另外必須把 UE 搬回 s15:先跑劇本時 A3 早就趁關係還正常把 UE 換去 b07 了,不搬回來就沒人會去撞這條壞掉的對應,嘗試率 = 0、病徵長不出來(坑 1)。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目前可以模擬的場景|第十一題 殭屍關係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0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這題在演什麼:鄰區表裡留著一條「沒人在用」的關係 —— 對面那顆 cell 可能已經拆站、搬走或改組態。它不會造成故障,但佔著容量上限的一格,而且會誤導後續判斷。難點:怎麼確定「真的沒人用」而不是「剛好這陣子沒人經過」?卷面的答案是:兩個訊號同時為零、而且要連續夠久。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量測樣本率 = 0 且 換手嘗試率 = 0(兩個同時)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建一條指向場景裡不存在的 cell 的關係,UE 永遠量不到、也不會換過去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只有一個為零不算:量測 0 可能只是這方向沒人量到,換手 0 可能只是最近沒人換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持續滿整個窗口:正式 6 小時(測試壓成 5 分鐘)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測試時把窗口 env 壓成 300 秒,判斷邏輯完全一樣,只是不用等 6 小時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6 小時是防手抖:半夜或人少的路段安靜十分鐘很正常,久到 6 小時才算數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刪不掉時,拒絕訊息要真的送到 RIC 那邊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另建一條標成受保護的關係,xApp 來刪時 CU 一定回絕並送出「刪除被拒」事件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看不到「可否移除」,只能刪下去才知道;xApp 重開機後也靠這個事件想起「這條刪不掉」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① 找出量測與換手嘗試同時為零的關係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② 確認它連續滿整個窗口都是零 —— 中間只要動過一次,計時重來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③ 資料缺漏不等於零:沒回報的窗不能當成 0 起算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④ 送 REMOVE 回收這條關係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⑤ 被回絕(受保護)→ 記進「不再重試」名單 + 送 SMO 請人處理,絕不重複下手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⑥ 重開機後靠「刪除被拒」事件把名單補回來,不會忘記自己試過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預計操作結果:把真正沒人用的關係回收,騰出容量;刪不掉的交給人,不重複騷擾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三種條目同一場驗完:該回收的被刪掉、受保護的被回絕且不再重試、單訊號歸零的沒被誤刪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3990000"/>
            <a:ext cx="5577840" cy="89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50" b="0">
                <a:solidFill>
                  <a:srgbClr val="FFFFFF"/>
                </a:solidFill>
                <a:latin typeface="Arial"/>
                <a:ea typeface="Microsoft JhengHei"/>
              </a:rPr>
              <a:t>場景長這樣:main(pci 10)與 keep(pci 40)相距 300 公尺,UE 在兩者之間來回穿越 —— 這兩顆之間的關係一直有真實換手,是「活躍」對照組。另有一顆 tmp 在北側 260 公尺處。佈病建三種條目讓三種結局都驗得到:①main→dead:目標 cell 在場景裡根本不存在,所以量測與換手天生同時為零 —— 這是該被回收的殭屍;②main→old:同樣是空的,但標成受保護,刪它一定被回絕 —— 驗拒絕路徑;③main→tmp:UE 量得到 tmp(所以量測不是零)但沒人換過去(換手是零)—— 這是「單訊號歸零」的對照組,誤刪它就是踩到卷面點名的典型錯誤。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目前可以模擬的場景|第十二題 封鎖稽核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這題在演什麼:有兩條關係都被「封鎖」了(禁止當換手目標)。一條是有道理的 —— 它以前正常服務過,後來一直接入失敗才被封;另一條沒道理 —— 從來沒服務成功過、也沒有任何失敗紀錄,可能是誤操作或舊組態殘留。難點:v10 規定封鎖旗標在 E2 上「看不到」,所以無法直接比對旗標,只能從行為訊號反推哪一條封得沒道理、該解開。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量測很強(≥10/min、≥−95dBm)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就在旁邊來回,對兩顆目標都量得清清楚楚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訊號①:有人想去 —— 沒有需求的話,被封鎖也無所謂,不值得動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換手嘗試 ≡ 0,且從未成功服務過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兩條關係都設成封鎖,A3 直接跳過,所以一次嘗試都不會發生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訊號②③:有需求卻連試都沒試 → 被擋在換手發起之前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過去的失敗紀錄:一條有 40 筆,一條 0 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替其中一條灌 40 筆 6 小時前的接入失敗事件,另一條刻意一筆都不給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訊號④:有失敗史 = 因為它壞了才封(正當);沒有 = 封得沒依據(該解開)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① 旗標在 E2 看不到,只能從行為訊號反推是不是被無故封鎖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② 四個訊號同時成立(量測強、沒人試、從未服務成功、沒有失敗史)→ 判定「封得沒依據」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③ 成對解除封鎖 + 發告警,並確認 UE 真的開始走這條路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④ 有失敗史那條 → 判定「封得有依據」→ 看過就好,不動、也不告警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⑤ 剛建立的新關係天生就符合四個訊號(還沒人用過)—— 要給寬限期,不能當成被封鎖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預計操作結果:只解開沒依據的那條,有失敗史的不碰;新生關係給寬限,不誤判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兩種都判對:沒依據的被解開、有依據的沒被動;hoValidated 欄位今日修好後,誤判成因也排除了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3990000"/>
            <a:ext cx="5577840" cy="89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40" b="0">
                <a:solidFill>
                  <a:srgbClr val="FFFFFF"/>
                </a:solidFill>
                <a:latin typeface="Arial"/>
                <a:ea typeface="Microsoft JhengHei"/>
              </a:rPr>
              <a:t>場景長這樣:s19(pci 240)在中間,UE 在它周邊 ±60 公尺來回;d02(pci 251)在東側 250 公尺、n80(pci 260)在西北 680 公尺處,兩顆 UE 都量得到。佈病的關鍵是「兩條關係的旗標必須一模一樣」—— 都設成封鎖(禁止換手 + 禁止刪除),否則 xApp 只要比對旗標就分得出來,題目就不成立了。差別只造在行為訊號:n80 那條標成「曾經正常服務過」並灌進 40 筆 6 小時前的接入失敗事件(所以它是因為壞了才被封);d02 那條則是「從未服務成功」且一筆失敗紀錄都沒有(所以沒人知道為什麼封它)。最後把 UE 搬回 s19,量測強度才存在 —— 有需求卻零嘗試,矛盾才浮得出來。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參考資料 / 文獻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ANR情境測驗_v10.docx(DT-sim 團隊,2026-08)—— 十二題卷面、可用 API、參數定義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O-RAN.WG3.TS.E2SM-RC-R005-v10.00 —— RC 服務模型(REPORTCGI Style 9、HO Control Style 3、E2NodeInfo Style 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O-RAN.WG3.TS.E2SM-KPM-R005-v08.00 —— KPM 服務模型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28.313 —— SON ANR 管理(§6.4.1.3.5 Handover Blocklisting)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38.300 §15.3.3 —— NR ANR 功能與 Xn 自建反向關係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實作與驗測記錄:anr/ANR_十二題完整規格_v10.md、anr/V10_FINAL_REPORT.md(本團隊 repo)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TLab-Version_Wai">
  <a:themeElements>
    <a:clrScheme name="藍色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209</Words>
  <Application>Microsoft Office PowerPoint</Application>
  <PresentationFormat>如螢幕大小 (16:9)</PresentationFormat>
  <Paragraphs>45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微軟正黑體</vt:lpstr>
      <vt:lpstr>Arial</vt:lpstr>
      <vt:lpstr>Comic Sans MS</vt:lpstr>
      <vt:lpstr>MITLab-Version_Wai</vt:lpstr>
      <vt:lpstr>進度報告</vt:lpstr>
      <vt:lpstr>Overview</vt:lpstr>
      <vt:lpstr>本週進度與成果</vt:lpstr>
      <vt:lpstr>本週進度與成果</vt:lpstr>
      <vt:lpstr>本週進度與成果</vt:lpstr>
      <vt:lpstr>本週進度與成果</vt:lpstr>
      <vt:lpstr>下週進度規劃與預期成果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Intent-Based SMO 進度報告</dc:title>
  <dc:creator>yihua</dc:creator>
  <cp:lastModifiedBy>耀慶 黃</cp:lastModifiedBy>
  <cp:revision>11</cp:revision>
  <dcterms:modified xsi:type="dcterms:W3CDTF">2026-08-26T01:12:23Z</dcterms:modified>
</cp:coreProperties>
</file>