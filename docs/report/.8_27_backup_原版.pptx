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332" r:id="rId4"/>
    <p:sldId id="391" r:id="rId5"/>
    <p:sldId id="392" r:id="rId6"/>
    <p:sldId id="394" r:id="rId16"/>
    <p:sldId id="395" r:id="rId17"/>
    <p:sldId id="396" r:id="rId18"/>
    <p:sldId id="397" r:id="rId19"/>
    <p:sldId id="398" r:id="rId20"/>
    <p:sldId id="399" r:id="rId21"/>
    <p:sldId id="400" r:id="rId22"/>
    <p:sldId id="401" r:id="rId23"/>
    <p:sldId id="402" r:id="rId24"/>
    <p:sldId id="403" r:id="rId25"/>
    <p:sldId id="393" r:id="rId7"/>
    <p:sldId id="325" r:id="rId8"/>
    <p:sldId id="404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目錄" id="{46BFBF1B-B2D1-48AF-8DA5-056D75D2AFDD}">
          <p14:sldIdLst>
            <p14:sldId id="256"/>
            <p14:sldId id="257"/>
          </p14:sldIdLst>
        </p14:section>
        <p14:section name="本週進度與成果" id="{88722481-4458-47B8-9FC3-46CAF2CEFC2A}">
          <p14:sldIdLst>
            <p14:sldId id="332"/>
            <p14:sldId id="391"/>
            <p14:sldId id="392"/>
            <p14:sldId id="393"/>
          </p14:sldIdLst>
        </p14:section>
        <p14:section name="問題討論" id="{AE608AC6-9860-4D48-9CFB-7A72212F63E1}">
          <p14:sldIdLst/>
        </p14:section>
        <p14:section name="下週進度規劃與預期成果" id="{110C45DB-8A16-4491-AFF5-6652A4F18330}">
          <p14:sldIdLst>
            <p14:sldId id="325"/>
          </p14:sldIdLst>
        </p14:section>
        <p14:section name="參考資料/文獻" id="{9323E052-3489-4776-B0C5-348091FB5C0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6" roundtripDataSignature="AMtx7mhhBnEAGo8vbriVIWbHZq7/dNB8n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68462F-314F-23CA-75CD-2878F472933F}" name="Shu Sheng Wang" initials="SW" userId="20e76af2fa6d7525" providerId="Windows Live"/>
  <p188:author id="{7B57B147-8FC0-5194-1C79-34EF26AFFAD2}" name="彥廷 陳" initials="彥陳" userId="5723c54b4ddaed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32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8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56" Type="http://customschemas.google.com/relationships/presentationmetadata" Target="metadata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6062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919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7bc1bce13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e7bc1bce13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87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213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2857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515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849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7A961-3932-E37F-D51C-C17FCF21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D9EB9F-7F80-B1C1-786B-72B876F76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56A11DF-E2C8-64D3-134B-3E929D27F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0434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7"/>
          <p:cNvSpPr txBox="1">
            <a:spLocks noGrp="1"/>
          </p:cNvSpPr>
          <p:nvPr>
            <p:ph type="ctrTitle"/>
          </p:nvPr>
        </p:nvSpPr>
        <p:spPr>
          <a:xfrm>
            <a:off x="685800" y="910307"/>
            <a:ext cx="7848600" cy="144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7"/>
          <p:cNvSpPr txBox="1">
            <a:spLocks noGrp="1"/>
          </p:cNvSpPr>
          <p:nvPr>
            <p:ph type="subTitle" idx="1"/>
          </p:nvPr>
        </p:nvSpPr>
        <p:spPr>
          <a:xfrm>
            <a:off x="685800" y="2733768"/>
            <a:ext cx="5074332" cy="79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9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0" name="Google Shape;20;p97"/>
          <p:cNvCxnSpPr/>
          <p:nvPr/>
        </p:nvCxnSpPr>
        <p:spPr>
          <a:xfrm>
            <a:off x="685800" y="2548890"/>
            <a:ext cx="7848600" cy="11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97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444" cy="108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2100"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8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0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4000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492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8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8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8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98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0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0"/>
          <p:cNvSpPr txBox="1">
            <a:spLocks noGrp="1"/>
          </p:cNvSpPr>
          <p:nvPr>
            <p:ph type="body" idx="1"/>
          </p:nvPr>
        </p:nvSpPr>
        <p:spPr>
          <a:xfrm>
            <a:off x="457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9" name="Google Shape;39;p100"/>
          <p:cNvSpPr txBox="1">
            <a:spLocks noGrp="1"/>
          </p:cNvSpPr>
          <p:nvPr>
            <p:ph type="body" idx="2"/>
          </p:nvPr>
        </p:nvSpPr>
        <p:spPr>
          <a:xfrm>
            <a:off x="4648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" name="Google Shape;40;p100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0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0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00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3"/>
          </p:nvPr>
        </p:nvSpPr>
        <p:spPr>
          <a:xfrm>
            <a:off x="475488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body" idx="4"/>
          </p:nvPr>
        </p:nvSpPr>
        <p:spPr>
          <a:xfrm>
            <a:off x="475488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101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1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1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101"/>
          <p:cNvCxnSpPr/>
          <p:nvPr/>
        </p:nvCxnSpPr>
        <p:spPr>
          <a:xfrm rot="5400000">
            <a:off x="2806462" y="3034268"/>
            <a:ext cx="3531870" cy="79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4" name="Google Shape;54;p101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2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2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2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2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02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3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3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103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4"/>
          <p:cNvSpPr txBox="1"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4"/>
          <p:cNvSpPr txBox="1">
            <a:spLocks noGrp="1"/>
          </p:cNvSpPr>
          <p:nvPr>
            <p:ph type="body" idx="1"/>
          </p:nvPr>
        </p:nvSpPr>
        <p:spPr>
          <a:xfrm>
            <a:off x="2971800" y="594060"/>
            <a:ext cx="571500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9" name="Google Shape;69;p104"/>
          <p:cNvSpPr txBox="1">
            <a:spLocks noGrp="1"/>
          </p:cNvSpPr>
          <p:nvPr>
            <p:ph type="body" idx="2"/>
          </p:nvPr>
        </p:nvSpPr>
        <p:spPr>
          <a:xfrm>
            <a:off x="457201" y="1597915"/>
            <a:ext cx="2139696" cy="318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0" name="Google Shape;70;p104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4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4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104"/>
          <p:cNvCxnSpPr/>
          <p:nvPr/>
        </p:nvCxnSpPr>
        <p:spPr>
          <a:xfrm rot="5400000">
            <a:off x="684114" y="2684957"/>
            <a:ext cx="4183380" cy="15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4" name="Google Shape;74;p104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5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5"/>
          <p:cNvSpPr>
            <a:spLocks noGrp="1"/>
          </p:cNvSpPr>
          <p:nvPr>
            <p:ph type="pic" idx="2"/>
          </p:nvPr>
        </p:nvSpPr>
        <p:spPr>
          <a:xfrm>
            <a:off x="2858610" y="628651"/>
            <a:ext cx="5904390" cy="4125342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12700" dir="5400000" algn="t" rotWithShape="0">
              <a:srgbClr val="000000">
                <a:alpha val="57647"/>
              </a:srgbClr>
            </a:outerShdw>
          </a:effectLst>
        </p:spPr>
      </p:sp>
      <p:sp>
        <p:nvSpPr>
          <p:cNvPr id="78" name="Google Shape;78;p10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139696" cy="318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79" name="Google Shape;79;p105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5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5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5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6"/>
          <p:cNvSpPr txBox="1">
            <a:spLocks noGrp="1"/>
          </p:cNvSpPr>
          <p:nvPr>
            <p:ph type="body" idx="1"/>
          </p:nvPr>
        </p:nvSpPr>
        <p:spPr>
          <a:xfrm rot="5400000">
            <a:off x="2771985" y="-1114635"/>
            <a:ext cx="360003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0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6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6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106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7"/>
          <p:cNvSpPr txBox="1">
            <a:spLocks noGrp="1"/>
          </p:cNvSpPr>
          <p:nvPr>
            <p:ph type="title"/>
          </p:nvPr>
        </p:nvSpPr>
        <p:spPr>
          <a:xfrm rot="5400000">
            <a:off x="5486610" y="1599990"/>
            <a:ext cx="434298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7"/>
          <p:cNvSpPr txBox="1">
            <a:spLocks noGrp="1"/>
          </p:cNvSpPr>
          <p:nvPr>
            <p:ph type="body" idx="1"/>
          </p:nvPr>
        </p:nvSpPr>
        <p:spPr>
          <a:xfrm rot="5400000">
            <a:off x="1295610" y="-381210"/>
            <a:ext cx="434298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0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7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7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107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6"/>
          <p:cNvSpPr/>
          <p:nvPr/>
        </p:nvSpPr>
        <p:spPr>
          <a:xfrm>
            <a:off x="0" y="165589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9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 sz="30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" name="Google Shape;8;p9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omic Sans MS"/>
              <a:buChar char="•"/>
              <a:defRPr sz="2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omic Sans MS"/>
              <a:buChar char="•"/>
              <a:defRPr sz="21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9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mic Sans MS"/>
              <a:buChar char="•"/>
              <a:defRPr sz="16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9" name="Google Shape;9;p96"/>
          <p:cNvSpPr/>
          <p:nvPr/>
        </p:nvSpPr>
        <p:spPr>
          <a:xfrm>
            <a:off x="0" y="0"/>
            <a:ext cx="9144000" cy="165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9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6"/>
          <p:cNvSpPr/>
          <p:nvPr/>
        </p:nvSpPr>
        <p:spPr>
          <a:xfrm>
            <a:off x="6298952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6"/>
          <p:cNvSpPr/>
          <p:nvPr/>
        </p:nvSpPr>
        <p:spPr>
          <a:xfrm>
            <a:off x="-1240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6"/>
          <p:cNvSpPr txBox="1"/>
          <p:nvPr/>
        </p:nvSpPr>
        <p:spPr>
          <a:xfrm>
            <a:off x="2902025" y="4815950"/>
            <a:ext cx="3338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NTUST -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obilizing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nformation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echnology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1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9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496" y="3522"/>
            <a:ext cx="1223628" cy="29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9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10468" y="-745"/>
            <a:ext cx="2009119" cy="337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91100" y="389650"/>
            <a:ext cx="8050564" cy="2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進度報告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l="34250" t="37759" r="11019" b="25516"/>
          <a:stretch/>
        </p:blipFill>
        <p:spPr>
          <a:xfrm>
            <a:off x="89502" y="4299942"/>
            <a:ext cx="1728192" cy="503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>
            <a:spLocks noGrp="1"/>
          </p:cNvSpPr>
          <p:nvPr>
            <p:ph type="body" idx="2"/>
          </p:nvPr>
        </p:nvSpPr>
        <p:spPr>
          <a:xfrm>
            <a:off x="4307489" y="3682028"/>
            <a:ext cx="4838247" cy="81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Student: </a:t>
            </a:r>
            <a:r>
              <a:rPr lang="zh-TW" alt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台科大 </a:t>
            </a:r>
            <a:endParaRPr lang="en-US" altLang="zh-TW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0" dirty="0">
                <a:latin typeface="Arial" panose="020B0604030504040204" pitchFamily="34" charset="-120"/>
                <a:ea typeface="Microsoft JhengHei" panose="020B0604030504040204" pitchFamily="34" charset="-120"/>
                <a:sym typeface="Comic Sans MS"/>
              </a:rPr>
              <a:t>Date: 2026.08.27 Thu.</a:t>
            </a:r>
            <a:r>
              <a:rPr lang="en-US" sz="1350" b="1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altLang="zh-TW" sz="13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r>
              <a:rPr lang="en-US" sz="1350" b="1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  <a:p>
            <a:pPr marL="514350" lvl="0" indent="-5143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National Taiwan University of Science and Technology</a:t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7bc1bce13_1_63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Overview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  <p:sp>
        <p:nvSpPr>
          <p:cNvPr id="111" name="Google Shape;111;g2e7bc1bce13_1_63"/>
          <p:cNvSpPr txBox="1">
            <a:spLocks noGrp="1"/>
          </p:cNvSpPr>
          <p:nvPr>
            <p:ph type="body" idx="1"/>
          </p:nvPr>
        </p:nvSpPr>
        <p:spPr>
          <a:xfrm>
            <a:off x="457200" y="1047750"/>
            <a:ext cx="8229600" cy="351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indent="-381000">
              <a:spcBef>
                <a:spcPts val="0"/>
              </a:spcBef>
              <a:buSzPts val="2400"/>
              <a:buAutoNum type="arabicPeriod"/>
            </a:pPr>
            <a:r>
              <a:rPr 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本週進度與成果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81000">
              <a:spcBef>
                <a:spcPts val="0"/>
              </a:spcBef>
              <a:buSzPts val="2400"/>
              <a:buFont typeface="Comic Sans MS"/>
              <a:buAutoNum type="arabi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下週進度規劃與預期成果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文獻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Google Shape;112;g2e7bc1bce13_1_6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fld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 marL="552450" lvl="1" indent="0">
              <a:buNone/>
            </a:pPr>
            <a:r>
              <a:rPr lang="zh-TW" altLang="en-US" sz="1400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目前可以模擬的場景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508760"/>
          <a:ext cx="85039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960120"/>
                <a:gridCol w="3246120"/>
                <a:gridCol w="2606040"/>
                <a:gridCol w="1371600"/>
              </a:tblGrid>
              <a:tr h="26376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#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問題名稱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問題原因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預計操作結果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狀態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缺鄰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目標 cell 未入 NRT,UE 換手失敗以重建回流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解析 CGI 後補建關係,RLF 歸零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閉環抽驗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2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換手縫隙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鄰區已入 A3 範圍但 NRT 無關係,UE 滯留劣化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事前偵測補關係(不等 RLF)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fixture + live ADD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上行弱覆蓋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DL 正常、UL 功率預算不足,深邊緣掉話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以稀疏簽名提早補關係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fixture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4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未知鄰區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全新 NCGI 出現,任何關係都不指向它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解析並單向建立關係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fixture + live ADD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PCI 混淆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兩顆不同 NCGI 共用同一 PCI,按 PCI 換手必賭錯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 正解:以 CGI 群組換手繞過歧義 + SMO 重規劃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6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Xn TNL 不通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Xn 傳輸層斷,連 Handover Request 都送不出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止血 → 等修復 → 行為證明恢復(三段)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有害鄰居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目標 cell RA 壞/劣質:UE 抵達卻接不進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成對旗標封鎖 + L4 自動恢復探測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8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頻率關係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異頻鄰區存在但頻率關係未建,整層量測看不見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先補頻率關係,才輪得到 cell 級 ADD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fixture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容量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滿載,新關係加不進來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try-prune:試刪最冷條目騰位(被拒即止)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fixture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10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劣化重指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目標改 PCI、條目存舊值 → 每次換手 CellNotAvailable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REMOVE+ADD 原子重指到正確 PCI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閉環抽驗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殭屍關係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條目長期無人使用(cell 已拆/搬)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雙歸零滿窗才回收;判準是使用量不是年齡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72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12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封鎖稽核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關係被無據封鎖(誤操作殘留);旗標不可觀測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由四項行為訊號推論,只修無據、不碰正當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+ live 自然發生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5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 marL="552450" lvl="1" indent="0">
              <a:buNone/>
            </a:pPr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目前可以模擬的場景|第一題 缺鄰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reestabInboundByPreviousPci ≥0.2/min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UE 換到 NRT 沒有的 cell,失敗後重建回流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換手失敗的回流證據(目標側)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bySourceCell 來源歸屬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重建事件帶來源 cell 欄位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定位該補關係的來源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查無該關係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staging 時不建這條關係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缺鄰的直接定義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REPORTCGI 解析(unique)→ anr-add(單向)→ confirm(推播/快照)→ UE 開始走新關係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預計操作結果:解析 CGI 後補建關係,RLF 歸零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268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驗證:閉環抽驗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乾淨重跑:03:24:36 ADD → A3 SUCC 4/0 → RLF 歸零</a:t>
            </a:r>
          </a:p>
        </p:txBody>
      </p:sp>
    </p:spTree>
    <p:extLst>
      <p:ext uri="{BB962C8B-B14F-4D97-AF65-F5344CB8AC3E}">
        <p14:creationId xmlns:p14="http://schemas.microsoft.com/office/powerpoint/2010/main" val="3660842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 marL="552450" lvl="1" indent="0">
              <a:buNone/>
            </a:pPr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目前可以模擬的場景|第二題 換手縫隙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gap = serving − 鄰區 ≤ 6dB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UE 位置使鄰區訊號進逼(邊界例 6.1/5.9dB)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「該換卻沒得換」的訊號差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RSRP ≥ −85dBm ∧ 率 ≥20/min ∧ 3窗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持續量測驅動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不是雜訊、值得建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查無 + 既有關係否決規則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有具名失敗的既有關係才可否決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REPORTCGI → anr-add;anrIntraEnabled=false 時改「偵測+拒寫+SMO」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預計操作結果:事前偵測補關係(不等 RLF)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驗證:離線 fixture + live ADD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q2_v1..5(6.1dB 邊界正反)+ 抽驗中 live ADD</a:t>
            </a:r>
          </a:p>
        </p:txBody>
      </p:sp>
    </p:spTree>
    <p:extLst>
      <p:ext uri="{BB962C8B-B14F-4D97-AF65-F5344CB8AC3E}">
        <p14:creationId xmlns:p14="http://schemas.microsoft.com/office/powerpoint/2010/main" val="64753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 marL="552450" lvl="1" indent="0">
              <a:buNone/>
            </a:pPr>
            <a:r>
              <a:rPr lang="zh-TW" altLang="en-US" sz="1400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已完成項目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508760"/>
          <a:ext cx="8503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1965960"/>
                <a:gridCol w="23774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劇本 / 工作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驗法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完成情況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 格式遷移(資料契約重構,12 guard 全數改寫)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168 離線測試 + live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完結(35 輪協同)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模組交換窗 + ANR_SCHEMA=v10 切換 + 共存煙霧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20 分靜默四項全零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Q6 Xn TNL:止血→修復→行為恢復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RECOVERED succ=0.9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Q7 有害鄰居:成對旗標 + L4 探測/倍增/封頂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RECOVERED(流量背書)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Q5 PCI 混淆:Format 3 群組換手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EXECUTED 5/5、twc=0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Q11 殭屍關係:四型矩陣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含拒後不重試修復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Q1 缺鄰 / Q10 劣化重指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閉環抽驗(live)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ADD→RLF 歸零 / 原子重指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Q2/Q3/Q4/Q8/Q9/Q12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真實疾病 fixture 離線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✅(Q12 另有 live 自然發生)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v10.1:快照新鮮度閘 + confirm() 慣用式(action-2 推播)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+ wire 自測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0.1.1 / 0.1.2 上線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442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E520-AA65-5DA0-F613-112787A3D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C090A8-08EC-93DD-AC27-731B0341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下週進度規劃與預期成果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E4FA73-A466-9932-B2D6-96F8156F6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SzPct val="120000"/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accent2"/>
                </a:solidFill>
                <a:latin typeface="+mn-lt"/>
                <a:ea typeface="微軟正黑體"/>
              </a:rPr>
              <a:t>工作規劃</a:t>
            </a:r>
            <a:endParaRPr lang="en-US" altLang="zh-TW" sz="1400" dirty="0">
              <a:solidFill>
                <a:schemeClr val="accent2"/>
              </a:solidFill>
              <a:latin typeface="+mn-lt"/>
              <a:ea typeface="微軟正黑體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DF2152-D5B9-4635-42CC-A44B738FD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023360"/>
                <a:gridCol w="310896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工作性質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工作規劃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預期成果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開發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資料前處理 xApp(preprocess)方向定案與復工:清洗 v10 觀測資料入獨立庫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 資料 → 文件式 JSON 清洗管線(缺值 null + _meta,絕不填 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聯合驗證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陪測 sim「CU 重啟 ⇒ 斷流」三層根因修復(E2 訂閱/adapter polling/UE manager)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CU 重啟後全鏈路自癒,無需人工重訂;新鮮度閘 wire 實證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整備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E2AP 版本盤點;觀測資料 ASN.1 化(IndicationMessage Format 3)評估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規範對齊差異清單與工作量估算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319589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目前可以模擬的場景|第三題 上行弱覆蓋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量測率 ≤ 0.5× 其他 PCI 中位數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深邊緣 UE 取樣稀疏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稀疏是簽名不是駁回理由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RSRP P90 ≥ −88dBm(邊緣樣本)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UL 預算不對稱建模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只看 P50 會漏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RLF.Drop ≥0.1 同向佐證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掉話注入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病的結果做佐證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REPORTCGI ×3 抽樣一致 → anr-add;容量滿讓 Q9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預計操作結果:以稀疏簽名提早補關係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驗證:離線 fixture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q3_v1..7(含正常對照,最難物理題)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目前可以模擬的場景|第四題 未知鄰區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全表查無的 (pci,arfcn)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sim 新增 cell 不入 NRT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全新鄰居的定義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率 ≥30/min ∧ RSRP ≥ −100dBm ∧ 2窗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強且持續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值得建關係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既有關係 succ ≥0.95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排除「其實是既有病」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REPORTCGI ×2 一致 ∧ novel(不在既有 targets)→ 單向 ADD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預計操作結果:解析並單向建立關係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驗證:離線 fixture + live ADD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q4_v1..4 + 抽驗中 live ADD(RLF-rank 猜來源已退役)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目前可以模擬的場景|第五題 PCI 混淆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cgiResolutionSampling confusion=true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兩 cell 同 PCI 皆在視野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撞號的直接證據(雙 NCGI)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nrCellIdentityByNcgi 映射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per-NCGI 解析(混淆時單值=null)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群組換手 target 的 NCI 依據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消歧:owned 唯一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來源 NRT 只含其一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敢下手的前提;不唯一=SMO-only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SMO + 抑制 ADD + Format 3 群組換手(condition PCI → owned CGI)→ twc ≤0.05 行為確認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預計操作結果:v10 正解:以 CGI 群組換手繞過歧義 + SMO 重規劃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驗證:全循環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02:09:35 EXECUTED 5/5 → twc=0;NO_MATCH=掃動 UE 正常,重試即可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目前可以模擬的場景|第六題 Xn TNL 不通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HoPrepInterFail(TXnRELOCprepExpiry)佔比 ≥0.8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prep 段失敗注入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連 Request 都沒送成 = 非鄰居病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xnX2Established = false / true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Xn 斷 → 修復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止血/解除的觸發(不是證據)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succ_last50 ≥ 0.9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UE 換手恢復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行為恢復的唯一判準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set xnBlocklist(止血)→ SMO(TNL 屬管理面)→ xn=true 觸發 clear → 行為確認(1800s 窗)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預計操作結果:止血 → 等修復 → 行為證明恢復(三段)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驗證:全循環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SET(att 5→0)→ CLEAR → 17:07:10 RECOVERED succ=0.9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目前可以模擬的場景|第七題 有害鄰居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HoExeInterFail(RandomAccessProblem)主導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exe 段失敗注入(cell 級)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UE 到了接不進 = 鄰居病(與 Q6 的鑑別刀)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succ ≤0.6 ∧ att ≥0.5/min ∧ 樣本 ≥10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真實 A3 驅動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病重且有流量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cum 凍結 / att→0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止血生效的行為證據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hoBlocklist+noRemove 成對 → L4:到期探測、失敗再現重封(倍增封頂 4×)、乾淨+流量背書才恢復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預計操作結果:成對旗標封鎖 + L4 自動恢復探測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驗證:全循環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倍增鏈 300→600→1200 封頂 → 19:18:36 RECOVERED(流量背書)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目前可以模擬的場景|第八題 頻率關係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外來 arfcn 上成批 ≥2 強 PCI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異頻鄰區佈署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頻率層缺失的簽名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RSRP ≥ −88dBm ∧ 率 ≥20/min ∧ 3窗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持續量測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不是雜訊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known_for(src) per-source 頻率集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含空表病例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空表不得 early-return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逐 PCI REPORTCGI(帶外來 arfcn)→ ADD;frequencyRelations 由 gNB 自動長出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預計操作結果:先補頻率關係,才輪得到 cell 級 ADD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驗證:離線 fixture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q8_v1..5(空表 bug 由真實 fixture 抓出)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目前可以模擬的場景|第九題 NRT 容量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nrtCapacity.usedByCell ≥ limit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滿載 staging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容量事實(per-cell)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候選冷度:meas ≤1/min ∧ att=0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修剪對象(最冷者先)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REJECTED_PROTECTED 事後拒絕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protected 條目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 無 isRemoveAllowed 可觀測 → 事後防線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挑最冷 REMOVE(至多 3 候選)→ 騰位 ADD;全拒 → SMO;discovery 分支見滿載自我抑制讓路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預計操作結果:try-prune:試刪最冷條目騰位(被拒即止)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驗證:離線 fixture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q9_v1..4(v10 遷移曾漏數的第 6 支重工)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目前可以模擬的場景|第十題 劣化重指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CellNotAvailable ≥0.5/min 持續 20s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目標 PCI 變更、條目殘留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打不到的目標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REPORTCGI 反查 UE 實量 PCI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解回同 CGI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= remap 而非新鄰居(鑑別線)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PRB 主導旁路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病把 PRB 打到 100%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汙染指標不得當排除閘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verify-first(storedPci 仍對→不修)→ REMOVE(stale-pci)+ADD 原子 → 失敗率消退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預計操作結果:REMOVE+ADD 原子重指到正確 PCI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268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驗證:閉環抽驗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03:14:56 同秒重指 → pci=233、CNA 歸零、SUCC 恢復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目前可以模擬的場景|第十一題 殭屍關係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measSampleRate=0 ∧ att=0 同步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殭屍關係無流量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雙歸零(單零不刪 —— 卷面明列典型錯)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持續 21600s(6h;測試壓縮 300s)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防手抖/防暫時靜默;缺值≠0 不得起算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REMOVE_REJECTED 事件(wire)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protected 拒刪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不重試帳本的回填料源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REMOVE(aging);被拒 = SMO + 入不重試帳本絕不重試(重啟由事件回填,不失憶)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預計操作結果:雙歸零滿窗才回收;判準是使用量不是年齡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驗證:全循環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四型矩陣:乾淨 REMOVED / 拒後零重發 / 單零不誤刪 / 活躍不碰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目前可以模擬的場景|第十二題 封鎖稽核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量測強(≥10/min,≥−95dBm)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有人想去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訊號① 需求存在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att ≡ 0 ∧ hoValidated=false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沒人去成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訊號②③ 被擋在準備之前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cum = 0(無失敗史)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訊號④ 封鎖無依據;有史=正當(不動不告警)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22A30"/>
                </a:solidFill>
                <a:latin typeface="Arial"/>
                <a:ea typeface="Microsoft JhengHei"/>
              </a:rPr>
              <a:t>無據 → 成對 FLAG_CLEAR 修復 + 告警 + 行為確認;正當 → 已檢視、不動、不入 /alarms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預計操作結果:由四項行為訊號推論,只修無據、不碰正當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驗證:離線 + live 自然發生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live 三例:正當不碰 ×2、無據修復 ×2(五條同輪)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參考資料 / 文獻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ANR情境測驗_v10.docx(DT-sim 團隊,2026-08)—— 十二題卷面、可用 API、參數定義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O-RAN.WG3.TS.E2SM-RC-R005-v10.00 —— RC 服務模型(REPORTCGI Style 9、HO Control Style 3、E2NodeInfo Style 3)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O-RAN.WG3.TS.E2SM-KPM-R005-v08.00 —— KPM 服務模型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3GPP TS 28.313 —— SON ANR 管理(§6.4.1.3.5 Handover Blocklisting)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3GPP TS 38.300 §15.3.3 —— NR ANR 功能與 Xn 自建反向關係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實作與驗測記錄:anr/ANR_十二題完整規格_v10.md、anr/V10_FINAL_REPORT.md(本團隊 repo)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TLab-Version_Wai">
  <a:themeElements>
    <a:clrScheme name="藍色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209</Words>
  <Application>Microsoft Office PowerPoint</Application>
  <PresentationFormat>如螢幕大小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Comic Sans MS</vt:lpstr>
      <vt:lpstr>MITLab-Version_Wai</vt:lpstr>
      <vt:lpstr>進度報告</vt:lpstr>
      <vt:lpstr>Overview</vt:lpstr>
      <vt:lpstr>本週進度與成果</vt:lpstr>
      <vt:lpstr>本週進度與成果</vt:lpstr>
      <vt:lpstr>本週進度與成果</vt:lpstr>
      <vt:lpstr>本週進度與成果</vt:lpstr>
      <vt:lpstr>下週進度規劃與預期成果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Intent-Based SMO 進度報告</dc:title>
  <dc:creator>yihua</dc:creator>
  <cp:lastModifiedBy>耀慶 黃</cp:lastModifiedBy>
  <cp:revision>11</cp:revision>
  <dcterms:modified xsi:type="dcterms:W3CDTF">2026-08-26T01:12:23Z</dcterms:modified>
</cp:coreProperties>
</file>