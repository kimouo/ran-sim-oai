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332" r:id="rId4"/>
    <p:sldId id="400" r:id="rId5"/>
    <p:sldId id="401" r:id="rId6"/>
    <p:sldId id="392" r:id="rId7"/>
    <p:sldId id="393" r:id="rId8"/>
    <p:sldId id="325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目錄" id="{46BFBF1B-B2D1-48AF-8DA5-056D75D2AFDD}">
          <p14:sldIdLst>
            <p14:sldId id="256"/>
            <p14:sldId id="257"/>
          </p14:sldIdLst>
        </p14:section>
        <p14:section name="本週進度與成果" id="{88722481-4458-47B8-9FC3-46CAF2CEFC2A}">
          <p14:sldIdLst>
            <p14:sldId id="332"/>
            <p14:sldId id="400"/>
            <p14:sldId id="401"/>
            <p14:sldId id="392"/>
            <p14:sldId id="393"/>
          </p14:sldIdLst>
        </p14:section>
        <p14:section name="問題討論" id="{AE608AC6-9860-4D48-9CFB-7A72212F63E1}">
          <p14:sldIdLst/>
        </p14:section>
        <p14:section name="下週進度規劃與預期成果" id="{110C45DB-8A16-4491-AFF5-6652A4F18330}">
          <p14:sldIdLst>
            <p14:sldId id="325"/>
          </p14:sldIdLst>
        </p14:section>
        <p14:section name="參考資料/文獻" id="{9323E052-3489-4776-B0C5-348091FB5C00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56" roundtripDataSignature="AMtx7mhhBnEAGo8vbriVIWbHZq7/dNB8nQ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C68462F-314F-23CA-75CD-2878F472933F}" name="Shu Sheng Wang" initials="SW" userId="20e76af2fa6d7525" providerId="Windows Live"/>
  <p188:author id="{7B57B147-8FC0-5194-1C79-34EF26AFFAD2}" name="彥廷 陳" initials="彥陳" userId="5723c54b4ddaed17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92" autoAdjust="0"/>
    <p:restoredTop sz="82182" autoAdjust="0"/>
  </p:normalViewPr>
  <p:slideViewPr>
    <p:cSldViewPr snapToGrid="0">
      <p:cViewPr varScale="1">
        <p:scale>
          <a:sx n="120" d="100"/>
          <a:sy n="120" d="100"/>
        </p:scale>
        <p:origin x="1116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57" Type="http://schemas.openxmlformats.org/officeDocument/2006/relationships/presProps" Target="presProps.xml"/><Relationship Id="rId61" Type="http://schemas.microsoft.com/office/2018/10/relationships/authors" Target="authors.xml"/><Relationship Id="rId10" Type="http://schemas.openxmlformats.org/officeDocument/2006/relationships/notesMaster" Target="notesMasters/notesMaster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56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3860623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489193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e7bc1bce13_1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2e7bc1bce13_1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887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54E57-9EE4-ED3B-10A6-AD40E5A3D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1EE7EE1-DF7C-1A8E-2F0D-25298FA061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269DD15-6B56-A6E0-AB82-7AE0C68995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332132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54E57-9EE4-ED3B-10A6-AD40E5A3D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1EE7EE1-DF7C-1A8E-2F0D-25298FA061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269DD15-6B56-A6E0-AB82-7AE0C68995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35916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54E57-9EE4-ED3B-10A6-AD40E5A3D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1EE7EE1-DF7C-1A8E-2F0D-25298FA061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269DD15-6B56-A6E0-AB82-7AE0C68995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898871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54E57-9EE4-ED3B-10A6-AD40E5A3D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1EE7EE1-DF7C-1A8E-2F0D-25298FA061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269DD15-6B56-A6E0-AB82-7AE0C68995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19529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54E57-9EE4-ED3B-10A6-AD40E5A3D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1EE7EE1-DF7C-1A8E-2F0D-25298FA061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269DD15-6B56-A6E0-AB82-7AE0C68995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altLang="zh-TW" dirty="0"/>
              <a:t> {                                                      </a:t>
            </a:r>
          </a:p>
          <a:p>
            <a:pPr marL="158750" indent="0">
              <a:buNone/>
            </a:pPr>
            <a:r>
              <a:rPr lang="en-US" altLang="zh-TW" dirty="0"/>
              <a:t>    "</a:t>
            </a:r>
            <a:r>
              <a:rPr lang="en-US" altLang="zh-TW" dirty="0" err="1"/>
              <a:t>ue_id</a:t>
            </a:r>
            <a:r>
              <a:rPr lang="en-US" altLang="zh-TW" dirty="0"/>
              <a:t>": "ue-001",                                                                                                                                                          </a:t>
            </a:r>
          </a:p>
          <a:p>
            <a:pPr marL="158750" indent="0">
              <a:buNone/>
            </a:pPr>
            <a:r>
              <a:rPr lang="en-US" altLang="zh-TW" dirty="0"/>
              <a:t>    # —— </a:t>
            </a:r>
            <a:r>
              <a:rPr lang="zh-TW" altLang="en-US" dirty="0"/>
              <a:t>訊號層</a:t>
            </a:r>
            <a:r>
              <a:rPr lang="en-US" altLang="zh-TW" dirty="0"/>
              <a:t>(UE </a:t>
            </a:r>
            <a:r>
              <a:rPr lang="zh-TW" altLang="en-US" dirty="0"/>
              <a:t>量到的</a:t>
            </a:r>
            <a:r>
              <a:rPr lang="en-US" altLang="zh-TW" dirty="0"/>
              <a:t>)——                             </a:t>
            </a:r>
          </a:p>
          <a:p>
            <a:pPr marL="158750" indent="0">
              <a:buNone/>
            </a:pPr>
            <a:r>
              <a:rPr lang="en-US" altLang="zh-TW" dirty="0"/>
              <a:t>    "</a:t>
            </a:r>
            <a:r>
              <a:rPr lang="en-US" altLang="zh-TW" dirty="0" err="1"/>
              <a:t>rsrp_dbm</a:t>
            </a:r>
            <a:r>
              <a:rPr lang="en-US" altLang="zh-TW" dirty="0"/>
              <a:t>": -90.0,            # </a:t>
            </a:r>
            <a:r>
              <a:rPr lang="zh-TW" altLang="en-US" dirty="0"/>
              <a:t>服務 </a:t>
            </a:r>
            <a:r>
              <a:rPr lang="en-US" altLang="zh-TW" dirty="0"/>
              <a:t>cell </a:t>
            </a:r>
            <a:r>
              <a:rPr lang="zh-TW" altLang="en-US" dirty="0"/>
              <a:t>的 </a:t>
            </a:r>
            <a:r>
              <a:rPr lang="en-US" altLang="zh-TW" dirty="0"/>
              <a:t>RSRP                                                                                                                           </a:t>
            </a:r>
          </a:p>
          <a:p>
            <a:pPr marL="158750" indent="0">
              <a:buNone/>
            </a:pPr>
            <a:r>
              <a:rPr lang="en-US" altLang="zh-TW" dirty="0"/>
              <a:t>    "</a:t>
            </a:r>
            <a:r>
              <a:rPr lang="en-US" altLang="zh-TW" dirty="0" err="1"/>
              <a:t>sinr_db</a:t>
            </a:r>
            <a:r>
              <a:rPr lang="en-US" altLang="zh-TW" dirty="0"/>
              <a:t>": 5.0,                                                                                                                                                             </a:t>
            </a:r>
          </a:p>
          <a:p>
            <a:pPr marL="158750" indent="0">
              <a:buNone/>
            </a:pPr>
            <a:r>
              <a:rPr lang="en-US" altLang="zh-TW" dirty="0"/>
              <a:t>    # —— </a:t>
            </a:r>
            <a:r>
              <a:rPr lang="zh-TW" altLang="en-US" dirty="0"/>
              <a:t>吞吐量</a:t>
            </a:r>
            <a:r>
              <a:rPr lang="en-US" altLang="zh-TW" dirty="0"/>
              <a:t>(DU </a:t>
            </a:r>
            <a:r>
              <a:rPr lang="zh-TW" altLang="en-US" dirty="0"/>
              <a:t>統計的</a:t>
            </a:r>
            <a:r>
              <a:rPr lang="en-US" altLang="zh-TW" dirty="0"/>
              <a:t>)——                                                                                                                                                    </a:t>
            </a:r>
          </a:p>
          <a:p>
            <a:pPr marL="158750" indent="0">
              <a:buNone/>
            </a:pPr>
            <a:r>
              <a:rPr lang="en-US" altLang="zh-TW" dirty="0"/>
              <a:t>    "</a:t>
            </a:r>
            <a:r>
              <a:rPr lang="en-US" altLang="zh-TW" dirty="0" err="1"/>
              <a:t>throughput_dl_mbps</a:t>
            </a:r>
            <a:r>
              <a:rPr lang="en-US" altLang="zh-TW" dirty="0"/>
              <a:t>": 50.0,                                                                                                                                                 </a:t>
            </a:r>
          </a:p>
          <a:p>
            <a:pPr marL="158750" indent="0">
              <a:buNone/>
            </a:pPr>
            <a:r>
              <a:rPr lang="en-US" altLang="zh-TW" dirty="0"/>
              <a:t>    "</a:t>
            </a:r>
            <a:r>
              <a:rPr lang="en-US" altLang="zh-TW" dirty="0" err="1"/>
              <a:t>throughput_ul_mbps</a:t>
            </a:r>
            <a:r>
              <a:rPr lang="en-US" altLang="zh-TW" dirty="0"/>
              <a:t>": 10.0,                                                                                                                                                 </a:t>
            </a:r>
          </a:p>
          <a:p>
            <a:pPr marL="158750" indent="0">
              <a:buNone/>
            </a:pPr>
            <a:r>
              <a:rPr lang="en-US" altLang="zh-TW" dirty="0"/>
              <a:t>    # —— </a:t>
            </a:r>
            <a:r>
              <a:rPr lang="zh-TW" altLang="en-US" dirty="0"/>
              <a:t>排程資訊</a:t>
            </a:r>
            <a:r>
              <a:rPr lang="en-US" altLang="zh-TW" dirty="0"/>
              <a:t>(DU MAC </a:t>
            </a:r>
            <a:r>
              <a:rPr lang="zh-TW" altLang="en-US" dirty="0"/>
              <a:t>給的</a:t>
            </a:r>
            <a:r>
              <a:rPr lang="en-US" altLang="zh-TW" dirty="0"/>
              <a:t>)——                         </a:t>
            </a:r>
          </a:p>
          <a:p>
            <a:pPr marL="158750" indent="0">
              <a:buNone/>
            </a:pPr>
            <a:r>
              <a:rPr lang="en-US" altLang="zh-TW" dirty="0"/>
              <a:t>    "</a:t>
            </a:r>
            <a:r>
              <a:rPr lang="en-US" altLang="zh-TW" dirty="0" err="1"/>
              <a:t>mcs_dl</a:t>
            </a:r>
            <a:r>
              <a:rPr lang="en-US" altLang="zh-TW" dirty="0"/>
              <a:t>": 16,                                                                                                                                                               </a:t>
            </a:r>
          </a:p>
          <a:p>
            <a:pPr marL="158750" indent="0">
              <a:buNone/>
            </a:pPr>
            <a:r>
              <a:rPr lang="en-US" altLang="zh-TW" dirty="0"/>
              <a:t>    "</a:t>
            </a:r>
            <a:r>
              <a:rPr lang="en-US" altLang="zh-TW" dirty="0" err="1"/>
              <a:t>rb_width_dl</a:t>
            </a:r>
            <a:r>
              <a:rPr lang="en-US" altLang="zh-TW" dirty="0"/>
              <a:t>": 100,           # </a:t>
            </a:r>
            <a:r>
              <a:rPr lang="zh-TW" altLang="en-US" dirty="0"/>
              <a:t>配給 </a:t>
            </a:r>
            <a:r>
              <a:rPr lang="en-US" altLang="zh-TW" dirty="0"/>
              <a:t>UE </a:t>
            </a:r>
            <a:r>
              <a:rPr lang="zh-TW" altLang="en-US" dirty="0"/>
              <a:t>的 </a:t>
            </a:r>
            <a:r>
              <a:rPr lang="en-US" altLang="zh-TW" dirty="0"/>
              <a:t>PRB </a:t>
            </a:r>
            <a:r>
              <a:rPr lang="zh-TW" altLang="en-US" dirty="0"/>
              <a:t>數    </a:t>
            </a:r>
          </a:p>
          <a:p>
            <a:pPr marL="158750" indent="0">
              <a:buNone/>
            </a:pPr>
            <a:r>
              <a:rPr lang="zh-TW" altLang="en-US" dirty="0"/>
              <a:t>    </a:t>
            </a:r>
            <a:r>
              <a:rPr lang="en-US" altLang="zh-TW" dirty="0"/>
              <a:t>"</a:t>
            </a:r>
            <a:r>
              <a:rPr lang="en-US" altLang="zh-TW" dirty="0" err="1"/>
              <a:t>mimo_rank</a:t>
            </a:r>
            <a:r>
              <a:rPr lang="en-US" altLang="zh-TW" dirty="0"/>
              <a:t>": 2,                                                                                                                                                             </a:t>
            </a:r>
          </a:p>
          <a:p>
            <a:pPr marL="158750" indent="0">
              <a:buNone/>
            </a:pPr>
            <a:r>
              <a:rPr lang="en-US" altLang="zh-TW" dirty="0"/>
              <a:t>    # —— PDCP/RLC </a:t>
            </a:r>
            <a:r>
              <a:rPr lang="zh-TW" altLang="en-US" dirty="0"/>
              <a:t>流量計數</a:t>
            </a:r>
            <a:r>
              <a:rPr lang="en-US" altLang="zh-TW" dirty="0"/>
              <a:t>(DU </a:t>
            </a:r>
            <a:r>
              <a:rPr lang="zh-TW" altLang="en-US" dirty="0"/>
              <a:t>累計</a:t>
            </a:r>
            <a:r>
              <a:rPr lang="en-US" altLang="zh-TW" dirty="0"/>
              <a:t>)——                    </a:t>
            </a:r>
          </a:p>
          <a:p>
            <a:pPr marL="158750" indent="0">
              <a:buNone/>
            </a:pPr>
            <a:r>
              <a:rPr lang="en-US" altLang="zh-TW" dirty="0"/>
              <a:t>    "</a:t>
            </a:r>
            <a:r>
              <a:rPr lang="en-US" altLang="zh-TW" dirty="0" err="1"/>
              <a:t>pdcp_sdu_volume_dl</a:t>
            </a:r>
            <a:r>
              <a:rPr lang="en-US" altLang="zh-TW" dirty="0"/>
              <a:t>": 12345678,   # window </a:t>
            </a:r>
            <a:r>
              <a:rPr lang="zh-TW" altLang="en-US" dirty="0"/>
              <a:t>內累計 </a:t>
            </a:r>
            <a:r>
              <a:rPr lang="en-US" altLang="zh-TW" dirty="0"/>
              <a:t>bytes                                                                                                                     </a:t>
            </a:r>
          </a:p>
          <a:p>
            <a:pPr marL="158750" indent="0">
              <a:buNone/>
            </a:pPr>
            <a:r>
              <a:rPr lang="en-US" altLang="zh-TW" dirty="0"/>
              <a:t>    "</a:t>
            </a:r>
            <a:r>
              <a:rPr lang="en-US" altLang="zh-TW" dirty="0" err="1"/>
              <a:t>pdcp_sdu_volume_ul</a:t>
            </a:r>
            <a:r>
              <a:rPr lang="en-US" altLang="zh-TW" dirty="0"/>
              <a:t>": 234567,                                                                                                                                               </a:t>
            </a:r>
          </a:p>
          <a:p>
            <a:pPr marL="158750" indent="0">
              <a:buNone/>
            </a:pPr>
            <a:r>
              <a:rPr lang="en-US" altLang="zh-TW" dirty="0"/>
              <a:t>    "</a:t>
            </a:r>
            <a:r>
              <a:rPr lang="en-US" altLang="zh-TW" dirty="0" err="1"/>
              <a:t>rlc_sdu_delay_dl_ms</a:t>
            </a:r>
            <a:r>
              <a:rPr lang="en-US" altLang="zh-TW" dirty="0"/>
              <a:t>": 8.3,                                                                                                                                                 </a:t>
            </a:r>
          </a:p>
          <a:p>
            <a:pPr marL="158750" indent="0">
              <a:buNone/>
            </a:pPr>
            <a:r>
              <a:rPr lang="en-US" altLang="zh-TW" dirty="0"/>
              <a:t>    # —— </a:t>
            </a:r>
            <a:r>
              <a:rPr lang="zh-TW" altLang="en-US" dirty="0"/>
              <a:t>鄰居清單</a:t>
            </a:r>
            <a:r>
              <a:rPr lang="en-US" altLang="zh-TW" dirty="0"/>
              <a:t>(UE </a:t>
            </a:r>
            <a:r>
              <a:rPr lang="zh-TW" altLang="en-US" dirty="0"/>
              <a:t>量的鄰 </a:t>
            </a:r>
            <a:r>
              <a:rPr lang="en-US" altLang="zh-TW" dirty="0"/>
              <a:t>cell)——                                                                                                                                             </a:t>
            </a:r>
          </a:p>
          <a:p>
            <a:pPr marL="158750" indent="0">
              <a:buNone/>
            </a:pPr>
            <a:r>
              <a:rPr lang="en-US" altLang="zh-TW" dirty="0"/>
              <a:t>    "</a:t>
            </a:r>
            <a:r>
              <a:rPr lang="en-US" altLang="zh-TW" dirty="0" err="1"/>
              <a:t>neighbor_cells</a:t>
            </a:r>
            <a:r>
              <a:rPr lang="en-US" altLang="zh-TW" dirty="0"/>
              <a:t>": [                                                                                                                                                         </a:t>
            </a:r>
          </a:p>
          <a:p>
            <a:pPr marL="158750" indent="0">
              <a:buNone/>
            </a:pPr>
            <a:r>
              <a:rPr lang="en-US" altLang="zh-TW" dirty="0"/>
              <a:t>      {"</a:t>
            </a:r>
            <a:r>
              <a:rPr lang="en-US" altLang="zh-TW" dirty="0" err="1"/>
              <a:t>cell_id</a:t>
            </a:r>
            <a:r>
              <a:rPr lang="en-US" altLang="zh-TW" dirty="0"/>
              <a:t>": "c2", "</a:t>
            </a:r>
            <a:r>
              <a:rPr lang="en-US" altLang="zh-TW" dirty="0" err="1"/>
              <a:t>rsrp_dbm</a:t>
            </a:r>
            <a:r>
              <a:rPr lang="en-US" altLang="zh-TW" dirty="0"/>
              <a:t>": -80.0, "</a:t>
            </a:r>
            <a:r>
              <a:rPr lang="en-US" altLang="zh-TW" dirty="0" err="1"/>
              <a:t>rsrq_db</a:t>
            </a:r>
            <a:r>
              <a:rPr lang="en-US" altLang="zh-TW" dirty="0"/>
              <a:t>": -10.0}                                                                                                                    </a:t>
            </a:r>
          </a:p>
          <a:p>
            <a:pPr marL="158750" indent="0">
              <a:buNone/>
            </a:pPr>
            <a:r>
              <a:rPr lang="en-US" altLang="zh-TW" dirty="0"/>
              <a:t>    ]                                                                                                                                                                           </a:t>
            </a:r>
          </a:p>
          <a:p>
            <a:pPr marL="158750" indent="0">
              <a:buNone/>
            </a:pPr>
            <a:r>
              <a:rPr lang="en-US" altLang="zh-TW" dirty="0"/>
              <a:t>  } </a:t>
            </a:r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r>
              <a:rPr lang="en-US" altLang="zh-TW" dirty="0"/>
              <a:t>A3</a:t>
            </a:r>
            <a:r>
              <a:rPr lang="zh-TW" altLang="en-US" dirty="0"/>
              <a:t>演算法   公式對齊 </a:t>
            </a:r>
            <a:r>
              <a:rPr lang="en-US" altLang="zh-TW" dirty="0"/>
              <a:t>3GPP TS 38.331 §5.5.4.4</a:t>
            </a:r>
            <a:r>
              <a:rPr lang="zh-TW" altLang="en-US" dirty="0"/>
              <a:t> </a:t>
            </a:r>
            <a:endParaRPr lang="en-US" altLang="zh-TW" dirty="0"/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r>
              <a:rPr lang="en-US" altLang="zh-TW" dirty="0"/>
              <a:t> A3 </a:t>
            </a:r>
            <a:r>
              <a:rPr lang="zh-TW" altLang="en-US" dirty="0"/>
              <a:t>觸發</a:t>
            </a:r>
            <a:r>
              <a:rPr lang="en-US" altLang="zh-TW" dirty="0"/>
              <a:t>:                                                                                                                                                                 </a:t>
            </a:r>
          </a:p>
          <a:p>
            <a:pPr marL="158750" indent="0">
              <a:buNone/>
            </a:pPr>
            <a:r>
              <a:rPr lang="en-US" altLang="zh-TW" dirty="0"/>
              <a:t>  </a:t>
            </a:r>
          </a:p>
          <a:p>
            <a:pPr marL="158750" indent="0">
              <a:buNone/>
            </a:pPr>
            <a:r>
              <a:rPr lang="en-US" altLang="zh-TW" dirty="0"/>
              <a:t>  # handover_executor.py </a:t>
            </a:r>
            <a:r>
              <a:rPr lang="zh-TW" altLang="en-US" dirty="0"/>
              <a:t>做三件事</a:t>
            </a:r>
            <a:r>
              <a:rPr lang="en-US" altLang="zh-TW" dirty="0"/>
              <a:t>:                                                                                                                                              </a:t>
            </a:r>
          </a:p>
          <a:p>
            <a:pPr marL="158750" indent="0">
              <a:buNone/>
            </a:pPr>
            <a:r>
              <a:rPr lang="en-US" altLang="zh-TW" dirty="0"/>
              <a:t>  1. </a:t>
            </a:r>
            <a:r>
              <a:rPr lang="en-US" altLang="zh-TW" dirty="0" err="1"/>
              <a:t>SqlDbBusinessService.create_entity</a:t>
            </a:r>
            <a:r>
              <a:rPr lang="en-US" altLang="zh-TW" dirty="0"/>
              <a:t>(</a:t>
            </a:r>
            <a:r>
              <a:rPr lang="en-US" altLang="zh-TW" dirty="0" err="1"/>
              <a:t>HandoverEvent</a:t>
            </a:r>
            <a:r>
              <a:rPr lang="en-US" altLang="zh-TW" dirty="0"/>
              <a:t>, {...})  # audit log</a:t>
            </a:r>
          </a:p>
          <a:p>
            <a:pPr marL="158750" indent="0">
              <a:buNone/>
            </a:pPr>
            <a:r>
              <a:rPr lang="en-US" altLang="zh-TW" dirty="0"/>
              <a:t>  2. </a:t>
            </a:r>
            <a:r>
              <a:rPr lang="en-US" altLang="zh-TW" dirty="0" err="1"/>
              <a:t>UeContext.serving_cell</a:t>
            </a:r>
            <a:r>
              <a:rPr lang="en-US" altLang="zh-TW" dirty="0"/>
              <a:t> = </a:t>
            </a:r>
            <a:r>
              <a:rPr lang="en-US" altLang="zh-TW" dirty="0" err="1"/>
              <a:t>target_cell</a:t>
            </a:r>
            <a:r>
              <a:rPr lang="en-US" altLang="zh-TW" dirty="0"/>
              <a:t>                       # </a:t>
            </a:r>
            <a:r>
              <a:rPr lang="zh-TW" altLang="en-US" dirty="0"/>
              <a:t>改 </a:t>
            </a:r>
            <a:r>
              <a:rPr lang="en-US" altLang="zh-TW" dirty="0"/>
              <a:t>SQL </a:t>
            </a:r>
            <a:r>
              <a:rPr lang="zh-TW" altLang="en-US" dirty="0"/>
              <a:t>欄位                                                                                                   </a:t>
            </a:r>
          </a:p>
          <a:p>
            <a:pPr marL="158750" indent="0">
              <a:buNone/>
            </a:pPr>
            <a:r>
              <a:rPr lang="zh-TW" altLang="en-US" dirty="0"/>
              <a:t>  </a:t>
            </a:r>
            <a:r>
              <a:rPr lang="en-US" altLang="zh-TW" dirty="0"/>
              <a:t>3. </a:t>
            </a:r>
            <a:r>
              <a:rPr lang="en-US" altLang="zh-TW" dirty="0" err="1"/>
              <a:t>DuClient.post_ue_context_modification</a:t>
            </a:r>
            <a:r>
              <a:rPr lang="en-US" altLang="zh-TW" dirty="0"/>
              <a:t>(</a:t>
            </a:r>
            <a:r>
              <a:rPr lang="en-US" altLang="zh-TW" dirty="0" err="1"/>
              <a:t>ue_id</a:t>
            </a:r>
            <a:r>
              <a:rPr lang="en-US" altLang="zh-TW" dirty="0"/>
              <a:t>, target)       # </a:t>
            </a:r>
            <a:r>
              <a:rPr lang="zh-TW" altLang="en-US" dirty="0"/>
              <a:t>通知 </a:t>
            </a:r>
            <a:r>
              <a:rPr lang="en-US" altLang="zh-TW" dirty="0"/>
              <a:t>DU </a:t>
            </a:r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r>
              <a:rPr lang="en-US" altLang="zh-TW" dirty="0" err="1"/>
              <a:t>ul_rrc_message</a:t>
            </a:r>
            <a:r>
              <a:rPr lang="en-US" altLang="zh-TW" dirty="0"/>
              <a:t> </a:t>
            </a:r>
            <a:r>
              <a:rPr lang="zh-TW" altLang="en-US" dirty="0"/>
              <a:t>收到後做什麼</a:t>
            </a:r>
            <a:r>
              <a:rPr lang="en-US" altLang="zh-TW" dirty="0"/>
              <a:t>?</a:t>
            </a:r>
          </a:p>
          <a:p>
            <a:pPr marL="158750" indent="0">
              <a:buNone/>
            </a:pPr>
            <a:r>
              <a:rPr lang="en-US" altLang="zh-TW" dirty="0"/>
              <a:t>                                                                                                                                                                                </a:t>
            </a:r>
          </a:p>
          <a:p>
            <a:pPr marL="158750" indent="0">
              <a:buNone/>
            </a:pPr>
            <a:r>
              <a:rPr lang="en-US" altLang="zh-TW" dirty="0"/>
              <a:t>  # ⚠️  </a:t>
            </a:r>
            <a:r>
              <a:rPr lang="zh-TW" altLang="en-US" dirty="0"/>
              <a:t>假衍生 </a:t>
            </a:r>
            <a:r>
              <a:rPr lang="en-US" altLang="zh-TW" dirty="0"/>
              <a:t>ID — </a:t>
            </a:r>
            <a:r>
              <a:rPr lang="zh-TW" altLang="en-US" dirty="0"/>
              <a:t>不是真協議分配</a:t>
            </a:r>
          </a:p>
          <a:p>
            <a:pPr marL="158750" indent="0">
              <a:buNone/>
            </a:pPr>
            <a:r>
              <a:rPr lang="zh-TW" altLang="en-US" dirty="0"/>
              <a:t>  </a:t>
            </a:r>
            <a:r>
              <a:rPr lang="en-US" altLang="zh-TW" dirty="0"/>
              <a:t>base = abs(hash(</a:t>
            </a:r>
            <a:r>
              <a:rPr lang="en-US" altLang="zh-TW" dirty="0" err="1"/>
              <a:t>ue_id</a:t>
            </a:r>
            <a:r>
              <a:rPr lang="en-US" altLang="zh-TW" dirty="0"/>
              <a:t>)) % (2 ** 31)                                                                                                                                           </a:t>
            </a:r>
          </a:p>
          <a:p>
            <a:pPr marL="158750" indent="0">
              <a:buNone/>
            </a:pPr>
            <a:r>
              <a:rPr lang="en-US" altLang="zh-TW" dirty="0"/>
              <a:t>  </a:t>
            </a:r>
            <a:r>
              <a:rPr lang="en-US" altLang="zh-TW" dirty="0" err="1"/>
              <a:t>ue</a:t>
            </a:r>
            <a:r>
              <a:rPr lang="en-US" altLang="zh-TW" dirty="0"/>
              <a:t> = </a:t>
            </a:r>
            <a:r>
              <a:rPr lang="en-US" altLang="zh-TW" dirty="0" err="1"/>
              <a:t>create_entity</a:t>
            </a:r>
            <a:r>
              <a:rPr lang="en-US" altLang="zh-TW" dirty="0"/>
              <a:t>(</a:t>
            </a:r>
            <a:r>
              <a:rPr lang="en-US" altLang="zh-TW" dirty="0" err="1"/>
              <a:t>UeContext</a:t>
            </a:r>
            <a:r>
              <a:rPr lang="en-US" altLang="zh-TW" dirty="0"/>
              <a:t>, {                                                                                                                                               </a:t>
            </a:r>
          </a:p>
          <a:p>
            <a:pPr marL="158750" indent="0">
              <a:buNone/>
            </a:pPr>
            <a:r>
              <a:rPr lang="en-US" altLang="zh-TW" dirty="0"/>
              <a:t>      "</a:t>
            </a:r>
            <a:r>
              <a:rPr lang="en-US" altLang="zh-TW" dirty="0" err="1"/>
              <a:t>rrc_ue_id</a:t>
            </a:r>
            <a:r>
              <a:rPr lang="en-US" altLang="zh-TW" dirty="0"/>
              <a:t>": base,            # </a:t>
            </a:r>
            <a:r>
              <a:rPr lang="zh-TW" altLang="en-US" dirty="0"/>
              <a:t>真 </a:t>
            </a:r>
            <a:r>
              <a:rPr lang="en-US" altLang="zh-TW" dirty="0"/>
              <a:t>OAI </a:t>
            </a:r>
            <a:r>
              <a:rPr lang="zh-TW" altLang="en-US" dirty="0"/>
              <a:t>是 </a:t>
            </a:r>
            <a:r>
              <a:rPr lang="en-US" altLang="zh-TW" dirty="0"/>
              <a:t>RRC procedure </a:t>
            </a:r>
            <a:r>
              <a:rPr lang="zh-TW" altLang="en-US" dirty="0"/>
              <a:t>分配                                                                                                              </a:t>
            </a:r>
          </a:p>
          <a:p>
            <a:pPr marL="158750" indent="0">
              <a:buNone/>
            </a:pPr>
            <a:r>
              <a:rPr lang="zh-TW" altLang="en-US" dirty="0"/>
              <a:t>      </a:t>
            </a:r>
            <a:r>
              <a:rPr lang="en-US" altLang="zh-TW" dirty="0"/>
              <a:t>"</a:t>
            </a:r>
            <a:r>
              <a:rPr lang="en-US" altLang="zh-TW" dirty="0" err="1"/>
              <a:t>ran_ue_ngap_id</a:t>
            </a:r>
            <a:r>
              <a:rPr lang="en-US" altLang="zh-TW" dirty="0"/>
              <a:t>": base,       # </a:t>
            </a:r>
            <a:r>
              <a:rPr lang="zh-TW" altLang="en-US" dirty="0"/>
              <a:t>真 </a:t>
            </a:r>
            <a:r>
              <a:rPr lang="en-US" altLang="zh-TW" dirty="0"/>
              <a:t>OAI </a:t>
            </a:r>
            <a:r>
              <a:rPr lang="zh-TW" altLang="en-US" dirty="0"/>
              <a:t>是 </a:t>
            </a:r>
            <a:r>
              <a:rPr lang="en-US" altLang="zh-TW" dirty="0"/>
              <a:t>NGAP </a:t>
            </a:r>
            <a:r>
              <a:rPr lang="zh-TW" altLang="en-US" dirty="0"/>
              <a:t>分配                                                                                                                       </a:t>
            </a:r>
          </a:p>
          <a:p>
            <a:pPr marL="158750" indent="0">
              <a:buNone/>
            </a:pPr>
            <a:r>
              <a:rPr lang="zh-TW" altLang="en-US" dirty="0"/>
              <a:t>      </a:t>
            </a:r>
            <a:r>
              <a:rPr lang="en-US" altLang="zh-TW" dirty="0"/>
              <a:t>"</a:t>
            </a:r>
            <a:r>
              <a:rPr lang="en-US" altLang="zh-TW" dirty="0" err="1"/>
              <a:t>amf_ue_ngap_id</a:t>
            </a:r>
            <a:r>
              <a:rPr lang="en-US" altLang="zh-TW" dirty="0"/>
              <a:t>": base + 1,   # </a:t>
            </a:r>
            <a:r>
              <a:rPr lang="zh-TW" altLang="en-US" dirty="0"/>
              <a:t>真 </a:t>
            </a:r>
            <a:r>
              <a:rPr lang="en-US" altLang="zh-TW" dirty="0"/>
              <a:t>OAI </a:t>
            </a:r>
            <a:r>
              <a:rPr lang="zh-TW" altLang="en-US" dirty="0"/>
              <a:t>是 </a:t>
            </a:r>
            <a:r>
              <a:rPr lang="en-US" altLang="zh-TW" dirty="0"/>
              <a:t>AMF </a:t>
            </a:r>
            <a:r>
              <a:rPr lang="zh-TW" altLang="en-US" dirty="0"/>
              <a:t>分配                                                                                                                        </a:t>
            </a:r>
          </a:p>
          <a:p>
            <a:pPr marL="158750" indent="0">
              <a:buNone/>
            </a:pPr>
            <a:r>
              <a:rPr lang="zh-TW" altLang="en-US" dirty="0"/>
              <a:t>      </a:t>
            </a:r>
            <a:r>
              <a:rPr lang="en-US" altLang="zh-TW" dirty="0"/>
              <a:t>...                                                                                                                                                                       </a:t>
            </a:r>
          </a:p>
          <a:p>
            <a:pPr marL="158750" indent="0">
              <a:buNone/>
            </a:pPr>
            <a:r>
              <a:rPr lang="en-US" altLang="zh-TW" dirty="0"/>
              <a:t>  })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441342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7A961-3932-E37F-D51C-C17FCF211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AD9EB9F-7F80-B1C1-786B-72B876F767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56A11DF-E2C8-64D3-134B-3E929D27F9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8043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>
  <p:cSld name="標題投影片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97"/>
          <p:cNvSpPr txBox="1">
            <a:spLocks noGrp="1"/>
          </p:cNvSpPr>
          <p:nvPr>
            <p:ph type="ctrTitle"/>
          </p:nvPr>
        </p:nvSpPr>
        <p:spPr>
          <a:xfrm>
            <a:off x="685800" y="910307"/>
            <a:ext cx="7848600" cy="1445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 sz="21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97"/>
          <p:cNvSpPr txBox="1">
            <a:spLocks noGrp="1"/>
          </p:cNvSpPr>
          <p:nvPr>
            <p:ph type="subTitle" idx="1"/>
          </p:nvPr>
        </p:nvSpPr>
        <p:spPr>
          <a:xfrm>
            <a:off x="685800" y="2733768"/>
            <a:ext cx="5074332" cy="792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3F3F3F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97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20" name="Google Shape;20;p97"/>
          <p:cNvCxnSpPr/>
          <p:nvPr/>
        </p:nvCxnSpPr>
        <p:spPr>
          <a:xfrm>
            <a:off x="685800" y="2548890"/>
            <a:ext cx="7848600" cy="1191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" name="Google Shape;21;p97"/>
          <p:cNvSpPr txBox="1">
            <a:spLocks noGrp="1"/>
          </p:cNvSpPr>
          <p:nvPr>
            <p:ph type="body" idx="2"/>
          </p:nvPr>
        </p:nvSpPr>
        <p:spPr>
          <a:xfrm>
            <a:off x="5056616" y="3566182"/>
            <a:ext cx="3996444" cy="1080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2100"/>
            </a:lvl1pPr>
            <a:lvl2pPr marL="914400" lvl="1" indent="-3619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98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8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60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4000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700"/>
              <a:buChar char="•"/>
              <a:defRPr/>
            </a:lvl1pPr>
            <a:lvl2pPr marL="914400" lvl="1" indent="-3619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Char char="•"/>
              <a:defRPr/>
            </a:lvl2pPr>
            <a:lvl3pPr marL="1371600" lvl="2" indent="-3492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9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98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98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98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" name="Google Shape;28;p98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項物件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0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0"/>
          <p:cNvSpPr txBox="1">
            <a:spLocks noGrp="1"/>
          </p:cNvSpPr>
          <p:nvPr>
            <p:ph type="body" idx="1"/>
          </p:nvPr>
        </p:nvSpPr>
        <p:spPr>
          <a:xfrm>
            <a:off x="457200" y="1255014"/>
            <a:ext cx="4038600" cy="3538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2100"/>
            </a:lvl1pPr>
            <a:lvl2pPr marL="914400" lvl="1" indent="-3238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  <a:defRPr sz="1800"/>
            </a:lvl2pPr>
            <a:lvl3pPr marL="1371600" lvl="2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500"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39" name="Google Shape;39;p100"/>
          <p:cNvSpPr txBox="1">
            <a:spLocks noGrp="1"/>
          </p:cNvSpPr>
          <p:nvPr>
            <p:ph type="body" idx="2"/>
          </p:nvPr>
        </p:nvSpPr>
        <p:spPr>
          <a:xfrm>
            <a:off x="4648200" y="1255014"/>
            <a:ext cx="4038600" cy="3538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2100"/>
            </a:lvl1pPr>
            <a:lvl2pPr marL="914400" lvl="1" indent="-3238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  <a:defRPr sz="1800"/>
            </a:lvl2pPr>
            <a:lvl3pPr marL="1371600" lvl="2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500"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40" name="Google Shape;40;p100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00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00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3" name="Google Shape;43;p100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對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1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01"/>
          <p:cNvSpPr txBox="1">
            <a:spLocks noGrp="1"/>
          </p:cNvSpPr>
          <p:nvPr>
            <p:ph type="body" idx="1"/>
          </p:nvPr>
        </p:nvSpPr>
        <p:spPr>
          <a:xfrm>
            <a:off x="457200" y="1257300"/>
            <a:ext cx="3931920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 sz="15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400" b="1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101"/>
          <p:cNvSpPr txBox="1">
            <a:spLocks noGrp="1"/>
          </p:cNvSpPr>
          <p:nvPr>
            <p:ph type="body" idx="2"/>
          </p:nvPr>
        </p:nvSpPr>
        <p:spPr>
          <a:xfrm>
            <a:off x="457200" y="1828800"/>
            <a:ext cx="3931920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238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  <a:defRPr sz="1800"/>
            </a:lvl1pPr>
            <a:lvl2pPr marL="914400" lvl="1" indent="-3111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Char char="•"/>
              <a:defRPr sz="1500"/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3pPr>
            <a:lvl4pPr marL="1828800" lvl="3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48" name="Google Shape;48;p101"/>
          <p:cNvSpPr txBox="1">
            <a:spLocks noGrp="1"/>
          </p:cNvSpPr>
          <p:nvPr>
            <p:ph type="body" idx="3"/>
          </p:nvPr>
        </p:nvSpPr>
        <p:spPr>
          <a:xfrm>
            <a:off x="4754880" y="1257300"/>
            <a:ext cx="3931920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 sz="15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400" b="1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101"/>
          <p:cNvSpPr txBox="1">
            <a:spLocks noGrp="1"/>
          </p:cNvSpPr>
          <p:nvPr>
            <p:ph type="body" idx="4"/>
          </p:nvPr>
        </p:nvSpPr>
        <p:spPr>
          <a:xfrm>
            <a:off x="4754880" y="1828800"/>
            <a:ext cx="3931920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238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  <a:defRPr sz="1800"/>
            </a:lvl1pPr>
            <a:lvl2pPr marL="914400" lvl="1" indent="-3111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Char char="•"/>
              <a:defRPr sz="1500"/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3pPr>
            <a:lvl4pPr marL="1828800" lvl="3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50" name="Google Shape;50;p101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01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01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3" name="Google Shape;53;p101"/>
          <p:cNvCxnSpPr/>
          <p:nvPr/>
        </p:nvCxnSpPr>
        <p:spPr>
          <a:xfrm rot="5400000">
            <a:off x="2806462" y="3034268"/>
            <a:ext cx="3531870" cy="79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4" name="Google Shape;54;p101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2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02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02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02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0" name="Google Shape;60;p102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3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3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03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" name="Google Shape;65;p103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內容" type="objTx">
  <p:cSld name="OBJECT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4"/>
          <p:cNvSpPr txBox="1">
            <a:spLocks noGrp="1"/>
          </p:cNvSpPr>
          <p:nvPr>
            <p:ph type="title"/>
          </p:nvPr>
        </p:nvSpPr>
        <p:spPr>
          <a:xfrm>
            <a:off x="457200" y="594060"/>
            <a:ext cx="2139696" cy="946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04"/>
          <p:cNvSpPr txBox="1">
            <a:spLocks noGrp="1"/>
          </p:cNvSpPr>
          <p:nvPr>
            <p:ph type="body" idx="1"/>
          </p:nvPr>
        </p:nvSpPr>
        <p:spPr>
          <a:xfrm>
            <a:off x="2971800" y="594060"/>
            <a:ext cx="571500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619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 sz="2100"/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9" name="Google Shape;69;p104"/>
          <p:cNvSpPr txBox="1">
            <a:spLocks noGrp="1"/>
          </p:cNvSpPr>
          <p:nvPr>
            <p:ph type="body" idx="2"/>
          </p:nvPr>
        </p:nvSpPr>
        <p:spPr>
          <a:xfrm>
            <a:off x="457201" y="1597915"/>
            <a:ext cx="2139696" cy="3182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 sz="1100"/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9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800"/>
            </a:lvl3pPr>
            <a:lvl4pPr marL="1828800" lvl="3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4pPr>
            <a:lvl5pPr marL="2286000" lvl="4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5pPr>
            <a:lvl6pPr marL="2743200" lvl="5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6pPr>
            <a:lvl7pPr marL="3200400" lvl="6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7pPr>
            <a:lvl8pPr marL="3657600" lvl="7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8pPr>
            <a:lvl9pPr marL="4114800" lvl="8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70" name="Google Shape;70;p104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4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04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3" name="Google Shape;73;p104"/>
          <p:cNvCxnSpPr/>
          <p:nvPr/>
        </p:nvCxnSpPr>
        <p:spPr>
          <a:xfrm rot="5400000">
            <a:off x="684114" y="2684957"/>
            <a:ext cx="4183380" cy="1588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74" name="Google Shape;74;p104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圖片" type="picTx">
  <p:cSld name="PICTURE_WITH_CAPTION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5"/>
          <p:cNvSpPr txBox="1">
            <a:spLocks noGrp="1"/>
          </p:cNvSpPr>
          <p:nvPr>
            <p:ph type="title"/>
          </p:nvPr>
        </p:nvSpPr>
        <p:spPr>
          <a:xfrm>
            <a:off x="457200" y="594360"/>
            <a:ext cx="2142680" cy="948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05"/>
          <p:cNvSpPr>
            <a:spLocks noGrp="1"/>
          </p:cNvSpPr>
          <p:nvPr>
            <p:ph type="pic" idx="2"/>
          </p:nvPr>
        </p:nvSpPr>
        <p:spPr>
          <a:xfrm>
            <a:off x="2858610" y="628651"/>
            <a:ext cx="5904390" cy="4125342"/>
          </a:xfrm>
          <a:prstGeom prst="rect">
            <a:avLst/>
          </a:prstGeom>
          <a:solidFill>
            <a:schemeClr val="lt2"/>
          </a:solidFill>
          <a:ln w="762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12700" dir="5400000" algn="t" rotWithShape="0">
              <a:srgbClr val="000000">
                <a:alpha val="57647"/>
              </a:srgbClr>
            </a:outerShdw>
          </a:effectLst>
        </p:spPr>
      </p:sp>
      <p:sp>
        <p:nvSpPr>
          <p:cNvPr id="78" name="Google Shape;78;p10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2139696" cy="3182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 sz="1100"/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9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800"/>
            </a:lvl3pPr>
            <a:lvl4pPr marL="1828800" lvl="3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4pPr>
            <a:lvl5pPr marL="2286000" lvl="4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5pPr>
            <a:lvl6pPr marL="2743200" lvl="5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6pPr>
            <a:lvl7pPr marL="3200400" lvl="6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7pPr>
            <a:lvl8pPr marL="3657600" lvl="7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8pPr>
            <a:lvl9pPr marL="4114800" lvl="8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  <p:pic>
        <p:nvPicPr>
          <p:cNvPr id="79" name="Google Shape;79;p105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5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05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05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>
  <p:cSld name="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06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06"/>
          <p:cNvSpPr txBox="1">
            <a:spLocks noGrp="1"/>
          </p:cNvSpPr>
          <p:nvPr>
            <p:ph type="body" idx="1"/>
          </p:nvPr>
        </p:nvSpPr>
        <p:spPr>
          <a:xfrm rot="5400000">
            <a:off x="2771985" y="-1114635"/>
            <a:ext cx="3600031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1pPr>
            <a:lvl2pPr marL="914400" lvl="1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106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06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06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9" name="Google Shape;89;p106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>
  <p:cSld name="VERTICAL_TITLE_AND_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07"/>
          <p:cNvSpPr txBox="1">
            <a:spLocks noGrp="1"/>
          </p:cNvSpPr>
          <p:nvPr>
            <p:ph type="title"/>
          </p:nvPr>
        </p:nvSpPr>
        <p:spPr>
          <a:xfrm rot="5400000">
            <a:off x="5486610" y="1599990"/>
            <a:ext cx="434298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07"/>
          <p:cNvSpPr txBox="1">
            <a:spLocks noGrp="1"/>
          </p:cNvSpPr>
          <p:nvPr>
            <p:ph type="body" idx="1"/>
          </p:nvPr>
        </p:nvSpPr>
        <p:spPr>
          <a:xfrm rot="5400000">
            <a:off x="1295610" y="-381210"/>
            <a:ext cx="4342981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1pPr>
            <a:lvl2pPr marL="914400" lvl="1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07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07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07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6" name="Google Shape;96;p107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6"/>
          <p:cNvSpPr/>
          <p:nvPr/>
        </p:nvSpPr>
        <p:spPr>
          <a:xfrm>
            <a:off x="0" y="165589"/>
            <a:ext cx="9144000" cy="171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96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omic Sans MS"/>
              <a:buNone/>
              <a:defRPr sz="30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8" name="Google Shape;8;p9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4000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Comic Sans MS"/>
              <a:buChar char="•"/>
              <a:defRPr sz="27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L="914400" marR="0" lvl="1" indent="-3619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omic Sans MS"/>
              <a:buChar char="•"/>
              <a:defRPr sz="21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L="1371600" marR="0" lvl="2" indent="-3365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Comic Sans MS"/>
              <a:buChar char="•"/>
              <a:defRPr sz="19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L="1828800" marR="0" lvl="3" indent="-3365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Comic Sans MS"/>
              <a:buChar char="•"/>
              <a:defRPr sz="17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omic Sans MS"/>
              <a:buChar char="•"/>
              <a:defRPr sz="16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omic Sans MS"/>
              <a:buChar char="•"/>
              <a:defRPr sz="15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L="3200400" marR="0" lvl="6" indent="-3238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omic Sans MS"/>
              <a:buChar char="•"/>
              <a:defRPr sz="15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L="3657600" marR="0" lvl="7" indent="-3238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omic Sans MS"/>
              <a:buChar char="•"/>
              <a:defRPr sz="15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L="4114800" marR="0" lvl="8" indent="-3238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omic Sans MS"/>
              <a:buChar char="•"/>
              <a:defRPr sz="15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9" name="Google Shape;9;p96"/>
          <p:cNvSpPr/>
          <p:nvPr/>
        </p:nvSpPr>
        <p:spPr>
          <a:xfrm>
            <a:off x="0" y="0"/>
            <a:ext cx="9144000" cy="1655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96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96"/>
          <p:cNvSpPr/>
          <p:nvPr/>
        </p:nvSpPr>
        <p:spPr>
          <a:xfrm>
            <a:off x="6298952" y="4857750"/>
            <a:ext cx="2845048" cy="154893"/>
          </a:xfrm>
          <a:prstGeom prst="rect">
            <a:avLst/>
          </a:prstGeom>
          <a:solidFill>
            <a:srgbClr val="65747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96"/>
          <p:cNvSpPr/>
          <p:nvPr/>
        </p:nvSpPr>
        <p:spPr>
          <a:xfrm>
            <a:off x="-1240" y="4857750"/>
            <a:ext cx="2845048" cy="154893"/>
          </a:xfrm>
          <a:prstGeom prst="rect">
            <a:avLst/>
          </a:prstGeom>
          <a:solidFill>
            <a:srgbClr val="65747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96"/>
          <p:cNvSpPr txBox="1"/>
          <p:nvPr/>
        </p:nvSpPr>
        <p:spPr>
          <a:xfrm>
            <a:off x="2902025" y="4815950"/>
            <a:ext cx="33387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NTUST - </a:t>
            </a:r>
            <a:r>
              <a:rPr lang="en-US" sz="11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11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obilizing </a:t>
            </a:r>
            <a:r>
              <a:rPr lang="en-US" sz="11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1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nformation </a:t>
            </a:r>
            <a:r>
              <a:rPr lang="en-US" sz="11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11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echnology </a:t>
            </a:r>
            <a:r>
              <a:rPr lang="en-US" sz="11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Lab</a:t>
            </a:r>
            <a:endParaRPr sz="1100" b="1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" name="Google Shape;14;p96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5496" y="3522"/>
            <a:ext cx="1223628" cy="2975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96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110468" y="-745"/>
            <a:ext cx="2009119" cy="33778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"/>
          <p:cNvSpPr txBox="1">
            <a:spLocks noGrp="1"/>
          </p:cNvSpPr>
          <p:nvPr>
            <p:ph type="ctrTitle"/>
          </p:nvPr>
        </p:nvSpPr>
        <p:spPr>
          <a:xfrm>
            <a:off x="691100" y="389650"/>
            <a:ext cx="8050564" cy="2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進度報告</a:t>
            </a:r>
            <a:endParaRPr lang="en-US" altLang="zh-TW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03" name="Google Shape;103;p1"/>
          <p:cNvPicPr preferRelativeResize="0"/>
          <p:nvPr/>
        </p:nvPicPr>
        <p:blipFill rotWithShape="1">
          <a:blip r:embed="rId3">
            <a:alphaModFix/>
          </a:blip>
          <a:srcRect l="34250" t="37759" r="11019" b="25516"/>
          <a:stretch/>
        </p:blipFill>
        <p:spPr>
          <a:xfrm>
            <a:off x="89502" y="4299942"/>
            <a:ext cx="1728192" cy="503538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"/>
          <p:cNvSpPr txBox="1">
            <a:spLocks noGrp="1"/>
          </p:cNvSpPr>
          <p:nvPr>
            <p:ph type="body" idx="2"/>
          </p:nvPr>
        </p:nvSpPr>
        <p:spPr>
          <a:xfrm>
            <a:off x="4307489" y="3682028"/>
            <a:ext cx="4838247" cy="817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</a:pPr>
            <a:r>
              <a:rPr lang="en-US" sz="135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Comic Sans MS"/>
              </a:rPr>
              <a:t>Student: </a:t>
            </a:r>
            <a:r>
              <a:rPr lang="zh-TW" altLang="en-US" sz="13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台科大 </a:t>
            </a:r>
            <a:r>
              <a:rPr lang="en-US" altLang="zh-TW" sz="13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XXX</a:t>
            </a:r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</a:pPr>
            <a:r>
              <a:rPr lang="en-US" sz="135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Comic Sans MS"/>
              </a:rPr>
              <a:t>Date: 202</a:t>
            </a:r>
            <a:r>
              <a:rPr lang="en-US" altLang="zh-TW" sz="13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r>
              <a:rPr lang="en-US" sz="135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Comic Sans MS"/>
              </a:rPr>
              <a:t>.MM.</a:t>
            </a:r>
            <a:r>
              <a:rPr lang="en-US" sz="13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DD</a:t>
            </a:r>
            <a:r>
              <a:rPr lang="en-US" sz="1350" dirty="0">
                <a:latin typeface="微軟正黑體" panose="020B0604030504040204" pitchFamily="34" charset="-120"/>
                <a:ea typeface="微軟正黑體" panose="020B0604030504040204" pitchFamily="34" charset="-120"/>
                <a:sym typeface="Comic Sans MS"/>
              </a:rPr>
              <a:t> </a:t>
            </a:r>
            <a:r>
              <a:rPr lang="en-US" sz="13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Fri</a:t>
            </a:r>
            <a:r>
              <a:rPr lang="en-US" sz="135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Comic Sans MS"/>
              </a:rPr>
              <a:t>.</a:t>
            </a:r>
            <a:endParaRPr sz="1350" b="1" dirty="0">
              <a:latin typeface="微軟正黑體" panose="020B0604030504040204" pitchFamily="34" charset="-120"/>
              <a:ea typeface="微軟正黑體" panose="020B0604030504040204" pitchFamily="34" charset="-120"/>
              <a:sym typeface="Comic Sans MS"/>
            </a:endParaRPr>
          </a:p>
          <a:p>
            <a:pPr marL="514350" lvl="0" indent="-5143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</a:pPr>
            <a:r>
              <a:rPr lang="en-US" sz="135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Comic Sans MS"/>
              </a:rPr>
              <a:t>National Taiwan University of Science and Technology</a:t>
            </a:r>
            <a:endParaRPr sz="1350" b="1" dirty="0">
              <a:latin typeface="微軟正黑體" panose="020B0604030504040204" pitchFamily="34" charset="-120"/>
              <a:ea typeface="微軟正黑體" panose="020B0604030504040204" pitchFamily="34" charset="-120"/>
              <a:sym typeface="Comic Sans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7bc1bce13_1_63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Comic Sans MS"/>
              </a:rPr>
              <a:t>Overview</a:t>
            </a:r>
            <a:endParaRPr b="1" dirty="0">
              <a:latin typeface="微軟正黑體" panose="020B0604030504040204" pitchFamily="34" charset="-120"/>
              <a:ea typeface="微軟正黑體" panose="020B0604030504040204" pitchFamily="34" charset="-120"/>
              <a:sym typeface="Comic Sans MS"/>
            </a:endParaRPr>
          </a:p>
        </p:txBody>
      </p:sp>
      <p:sp>
        <p:nvSpPr>
          <p:cNvPr id="111" name="Google Shape;111;g2e7bc1bce13_1_63"/>
          <p:cNvSpPr txBox="1">
            <a:spLocks noGrp="1"/>
          </p:cNvSpPr>
          <p:nvPr>
            <p:ph type="body" idx="1"/>
          </p:nvPr>
        </p:nvSpPr>
        <p:spPr>
          <a:xfrm>
            <a:off x="457200" y="1047750"/>
            <a:ext cx="8229600" cy="3518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indent="-381000">
              <a:spcBef>
                <a:spcPts val="0"/>
              </a:spcBef>
              <a:buSzPts val="2400"/>
              <a:buAutoNum type="arabicPeriod"/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E2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 欄位介紹</a:t>
            </a: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indent="-381000">
              <a:spcBef>
                <a:spcPts val="0"/>
              </a:spcBef>
              <a:buSzPts val="2400"/>
              <a:buFont typeface="Comic Sans MS"/>
              <a:buAutoNum type="arabicPeriod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目前支援</a:t>
            </a:r>
            <a:r>
              <a:rPr lang="en-US" altLang="zh-TW" sz="2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xApp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操作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2" name="Google Shape;112;g2e7bc1bce13_1_63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fld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CFA76-FB71-C432-E5B8-C9EF7DA6F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4DE1D0-17A7-8DDA-7C60-3FC9D3554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13" y="291216"/>
            <a:ext cx="8229600" cy="742950"/>
          </a:xfrm>
        </p:spPr>
        <p:txBody>
          <a:bodyPr>
            <a:norm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本週進度與成果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0ACED4-6A4A-99A1-8D7D-88123A6A08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fld>
            <a:endParaRPr 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C80DEFB-4D88-E397-8EFB-8EF22531777B}"/>
              </a:ext>
            </a:extLst>
          </p:cNvPr>
          <p:cNvSpPr txBox="1"/>
          <p:nvPr/>
        </p:nvSpPr>
        <p:spPr>
          <a:xfrm>
            <a:off x="580445" y="1034166"/>
            <a:ext cx="35065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新增</a:t>
            </a:r>
            <a:r>
              <a:rPr lang="en-US" altLang="zh-TW" dirty="0"/>
              <a:t>E2 </a:t>
            </a:r>
            <a:r>
              <a:rPr lang="zh-TW" altLang="en-US" dirty="0"/>
              <a:t>欄位 </a:t>
            </a:r>
            <a:r>
              <a:rPr lang="en-US" altLang="zh-TW" dirty="0"/>
              <a:t>- - - Full E2</a:t>
            </a:r>
            <a:r>
              <a:rPr lang="zh-TW" altLang="en-US" dirty="0"/>
              <a:t> 欄位參考  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463AC4C-8F47-4442-881D-769C35DB1AA8}"/>
              </a:ext>
            </a:extLst>
          </p:cNvPr>
          <p:cNvSpPr txBox="1"/>
          <p:nvPr/>
        </p:nvSpPr>
        <p:spPr>
          <a:xfrm>
            <a:off x="779228" y="1342945"/>
            <a:ext cx="27829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真值 包含 實際量測</a:t>
            </a:r>
            <a:r>
              <a:rPr lang="en-US" altLang="zh-TW" dirty="0"/>
              <a:t>+ </a:t>
            </a:r>
            <a:r>
              <a:rPr lang="zh-TW" altLang="en-US" dirty="0"/>
              <a:t>定義計算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BD9045D-F7E0-DF79-1082-9DC79A8609E5}"/>
              </a:ext>
            </a:extLst>
          </p:cNvPr>
          <p:cNvSpPr txBox="1"/>
          <p:nvPr/>
        </p:nvSpPr>
        <p:spPr>
          <a:xfrm>
            <a:off x="1057522" y="2084893"/>
            <a:ext cx="40869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表格</a:t>
            </a:r>
            <a:r>
              <a:rPr lang="en-US" altLang="zh-TW" dirty="0"/>
              <a:t>(</a:t>
            </a:r>
            <a:r>
              <a:rPr lang="zh-TW" altLang="en-US" dirty="0"/>
              <a:t>欄位名稱 欄位意義 欄位模擬方式 欄位關聯</a:t>
            </a:r>
            <a:r>
              <a:rPr lang="en-US" altLang="zh-TW" dirty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9157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CFA76-FB71-C432-E5B8-C9EF7DA6F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4DE1D0-17A7-8DDA-7C60-3FC9D3554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13" y="291216"/>
            <a:ext cx="8229600" cy="742950"/>
          </a:xfrm>
        </p:spPr>
        <p:txBody>
          <a:bodyPr>
            <a:norm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本週進度與成果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0ACED4-6A4A-99A1-8D7D-88123A6A08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fld>
            <a:endParaRPr 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C80DEFB-4D88-E397-8EFB-8EF22531777B}"/>
              </a:ext>
            </a:extLst>
          </p:cNvPr>
          <p:cNvSpPr txBox="1"/>
          <p:nvPr/>
        </p:nvSpPr>
        <p:spPr>
          <a:xfrm>
            <a:off x="580445" y="1034166"/>
            <a:ext cx="35065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新增</a:t>
            </a:r>
            <a:r>
              <a:rPr lang="en-US" altLang="zh-TW" dirty="0"/>
              <a:t>E2 </a:t>
            </a:r>
            <a:r>
              <a:rPr lang="zh-TW" altLang="en-US" dirty="0"/>
              <a:t>欄位 </a:t>
            </a:r>
            <a:r>
              <a:rPr lang="en-US" altLang="zh-TW" dirty="0"/>
              <a:t>- - - Full E2</a:t>
            </a:r>
            <a:r>
              <a:rPr lang="zh-TW" altLang="en-US" dirty="0"/>
              <a:t> 欄位參考  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463AC4C-8F47-4442-881D-769C35DB1AA8}"/>
              </a:ext>
            </a:extLst>
          </p:cNvPr>
          <p:cNvSpPr txBox="1"/>
          <p:nvPr/>
        </p:nvSpPr>
        <p:spPr>
          <a:xfrm>
            <a:off x="779228" y="1342945"/>
            <a:ext cx="27829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估測值 包含 透過定義 估測方式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BD9045D-F7E0-DF79-1082-9DC79A8609E5}"/>
              </a:ext>
            </a:extLst>
          </p:cNvPr>
          <p:cNvSpPr txBox="1"/>
          <p:nvPr/>
        </p:nvSpPr>
        <p:spPr>
          <a:xfrm>
            <a:off x="1057522" y="2084893"/>
            <a:ext cx="40869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表格</a:t>
            </a:r>
            <a:r>
              <a:rPr lang="en-US" altLang="zh-TW" dirty="0"/>
              <a:t>(</a:t>
            </a:r>
            <a:r>
              <a:rPr lang="zh-TW" altLang="en-US" dirty="0"/>
              <a:t>欄位名稱 欄位意義 估測方式 欄位關聯</a:t>
            </a:r>
            <a:r>
              <a:rPr lang="en-US" altLang="zh-TW" dirty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85882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CFA76-FB71-C432-E5B8-C9EF7DA6F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4DE1D0-17A7-8DDA-7C60-3FC9D3554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13" y="291216"/>
            <a:ext cx="8229600" cy="742950"/>
          </a:xfrm>
        </p:spPr>
        <p:txBody>
          <a:bodyPr>
            <a:norm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本週進度與成果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0ACED4-6A4A-99A1-8D7D-88123A6A08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fld>
            <a:endParaRPr 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C80DEFB-4D88-E397-8EFB-8EF22531777B}"/>
              </a:ext>
            </a:extLst>
          </p:cNvPr>
          <p:cNvSpPr txBox="1"/>
          <p:nvPr/>
        </p:nvSpPr>
        <p:spPr>
          <a:xfrm>
            <a:off x="580445" y="1034166"/>
            <a:ext cx="35065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新增</a:t>
            </a:r>
            <a:r>
              <a:rPr lang="en-US" altLang="zh-TW" dirty="0"/>
              <a:t>E2 </a:t>
            </a:r>
            <a:r>
              <a:rPr lang="zh-TW" altLang="en-US" dirty="0"/>
              <a:t>欄位 </a:t>
            </a:r>
            <a:r>
              <a:rPr lang="en-US" altLang="zh-TW" dirty="0"/>
              <a:t>- - - Full E2</a:t>
            </a:r>
            <a:r>
              <a:rPr lang="zh-TW" altLang="en-US" dirty="0"/>
              <a:t> 欄位參考  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463AC4C-8F47-4442-881D-769C35DB1AA8}"/>
              </a:ext>
            </a:extLst>
          </p:cNvPr>
          <p:cNvSpPr txBox="1"/>
          <p:nvPr/>
        </p:nvSpPr>
        <p:spPr>
          <a:xfrm>
            <a:off x="779228" y="1342945"/>
            <a:ext cx="3506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假值 包含 無法估算 或是 平台不支援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BD9045D-F7E0-DF79-1082-9DC79A8609E5}"/>
              </a:ext>
            </a:extLst>
          </p:cNvPr>
          <p:cNvSpPr txBox="1"/>
          <p:nvPr/>
        </p:nvSpPr>
        <p:spPr>
          <a:xfrm>
            <a:off x="1057522" y="2084893"/>
            <a:ext cx="40869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表格</a:t>
            </a:r>
            <a:r>
              <a:rPr lang="en-US" altLang="zh-TW" dirty="0"/>
              <a:t>(</a:t>
            </a:r>
            <a:r>
              <a:rPr lang="zh-TW" altLang="en-US" dirty="0"/>
              <a:t>欄位名稱 欄位意義 不支援原因</a:t>
            </a:r>
            <a:r>
              <a:rPr lang="en-US" altLang="zh-TW" dirty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19721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CFA76-FB71-C432-E5B8-C9EF7DA6F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4DE1D0-17A7-8DDA-7C60-3FC9D3554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3995"/>
            <a:ext cx="8229600" cy="742950"/>
          </a:xfrm>
        </p:spPr>
        <p:txBody>
          <a:bodyPr>
            <a:norm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本週進度與成果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0ACED4-6A4A-99A1-8D7D-88123A6A08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fld>
            <a:endParaRPr 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2D48991-E583-0D95-E43F-A3736AFC9576}"/>
              </a:ext>
            </a:extLst>
          </p:cNvPr>
          <p:cNvSpPr txBox="1"/>
          <p:nvPr/>
        </p:nvSpPr>
        <p:spPr>
          <a:xfrm>
            <a:off x="542677" y="907611"/>
            <a:ext cx="45998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buSzPts val="2400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目前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RAN-SIM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可以支援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xApp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操作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94EEB02-B208-65A5-5951-754A539891B4}"/>
              </a:ext>
            </a:extLst>
          </p:cNvPr>
          <p:cNvSpPr txBox="1"/>
          <p:nvPr/>
        </p:nvSpPr>
        <p:spPr>
          <a:xfrm>
            <a:off x="1417319" y="1432397"/>
            <a:ext cx="60489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表格</a:t>
            </a:r>
            <a:r>
              <a:rPr lang="en-US" altLang="zh-TW" dirty="0"/>
              <a:t>(</a:t>
            </a:r>
            <a:r>
              <a:rPr lang="zh-TW" altLang="en-US" dirty="0"/>
              <a:t>名稱 解決甚麼問題會呼叫 他能做到甚麼事情 具體怎麼做 </a:t>
            </a:r>
            <a:r>
              <a:rPr lang="en-US" altLang="zh-TW" dirty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81641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CFA76-FB71-C432-E5B8-C9EF7DA6F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4DE1D0-17A7-8DDA-7C60-3FC9D3554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573" y="0"/>
            <a:ext cx="8229600" cy="742950"/>
          </a:xfrm>
        </p:spPr>
        <p:txBody>
          <a:bodyPr>
            <a:norm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本週進度與成果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0ACED4-6A4A-99A1-8D7D-88123A6A08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7</a:t>
            </a:fld>
            <a:endParaRPr 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1B3CE5E-4DA0-82D5-70A8-99D7B645D99C}"/>
              </a:ext>
            </a:extLst>
          </p:cNvPr>
          <p:cNvSpPr txBox="1"/>
          <p:nvPr/>
        </p:nvSpPr>
        <p:spPr>
          <a:xfrm>
            <a:off x="542677" y="907611"/>
            <a:ext cx="45998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buSzPts val="2400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目前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RAN-SIM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可以支援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xApp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操作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56C2D5D-64D9-A7B1-6E92-290382739D33}"/>
              </a:ext>
            </a:extLst>
          </p:cNvPr>
          <p:cNvSpPr txBox="1"/>
          <p:nvPr/>
        </p:nvSpPr>
        <p:spPr>
          <a:xfrm>
            <a:off x="1417319" y="1432397"/>
            <a:ext cx="60489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實測結果 表格</a:t>
            </a:r>
          </a:p>
        </p:txBody>
      </p:sp>
    </p:spTree>
    <p:extLst>
      <p:ext uri="{BB962C8B-B14F-4D97-AF65-F5344CB8AC3E}">
        <p14:creationId xmlns:p14="http://schemas.microsoft.com/office/powerpoint/2010/main" val="3490486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DE520-AA65-5DA0-F613-112787A3D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C090A8-08EC-93DD-AC27-731B0341A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下週進度規劃與預期成果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4E4FA73-A466-9932-B2D6-96F8156F6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SzPct val="120000"/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chemeClr val="accent2"/>
                </a:solidFill>
                <a:latin typeface="+mn-lt"/>
                <a:ea typeface="微軟正黑體"/>
              </a:rPr>
              <a:t>工作規劃</a:t>
            </a:r>
            <a:endParaRPr lang="en-US" altLang="zh-TW" sz="1400" dirty="0">
              <a:solidFill>
                <a:schemeClr val="accent2"/>
              </a:solidFill>
              <a:latin typeface="+mn-lt"/>
              <a:ea typeface="微軟正黑體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7DF2152-D5B9-4635-42CC-A44B738FD7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55918D2-64BC-1D9C-9909-8CF0C7862B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043245"/>
              </p:ext>
            </p:extLst>
          </p:nvPr>
        </p:nvGraphicFramePr>
        <p:xfrm>
          <a:off x="764644" y="1971364"/>
          <a:ext cx="7614712" cy="22714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1656">
                  <a:extLst>
                    <a:ext uri="{9D8B030D-6E8A-4147-A177-3AD203B41FA5}">
                      <a16:colId xmlns:a16="http://schemas.microsoft.com/office/drawing/2014/main" val="2484138561"/>
                    </a:ext>
                  </a:extLst>
                </a:gridCol>
                <a:gridCol w="2152650">
                  <a:extLst>
                    <a:ext uri="{9D8B030D-6E8A-4147-A177-3AD203B41FA5}">
                      <a16:colId xmlns:a16="http://schemas.microsoft.com/office/drawing/2014/main" val="1062149114"/>
                    </a:ext>
                  </a:extLst>
                </a:gridCol>
                <a:gridCol w="4080406">
                  <a:extLst>
                    <a:ext uri="{9D8B030D-6E8A-4147-A177-3AD203B41FA5}">
                      <a16:colId xmlns:a16="http://schemas.microsoft.com/office/drawing/2014/main" val="259960909"/>
                    </a:ext>
                  </a:extLst>
                </a:gridCol>
              </a:tblGrid>
              <a:tr h="560729"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工作性質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40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工作規劃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40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預期成果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9420317"/>
                  </a:ext>
                </a:extLst>
              </a:tr>
              <a:tr h="855385"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latin typeface="+mn-lt"/>
                          <a:ea typeface="微軟正黑體" panose="020B0604030504040204" pitchFamily="34" charset="-120"/>
                        </a:rPr>
                        <a:t>拉取真實</a:t>
                      </a:r>
                      <a:r>
                        <a:rPr lang="en-US" altLang="zh-TW" sz="1400" dirty="0">
                          <a:latin typeface="+mn-lt"/>
                          <a:ea typeface="微軟正黑體" panose="020B0604030504040204" pitchFamily="34" charset="-120"/>
                        </a:rPr>
                        <a:t>RAN </a:t>
                      </a:r>
                      <a:r>
                        <a:rPr lang="zh-TW" altLang="en-US" sz="1400" dirty="0">
                          <a:latin typeface="+mn-lt"/>
                          <a:ea typeface="微軟正黑體" panose="020B0604030504040204" pitchFamily="34" charset="-120"/>
                        </a:rPr>
                        <a:t>得資料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zh-TW" alt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微軟正黑體"/>
                          <a:cs typeface="+mn-cs"/>
                          <a:sym typeface="Arial"/>
                        </a:rPr>
                        <a:t>到實體環境拿</a:t>
                      </a:r>
                      <a:r>
                        <a:rPr lang="en-US" altLang="zh-TW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微軟正黑體"/>
                          <a:cs typeface="+mn-cs"/>
                          <a:sym typeface="Arial"/>
                        </a:rPr>
                        <a:t>SMO</a:t>
                      </a:r>
                      <a:r>
                        <a:rPr lang="zh-TW" alt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微軟正黑體"/>
                          <a:cs typeface="+mn-cs"/>
                          <a:sym typeface="Arial"/>
                        </a:rPr>
                        <a:t> </a:t>
                      </a:r>
                      <a:r>
                        <a:rPr lang="en-US" altLang="zh-TW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微軟正黑體"/>
                          <a:cs typeface="+mn-cs"/>
                          <a:sym typeface="Arial"/>
                        </a:rPr>
                        <a:t>DB</a:t>
                      </a:r>
                      <a:r>
                        <a:rPr lang="zh-TW" alt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微軟正黑體"/>
                          <a:cs typeface="+mn-cs"/>
                          <a:sym typeface="Arial"/>
                        </a:rPr>
                        <a:t>中紀錄的</a:t>
                      </a:r>
                      <a:r>
                        <a:rPr lang="en-US" altLang="zh-TW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微軟正黑體"/>
                          <a:cs typeface="+mn-cs"/>
                          <a:sym typeface="Arial"/>
                        </a:rPr>
                        <a:t>RAN </a:t>
                      </a:r>
                      <a:r>
                        <a:rPr lang="zh-TW" alt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微軟正黑體"/>
                          <a:cs typeface="+mn-cs"/>
                          <a:sym typeface="Arial"/>
                        </a:rPr>
                        <a:t>的資料</a:t>
                      </a:r>
                      <a:endParaRPr lang="en-US" altLang="zh-TW" sz="1400" b="1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微軟正黑體"/>
                        <a:cs typeface="+mn-cs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latin typeface="+mn-lt"/>
                          <a:ea typeface="微軟正黑體" panose="020B0604030504040204" pitchFamily="34" charset="-120"/>
                        </a:rPr>
                        <a:t>用實體環境</a:t>
                      </a:r>
                      <a:r>
                        <a:rPr lang="en-US" altLang="zh-TW" sz="1400" dirty="0">
                          <a:latin typeface="+mn-lt"/>
                          <a:ea typeface="微軟正黑體" panose="020B0604030504040204" pitchFamily="34" charset="-120"/>
                        </a:rPr>
                        <a:t>RAN </a:t>
                      </a:r>
                      <a:r>
                        <a:rPr lang="zh-TW" altLang="en-US" sz="1400" dirty="0">
                          <a:latin typeface="+mn-lt"/>
                          <a:ea typeface="微軟正黑體" panose="020B0604030504040204" pitchFamily="34" charset="-120"/>
                        </a:rPr>
                        <a:t>的資訊取代一些 虛擬不同步的資料問題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0119418"/>
                  </a:ext>
                </a:extLst>
              </a:tr>
              <a:tr h="855385"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latin typeface="+mn-lt"/>
                          <a:ea typeface="微軟正黑體" panose="020B0604030504040204" pitchFamily="34" charset="-120"/>
                        </a:rPr>
                        <a:t>做出</a:t>
                      </a:r>
                      <a:r>
                        <a:rPr lang="en-US" altLang="zh-TW" sz="1400" dirty="0">
                          <a:latin typeface="+mn-lt"/>
                          <a:ea typeface="微軟正黑體" panose="020B0604030504040204" pitchFamily="34" charset="-120"/>
                        </a:rPr>
                        <a:t>near RT RIC </a:t>
                      </a:r>
                      <a:r>
                        <a:rPr lang="zh-TW" altLang="en-US" sz="1400" dirty="0">
                          <a:latin typeface="+mn-lt"/>
                          <a:ea typeface="微軟正黑體" panose="020B0604030504040204" pitchFamily="34" charset="-120"/>
                        </a:rPr>
                        <a:t>給</a:t>
                      </a:r>
                      <a:r>
                        <a:rPr lang="en-US" altLang="zh-TW" sz="1400" dirty="0">
                          <a:latin typeface="+mn-lt"/>
                          <a:ea typeface="微軟正黑體" panose="020B0604030504040204" pitchFamily="34" charset="-120"/>
                        </a:rPr>
                        <a:t>Agent</a:t>
                      </a:r>
                      <a:r>
                        <a:rPr lang="zh-TW" altLang="en-US" sz="1400" dirty="0">
                          <a:latin typeface="+mn-lt"/>
                          <a:ea typeface="微軟正黑體" panose="020B0604030504040204" pitchFamily="34" charset="-120"/>
                        </a:rPr>
                        <a:t>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zh-TW" alt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微軟正黑體"/>
                          <a:cs typeface="+mn-cs"/>
                          <a:sym typeface="Arial"/>
                        </a:rPr>
                        <a:t>串接 </a:t>
                      </a:r>
                      <a:r>
                        <a:rPr lang="en-US" altLang="zh-TW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微軟正黑體"/>
                          <a:cs typeface="+mn-cs"/>
                          <a:sym typeface="Arial"/>
                        </a:rPr>
                        <a:t>RAN+</a:t>
                      </a:r>
                      <a:r>
                        <a:rPr lang="zh-TW" alt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微軟正黑體"/>
                          <a:cs typeface="+mn-cs"/>
                          <a:sym typeface="Arial"/>
                        </a:rPr>
                        <a:t> </a:t>
                      </a:r>
                      <a:r>
                        <a:rPr lang="en-US" altLang="zh-TW" sz="1400" dirty="0">
                          <a:latin typeface="+mn-lt"/>
                          <a:ea typeface="微軟正黑體" panose="020B0604030504040204" pitchFamily="34" charset="-120"/>
                        </a:rPr>
                        <a:t>near RT RIC</a:t>
                      </a:r>
                      <a:endParaRPr lang="en-US" altLang="zh-TW" sz="1400" b="1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微軟正黑體"/>
                        <a:cs typeface="+mn-cs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latin typeface="+mn-lt"/>
                          <a:ea typeface="微軟正黑體"/>
                        </a:rPr>
                        <a:t>實測</a:t>
                      </a:r>
                      <a:r>
                        <a:rPr lang="en-US" altLang="zh-TW" sz="1400" dirty="0" err="1">
                          <a:latin typeface="+mn-lt"/>
                          <a:ea typeface="微軟正黑體"/>
                        </a:rPr>
                        <a:t>xApp</a:t>
                      </a:r>
                      <a:r>
                        <a:rPr lang="zh-TW" altLang="en-US" sz="1400" dirty="0">
                          <a:latin typeface="+mn-lt"/>
                          <a:ea typeface="微軟正黑體"/>
                        </a:rPr>
                        <a:t>  有資料給 </a:t>
                      </a:r>
                      <a:r>
                        <a:rPr lang="en-US" altLang="zh-TW" sz="1400" dirty="0" err="1">
                          <a:latin typeface="+mn-lt"/>
                          <a:ea typeface="微軟正黑體"/>
                        </a:rPr>
                        <a:t>xApp</a:t>
                      </a:r>
                      <a:r>
                        <a:rPr lang="zh-TW" altLang="en-US" sz="1400" dirty="0">
                          <a:latin typeface="+mn-lt"/>
                          <a:ea typeface="微軟正黑體"/>
                        </a:rPr>
                        <a:t>分析 並下命六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6200872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E18E0369-6730-8773-D51F-EC27EFD4429C}"/>
              </a:ext>
            </a:extLst>
          </p:cNvPr>
          <p:cNvSpPr txBox="1"/>
          <p:nvPr/>
        </p:nvSpPr>
        <p:spPr>
          <a:xfrm>
            <a:off x="977900" y="1560300"/>
            <a:ext cx="508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OAI</a:t>
            </a:r>
            <a:r>
              <a:rPr lang="zh-TW" altLang="en-US" dirty="0"/>
              <a:t> 設定檔案 </a:t>
            </a:r>
            <a:r>
              <a:rPr lang="en-US" altLang="zh-TW" dirty="0"/>
              <a:t>(</a:t>
            </a:r>
            <a:r>
              <a:rPr lang="zh-TW" altLang="en-US" dirty="0"/>
              <a:t>流量 </a:t>
            </a:r>
            <a:r>
              <a:rPr lang="en-US" altLang="zh-TW" dirty="0"/>
              <a:t>UE</a:t>
            </a:r>
            <a:r>
              <a:rPr lang="zh-TW" altLang="en-US" dirty="0"/>
              <a:t> </a:t>
            </a:r>
            <a:r>
              <a:rPr lang="en-US" altLang="zh-TW" dirty="0"/>
              <a:t>network </a:t>
            </a:r>
            <a:r>
              <a:rPr lang="en-US" altLang="zh-TW" dirty="0" err="1"/>
              <a:t>silce</a:t>
            </a:r>
            <a:r>
              <a:rPr lang="en-US" altLang="zh-TW" dirty="0"/>
              <a:t>) 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08319589"/>
      </p:ext>
    </p:extLst>
  </p:cSld>
  <p:clrMapOvr>
    <a:masterClrMapping/>
  </p:clrMapOvr>
</p:sld>
</file>

<file path=ppt/theme/theme1.xml><?xml version="1.0" encoding="utf-8"?>
<a:theme xmlns:a="http://schemas.openxmlformats.org/drawingml/2006/main" name="MITLab-Version_Wai">
  <a:themeElements>
    <a:clrScheme name="藍色 II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2824</TotalTime>
  <Words>675</Words>
  <Application>Microsoft Office PowerPoint</Application>
  <PresentationFormat>如螢幕大小 (16:9)</PresentationFormat>
  <Paragraphs>89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2" baseType="lpstr">
      <vt:lpstr>微軟正黑體</vt:lpstr>
      <vt:lpstr>Arial</vt:lpstr>
      <vt:lpstr>Comic Sans MS</vt:lpstr>
      <vt:lpstr>MITLab-Version_Wai</vt:lpstr>
      <vt:lpstr>進度報告</vt:lpstr>
      <vt:lpstr>Overview</vt:lpstr>
      <vt:lpstr>本週進度與成果</vt:lpstr>
      <vt:lpstr>本週進度與成果</vt:lpstr>
      <vt:lpstr>本週進度與成果</vt:lpstr>
      <vt:lpstr>本週進度與成果</vt:lpstr>
      <vt:lpstr>本週進度與成果</vt:lpstr>
      <vt:lpstr>下週進度規劃與預期成果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Intent-Based SMO 進度報告</dc:title>
  <dc:creator>yihua</dc:creator>
  <cp:lastModifiedBy>耀慶 黃</cp:lastModifiedBy>
  <cp:revision>10</cp:revision>
  <dcterms:modified xsi:type="dcterms:W3CDTF">2026-08-12T02:49:59Z</dcterms:modified>
</cp:coreProperties>
</file>