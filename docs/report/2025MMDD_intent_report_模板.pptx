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332" r:id="rId4"/>
    <p:sldId id="390" r:id="rId5"/>
    <p:sldId id="325" r:id="rId6"/>
    <p:sldId id="387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目錄" id="{46BFBF1B-B2D1-48AF-8DA5-056D75D2AFDD}">
          <p14:sldIdLst>
            <p14:sldId id="256"/>
            <p14:sldId id="257"/>
          </p14:sldIdLst>
        </p14:section>
        <p14:section name="本週進度與成果" id="{88722481-4458-47B8-9FC3-46CAF2CEFC2A}">
          <p14:sldIdLst>
            <p14:sldId id="332"/>
          </p14:sldIdLst>
        </p14:section>
        <p14:section name="問題討論" id="{AE608AC6-9860-4D48-9CFB-7A72212F63E1}">
          <p14:sldIdLst>
            <p14:sldId id="390"/>
          </p14:sldIdLst>
        </p14:section>
        <p14:section name="下週進度規劃與預期成果" id="{110C45DB-8A16-4491-AFF5-6652A4F18330}">
          <p14:sldIdLst>
            <p14:sldId id="325"/>
          </p14:sldIdLst>
        </p14:section>
        <p14:section name="參考資料/文獻" id="{9323E052-3489-4776-B0C5-348091FB5C00}">
          <p14:sldIdLst>
            <p14:sldId id="3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6" roundtripDataSignature="AMtx7mhhBnEAGo8vbriVIWbHZq7/dNB8n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68462F-314F-23CA-75CD-2878F472933F}" name="Shu Sheng Wang" initials="SW" userId="20e76af2fa6d7525" providerId="Windows Live"/>
  <p188:author id="{7B57B147-8FC0-5194-1C79-34EF26AFFAD2}" name="彥廷 陳" initials="彥陳" userId="5723c54b4ddaed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57" Type="http://schemas.openxmlformats.org/officeDocument/2006/relationships/presProps" Target="presProps.xml"/><Relationship Id="rId61" Type="http://schemas.microsoft.com/office/2018/10/relationships/authors" Target="authors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5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6062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919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7bc1bce13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e7bc1bce13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87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213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7A961-3932-E37F-D51C-C17FCF21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D9EB9F-7F80-B1C1-786B-72B876F76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56A11DF-E2C8-64D3-134B-3E929D27F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043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D5765A0-1105-1DF0-817C-4A321820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fb83a2ac5_0_119:notes">
            <a:extLst>
              <a:ext uri="{FF2B5EF4-FFF2-40B4-BE49-F238E27FC236}">
                <a16:creationId xmlns:a16="http://schemas.microsoft.com/office/drawing/2014/main" id="{6142EF7C-2014-E3FD-C6A6-4110069417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32fb83a2ac5_0_119:notes">
            <a:extLst>
              <a:ext uri="{FF2B5EF4-FFF2-40B4-BE49-F238E27FC236}">
                <a16:creationId xmlns:a16="http://schemas.microsoft.com/office/drawing/2014/main" id="{DE510FC2-56D9-0355-3D82-46996433B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5799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7"/>
          <p:cNvSpPr txBox="1">
            <a:spLocks noGrp="1"/>
          </p:cNvSpPr>
          <p:nvPr>
            <p:ph type="ctrTitle"/>
          </p:nvPr>
        </p:nvSpPr>
        <p:spPr>
          <a:xfrm>
            <a:off x="685800" y="910307"/>
            <a:ext cx="7848600" cy="144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7"/>
          <p:cNvSpPr txBox="1">
            <a:spLocks noGrp="1"/>
          </p:cNvSpPr>
          <p:nvPr>
            <p:ph type="subTitle" idx="1"/>
          </p:nvPr>
        </p:nvSpPr>
        <p:spPr>
          <a:xfrm>
            <a:off x="685800" y="2733768"/>
            <a:ext cx="5074332" cy="79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9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0" name="Google Shape;20;p97"/>
          <p:cNvCxnSpPr/>
          <p:nvPr/>
        </p:nvCxnSpPr>
        <p:spPr>
          <a:xfrm>
            <a:off x="685800" y="2548890"/>
            <a:ext cx="7848600" cy="11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97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444" cy="108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2100"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8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0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4000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492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8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8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8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98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0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0"/>
          <p:cNvSpPr txBox="1">
            <a:spLocks noGrp="1"/>
          </p:cNvSpPr>
          <p:nvPr>
            <p:ph type="body" idx="1"/>
          </p:nvPr>
        </p:nvSpPr>
        <p:spPr>
          <a:xfrm>
            <a:off x="457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9" name="Google Shape;39;p100"/>
          <p:cNvSpPr txBox="1">
            <a:spLocks noGrp="1"/>
          </p:cNvSpPr>
          <p:nvPr>
            <p:ph type="body" idx="2"/>
          </p:nvPr>
        </p:nvSpPr>
        <p:spPr>
          <a:xfrm>
            <a:off x="4648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" name="Google Shape;40;p100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0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0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00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3"/>
          </p:nvPr>
        </p:nvSpPr>
        <p:spPr>
          <a:xfrm>
            <a:off x="475488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body" idx="4"/>
          </p:nvPr>
        </p:nvSpPr>
        <p:spPr>
          <a:xfrm>
            <a:off x="475488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101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1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1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101"/>
          <p:cNvCxnSpPr/>
          <p:nvPr/>
        </p:nvCxnSpPr>
        <p:spPr>
          <a:xfrm rot="5400000">
            <a:off x="2806462" y="3034268"/>
            <a:ext cx="3531870" cy="79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4" name="Google Shape;54;p101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2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2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2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2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02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3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3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103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4"/>
          <p:cNvSpPr txBox="1"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4"/>
          <p:cNvSpPr txBox="1">
            <a:spLocks noGrp="1"/>
          </p:cNvSpPr>
          <p:nvPr>
            <p:ph type="body" idx="1"/>
          </p:nvPr>
        </p:nvSpPr>
        <p:spPr>
          <a:xfrm>
            <a:off x="2971800" y="594060"/>
            <a:ext cx="571500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9" name="Google Shape;69;p104"/>
          <p:cNvSpPr txBox="1">
            <a:spLocks noGrp="1"/>
          </p:cNvSpPr>
          <p:nvPr>
            <p:ph type="body" idx="2"/>
          </p:nvPr>
        </p:nvSpPr>
        <p:spPr>
          <a:xfrm>
            <a:off x="457201" y="1597915"/>
            <a:ext cx="2139696" cy="318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0" name="Google Shape;70;p104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4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4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104"/>
          <p:cNvCxnSpPr/>
          <p:nvPr/>
        </p:nvCxnSpPr>
        <p:spPr>
          <a:xfrm rot="5400000">
            <a:off x="684114" y="2684957"/>
            <a:ext cx="4183380" cy="15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4" name="Google Shape;74;p104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5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5"/>
          <p:cNvSpPr>
            <a:spLocks noGrp="1"/>
          </p:cNvSpPr>
          <p:nvPr>
            <p:ph type="pic" idx="2"/>
          </p:nvPr>
        </p:nvSpPr>
        <p:spPr>
          <a:xfrm>
            <a:off x="2858610" y="628651"/>
            <a:ext cx="5904390" cy="4125342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12700" dir="5400000" algn="t" rotWithShape="0">
              <a:srgbClr val="000000">
                <a:alpha val="57647"/>
              </a:srgbClr>
            </a:outerShdw>
          </a:effectLst>
        </p:spPr>
      </p:sp>
      <p:sp>
        <p:nvSpPr>
          <p:cNvPr id="78" name="Google Shape;78;p10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139696" cy="318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79" name="Google Shape;79;p105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5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5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5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6"/>
          <p:cNvSpPr txBox="1">
            <a:spLocks noGrp="1"/>
          </p:cNvSpPr>
          <p:nvPr>
            <p:ph type="body" idx="1"/>
          </p:nvPr>
        </p:nvSpPr>
        <p:spPr>
          <a:xfrm rot="5400000">
            <a:off x="2771985" y="-1114635"/>
            <a:ext cx="360003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0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6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6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106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7"/>
          <p:cNvSpPr txBox="1">
            <a:spLocks noGrp="1"/>
          </p:cNvSpPr>
          <p:nvPr>
            <p:ph type="title"/>
          </p:nvPr>
        </p:nvSpPr>
        <p:spPr>
          <a:xfrm rot="5400000">
            <a:off x="5486610" y="1599990"/>
            <a:ext cx="434298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7"/>
          <p:cNvSpPr txBox="1">
            <a:spLocks noGrp="1"/>
          </p:cNvSpPr>
          <p:nvPr>
            <p:ph type="body" idx="1"/>
          </p:nvPr>
        </p:nvSpPr>
        <p:spPr>
          <a:xfrm rot="5400000">
            <a:off x="1295610" y="-381210"/>
            <a:ext cx="434298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0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7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7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107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6"/>
          <p:cNvSpPr/>
          <p:nvPr/>
        </p:nvSpPr>
        <p:spPr>
          <a:xfrm>
            <a:off x="0" y="165589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9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 sz="30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" name="Google Shape;8;p9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omic Sans MS"/>
              <a:buChar char="•"/>
              <a:defRPr sz="2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omic Sans MS"/>
              <a:buChar char="•"/>
              <a:defRPr sz="21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9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mic Sans MS"/>
              <a:buChar char="•"/>
              <a:defRPr sz="16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9" name="Google Shape;9;p96"/>
          <p:cNvSpPr/>
          <p:nvPr/>
        </p:nvSpPr>
        <p:spPr>
          <a:xfrm>
            <a:off x="0" y="0"/>
            <a:ext cx="9144000" cy="165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9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6"/>
          <p:cNvSpPr/>
          <p:nvPr/>
        </p:nvSpPr>
        <p:spPr>
          <a:xfrm>
            <a:off x="6298952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6"/>
          <p:cNvSpPr/>
          <p:nvPr/>
        </p:nvSpPr>
        <p:spPr>
          <a:xfrm>
            <a:off x="-1240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6"/>
          <p:cNvSpPr txBox="1"/>
          <p:nvPr/>
        </p:nvSpPr>
        <p:spPr>
          <a:xfrm>
            <a:off x="2902025" y="4815950"/>
            <a:ext cx="3338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NTUST -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obilizing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nformation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echnology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1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9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496" y="3522"/>
            <a:ext cx="1223628" cy="29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9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10468" y="-745"/>
            <a:ext cx="2009119" cy="337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91100" y="389650"/>
            <a:ext cx="8050564" cy="2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Intent-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ased 進度報告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l="34250" t="37759" r="11019" b="25516"/>
          <a:stretch/>
        </p:blipFill>
        <p:spPr>
          <a:xfrm>
            <a:off x="89502" y="4299942"/>
            <a:ext cx="1728192" cy="503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>
            <a:spLocks noGrp="1"/>
          </p:cNvSpPr>
          <p:nvPr>
            <p:ph type="body" idx="2"/>
          </p:nvPr>
        </p:nvSpPr>
        <p:spPr>
          <a:xfrm>
            <a:off x="4307489" y="3682028"/>
            <a:ext cx="4838247" cy="81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Student: </a:t>
            </a:r>
            <a:r>
              <a:rPr lang="zh-TW" alt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台科大 </a:t>
            </a:r>
            <a:r>
              <a:rPr lang="en-US" altLang="zh-TW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XXX</a:t>
            </a: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Date: 202</a:t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5</a:t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.MM.</a:t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DD</a:t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 </a:t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Fri</a:t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.</a:t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  <a:p>
            <a:pPr marL="514350" lvl="0" indent="-5143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National Taiwan University of Science and Technology</a:t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7bc1bce13_1_63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Overview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  <p:sp>
        <p:nvSpPr>
          <p:cNvPr id="111" name="Google Shape;111;g2e7bc1bce13_1_63"/>
          <p:cNvSpPr txBox="1">
            <a:spLocks noGrp="1"/>
          </p:cNvSpPr>
          <p:nvPr>
            <p:ph type="body" idx="1"/>
          </p:nvPr>
        </p:nvSpPr>
        <p:spPr>
          <a:xfrm>
            <a:off x="457200" y="1047750"/>
            <a:ext cx="8229600" cy="351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indent="-381000">
              <a:spcBef>
                <a:spcPts val="0"/>
              </a:spcBef>
              <a:buSzPts val="2400"/>
              <a:buAutoNum type="arabicPeriod"/>
            </a:pPr>
            <a:r>
              <a:rPr 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本週進度與成果</a:t>
            </a:r>
            <a:endParaRPr lang="en-US" sz="2400" b="0" dirty="0"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  <a:p>
            <a:pPr indent="-381000">
              <a:spcBef>
                <a:spcPts val="0"/>
              </a:spcBef>
              <a:buSzPts val="2400"/>
              <a:buAutoNum type="arabicPeriod"/>
            </a:pPr>
            <a:endParaRPr 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  <a:p>
            <a:pPr indent="-381000">
              <a:spcBef>
                <a:spcPts val="0"/>
              </a:spcBef>
              <a:buSzPts val="2400"/>
              <a:buAutoNum type="arabi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問題討論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81000">
              <a:spcBef>
                <a:spcPts val="0"/>
              </a:spcBef>
              <a:buSzPts val="2400"/>
              <a:buAutoNum type="arabicPeriod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81000">
              <a:spcBef>
                <a:spcPts val="0"/>
              </a:spcBef>
              <a:buSzPts val="2400"/>
              <a:buFont typeface="Comic Sans MS"/>
              <a:buAutoNum type="arabi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下週進度規劃與預期成果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81000">
              <a:spcBef>
                <a:spcPts val="0"/>
              </a:spcBef>
              <a:buSzPts val="2400"/>
              <a:buAutoNum type="arabicPeriod"/>
            </a:pP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文獻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Google Shape;112;g2e7bc1bce13_1_6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fld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42236"/>
            <a:ext cx="8229600" cy="4412161"/>
          </a:xfrm>
        </p:spPr>
        <p:txBody>
          <a:bodyPr>
            <a:noAutofit/>
          </a:bodyPr>
          <a:lstStyle/>
          <a:p>
            <a:pPr marL="0" lvl="1" indent="0">
              <a:buSzPct val="120000"/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重點回顧</a:t>
            </a:r>
            <a:endParaRPr lang="en-US" altLang="zh-TW" sz="18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52450" lvl="1" indent="0">
              <a:buNone/>
            </a:pPr>
            <a:r>
              <a:rPr lang="zh-TW" altLang="en-US" sz="1400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52450" lvl="1" indent="0">
              <a:buNone/>
            </a:pP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  1. 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52450" lvl="1" indent="0">
              <a:buNone/>
            </a:pPr>
            <a:r>
              <a:rPr lang="en-US" altLang="zh-TW" sz="1400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15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4389-9E33-9ABB-EF1E-4FC5DD183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問題討論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7EFEA-5D06-A9E2-81D9-A6BB590F36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89DE2D66-9BE8-AA90-97A8-CFE486FA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42236"/>
            <a:ext cx="8229600" cy="4412161"/>
          </a:xfrm>
        </p:spPr>
        <p:txBody>
          <a:bodyPr>
            <a:noAutofit/>
          </a:bodyPr>
          <a:lstStyle/>
          <a:p>
            <a:pPr marL="342900" lvl="1" indent="-342900">
              <a:buSzPct val="120000"/>
              <a:buFont typeface="+mj-lt"/>
              <a:buAutoNum type="arabicPeriod"/>
            </a:pPr>
            <a:endParaRPr lang="zh-TW" altLang="en-US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459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E520-AA65-5DA0-F613-112787A3D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C090A8-08EC-93DD-AC27-731B0341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下週進度規劃與預期成果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E4FA73-A466-9932-B2D6-96F8156F6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SzPct val="120000"/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accent2"/>
                </a:solidFill>
                <a:latin typeface="+mn-lt"/>
                <a:ea typeface="微軟正黑體"/>
              </a:rPr>
              <a:t>工作規劃</a:t>
            </a:r>
            <a:r>
              <a:rPr lang="en-US" altLang="zh-TW" sz="1400" dirty="0">
                <a:solidFill>
                  <a:schemeClr val="accent2"/>
                </a:solidFill>
                <a:latin typeface="+mn-lt"/>
                <a:ea typeface="微軟正黑體"/>
              </a:rPr>
              <a:t>(0815 ~ 0821)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DF2152-D5B9-4635-42CC-A44B738FD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18D2-64BC-1D9C-9909-8CF0C7862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33579"/>
              </p:ext>
            </p:extLst>
          </p:nvPr>
        </p:nvGraphicFramePr>
        <p:xfrm>
          <a:off x="764644" y="1971364"/>
          <a:ext cx="7614712" cy="2271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436">
                  <a:extLst>
                    <a:ext uri="{9D8B030D-6E8A-4147-A177-3AD203B41FA5}">
                      <a16:colId xmlns:a16="http://schemas.microsoft.com/office/drawing/2014/main" val="2484138561"/>
                    </a:ext>
                  </a:extLst>
                </a:gridCol>
                <a:gridCol w="2308860">
                  <a:extLst>
                    <a:ext uri="{9D8B030D-6E8A-4147-A177-3AD203B41FA5}">
                      <a16:colId xmlns:a16="http://schemas.microsoft.com/office/drawing/2014/main" val="1062149114"/>
                    </a:ext>
                  </a:extLst>
                </a:gridCol>
                <a:gridCol w="4287416">
                  <a:extLst>
                    <a:ext uri="{9D8B030D-6E8A-4147-A177-3AD203B41FA5}">
                      <a16:colId xmlns:a16="http://schemas.microsoft.com/office/drawing/2014/main" val="259960909"/>
                    </a:ext>
                  </a:extLst>
                </a:gridCol>
              </a:tblGrid>
              <a:tr h="560729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工作性質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工作規劃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預期成果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9420317"/>
                  </a:ext>
                </a:extLst>
              </a:tr>
              <a:tr h="855385">
                <a:tc>
                  <a:txBody>
                    <a:bodyPr/>
                    <a:lstStyle/>
                    <a:p>
                      <a:endParaRPr lang="zh-TW" altLang="en-US" sz="14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altLang="zh-TW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微軟正黑體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119418"/>
                  </a:ext>
                </a:extLst>
              </a:tr>
              <a:tr h="855385">
                <a:tc>
                  <a:txBody>
                    <a:bodyPr/>
                    <a:lstStyle/>
                    <a:p>
                      <a:endParaRPr lang="zh-TW" altLang="en-US" sz="14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altLang="zh-TW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微軟正黑體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+mn-lt"/>
                        <a:ea typeface="微軟正黑體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200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319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CFB0CA70-D6DD-0655-98DD-C87678F9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fb83a2ac5_0_119">
            <a:extLst>
              <a:ext uri="{FF2B5EF4-FFF2-40B4-BE49-F238E27FC236}">
                <a16:creationId xmlns:a16="http://schemas.microsoft.com/office/drawing/2014/main" id="{F74EA3B5-3D5C-89AF-E8F0-94031B0AE6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文獻</a:t>
            </a:r>
          </a:p>
        </p:txBody>
      </p:sp>
      <p:sp>
        <p:nvSpPr>
          <p:cNvPr id="181" name="Google Shape;181;g32fb83a2ac5_0_119">
            <a:extLst>
              <a:ext uri="{FF2B5EF4-FFF2-40B4-BE49-F238E27FC236}">
                <a16:creationId xmlns:a16="http://schemas.microsoft.com/office/drawing/2014/main" id="{BE2A783E-E5CC-C97D-0B38-176764598E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7E72972B-3943-CEA2-477C-B3E02B112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42236"/>
            <a:ext cx="8229600" cy="4412161"/>
          </a:xfrm>
        </p:spPr>
        <p:txBody>
          <a:bodyPr>
            <a:noAutofit/>
          </a:bodyPr>
          <a:lstStyle/>
          <a:p>
            <a:pPr marL="342900" lvl="1" indent="-342900">
              <a:buSzPct val="120000"/>
              <a:buFont typeface="+mj-lt"/>
              <a:buAutoNum type="arabicPeriod"/>
            </a:pPr>
            <a:endParaRPr lang="zh-TW" altLang="en-US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4941746"/>
      </p:ext>
    </p:extLst>
  </p:cSld>
  <p:clrMapOvr>
    <a:masterClrMapping/>
  </p:clrMapOvr>
</p:sld>
</file>

<file path=ppt/theme/theme1.xml><?xml version="1.0" encoding="utf-8"?>
<a:theme xmlns:a="http://schemas.openxmlformats.org/drawingml/2006/main" name="MITLab-Version_Wai">
  <a:themeElements>
    <a:clrScheme name="藍色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93</Words>
  <Application>Microsoft Office PowerPoint</Application>
  <PresentationFormat>如螢幕大小 (16:9)</PresentationFormat>
  <Paragraphs>30</Paragraphs>
  <Slides>6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MITLab-Version_Wai</vt:lpstr>
      <vt:lpstr>Intent-Based 進度報告</vt:lpstr>
      <vt:lpstr>Overview</vt:lpstr>
      <vt:lpstr>本週進度與成果</vt:lpstr>
      <vt:lpstr>問題討論</vt:lpstr>
      <vt:lpstr>下週進度規劃與預期成果</vt:lpstr>
      <vt:lpstr>參考資料/文獻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Intent-Based SMO 進度報告</dc:title>
  <dc:creator>yihua</dc:creator>
  <cp:lastModifiedBy>蔡宜樺</cp:lastModifiedBy>
  <cp:revision>7</cp:revision>
  <dcterms:modified xsi:type="dcterms:W3CDTF">2026-04-15T14:53:26Z</dcterms:modified>
</cp:coreProperties>
</file>