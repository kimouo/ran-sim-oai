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authors.xml" ContentType="application/vnd.ms-powerpoint.author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332" r:id="rId4"/>
    <p:sldId id="391" r:id="rId5"/>
    <p:sldId id="392" r:id="rId6"/>
    <p:sldId id="394" r:id="rId16"/>
    <p:sldId id="395" r:id="rId17"/>
    <p:sldId id="396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393" r:id="rId7"/>
    <p:sldId id="325" r:id="rId8"/>
    <p:sldId id="404" r:id="rId2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目錄" id="{46BFBF1B-B2D1-48AF-8DA5-056D75D2AFDD}">
          <p14:sldIdLst>
            <p14:sldId id="256"/>
            <p14:sldId id="257"/>
          </p14:sldIdLst>
        </p14:section>
        <p14:section name="本週進度與成果" id="{88722481-4458-47B8-9FC3-46CAF2CEFC2A}">
          <p14:sldIdLst>
            <p14:sldId id="332"/>
            <p14:sldId id="391"/>
            <p14:sldId id="392"/>
            <p14:sldId id="393"/>
          </p14:sldIdLst>
        </p14:section>
        <p14:section name="問題討論" id="{AE608AC6-9860-4D48-9CFB-7A72212F63E1}">
          <p14:sldIdLst/>
        </p14:section>
        <p14:section name="下週進度規劃與預期成果" id="{110C45DB-8A16-4491-AFF5-6652A4F18330}">
          <p14:sldIdLst>
            <p14:sldId id="325"/>
          </p14:sldIdLst>
        </p14:section>
        <p14:section name="參考資料/文獻" id="{9323E052-3489-4776-B0C5-348091FB5C0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56" roundtripDataSignature="AMtx7mhhBnEAGo8vbriVIWbHZq7/dNB8nQ==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C68462F-314F-23CA-75CD-2878F472933F}" name="Shu Sheng Wang" initials="SW" userId="20e76af2fa6d7525" providerId="Windows Live"/>
  <p188:author id="{7B57B147-8FC0-5194-1C79-34EF26AFFAD2}" name="彥廷 陳" initials="彥陳" userId="5723c54b4ddaed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32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786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16.xml"/><Relationship Id="rId8" Type="http://schemas.openxmlformats.org/officeDocument/2006/relationships/slide" Target="slides/slide17.xml"/><Relationship Id="rId9" Type="http://schemas.openxmlformats.org/officeDocument/2006/relationships/notesMaster" Target="notesMasters/notes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8.xml"/><Relationship Id="rId56" Type="http://customschemas.google.com/relationships/presentationmetadata" Target="metadata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Relationship Id="rId6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86062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8919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e7bc1bce13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e7bc1bce13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87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32132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2857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85150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54E57-9EE4-ED3B-10A6-AD40E5A3D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EE7EE1-DF7C-1A8E-2F0D-25298FA06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269DD15-6B56-A6E0-AB82-7AE0C6899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8496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7A961-3932-E37F-D51C-C17FCF211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9EB9F-7F80-B1C1-786B-72B876F767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56A11DF-E2C8-64D3-134B-3E929D27F9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804347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7"/>
          <p:cNvSpPr txBox="1">
            <a:spLocks noGrp="1"/>
          </p:cNvSpPr>
          <p:nvPr>
            <p:ph type="ctrTitle"/>
          </p:nvPr>
        </p:nvSpPr>
        <p:spPr>
          <a:xfrm>
            <a:off x="685800" y="910307"/>
            <a:ext cx="7848600" cy="144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7"/>
          <p:cNvSpPr txBox="1">
            <a:spLocks noGrp="1"/>
          </p:cNvSpPr>
          <p:nvPr>
            <p:ph type="subTitle" idx="1"/>
          </p:nvPr>
        </p:nvSpPr>
        <p:spPr>
          <a:xfrm>
            <a:off x="685800" y="2733768"/>
            <a:ext cx="5074332" cy="792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9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0" name="Google Shape;20;p97"/>
          <p:cNvCxnSpPr/>
          <p:nvPr/>
        </p:nvCxnSpPr>
        <p:spPr>
          <a:xfrm>
            <a:off x="685800" y="2548890"/>
            <a:ext cx="7848600" cy="1191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" name="Google Shape;21;p97"/>
          <p:cNvSpPr txBox="1">
            <a:spLocks noGrp="1"/>
          </p:cNvSpPr>
          <p:nvPr>
            <p:ph type="body" idx="2"/>
          </p:nvPr>
        </p:nvSpPr>
        <p:spPr>
          <a:xfrm>
            <a:off x="5056616" y="3566182"/>
            <a:ext cx="3996444" cy="1080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2100"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98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8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0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4000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3619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100"/>
              <a:buChar char="•"/>
              <a:defRPr/>
            </a:lvl2pPr>
            <a:lvl3pPr marL="1371600" lvl="2" indent="-3492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9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98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8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98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98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0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0"/>
          <p:cNvSpPr txBox="1">
            <a:spLocks noGrp="1"/>
          </p:cNvSpPr>
          <p:nvPr>
            <p:ph type="body" idx="1"/>
          </p:nvPr>
        </p:nvSpPr>
        <p:spPr>
          <a:xfrm>
            <a:off x="457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9" name="Google Shape;39;p100"/>
          <p:cNvSpPr txBox="1">
            <a:spLocks noGrp="1"/>
          </p:cNvSpPr>
          <p:nvPr>
            <p:ph type="body" idx="2"/>
          </p:nvPr>
        </p:nvSpPr>
        <p:spPr>
          <a:xfrm>
            <a:off x="4648200" y="1255014"/>
            <a:ext cx="4038600" cy="3538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2100"/>
            </a:lvl1pPr>
            <a:lvl2pPr marL="914400" lvl="1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2pPr>
            <a:lvl3pPr marL="1371600" lvl="2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500"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40" name="Google Shape;40;p100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0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00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00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1"/>
          <p:cNvSpPr txBox="1"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body" idx="2"/>
          </p:nvPr>
        </p:nvSpPr>
        <p:spPr>
          <a:xfrm>
            <a:off x="45720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3"/>
          </p:nvPr>
        </p:nvSpPr>
        <p:spPr>
          <a:xfrm>
            <a:off x="4754880" y="1257300"/>
            <a:ext cx="393192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14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body" idx="4"/>
          </p:nvPr>
        </p:nvSpPr>
        <p:spPr>
          <a:xfrm>
            <a:off x="4754880" y="1828800"/>
            <a:ext cx="393192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238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 sz="1800"/>
            </a:lvl1pPr>
            <a:lvl2pPr marL="914400" lvl="1" indent="-3111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Char char="•"/>
              <a:defRPr sz="1500"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1400"/>
            </a:lvl3pPr>
            <a:lvl4pPr marL="1828800" lvl="3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50" name="Google Shape;50;p101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1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01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53" name="Google Shape;53;p101"/>
          <p:cNvCxnSpPr/>
          <p:nvPr/>
        </p:nvCxnSpPr>
        <p:spPr>
          <a:xfrm rot="5400000">
            <a:off x="2806462" y="3034268"/>
            <a:ext cx="3531870" cy="794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101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2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02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02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02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102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3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3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0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03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4"/>
          <p:cNvSpPr txBox="1"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4"/>
          <p:cNvSpPr txBox="1">
            <a:spLocks noGrp="1"/>
          </p:cNvSpPr>
          <p:nvPr>
            <p:ph type="body" idx="1"/>
          </p:nvPr>
        </p:nvSpPr>
        <p:spPr>
          <a:xfrm>
            <a:off x="2971800" y="594060"/>
            <a:ext cx="571500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 sz="2400"/>
            </a:lvl1pPr>
            <a:lvl2pPr marL="914400" lvl="1" indent="-3619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100"/>
              <a:buChar char="•"/>
              <a:defRPr sz="2100"/>
            </a:lvl2pPr>
            <a:lvl3pPr marL="1371600" lvl="2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 sz="1800"/>
            </a:lvl3pPr>
            <a:lvl4pPr marL="1828800" lvl="3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4pPr>
            <a:lvl5pPr marL="2286000" lvl="4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5pPr>
            <a:lvl6pPr marL="2743200" lvl="5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6pPr>
            <a:lvl7pPr marL="3200400" lvl="6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7pPr>
            <a:lvl8pPr marL="3657600" lvl="7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8pPr>
            <a:lvl9pPr marL="4114800" lvl="8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9" name="Google Shape;69;p104"/>
          <p:cNvSpPr txBox="1">
            <a:spLocks noGrp="1"/>
          </p:cNvSpPr>
          <p:nvPr>
            <p:ph type="body" idx="2"/>
          </p:nvPr>
        </p:nvSpPr>
        <p:spPr>
          <a:xfrm>
            <a:off x="457201" y="1597915"/>
            <a:ext cx="2139696" cy="31827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70" name="Google Shape;70;p104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4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04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04"/>
          <p:cNvCxnSpPr/>
          <p:nvPr/>
        </p:nvCxnSpPr>
        <p:spPr>
          <a:xfrm rot="5400000">
            <a:off x="684114" y="2684957"/>
            <a:ext cx="4183380" cy="1588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4" name="Google Shape;74;p104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5"/>
          <p:cNvSpPr txBox="1"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05"/>
          <p:cNvSpPr>
            <a:spLocks noGrp="1"/>
          </p:cNvSpPr>
          <p:nvPr>
            <p:ph type="pic" idx="2"/>
          </p:nvPr>
        </p:nvSpPr>
        <p:spPr>
          <a:xfrm>
            <a:off x="2858610" y="628651"/>
            <a:ext cx="5904390" cy="4125342"/>
          </a:xfrm>
          <a:prstGeom prst="rect">
            <a:avLst/>
          </a:prstGeom>
          <a:solidFill>
            <a:schemeClr val="lt2"/>
          </a:solidFill>
          <a:ln w="762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12700" dir="5400000" algn="t" rotWithShape="0">
              <a:srgbClr val="000000">
                <a:alpha val="57647"/>
              </a:srgbClr>
            </a:outerShdw>
          </a:effectLst>
        </p:spPr>
      </p:sp>
      <p:sp>
        <p:nvSpPr>
          <p:cNvPr id="78" name="Google Shape;78;p10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2139696" cy="318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900"/>
              <a:buNone/>
              <a:defRPr sz="1100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800"/>
              <a:buNone/>
              <a:defRPr sz="9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8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700"/>
              <a:buNone/>
              <a:defRPr sz="700"/>
            </a:lvl9pPr>
          </a:lstStyle>
          <a:p>
            <a:endParaRPr/>
          </a:p>
        </p:txBody>
      </p:sp>
      <p:pic>
        <p:nvPicPr>
          <p:cNvPr id="79" name="Google Shape;79;p105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5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05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05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06"/>
          <p:cNvSpPr txBox="1">
            <a:spLocks noGrp="1"/>
          </p:cNvSpPr>
          <p:nvPr>
            <p:ph type="body" idx="1"/>
          </p:nvPr>
        </p:nvSpPr>
        <p:spPr>
          <a:xfrm rot="5400000">
            <a:off x="2771985" y="-1114635"/>
            <a:ext cx="360003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0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06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6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" name="Google Shape;89;p106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7"/>
          <p:cNvSpPr txBox="1">
            <a:spLocks noGrp="1"/>
          </p:cNvSpPr>
          <p:nvPr>
            <p:ph type="title"/>
          </p:nvPr>
        </p:nvSpPr>
        <p:spPr>
          <a:xfrm rot="5400000">
            <a:off x="5486610" y="1599990"/>
            <a:ext cx="434298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7"/>
          <p:cNvSpPr txBox="1">
            <a:spLocks noGrp="1"/>
          </p:cNvSpPr>
          <p:nvPr>
            <p:ph type="body" idx="1"/>
          </p:nvPr>
        </p:nvSpPr>
        <p:spPr>
          <a:xfrm rot="5400000">
            <a:off x="1295610" y="-381210"/>
            <a:ext cx="434298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1pPr>
            <a:lvl2pPr marL="914400" lvl="1" indent="-2984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2pPr>
            <a:lvl3pPr marL="1371600" lvl="2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07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07"/>
          <p:cNvSpPr/>
          <p:nvPr/>
        </p:nvSpPr>
        <p:spPr>
          <a:xfrm>
            <a:off x="8698774" y="4800182"/>
            <a:ext cx="259686" cy="270030"/>
          </a:xfrm>
          <a:prstGeom prst="ellipse">
            <a:avLst/>
          </a:prstGeom>
          <a:solidFill>
            <a:schemeClr val="accent1"/>
          </a:solidFill>
          <a:ln w="264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7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86" cy="270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6" name="Google Shape;96;p107"/>
          <p:cNvPicPr preferRelativeResize="0"/>
          <p:nvPr/>
        </p:nvPicPr>
        <p:blipFill rotWithShape="1">
          <a:blip r:embed="rId2">
            <a:alphaModFix/>
          </a:blip>
          <a:srcRect l="11544" t="30144" r="7639" b="28806"/>
          <a:stretch/>
        </p:blipFill>
        <p:spPr>
          <a:xfrm>
            <a:off x="7631832" y="4344504"/>
            <a:ext cx="1512168" cy="43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6"/>
          <p:cNvSpPr/>
          <p:nvPr/>
        </p:nvSpPr>
        <p:spPr>
          <a:xfrm>
            <a:off x="0" y="165589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96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Comic Sans MS"/>
              <a:buNone/>
              <a:defRPr sz="3000" b="1" i="0" u="none" strike="noStrike" cap="none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omic Sans MS"/>
              <a:buNone/>
              <a:defRPr sz="1400" b="0" i="0" u="none" strike="noStrike" cap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8" name="Google Shape;8;p96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Comic Sans MS"/>
              <a:buChar char="•"/>
              <a:defRPr sz="2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marL="914400" marR="0" lvl="1" indent="-3619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Comic Sans MS"/>
              <a:buChar char="•"/>
              <a:defRPr sz="21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marL="1371600" marR="0" lvl="2" indent="-3365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9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marL="1828800" marR="0" lvl="3" indent="-3365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Comic Sans MS"/>
              <a:buChar char="•"/>
              <a:defRPr sz="17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omic Sans MS"/>
              <a:buChar char="•"/>
              <a:defRPr sz="16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omic Sans MS"/>
              <a:buChar char="•"/>
              <a:defRPr sz="1500" b="1" i="0" u="none" strike="noStrike" cap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>
            <a:endParaRPr/>
          </a:p>
        </p:txBody>
      </p:sp>
      <p:sp>
        <p:nvSpPr>
          <p:cNvPr id="9" name="Google Shape;9;p96"/>
          <p:cNvSpPr/>
          <p:nvPr/>
        </p:nvSpPr>
        <p:spPr>
          <a:xfrm>
            <a:off x="0" y="0"/>
            <a:ext cx="9144000" cy="1655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96"/>
          <p:cNvSpPr txBox="1">
            <a:spLocks noGrp="1"/>
          </p:cNvSpPr>
          <p:nvPr>
            <p:ph type="ftr" idx="11"/>
          </p:nvPr>
        </p:nvSpPr>
        <p:spPr>
          <a:xfrm>
            <a:off x="3429000" y="13716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6"/>
          <p:cNvSpPr/>
          <p:nvPr/>
        </p:nvSpPr>
        <p:spPr>
          <a:xfrm>
            <a:off x="6298952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96"/>
          <p:cNvSpPr/>
          <p:nvPr/>
        </p:nvSpPr>
        <p:spPr>
          <a:xfrm>
            <a:off x="-1240" y="4857750"/>
            <a:ext cx="2845048" cy="154893"/>
          </a:xfrm>
          <a:prstGeom prst="rect">
            <a:avLst/>
          </a:prstGeom>
          <a:solidFill>
            <a:srgbClr val="65747C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96"/>
          <p:cNvSpPr txBox="1"/>
          <p:nvPr/>
        </p:nvSpPr>
        <p:spPr>
          <a:xfrm>
            <a:off x="2902025" y="4815950"/>
            <a:ext cx="3338700" cy="23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NTUST -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obilizing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nformation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1100" b="1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echnology </a:t>
            </a:r>
            <a:r>
              <a:rPr lang="en-US" sz="11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endParaRPr sz="1100" b="1" i="0" u="none" strike="noStrike" cap="none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9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5496" y="3522"/>
            <a:ext cx="1223628" cy="29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96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7110468" y="-745"/>
            <a:ext cx="2009119" cy="3377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91100" y="389650"/>
            <a:ext cx="8050564" cy="2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進度報告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l="34250" t="37759" r="11019" b="25516"/>
          <a:stretch/>
        </p:blipFill>
        <p:spPr>
          <a:xfrm>
            <a:off x="89502" y="4299942"/>
            <a:ext cx="1728192" cy="503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>
            <a:spLocks noGrp="1"/>
          </p:cNvSpPr>
          <p:nvPr>
            <p:ph type="body" idx="2"/>
          </p:nvPr>
        </p:nvSpPr>
        <p:spPr>
          <a:xfrm>
            <a:off x="4307489" y="3682028"/>
            <a:ext cx="4838247" cy="817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Student: </a:t>
            </a:r>
            <a:r>
              <a:rPr lang="zh-TW" alt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台科大 </a:t>
            </a:r>
            <a:endParaRPr lang="en-US" altLang="zh-TW" sz="135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0" dirty="0">
                <a:latin typeface="Arial" panose="020B0604030504040204" pitchFamily="34" charset="-120"/>
                <a:ea typeface="Microsoft JhengHei" panose="020B0604030504040204" pitchFamily="34" charset="-120"/>
                <a:sym typeface="Comic Sans MS"/>
              </a:rPr>
              <a:t>Date: 2026.08.27 Thu.</a:t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altLang="zh-TW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r>
              <a:rPr lang="en-US" sz="135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/>
            </a: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/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  <a:p>
            <a:pPr marL="514350" lvl="0" indent="-51435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</a:pPr>
            <a:r>
              <a:rPr lang="en-US" sz="1350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National Taiwan University of Science and Technology</a:t>
            </a:r>
            <a:endParaRPr sz="1350"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7bc1bce13_1_63"/>
          <p:cNvSpPr txBox="1">
            <a:spLocks noGrp="1"/>
          </p:cNvSpPr>
          <p:nvPr>
            <p:ph type="title"/>
          </p:nvPr>
        </p:nvSpPr>
        <p:spPr>
          <a:xfrm>
            <a:off x="457200" y="400050"/>
            <a:ext cx="82296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>
                <a:latin typeface="微軟正黑體" panose="020B0604030504040204" pitchFamily="34" charset="-120"/>
                <a:ea typeface="微軟正黑體" panose="020B0604030504040204" pitchFamily="34" charset="-120"/>
                <a:sym typeface="Comic Sans MS"/>
              </a:rPr>
              <a:t>Overview</a:t>
            </a:r>
            <a:endParaRPr b="1" dirty="0">
              <a:latin typeface="微軟正黑體" panose="020B0604030504040204" pitchFamily="34" charset="-120"/>
              <a:ea typeface="微軟正黑體" panose="020B0604030504040204" pitchFamily="34" charset="-120"/>
              <a:sym typeface="Comic Sans MS"/>
            </a:endParaRPr>
          </a:p>
        </p:txBody>
      </p:sp>
      <p:sp>
        <p:nvSpPr>
          <p:cNvPr id="111" name="Google Shape;111;g2e7bc1bce13_1_63"/>
          <p:cNvSpPr txBox="1">
            <a:spLocks noGrp="1"/>
          </p:cNvSpPr>
          <p:nvPr>
            <p:ph type="body" idx="1"/>
          </p:nvPr>
        </p:nvSpPr>
        <p:spPr>
          <a:xfrm>
            <a:off x="457200" y="1047750"/>
            <a:ext cx="8229600" cy="35185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indent="-381000">
              <a:spcBef>
                <a:spcPts val="0"/>
              </a:spcBef>
              <a:buSzPts val="2400"/>
              <a:buAutoNum type="arabicPeriod"/>
            </a:pPr>
            <a:r>
              <a:rPr lang="zh-TW" sz="2400" dirty="0">
                <a:latin typeface="微軟正黑體" panose="020B0604030504040204" pitchFamily="34" charset="-120"/>
                <a:ea typeface="微軟正黑體" panose="020B0604030504040204" pitchFamily="34" charset="-120"/>
                <a:cs typeface="Arial"/>
              </a:rPr>
              <a:t>本週進度與成果</a:t>
            </a:r>
            <a:endParaRPr lang="zh-TW" altLang="en-US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indent="-381000">
              <a:spcBef>
                <a:spcPts val="0"/>
              </a:spcBef>
              <a:buSzPts val="2400"/>
              <a:buFont typeface="Comic Sans MS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參考資料</a:t>
            </a:r>
            <a:r>
              <a:rPr lang="en-US" altLang="zh-TW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2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文獻</a:t>
            </a:r>
            <a:endParaRPr lang="en-US" altLang="zh-TW" sz="2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2" name="Google Shape;112;g2e7bc1bce13_1_63"/>
          <p:cNvSpPr txBox="1">
            <a:spLocks noGrp="1"/>
          </p:cNvSpPr>
          <p:nvPr>
            <p:ph type="sldNum" idx="12"/>
          </p:nvPr>
        </p:nvSpPr>
        <p:spPr>
          <a:xfrm>
            <a:off x="8604173" y="4800181"/>
            <a:ext cx="4488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fld>
            <a:endParaRPr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目前可以模擬的場景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960120"/>
                <a:gridCol w="3246120"/>
                <a:gridCol w="2606040"/>
                <a:gridCol w="1371600"/>
              </a:tblGrid>
              <a:tr h="263769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#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問題名稱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問題原因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預計操作結果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狀態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缺鄰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表上缺這條關係 → A3 換不了手,UE 撐到掉線才靠重建跳過去(證據在目標側)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解出全域識別碼後補建關係,掉線歸零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換手縫隙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同樣缺關係,但 UE 還沒掉線 —— 鄰居訊號已強到該換手(落後不到 6dB),鄰區表裡卻沒有這條關係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在 UE 掉線前就補上關係;若基地台的「自動建立鄰區」功能被關閉,只偵測不寫入、改通報管理面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深邊緣缺鄰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UE 在覆蓋極邊緣(訊號極弱),旁邊有明顯更好的 cell 卻不在鄰區表;該處人少,樣本天生稀疏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改看「比服務 cell 好 ≥10dB 且持續 15 分鐘」,不再要求樣本數 → 解出識別碼 → 請基地台補關係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4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未知鄰區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出現一顆全新的 cell,任何關係都不指向它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解析並單向建立關係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PCI 混淆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兩顆不同的 cell 共用同一 PCI,按 PCI 換手必賭錯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正解:用全域識別碼做群組換手繞過歧義 + 通報重新規劃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6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TNL 不通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Xn 傳輸層斷,連 Handover Request 都送不出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止血 → 等修復 → 行為證明恢復(三段)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有害鄰居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 cell RA 壞/劣質:UE 抵達卻接不進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成對旗標封鎖 + 定期回頭探測(不永久封鎖)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8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頻率關係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異頻鄰區存在但頻率關係未建,整層量測看不見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先補頻率層關係,才輪得到個別 cell 的關係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鄰區表容量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鄰區表滿載,新關係加不進來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try-prune:試刪最冷條目騰位(被拒即止)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10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劣化重指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目標改 PCI、條目存舊值 → 每次換手 CellNotAvailable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刪舊條目+建新條目,同一步重指到正確 PCI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263769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殭屍關係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條目長期無人使用(cell 已拆/搬)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雙歸零滿窗才回收;判準是使用量不是年齡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63772"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封鎖稽核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關係被無據封鎖(誤操作殘留);旗標不可觀測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由四項行為訊號推論,只修無據、不碰正當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已驗證 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574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1 題 · 缺漏鄰區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4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兩座基地台相距 300 公尺,UE 沿直線從一邊走到另一邊。走到中間時對面訊號已經比較強,照理應該換手過去,但基地台的鄰區表(記錄「我旁邊有哪些鄰居」的清單)裡沒有這一條。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直接把來源到目標的那一條鄰居關係從鄰區表刪掉。UE 量得到對面訊號,基地台卻查不到這個鄰居,沒有對象可以發起換手,只能硬撐到訊號差得斷線,再重新連上對面那一顆。斷線是自然發生的,不是注入的。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發現:某顆基地台的重連速率高於每分鐘 0.2 次,而且來源集中在同一顆鄰居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確認:查鄰區表,證實這兩顆之間沒有登錄關係(不是換手失敗,是根本不能換)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解決:自動補上這一條鄰居關係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追認:觀察補完之後換手是否真的成功、斷線是否歸零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每分鐘斷線重連次數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UE 撐到掉線後重新連上的頻率,是「該換手卻沒換」最直接的後果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刪掉關係後 UE 自然撐到斷線,模擬器只記錄不介入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重連的來源基地台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記錄 UE 是從哪一顆掉過來的,指出缺的是哪一條關係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基地台在處理重新連線時一併記下前一個服務基地台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鄰區表查無此關係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排除「有關係但換手失敗」這個完全不同的病因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刪除動作本身就讓這條成立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乾淨重跑 03:24:36 補上關係 → 換手成功 4 次、失敗 0 次 → 斷線歸零</a:t>
            </a:r>
          </a:p>
        </p:txBody>
      </p:sp>
    </p:spTree>
    <p:extLst>
      <p:ext uri="{BB962C8B-B14F-4D97-AF65-F5344CB8AC3E}">
        <p14:creationId xmlns:p14="http://schemas.microsoft.com/office/powerpoint/2010/main" val="3660842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2 題 · 換手縫隙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5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兩顆基地台中間有一小段地帶,雙方訊號幾乎一樣強(實測只差約 0.1 分貝),UE 在這裡持續有換手需求。同一顆基地台旁邊還有另一條「很少被用到」的鄰居關係,用來測試會不會被誤認成元凶。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剪掉這段地帶真正需要的那一條關係,再用訊號計算工具實測、把 UE 停在雙方只差 0.1 分貝的位置,讓換手需求一直存在卻沒有出口。另外刻意保留一條低使用量的關係當誘餌。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發現:訊號差距在該建關係的範圍內,鄰區表卻查無這一條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排除誘餌:低使用量的那條關係不能因為「數字少」就被當成元凶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解決:補上缺的那一條關係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追認:新關係的換手成功率要達到 0.95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每分鐘量測回報次數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UE 多常回報看到這個鄰居,反映需求有多強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把 UE 停在兩邊訊號相當的位置,回報自然持續產生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訊號差距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目標與服務基地台的強度差,差距小於 6 分貝就屬於該建關係的範圍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用訊號計算工具逐點實測後決定 UE 位置,不用估算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新關係補上後的成功率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補完之後換手是否真的順,門檻 0.95,低於就代表補錯對象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其他關係完全不注入失敗,補上的新關係自然會高於門檻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離線與實機兩種方式都補上關係;誘餌關係成功率 0.943 卡在門檻下,未被誤判</a:t>
            </a:r>
          </a:p>
        </p:txBody>
      </p:sp>
    </p:spTree>
    <p:extLst>
      <p:ext uri="{BB962C8B-B14F-4D97-AF65-F5344CB8AC3E}">
        <p14:creationId xmlns:p14="http://schemas.microsoft.com/office/powerpoint/2010/main" val="647530877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3 題 · 深邊緣缺鄰(訊號凹陷區)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UE 站在服務基地台天線的訊號凹陷區,腳下訊號只剩 −107.6 dBm、快要斷線;旁邊另一顆基地台實測強 19.8 分貝,但鄰區表查無這條關係。而且這個角落人很少,量測樣本天生就稀疏。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重新排場景幾何,把 UE 放進訊號凹陷區;刪掉通往那顆強鄰居的關係;並把那顆鄰居標成「禁止駐留」——UE 量得到它、但不准連上去,否則 UE 一斷線就自己跑過去,病就自己好了。同時保留兩條健康的既有關係當對照組。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發現:服務訊號極弱、旁邊有明顯更強的鄰居,鄰區表卻查無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不得以樣本少駁回:改用「強多少」而不是「看到幾次」來判定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排除容量:先確認鄰區表沒滿,證明阻斷點在偵測而不是空間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解決:補上這一條關係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相對增益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缺的鄰居比服務基地台強多少;這題是 +19.8 分貝,大到不可能是雜訊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改幾何,用訊號計算工具逐點實測到這個差距為止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量測樣本的稀疏程度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樣本很少,但規定不准用「樣本不足」當作不處理的理由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邊角只放少量 UE,讓該鄰居的回報量遠低於同場其他鄰居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鄰區表剩餘容量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證明加不進去不是因為表滿了,把病因鎖定在偵測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把該基地台的容量使用量一併輸出給 xApp 看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338328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判準改寫後 07:43:10 重驗通過。落差記錄:題目要求的「每分鐘 0.6 次」絕對稀疏本模擬器做不到(每個時間刻度每台 UE 都會記錄),改用相對稀疏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4 題 · 未知鄰區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場上出現一顆沒有登錄過的基地台。UE 回報得到它的實體編號(PCI,只有 0–1007 個號碼、不同基地台會重複使用),但這個編號不足以確認它到底是誰,鄰區表裡也查不到。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在場景中放進一顆未登錄的基地台,不替它建立任何鄰居關係,讓 UE 自然量測到它。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發現:UE 一直回報一個鄰區表裡沒有的實體編號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紅線:禁止只憑實體編號就寫入關係——編號會重複,寫錯就把換手送到別人家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解決:先發起全域身分查詢,取得唯一識別碼、且兩次一致,才補上關係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未知編號的回報量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這顆陌生基地台被看到得多頻繁,決定它值不值得處理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放在 UE 會經過的位置,回報量自然累積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全域身分抽樣結果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要求 UE 回報對方完整的全域識別碼,把重複的實體編號解成唯一身分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基地台支援這個查詢流程,回傳該編號對應的唯一解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兩次抽樣是否一致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同一個對象問兩次要得到同樣答案,才敢寫進鄰區表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場景中該編號只對應一顆基地台,所以兩次結果必然一致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抽樣得到唯一解;離線與實機兩種方式都完成補建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5 題 · 實體編號混淆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同一顆服務基地台的周圍,有兩顆不同的基地台用了同一個實體編號。UE 回報「我看到編號 X」時,基地台無法判斷是哪一顆,換手就有可能送錯地方。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讓場景中兩顆不同的基地台共用同一個實體編號,製造出真正的一號兩主。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發現:同一個實體編號對應到多顆基地台,換手目標無法確定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消歧:用全域身分查詢找出哪一顆才是自己管得到的那顆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解決:對受影響的整群 UE 下一道群組換手指令,一次搬離混淆區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追認:混淆的候選數回到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同編號的候選數量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大於 1 就代表混淆成立,這是判定的直接依據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場景中刻意讓兩顆基地台共用同一編號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全域身分抽樣結果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把重複的編號解成唯一身分,才知道該送去哪一顆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基地台回傳每個候選各自的完整識別碼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群組換手的執行結果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一次把受影響的多台 UE 搬走,只回報成功幾台、不回報是誰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模擬器逐台執行換手後,只把成功計數送回,不揭露 UE 身分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02:09:35 群組換手一次指令搬走 5 台,5 台全數成功,混淆歸零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6 題 · 基地台之間的直接連線不通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兩顆基地台之間有一條直接連線(Xn,換手時雙方互相溝通用的專線)。這條線斷了,但鄰區表上這條關係看起來還是好的。UE 一直想換過去,每一次都在「準備階段」就失敗,沒有一次成功。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把關係上「直接連線已建立」這個欄位設成否,並在等待期間每 30 秒把 UE 拉回來源基地台,確保「有人持續想換手」這個前提不會因為換手被擋住而消失。整段節奏寫在劇本裡由模擬器自己推進,不需要人手動觸發。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發現:某一條關係的換手成功率是 0,而且失敗原因全部集中在準備階段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鑑別:確認這是傳輸不通,不是基地台太忙(太忙的話失敗原因會分散)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止血:暫時封鎖這條關係,讓 UE 不要再白費力氣,同時通報維運端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解除:維運修好連線後,偵測到連線恢復就解除封鎖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5. 追認:成功率要回升到 0.9 以上,才判定真的痊癒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每分鐘換手嘗試次數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有多少人想換過去;止血成功的話這個數字會掉到 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UE 被持續拉回來源基地台,需求一直存在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換手成功率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這題會是 0,而且是全數失敗,不是偶爾失敗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連線設成不通後,每一次準備都必然失敗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失敗原因分佈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全部集中在「準備階段逾時」一種原因,指向傳輸問題而非壅塞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模擬器把真實的失敗原因照實回報,沒有另外偽造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16:17:09 止血,換手嘗試由 6 次/分降到 0;16:55:02 成功率 0.94 判定痊癒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7 題 · 有害鄰居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有一條鄰居關係在鄰區表上看起來完全正常,實際上換過去一定失敗(對面的接入程序壞了)。UE 反覆嘗試、反覆掉話,而其他鄰居關係都是好的。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用一個檔案熱開關,對這一條關係注入固定失敗,失敗原因寫成「接入程序問題」。改用檔案而不是環境變數,是因為環境變數要重啟容器才生效,會打斷 xApp 正在計時的退避流程。其他關係完全不注入,成功率維持在 0.95 以上當對照組。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發現:單一條關係成功率崩到 0,同顆基地台的其他關係卻正常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止血:封鎖這條關係,UE 就不會再往這裡撞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試探:過一段時間解封一次,看對面修好了沒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還沒好就再封,而且間隔加倍:300 秒 → 600 秒 → 1200 秒封頂,避免一直干擾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5. 追認:真的修好、成功率回升,才恢復正常使用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這條關係的換手成功率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低於 0.6 才算有害;這題是 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對這一條注入固定失敗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每分鐘失敗次數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失敗要持續發生,不能是偶發抖動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UE 被持續拉回來源,嘗試不會停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其他關係的成功率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對照組維持 0.95 以上,證明壞的是這一條而不是整顆基地台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注入只針對單一條關係,其餘完全不碰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劇本七步時間軸無人值守完整跑完 14:40:33 → 14:57:45,含兩輪封鎖與間隔倍增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8 題 · 跨頻缺層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同一塊區域疊了兩層網路:3.5 GHz 高頻(容量大、覆蓋小)和 2.1 GHz 低頻(覆蓋大、容量小)。UE 走到高頻的邊緣時應該落到低頻層繼續服務,但兩層之間一條關係都沒有,UE 只能在邊緣硬撐到斷線。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剪掉高頻通往低頻的三條關係。乾擾計算只在同頻之間進行,所以低頻那層對高頻不會造成乾擾,純粹是「該落下去卻沒有路」。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發現:UE 在邊緣看到成批的外來頻率強訊號,而目前的鄰居清單裡完全沒有這個頻率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判斷:缺的是整個頻率層,不是某一顆鄰居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解決:補上跨頻的鄰居關係,讓 UE 能落到低頻層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外來頻率上的強訊號數量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同時有兩顆以上不同頻率的強鄰居被看到,代表缺的是一整層不是單一鄰居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把整層的關係一次剪掉三條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該來源目前已知的頻率清單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這顆基地台的鄰區表裡有哪些頻率;清單裡沒有低頻就是缺層的證據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剪關係後清單自然只剩同頻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邊緣斷線次數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缺層的後果,證明這不只是帳面缺漏而是真的影響服務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UE 走到高頻邊緣沒有出口,自然掉線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離線驗證通過,三條跨頻關係補齊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9 題 · 鄰區表容量已滿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一顆熱點基地台的鄰區表已經塞到上限,真正該加的新鄰居加不進去。表裡有一部分是很久沒被用過的舊關係,佔著空間沒有貢獻。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把該基地台的關係灌到容量上限,其中刻意放進幾條長期零活動的舊關係當作可修剪的對象。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發現:想補新關係卻被拒絕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鑑別:先確認是容量滿了,不是自己沒偵測到——弄錯方向會一直重試補建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解決:找出長期零活動的舊關係修剪掉,騰出空間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再補:空間釋出後重新補上真正需要的新關係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容量使用量與上限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用了幾條、上限幾條;滿了就會出現新增被拒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把關係灌到上限值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新增被拒事件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證明阻斷點在容量,而不是 xApp 沒偵測到——這兩者的處置完全不同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容量滿時基地台回傳明確的拒絕事件,而不是靜默失敗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候選的冷度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一條關係多久沒有被用過;越冷越適合被修剪掉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那幾條舊關係從場景開始就沒有任何換手與量測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離線驗證通過,取得容量欄位與新增被拒事件的真實格式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10 題 · 過期編號重指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鄰區表上有一條關係,指向的實體編號已經過期——對面那顆基地台換了編號。換手一直被送往一個不存在的目標,每次都失敗。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把目標基地台的實體編號改掉,鄰區表上那條關係則保留舊的編號值,製造出「表上的地址是舊的」狀態。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發現:某條關係持續失敗,查詢後發現對方現在的編號跟表上記的不同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解決:同一秒內先刪掉舊關係、再加上新關係(原子重指),中間不留空窗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追認:失敗率歸零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這條關係的失敗率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送不到就會失敗,而且是穩定失敗不是偶發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目標編號改掉後,舊地址永遠找不到人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抽樣解出的實際編號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跟鄰區表上記的不一樣,這個落差就是判定依據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基地台照實回報目標現在的編號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重指後的失敗率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修好之後要歸零,證明改對了地方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改成新編號後換手自然成功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03:14:56 完成重指,編號 205 → 233,失敗歸零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11 題 · 殭屍關係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鄰區表裡留著一些早就沒在用的關係——對面拆站、或使用者行為改變,已經沒有人會往那裡換手。它們佔著容量、也干擾判斷,但不是每一條都能刪:有些是刻意保留的。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造出四種型態同場並存:完全沒活動的、只有一半沒活動的、被標記為受保護的、以及目標根本不存在的幽靈關係,看 xApp 會不會一視同仁全刪。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發現:某些關係長期換手嘗試與量測回報同時為 0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分辨:只有「兩者都是 0 且持續滿窗」才刪;只有一項為 0 的不能動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解決:刪除確認無用的關係,把容量還回來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遵守保護:受保護的關係要拒絕刪除、留下紀錄,而且不重試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1024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每分鐘換手嘗試次數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為 0 代表沒有人想往那裡換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那些關係的目標放在 UE 走不到的地方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每分鐘量測回報次數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為 0 代表連看都看不到;要兩個都是 0 才算真殭屍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目標訊號在 UE 位置上量不到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持續多久都是 0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短時間為 0 可能只是剛好沒人,要連續滿一整個觀察窗才算數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場景持續運行,讓零活動狀態一路延續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受保護標記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被標記的關係即使零活動也不准刪,測 xApp 會不會硬刪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在其中一條關係上設定保護旗標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581144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02:27:16 完成刪除;受保護的關係正確拒刪且未重試;只有一半零活動的關係未被誤刪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本週進度與成果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sz="1300" b="1">
                <a:solidFill>
                  <a:srgbClr val="1F3864"/>
                </a:solidFill>
              </a:rPr>
              <a:t>第 12 題 · 封鎖稽核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408176"/>
            <a:ext cx="8503920" cy="640080"/>
          </a:xfrm>
          <a:prstGeom prst="rect">
            <a:avLst/>
          </a:prstGeom>
          <a:solidFill>
            <a:srgbClr val="F3F6FA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① 場景　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50">
                <a:solidFill>
                  <a:srgbClr val="222A35"/>
                </a:solidFill>
              </a:rPr>
              <a:t>鄰區表裡有些關係被封鎖了。有的封鎖有憑有據(那條路真的一直失敗),有的則是沒有任何失敗紀錄就被封住——後者等於白白少了一條可用的路,應該解開。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2103120"/>
            <a:ext cx="4160520" cy="1170432"/>
          </a:xfrm>
          <a:prstGeom prst="rect">
            <a:avLst/>
          </a:prstGeom>
          <a:solidFill>
            <a:srgbClr val="FAF7F1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② 模擬端怎麼做出這個錯誤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做兩條對照:一條被封鎖但歷史上完全沒有失敗紀錄(無據),一條被封鎖且累積 40 次失敗(正當)。並且把失敗紀錄的時間往前補,確保關係的建立時間早於失敗史——否則累計數會從零開始算,看起來像無據。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2103120"/>
            <a:ext cx="4160520" cy="1170432"/>
          </a:xfrm>
          <a:prstGeom prst="rect">
            <a:avLst/>
          </a:prstGeom>
          <a:solidFill>
            <a:srgbClr val="F2F8F4"/>
          </a:solidFill>
          <a:ln w="9525">
            <a:solidFill>
              <a:srgbClr val="D4DAE2"/>
            </a:solidFill>
          </a:ln>
        </p:spPr>
        <p:txBody>
          <a:bodyPr wrap="square" bIns="36576">
            <a:noAutofit/>
          </a:bodyPr>
          <a:lstStyle/>
          <a:p>
            <a:pPr>
              <a:spcAft>
                <a:spcPts val="200"/>
              </a:spcAft>
            </a:pPr>
            <a:r>
              <a:rPr sz="900" b="1">
                <a:solidFill>
                  <a:srgbClr val="1F3864"/>
                </a:solidFill>
              </a:rPr>
              <a:t>④ xApp 做了什麼(發現 → 解決)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1. 發現:某條關係被封鎖,但累積失敗次數是 0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2. 判斷:沒有失敗史卻被封鎖,屬於無據封鎖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3. 解決:解除封鎖,把這條路還回來</a:t>
            </a:r>
          </a:p>
          <a:p>
            <a:pPr>
              <a:lnSpc>
                <a:spcPct val="94000"/>
              </a:lnSpc>
              <a:spcAft>
                <a:spcPts val="150"/>
              </a:spcAft>
            </a:pPr>
            <a:r>
              <a:rPr sz="800">
                <a:solidFill>
                  <a:srgbClr val="222A35"/>
                </a:solidFill>
              </a:rPr>
              <a:t>4. 追認:解封後觀察換手是否真的成功,而不是解完就算完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300984"/>
            <a:ext cx="3657600" cy="201168"/>
          </a:xfrm>
          <a:prstGeom prst="rect">
            <a:avLst/>
          </a:prstGeom>
          <a:noFill/>
        </p:spPr>
        <p:txBody>
          <a:bodyPr wrap="none" lIns="18288" tIns="0">
            <a:spAutoFit/>
          </a:bodyPr>
          <a:lstStyle/>
          <a:p>
            <a:r>
              <a:rPr sz="900" b="1">
                <a:solidFill>
                  <a:srgbClr val="1F3864"/>
                </a:solidFill>
              </a:rPr>
              <a:t>③ 這一題用哪些指標判斷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3493008"/>
          <a:ext cx="8503919" cy="827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3383280"/>
              </a:tblGrid>
              <a:tr h="237744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指標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這個數字代表什麼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</a:rPr>
                        <a:t>模擬端怎麼讓它出現</a:t>
                      </a:r>
                    </a:p>
                  </a:txBody>
                  <a:tcPr anchor="ctr" marL="54864" marR="54864" marT="9144" marB="9144">
                    <a:solidFill>
                      <a:srgbClr val="1F3864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自建立以來的累積失敗次數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封鎖的憑據;為 0 就代表當初封鎖沒有根據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一條完全不注入失敗,另一條注入並回填歷史時間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封鎖旗標與封鎖來源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誰封的、什麼時候封的,決定該不該由 xApp 解開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封鎖動作留下完整的事件紀錄</a:t>
                      </a:r>
                    </a:p>
                  </a:txBody>
                  <a:tcPr anchor="ctr" marL="54864" marR="54864" marT="9144" marB="9144">
                    <a:solidFill>
                      <a:srgbClr val="F7F9FC"/>
                    </a:solidFill>
                  </a:tcPr>
                </a:tc>
              </a:tr>
              <a:tr h="196596"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1">
                          <a:solidFill>
                            <a:srgbClr val="222A35"/>
                          </a:solidFill>
                        </a:rPr>
                        <a:t>解封後的成功率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解開之後這條路真的能用,才證明當初的封鎖確實是多餘的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2000"/>
                        </a:lnSpc>
                      </a:pPr>
                      <a:r>
                        <a:rPr sz="750" b="0">
                          <a:solidFill>
                            <a:srgbClr val="5B6673"/>
                          </a:solidFill>
                        </a:rPr>
                        <a:t>無據那條本來就沒問題,解開後換手自然成功</a:t>
                      </a:r>
                    </a:p>
                  </a:txBody>
                  <a:tcPr anchor="ctr" marL="54864" marR="54864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4384548"/>
            <a:ext cx="7223760" cy="274320"/>
          </a:xfrm>
          <a:prstGeom prst="rect">
            <a:avLst/>
          </a:prstGeom>
          <a:solidFill>
            <a:srgbClr val="ECF5EE"/>
          </a:solidFill>
          <a:ln w="9525">
            <a:solidFill>
              <a:srgbClr val="C3DFCC"/>
            </a:solidFill>
          </a:ln>
        </p:spPr>
        <p:txBody>
          <a:bodyPr wrap="square" tIns="22860" bIns="18288">
            <a:noAutofit/>
          </a:bodyPr>
          <a:lstStyle/>
          <a:p>
            <a:pPr>
              <a:lnSpc>
                <a:spcPct val="95000"/>
              </a:lnSpc>
            </a:pPr>
            <a:r>
              <a:rPr sz="800" b="1">
                <a:solidFill>
                  <a:srgbClr val="1E6B3A"/>
                </a:solidFill>
              </a:rPr>
              <a:t>驗證結果:已通過　</a:t>
            </a:r>
            <a:r>
              <a:rPr sz="800">
                <a:solidFill>
                  <a:srgbClr val="222A35"/>
                </a:solidFill>
              </a:rPr>
              <a:t>11:21:36 五項訊號齊全,無據封鎖解除並完成行為確認;有據的那條正確地不動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CFA76-FB71-C432-E5B8-C9EF7DA6F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4DE1D0-17A7-8DDA-7C60-3FC9D355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本週進度與成果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50EE780-989B-9566-7D97-5A65459AB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4573" y="1056092"/>
            <a:ext cx="8229600" cy="343218"/>
          </a:xfrm>
        </p:spPr>
        <p:txBody>
          <a:bodyPr>
            <a:noAutofit/>
          </a:bodyPr>
          <a:lstStyle/>
          <a:p>
            <a:pPr marL="552450" lvl="1" indent="0">
              <a:buNone/>
            </a:pPr>
            <a:r>
              <a:rPr lang="zh-TW" altLang="en-US" sz="1400" dirty="0">
                <a:solidFill>
                  <a:schemeClr val="accent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已完成項目</a:t>
            </a:r>
            <a:endParaRPr lang="en-US" altLang="zh-TW" sz="1400" dirty="0">
              <a:solidFill>
                <a:schemeClr val="accent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80ACED4-6A4A-99A1-8D7D-88123A6A08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fld>
            <a:endParaRPr lang="en-US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508760"/>
          <a:ext cx="85039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/>
                <a:gridCol w="1965960"/>
                <a:gridCol w="2377440"/>
              </a:tblGrid>
              <a:tr h="329184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劇本 / 工作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驗法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完成情況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格式遷移(資料契約重構,12 guard 全數改寫)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168 離線測試 + live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完結(35 輪協同)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模組交換窗 + ANR_SCHEMA=v10 切換 + 共存煙霧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20 分靜默四項全零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Q6 Xn TNL:止血→修復→行為恢復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判定恢復(成功率 0.9)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Q7 有害鄰居:成對旗標 + 探測/間隔倍增/封頂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RECOVERED(流量背書)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Q5 PCI 混淆:Format 3 群組換手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5 台全數導正、換錯 cell 比率 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Q11 殭屍關係:四型矩陣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全循環(live 病灶)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含拒後不重試修復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Q1 缺鄰 / Q10 劣化重指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閉環抽驗(live)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補關係後掉線歸零 / 原子重指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Q2/Q3/Q4/Q8/Q9/Q12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真實疾病 fixture 離線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✅(Q12 另有 live 自然發生)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v10.1:快照新鮮度閘 + confirm() 慣用式(action-2 推播)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離線 + wire 自測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✅ 0.1.1 / 0.1.2 上線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442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DE520-AA65-5DA0-F613-112787A3D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C090A8-08EC-93DD-AC27-731B0341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下週進度規劃與預期成果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E4FA73-A466-9932-B2D6-96F8156F6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0000"/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chemeClr val="accent2"/>
                </a:solidFill>
                <a:latin typeface="+mn-lt"/>
                <a:ea typeface="微軟正黑體"/>
              </a:rPr>
              <a:t>工作規劃</a:t>
            </a:r>
            <a:endParaRPr lang="en-US" altLang="zh-TW" sz="1400" dirty="0">
              <a:solidFill>
                <a:schemeClr val="accent2"/>
              </a:solidFill>
              <a:latin typeface="+mn-lt"/>
              <a:ea typeface="微軟正黑體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DF2152-D5B9-4635-42CC-A44B738FD7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4023360"/>
                <a:gridCol w="3108960"/>
              </a:tblGrid>
              <a:tr h="594360"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工作性質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工作規劃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  <a:ea typeface="Microsoft JhengHei"/>
                        </a:rPr>
                        <a:t>預期成果</a:t>
                      </a:r>
                    </a:p>
                  </a:txBody>
                  <a:tcPr anchor="ctr" marL="45720" marR="45720" marT="18288" marB="18288">
                    <a:solidFill>
                      <a:srgbClr val="335B74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開發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資料前處理 xApp(preprocess)方向定案與復工:清洗 v10 觀測資料入獨立庫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v10 資料 → 文件式 JSON 清洗管線(缺值 null + _meta,絕不填 0)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聯合驗證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陪測 sim「CU 重啟 ⇒ 斷流」三層根因修復(E2 訂閱/adapter polling/UE manager)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CU 重啟後全鏈路自癒,無需人工重訂;新鮮度閘 wire 實證</a:t>
                      </a:r>
                    </a:p>
                  </a:txBody>
                  <a:tcPr anchor="ctr" marL="45720" marR="45720" marT="18288" marB="18288">
                    <a:solidFill>
                      <a:srgbClr val="EFF5F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整備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E2AP 版本盤點;觀測資料 ASN.1 化(IndicationMessage Format 3)評估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222A30"/>
                          </a:solidFill>
                          <a:latin typeface="Arial"/>
                          <a:ea typeface="Microsoft JhengHei"/>
                        </a:rPr>
                        <a:t>規範對齊差異清單與工作量估算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8319589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 b="1">
                <a:solidFill>
                  <a:srgbClr val="335B74"/>
                </a:solidFill>
                <a:latin typeface="Arial"/>
                <a:ea typeface="Microsoft JhengHei"/>
              </a:rPr>
              <a:t>參考資料 / 文獻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ANR情境測驗_v10.docx(DT-sim 團隊,2026-08)—— 十二題卷面、可用 API、參數定義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O-RAN.WG3.TS.E2SM-RC-R005-v10.00 —— RC 服務模型(REPORTCGI Style 9、HO Control Style 3、E2NodeInfo Style 3)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O-RAN.WG3.TS.E2SM-KPM-R005-v08.00 —— KPM 服務模型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28.313 —— SON ANR 管理(§6.4.1.3.5 Handover Blocklisting)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3GPP TS 38.300 §15.3.3 —— NR ANR 功能與 Xn 自建反向關係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03A42"/>
                </a:solidFill>
                <a:latin typeface="Arial"/>
                <a:ea typeface="Microsoft JhengHei"/>
              </a:rPr>
              <a:t>實作與驗測記錄:anr/ANR_十二題完整規格_v10.md、anr/V10_FINAL_REPORT.md(本團隊 repo)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TLab-Version_Wai">
  <a:themeElements>
    <a:clrScheme name="藍色 II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209</Words>
  <Application>Microsoft Office PowerPoint</Application>
  <PresentationFormat>如螢幕大小 (16:9)</PresentationFormat>
  <Paragraphs>45</Paragraphs>
  <Slides>7</Slides>
  <Notes>7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Comic Sans MS</vt:lpstr>
      <vt:lpstr>MITLab-Version_Wai</vt:lpstr>
      <vt:lpstr>進度報告</vt:lpstr>
      <vt:lpstr>Overview</vt:lpstr>
      <vt:lpstr>本週進度與成果</vt:lpstr>
      <vt:lpstr>本週進度與成果</vt:lpstr>
      <vt:lpstr>本週進度與成果</vt:lpstr>
      <vt:lpstr>本週進度與成果</vt:lpstr>
      <vt:lpstr>下週進度規劃與預期成果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Intent-Based SMO 進度報告</dc:title>
  <dc:creator>yihua</dc:creator>
  <cp:lastModifiedBy>耀慶 黃</cp:lastModifiedBy>
  <cp:revision>11</cp:revision>
  <dcterms:modified xsi:type="dcterms:W3CDTF">2026-08-26T01:12:23Z</dcterms:modified>
</cp:coreProperties>
</file>