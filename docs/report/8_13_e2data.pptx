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332" r:id="rId4"/>
    <p:sldId id="400" r:id="rId5"/>
    <p:sldId id="401" r:id="rId6"/>
    <p:sldId id="402" r:id="rId17"/>
    <p:sldId id="403" r:id="rId18"/>
    <p:sldId id="392" r:id="rId7"/>
    <p:sldId id="393" r:id="rId8"/>
    <p:sldId id="32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400"/>
            <p14:sldId id="40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 autoAdjust="0"/>
    <p:restoredTop sz="82182" autoAdjust="0"/>
  </p:normalViewPr>
  <p:slideViewPr>
    <p:cSldViewPr snapToGrid="0">
      <p:cViewPr varScale="1">
        <p:scale>
          <a:sx n="120" d="100"/>
          <a:sy n="120" d="100"/>
        </p:scale>
        <p:origin x="111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notesMaster" Target="notesMasters/notesMaster1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19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7bc1bce13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7bc1bce13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321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591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9887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1952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 dirty="0"/>
              <a:t> {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ue_id</a:t>
            </a:r>
            <a:r>
              <a:rPr lang="en-US" altLang="zh-TW" dirty="0"/>
              <a:t>": "ue-001",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訊號層</a:t>
            </a:r>
            <a:r>
              <a:rPr lang="en-US" altLang="zh-TW" dirty="0"/>
              <a:t>(UE </a:t>
            </a:r>
            <a:r>
              <a:rPr lang="zh-TW" altLang="en-US" dirty="0"/>
              <a:t>量到的</a:t>
            </a:r>
            <a:r>
              <a:rPr lang="en-US" altLang="zh-TW" dirty="0"/>
              <a:t>)——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rsrp_dbm</a:t>
            </a:r>
            <a:r>
              <a:rPr lang="en-US" altLang="zh-TW" dirty="0"/>
              <a:t>": -90.0,            # </a:t>
            </a:r>
            <a:r>
              <a:rPr lang="zh-TW" altLang="en-US" dirty="0"/>
              <a:t>服務 </a:t>
            </a:r>
            <a:r>
              <a:rPr lang="en-US" altLang="zh-TW" dirty="0"/>
              <a:t>cell </a:t>
            </a:r>
            <a:r>
              <a:rPr lang="zh-TW" altLang="en-US" dirty="0"/>
              <a:t>的 </a:t>
            </a:r>
            <a:r>
              <a:rPr lang="en-US" altLang="zh-TW" dirty="0"/>
              <a:t>RSRP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sinr_db</a:t>
            </a:r>
            <a:r>
              <a:rPr lang="en-US" altLang="zh-TW" dirty="0"/>
              <a:t>": 5.0,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吞吐量</a:t>
            </a:r>
            <a:r>
              <a:rPr lang="en-US" altLang="zh-TW" dirty="0"/>
              <a:t>(DU </a:t>
            </a:r>
            <a:r>
              <a:rPr lang="zh-TW" altLang="en-US" dirty="0"/>
              <a:t>統計的</a:t>
            </a:r>
            <a:r>
              <a:rPr lang="en-US" altLang="zh-TW" dirty="0"/>
              <a:t>)——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throughput_dl_mbps</a:t>
            </a:r>
            <a:r>
              <a:rPr lang="en-US" altLang="zh-TW" dirty="0"/>
              <a:t>": 50.0,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throughput_ul_mbps</a:t>
            </a:r>
            <a:r>
              <a:rPr lang="en-US" altLang="zh-TW" dirty="0"/>
              <a:t>": 10.0,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排程資訊</a:t>
            </a:r>
            <a:r>
              <a:rPr lang="en-US" altLang="zh-TW" dirty="0"/>
              <a:t>(DU MAC </a:t>
            </a:r>
            <a:r>
              <a:rPr lang="zh-TW" altLang="en-US" dirty="0"/>
              <a:t>給的</a:t>
            </a:r>
            <a:r>
              <a:rPr lang="en-US" altLang="zh-TW" dirty="0"/>
              <a:t>)——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mcs_dl</a:t>
            </a:r>
            <a:r>
              <a:rPr lang="en-US" altLang="zh-TW" dirty="0"/>
              <a:t>": 16,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rb_width_dl</a:t>
            </a:r>
            <a:r>
              <a:rPr lang="en-US" altLang="zh-TW" dirty="0"/>
              <a:t>": 100,           # </a:t>
            </a:r>
            <a:r>
              <a:rPr lang="zh-TW" altLang="en-US" dirty="0"/>
              <a:t>配給 </a:t>
            </a:r>
            <a:r>
              <a:rPr lang="en-US" altLang="zh-TW" dirty="0"/>
              <a:t>UE </a:t>
            </a:r>
            <a:r>
              <a:rPr lang="zh-TW" altLang="en-US" dirty="0"/>
              <a:t>的 </a:t>
            </a:r>
            <a:r>
              <a:rPr lang="en-US" altLang="zh-TW" dirty="0"/>
              <a:t>PRB </a:t>
            </a:r>
            <a:r>
              <a:rPr lang="zh-TW" altLang="en-US" dirty="0"/>
              <a:t>數    </a:t>
            </a:r>
          </a:p>
          <a:p>
            <a:pPr marL="158750" indent="0">
              <a:buNone/>
            </a:pPr>
            <a:r>
              <a:rPr lang="zh-TW" altLang="en-US" dirty="0"/>
              <a:t>    </a:t>
            </a:r>
            <a:r>
              <a:rPr lang="en-US" altLang="zh-TW" dirty="0"/>
              <a:t>"</a:t>
            </a:r>
            <a:r>
              <a:rPr lang="en-US" altLang="zh-TW" dirty="0" err="1"/>
              <a:t>mimo_rank</a:t>
            </a:r>
            <a:r>
              <a:rPr lang="en-US" altLang="zh-TW" dirty="0"/>
              <a:t>": 2,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PDCP/RLC </a:t>
            </a:r>
            <a:r>
              <a:rPr lang="zh-TW" altLang="en-US" dirty="0"/>
              <a:t>流量計數</a:t>
            </a:r>
            <a:r>
              <a:rPr lang="en-US" altLang="zh-TW" dirty="0"/>
              <a:t>(DU </a:t>
            </a:r>
            <a:r>
              <a:rPr lang="zh-TW" altLang="en-US" dirty="0"/>
              <a:t>累計</a:t>
            </a:r>
            <a:r>
              <a:rPr lang="en-US" altLang="zh-TW" dirty="0"/>
              <a:t>)——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pdcp_sdu_volume_dl</a:t>
            </a:r>
            <a:r>
              <a:rPr lang="en-US" altLang="zh-TW" dirty="0"/>
              <a:t>": 12345678,   # window </a:t>
            </a:r>
            <a:r>
              <a:rPr lang="zh-TW" altLang="en-US" dirty="0"/>
              <a:t>內累計 </a:t>
            </a:r>
            <a:r>
              <a:rPr lang="en-US" altLang="zh-TW" dirty="0"/>
              <a:t>bytes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pdcp_sdu_volume_ul</a:t>
            </a:r>
            <a:r>
              <a:rPr lang="en-US" altLang="zh-TW" dirty="0"/>
              <a:t>": 234567,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rlc_sdu_delay_dl_ms</a:t>
            </a:r>
            <a:r>
              <a:rPr lang="en-US" altLang="zh-TW" dirty="0"/>
              <a:t>": 8.3,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# —— </a:t>
            </a:r>
            <a:r>
              <a:rPr lang="zh-TW" altLang="en-US" dirty="0"/>
              <a:t>鄰居清單</a:t>
            </a:r>
            <a:r>
              <a:rPr lang="en-US" altLang="zh-TW" dirty="0"/>
              <a:t>(UE </a:t>
            </a:r>
            <a:r>
              <a:rPr lang="zh-TW" altLang="en-US" dirty="0"/>
              <a:t>量的鄰 </a:t>
            </a:r>
            <a:r>
              <a:rPr lang="en-US" altLang="zh-TW" dirty="0"/>
              <a:t>cell)——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"</a:t>
            </a:r>
            <a:r>
              <a:rPr lang="en-US" altLang="zh-TW" dirty="0" err="1"/>
              <a:t>neighbor_cells</a:t>
            </a:r>
            <a:r>
              <a:rPr lang="en-US" altLang="zh-TW" dirty="0"/>
              <a:t>": [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  {"</a:t>
            </a:r>
            <a:r>
              <a:rPr lang="en-US" altLang="zh-TW" dirty="0" err="1"/>
              <a:t>cell_id</a:t>
            </a:r>
            <a:r>
              <a:rPr lang="en-US" altLang="zh-TW" dirty="0"/>
              <a:t>": "c2", "</a:t>
            </a:r>
            <a:r>
              <a:rPr lang="en-US" altLang="zh-TW" dirty="0" err="1"/>
              <a:t>rsrp_dbm</a:t>
            </a:r>
            <a:r>
              <a:rPr lang="en-US" altLang="zh-TW" dirty="0"/>
              <a:t>": -80.0, "</a:t>
            </a:r>
            <a:r>
              <a:rPr lang="en-US" altLang="zh-TW" dirty="0" err="1"/>
              <a:t>rsrq_db</a:t>
            </a:r>
            <a:r>
              <a:rPr lang="en-US" altLang="zh-TW" dirty="0"/>
              <a:t>": -10.0}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]          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} 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A3</a:t>
            </a:r>
            <a:r>
              <a:rPr lang="zh-TW" altLang="en-US" dirty="0"/>
              <a:t>演算法   公式對齊 </a:t>
            </a:r>
            <a:r>
              <a:rPr lang="en-US" altLang="zh-TW" dirty="0"/>
              <a:t>3GPP TS 38.331 §5.5.4.4</a:t>
            </a:r>
            <a:r>
              <a:rPr lang="zh-TW" altLang="en-US" dirty="0"/>
              <a:t> 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 A3 </a:t>
            </a:r>
            <a:r>
              <a:rPr lang="zh-TW" altLang="en-US" dirty="0"/>
              <a:t>觸發</a:t>
            </a:r>
            <a:r>
              <a:rPr lang="en-US" altLang="zh-TW" dirty="0"/>
              <a:t>: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</a:t>
            </a:r>
          </a:p>
          <a:p>
            <a:pPr marL="158750" indent="0">
              <a:buNone/>
            </a:pPr>
            <a:r>
              <a:rPr lang="en-US" altLang="zh-TW" dirty="0"/>
              <a:t>  # handover_executor.py </a:t>
            </a:r>
            <a:r>
              <a:rPr lang="zh-TW" altLang="en-US" dirty="0"/>
              <a:t>做三件事</a:t>
            </a:r>
            <a:r>
              <a:rPr lang="en-US" altLang="zh-TW" dirty="0"/>
              <a:t>: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1. </a:t>
            </a:r>
            <a:r>
              <a:rPr lang="en-US" altLang="zh-TW" dirty="0" err="1"/>
              <a:t>SqlDbBusinessService.create_entity</a:t>
            </a:r>
            <a:r>
              <a:rPr lang="en-US" altLang="zh-TW" dirty="0"/>
              <a:t>(</a:t>
            </a:r>
            <a:r>
              <a:rPr lang="en-US" altLang="zh-TW" dirty="0" err="1"/>
              <a:t>HandoverEvent</a:t>
            </a:r>
            <a:r>
              <a:rPr lang="en-US" altLang="zh-TW" dirty="0"/>
              <a:t>, {...})  # audit log</a:t>
            </a:r>
          </a:p>
          <a:p>
            <a:pPr marL="158750" indent="0">
              <a:buNone/>
            </a:pPr>
            <a:r>
              <a:rPr lang="en-US" altLang="zh-TW" dirty="0"/>
              <a:t>  2. </a:t>
            </a:r>
            <a:r>
              <a:rPr lang="en-US" altLang="zh-TW" dirty="0" err="1"/>
              <a:t>UeContext.serving_cell</a:t>
            </a:r>
            <a:r>
              <a:rPr lang="en-US" altLang="zh-TW" dirty="0"/>
              <a:t> = </a:t>
            </a:r>
            <a:r>
              <a:rPr lang="en-US" altLang="zh-TW" dirty="0" err="1"/>
              <a:t>target_cell</a:t>
            </a:r>
            <a:r>
              <a:rPr lang="en-US" altLang="zh-TW" dirty="0"/>
              <a:t>                       # </a:t>
            </a:r>
            <a:r>
              <a:rPr lang="zh-TW" altLang="en-US" dirty="0"/>
              <a:t>改 </a:t>
            </a:r>
            <a:r>
              <a:rPr lang="en-US" altLang="zh-TW" dirty="0"/>
              <a:t>SQL </a:t>
            </a:r>
            <a:r>
              <a:rPr lang="zh-TW" altLang="en-US" dirty="0"/>
              <a:t>欄位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3. </a:t>
            </a:r>
            <a:r>
              <a:rPr lang="en-US" altLang="zh-TW" dirty="0" err="1"/>
              <a:t>DuClient.post_ue_context_modification</a:t>
            </a:r>
            <a:r>
              <a:rPr lang="en-US" altLang="zh-TW" dirty="0"/>
              <a:t>(</a:t>
            </a:r>
            <a:r>
              <a:rPr lang="en-US" altLang="zh-TW" dirty="0" err="1"/>
              <a:t>ue_id</a:t>
            </a:r>
            <a:r>
              <a:rPr lang="en-US" altLang="zh-TW" dirty="0"/>
              <a:t>, target)       # </a:t>
            </a:r>
            <a:r>
              <a:rPr lang="zh-TW" altLang="en-US" dirty="0"/>
              <a:t>通知 </a:t>
            </a:r>
            <a:r>
              <a:rPr lang="en-US" altLang="zh-TW" dirty="0"/>
              <a:t>DU 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 err="1"/>
              <a:t>ul_rrc_message</a:t>
            </a:r>
            <a:r>
              <a:rPr lang="en-US" altLang="zh-TW" dirty="0"/>
              <a:t> </a:t>
            </a:r>
            <a:r>
              <a:rPr lang="zh-TW" altLang="en-US" dirty="0"/>
              <a:t>收到後做什麼</a:t>
            </a:r>
            <a:r>
              <a:rPr lang="en-US" altLang="zh-TW" dirty="0"/>
              <a:t>?</a:t>
            </a:r>
          </a:p>
          <a:p>
            <a:pPr marL="158750" indent="0">
              <a:buNone/>
            </a:pPr>
            <a:r>
              <a:rPr lang="en-US" altLang="zh-TW" dirty="0"/>
              <a:t>               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# ⚠️  </a:t>
            </a:r>
            <a:r>
              <a:rPr lang="zh-TW" altLang="en-US" dirty="0"/>
              <a:t>假衍生 </a:t>
            </a:r>
            <a:r>
              <a:rPr lang="en-US" altLang="zh-TW" dirty="0"/>
              <a:t>ID — </a:t>
            </a:r>
            <a:r>
              <a:rPr lang="zh-TW" altLang="en-US" dirty="0"/>
              <a:t>不是真協議分配</a:t>
            </a:r>
          </a:p>
          <a:p>
            <a:pPr marL="158750" indent="0">
              <a:buNone/>
            </a:pPr>
            <a:r>
              <a:rPr lang="zh-TW" altLang="en-US" dirty="0"/>
              <a:t>  </a:t>
            </a:r>
            <a:r>
              <a:rPr lang="en-US" altLang="zh-TW" dirty="0"/>
              <a:t>base = abs(hash(</a:t>
            </a:r>
            <a:r>
              <a:rPr lang="en-US" altLang="zh-TW" dirty="0" err="1"/>
              <a:t>ue_id</a:t>
            </a:r>
            <a:r>
              <a:rPr lang="en-US" altLang="zh-TW" dirty="0"/>
              <a:t>)) % (2 ** 31)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</a:t>
            </a:r>
            <a:r>
              <a:rPr lang="en-US" altLang="zh-TW" dirty="0" err="1"/>
              <a:t>ue</a:t>
            </a:r>
            <a:r>
              <a:rPr lang="en-US" altLang="zh-TW" dirty="0"/>
              <a:t> = </a:t>
            </a:r>
            <a:r>
              <a:rPr lang="en-US" altLang="zh-TW" dirty="0" err="1"/>
              <a:t>create_entity</a:t>
            </a:r>
            <a:r>
              <a:rPr lang="en-US" altLang="zh-TW" dirty="0"/>
              <a:t>(</a:t>
            </a:r>
            <a:r>
              <a:rPr lang="en-US" altLang="zh-TW" dirty="0" err="1"/>
              <a:t>UeContext</a:t>
            </a:r>
            <a:r>
              <a:rPr lang="en-US" altLang="zh-TW" dirty="0"/>
              <a:t>, {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    "</a:t>
            </a:r>
            <a:r>
              <a:rPr lang="en-US" altLang="zh-TW" dirty="0" err="1"/>
              <a:t>rrc_ue_id</a:t>
            </a:r>
            <a:r>
              <a:rPr lang="en-US" altLang="zh-TW" dirty="0"/>
              <a:t>": base,            # </a:t>
            </a:r>
            <a:r>
              <a:rPr lang="zh-TW" altLang="en-US" dirty="0"/>
              <a:t>真 </a:t>
            </a:r>
            <a:r>
              <a:rPr lang="en-US" altLang="zh-TW" dirty="0"/>
              <a:t>OAI </a:t>
            </a:r>
            <a:r>
              <a:rPr lang="zh-TW" altLang="en-US" dirty="0"/>
              <a:t>是 </a:t>
            </a:r>
            <a:r>
              <a:rPr lang="en-US" altLang="zh-TW" dirty="0"/>
              <a:t>RRC procedure </a:t>
            </a:r>
            <a:r>
              <a:rPr lang="zh-TW" altLang="en-US" dirty="0"/>
              <a:t>分配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    </a:t>
            </a:r>
            <a:r>
              <a:rPr lang="en-US" altLang="zh-TW" dirty="0"/>
              <a:t>"</a:t>
            </a:r>
            <a:r>
              <a:rPr lang="en-US" altLang="zh-TW" dirty="0" err="1"/>
              <a:t>ran_ue_ngap_id</a:t>
            </a:r>
            <a:r>
              <a:rPr lang="en-US" altLang="zh-TW" dirty="0"/>
              <a:t>": base,       # </a:t>
            </a:r>
            <a:r>
              <a:rPr lang="zh-TW" altLang="en-US" dirty="0"/>
              <a:t>真 </a:t>
            </a:r>
            <a:r>
              <a:rPr lang="en-US" altLang="zh-TW" dirty="0"/>
              <a:t>OAI </a:t>
            </a:r>
            <a:r>
              <a:rPr lang="zh-TW" altLang="en-US" dirty="0"/>
              <a:t>是 </a:t>
            </a:r>
            <a:r>
              <a:rPr lang="en-US" altLang="zh-TW" dirty="0"/>
              <a:t>NGAP </a:t>
            </a:r>
            <a:r>
              <a:rPr lang="zh-TW" altLang="en-US" dirty="0"/>
              <a:t>分配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    </a:t>
            </a:r>
            <a:r>
              <a:rPr lang="en-US" altLang="zh-TW" dirty="0"/>
              <a:t>"</a:t>
            </a:r>
            <a:r>
              <a:rPr lang="en-US" altLang="zh-TW" dirty="0" err="1"/>
              <a:t>amf_ue_ngap_id</a:t>
            </a:r>
            <a:r>
              <a:rPr lang="en-US" altLang="zh-TW" dirty="0"/>
              <a:t>": base + 1,   # </a:t>
            </a:r>
            <a:r>
              <a:rPr lang="zh-TW" altLang="en-US" dirty="0"/>
              <a:t>真 </a:t>
            </a:r>
            <a:r>
              <a:rPr lang="en-US" altLang="zh-TW" dirty="0"/>
              <a:t>OAI </a:t>
            </a:r>
            <a:r>
              <a:rPr lang="zh-TW" altLang="en-US" dirty="0"/>
              <a:t>是 </a:t>
            </a:r>
            <a:r>
              <a:rPr lang="en-US" altLang="zh-TW" dirty="0"/>
              <a:t>AMF </a:t>
            </a:r>
            <a:r>
              <a:rPr lang="zh-TW" altLang="en-US" dirty="0"/>
              <a:t>分配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zh-TW" altLang="en-US" dirty="0"/>
              <a:t>      </a:t>
            </a:r>
            <a:r>
              <a:rPr lang="en-US" altLang="zh-TW" dirty="0"/>
              <a:t>...                                                                                                                                                                       </a:t>
            </a:r>
          </a:p>
          <a:p>
            <a:pPr marL="158750" indent="0">
              <a:buNone/>
            </a:pPr>
            <a:r>
              <a:rPr lang="en-US" altLang="zh-TW" dirty="0"/>
              <a:t>  })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413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A961-3932-E37F-D51C-C17FCF21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9EB9F-7F80-B1C1-786B-72B876F76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11DF-E2C8-64D3-134B-3E929D27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434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91100" y="389650"/>
            <a:ext cx="8050564" cy="2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進度報告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l="34250" t="37759" r="11019" b="25516"/>
          <a:stretch/>
        </p:blipFill>
        <p:spPr>
          <a:xfrm>
            <a:off x="89502" y="4299942"/>
            <a:ext cx="1728192" cy="50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4307489" y="3682028"/>
            <a:ext cx="4838247" cy="81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Student: 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台科大 </a:t>
            </a:r>
            <a:r>
              <a:rPr lang="en-US" altLang="zh-TW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Date: 202</a:t>
            </a:r>
            <a:r>
              <a:rPr lang="en-US" altLang="zh-TW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.MM.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DD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 </a:t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Fri</a:t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.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  <a:p>
            <a:pPr marL="514350" lvl="0" indent="-514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National Taiwan University of Science and Technology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7bc1bce13_1_63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Overview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  <p:sp>
        <p:nvSpPr>
          <p:cNvPr id="111" name="Google Shape;111;g2e7bc1bce13_1_63"/>
          <p:cNvSpPr txBox="1">
            <a:spLocks noGrp="1"/>
          </p:cNvSpPr>
          <p:nvPr>
            <p:ph type="body" idx="1"/>
          </p:nvPr>
        </p:nvSpPr>
        <p:spPr>
          <a:xfrm>
            <a:off x="457200" y="1047750"/>
            <a:ext cx="8229600" cy="351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E2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 欄位介紹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Font typeface="Comic Sans MS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目前支援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xApp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g2e7bc1bce13_1_6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3" y="291216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80DEFB-4D88-E397-8EFB-8EF22531777B}"/>
              </a:ext>
            </a:extLst>
          </p:cNvPr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b="1">
                <a:solidFill>
                  <a:srgbClr val="335B74"/>
                </a:solidFill>
                <a:latin typeface="微軟正黑體"/>
                <a:ea typeface="微軟正黑體"/>
              </a:rPr>
              <a:t>新增 E2 欄位 — 真值(實際量測 + 定義計算)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63AC4C-8F47-4442-881D-769C35DB1AA8}"/>
              </a:ext>
            </a:extLst>
          </p:cNvPr>
          <p:cNvSpPr txBox="1"/>
          <p:nvPr/>
        </p:nvSpPr>
        <p:spPr>
          <a:xfrm>
            <a:off x="457200" y="1316736"/>
            <a:ext cx="822960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050">
                <a:solidFill>
                  <a:srgbClr val="556672"/>
                </a:solidFill>
                <a:latin typeface="微軟正黑體"/>
                <a:ea typeface="微軟正黑體"/>
              </a:rPr>
              <a:t>來源:Sionna RT 光追物理層、DU 排程器/RLC、CU 狀態機事件 — 皆為模擬器內真實發生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72768"/>
          <a:ext cx="7772400" cy="3153763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1965960"/>
                <a:gridCol w="2606040"/>
                <a:gridCol w="1600200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欄位</a:t>
                      </a:r>
                    </a:p>
                  </a:txBody>
                  <a:tcPr marL="54864" marR="54864" marT="27432" marB="27432" anchor="ctr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欄位意義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模擬方式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關聯 / 用途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RSRP / SINR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服務訊號強度 / 對干擾雜訊比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Sionna RT 光追直接輸出(每 tick)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換手判斷、MCS 選擇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RSRQ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訊號品質綜合指標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3GPP 公式:RSRP÷RSSI(含 PRB 負載+雜訊)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干擾/擁擠度判斷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DRB.UEThpDl/Ul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UE 上/下行實際吞吐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RLC 實際 drain bytes ÷ 窗口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體驗、CCO 驗收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DRB.PdcpSduVolumeDL/UL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上/下行資料量累計(kbit)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RLC drain bytes 累計(per-5QI 分桶)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負載均衡、hot cell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DRB.RlcSduDelayDl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下行 RLC 佇列延遲(μs)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真實時間戳差;per-5QI 分桶(語音/數據分開)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壅塞警報、GBR 隔離驗證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DRB.PdcpPacketDiscardDL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壅塞主動丟棄封包數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RLC tx buffer 滿 reject 計數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過載鐵證、ES / CCO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RRU.PrbTotDl/Ul + Nbr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PRB 使用率(%)/ 累計顆數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DU 排程器實配累計(OAI 校正)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容量、CCO / 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PDSCH/CQI 分布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MCS / CQI 直方圖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排程器選檔即計數(32/16 bin)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頻譜效率觀察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RRC.ConnEstabAtt/Succ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連線建立計數(歷史累計)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InitialCtxSetup 事件 +1(只加不減,HO 不搬家)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接入統計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MM.Ho* / MR.Event.A3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換手準備/執行/A3 計數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HandoverEvent 狀態機事件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移動性、MRO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RLF.DetectedRate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無線鏈路失敗(掉線)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DU T310 狀態機(真 SINR 驅動)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掉話、ANR 缺漏鄰區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RRC.ReEstab* / 釋放計數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重建(With/Without Ctx)/ 掉話釋放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RlfEvent 事件聚合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網路穩定性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42BA97"/>
                          </a:solidFill>
                          <a:latin typeface="微軟正黑體"/>
                          <a:ea typeface="微軟正黑體"/>
                        </a:rPr>
                        <a:t>HO.IntraSys.*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MRO 換手病態歸因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RLF + HO 時序推導分類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MRO 參數優化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3" y="291216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80DEFB-4D88-E397-8EFB-8EF22531777B}"/>
              </a:ext>
            </a:extLst>
          </p:cNvPr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b="1">
                <a:solidFill>
                  <a:srgbClr val="335B74"/>
                </a:solidFill>
                <a:latin typeface="微軟正黑體"/>
                <a:ea typeface="微軟正黑體"/>
              </a:rPr>
              <a:t>新增 E2 欄位 — 估測值(數字有依據,但『語意』與真實定義有差距)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63AC4C-8F47-4442-881D-769C35DB1AA8}"/>
              </a:ext>
            </a:extLst>
          </p:cNvPr>
          <p:cNvSpPr txBox="1"/>
          <p:nvPr/>
        </p:nvSpPr>
        <p:spPr>
          <a:xfrm>
            <a:off x="457200" y="1316736"/>
            <a:ext cx="822960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050">
                <a:solidFill>
                  <a:srgbClr val="556672"/>
                </a:solidFill>
                <a:latin typeface="微軟正黑體"/>
                <a:ea typeface="微軟正黑體"/>
              </a:rPr>
              <a:t>與真值頁的差別:真值 = 事件/量測直接對應官方定義;估測值 = 用替代來源「頂替」官方定義 — 差距見最右欄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664208"/>
          <a:ext cx="8686800" cy="11539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2057400"/>
                <a:gridCol w="2194560"/>
                <a:gridCol w="2743200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欄位</a:t>
                      </a:r>
                    </a:p>
                  </a:txBody>
                  <a:tcPr marL="54864" marR="54864" marT="27432" marB="27432" anchor="ctr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官方(真實)定義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我們的估測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⚠ 與真實的差距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83C6"/>
                          </a:solidFill>
                          <a:latin typeface="微軟正黑體"/>
                          <a:ea typeface="微軟正黑體"/>
                        </a:rPr>
                        <a:t>bbu_status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683C6"/>
                          </a:solidFill>
                          <a:latin typeface="微軟正黑體"/>
                          <a:ea typeface="微軟正黑體"/>
                        </a:rPr>
                        <a:t>(cpu/power/mem)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量測 gNB 硬體(BBU 板卡)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讀「模擬主機」psutil ÷ gNB 數均攤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C06A1B"/>
                          </a:solidFill>
                          <a:latin typeface="微軟正黑體"/>
                          <a:ea typeface="微軟正黑體"/>
                        </a:rPr>
                        <a:t>量的是跑模擬器的 server,不是被模擬的基站硬體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83C6"/>
                          </a:solidFill>
                          <a:latin typeface="微軟正黑體"/>
                          <a:ea typeface="微軟正黑體"/>
                        </a:rPr>
                        <a:t>ConnReConfigAtt/Succ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所有 RRC 重配訊令(換手+量測配置+DRB 修改)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只拿換手數「借名」填入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C06A1B"/>
                          </a:solidFill>
                          <a:latin typeface="微軟正黑體"/>
                          <a:ea typeface="微軟正黑體"/>
                        </a:rPr>
                        <a:t>缺量測配置等其他重配來源 — 實為 HO 計數的別名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83C6"/>
                          </a:solidFill>
                          <a:latin typeface="微軟正黑體"/>
                          <a:ea typeface="微軟正黑體"/>
                        </a:rPr>
                        <a:t>interfered / quality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(無標準定義 — 平台自建)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鄰區差 10dB 內→1;SINR 門檻分級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C06A1B"/>
                          </a:solidFill>
                          <a:latin typeface="微軟正黑體"/>
                          <a:ea typeface="微軟正黑體"/>
                        </a:rPr>
                        <a:t>門檻是自訂的,換門檻結論就變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2683C6"/>
                          </a:solidFill>
                          <a:latin typeface="微軟正黑體"/>
                          <a:ea typeface="微軟正黑體"/>
                        </a:rPr>
                        <a:t>cpu_power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功率計實測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CPU% × 假設 65W TDP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C06A1B"/>
                          </a:solidFill>
                          <a:latin typeface="微軟正黑體"/>
                          <a:ea typeface="微軟正黑體"/>
                        </a:rPr>
                        <a:t>65W 是假設值,非量測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88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3" y="291216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80DEFB-4D88-E397-8EFB-8EF22531777B}"/>
              </a:ext>
            </a:extLst>
          </p:cNvPr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400" b="1">
                <a:solidFill>
                  <a:srgbClr val="335B74"/>
                </a:solidFill>
                <a:latin typeface="微軟正黑體"/>
                <a:ea typeface="微軟正黑體"/>
              </a:rPr>
              <a:t>新增 E2 欄位 — 假值(無法估算 / 平台不支援)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63AC4C-8F47-4442-881D-769C35DB1AA8}"/>
              </a:ext>
            </a:extLst>
          </p:cNvPr>
          <p:cNvSpPr txBox="1"/>
          <p:nvPr/>
        </p:nvSpPr>
        <p:spPr>
          <a:xfrm>
            <a:off x="457200" y="1316736"/>
            <a:ext cx="822960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050">
                <a:solidFill>
                  <a:srgbClr val="556672"/>
                </a:solidFill>
                <a:latin typeface="微軟正黑體"/>
                <a:ea typeface="微軟正黑體"/>
              </a:rPr>
              <a:t>模擬器無對應事件源,依規格維持誠實 0 — 不填合成值以免誤導 xApp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19" y="1737360"/>
          <a:ext cx="8138160" cy="159837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2377440"/>
                <a:gridCol w="3657600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欄位</a:t>
                      </a:r>
                    </a:p>
                  </a:txBody>
                  <a:tcPr marL="54864" marR="54864" marT="27432" marB="27432" anchor="ctr">
                    <a:solidFill>
                      <a:srgbClr val="8A94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欄位意義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不支援原因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QF.*（QoS Flow 家族)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QoS flow 級建立/釋放統計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平台 QoS 扁平(1 UE=1 session=1 DRB),無獨立 flow 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RRC.SigTime*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RRC 各流程訊令耗時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訊令走 HTTP 瞬時完成,無耗時模型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UECNTX.Release.5GCinit.*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核網(5GC)發起之釋放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平台無 5G 核網主動釋放流程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ConnEstab.emergency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/ mo-Signalling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緊急呼叫 / 純訊令連線動機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模擬 UE 只有『傳資料』一種動機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DRB.PdcpReordDelayUl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上行 PDCP 重排序延遲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無亂序機制(RLC 嚴格有序,無 HARQ 重傳)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8A949E"/>
                          </a:solidFill>
                          <a:latin typeface="微軟正黑體"/>
                          <a:ea typeface="微軟正黑體"/>
                        </a:rPr>
                        <a:t>DRB.AirIfDelayUlAvg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上行空口延遲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UL 為比例流量模型,封包無時間戳生命週期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721768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02A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35B74"/>
                </a:solidFill>
                <a:latin typeface="微軟正黑體"/>
                <a:ea typeface="微軟正黑體"/>
              </a:rPr>
              <a:t>ANR 自定義 E2 資料(ran_func 6)— xApp 經標準 E2 訂閱取得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556672"/>
                </a:solidFill>
                <a:latin typeface="微軟正黑體"/>
                <a:ea typeface="微軟正黑體"/>
              </a:rPr>
              <a:t>五大觀測資料塊,JSON 承載;RIC E2 Setup accepted=[2,3,4,5,6],xApp 已入庫 InfluxDB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19" y="1600200"/>
          <a:ext cx="8138160" cy="2249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329184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資料塊</a:t>
                      </a:r>
                    </a:p>
                  </a:txBody>
                  <a:tcPr marL="54864" marR="54864" marT="27432" marB="27432" anchor="ctr">
                    <a:solidFill>
                      <a:srgbClr val="27CE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內容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資料來源(全真實事件)</a:t>
                      </a:r>
                    </a:p>
                  </a:txBody>
                  <a:tcPr marL="54864" marR="54864" marT="27432" marB="27432" anchor="ctr">
                    <a:solidFill>
                      <a:srgbClr val="335B7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B74"/>
                          </a:solidFill>
                          <a:latin typeface="微軟正黑體"/>
                          <a:ea typeface="微軟正黑體"/>
                        </a:rPr>
                        <a:t>e2NodeInformation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NRT 鄰區關係表(§9.3.38 全欄)+ flags + version + 變更審計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NrCellRelation(xApp ADD/REMOVE/FLAG 即時反映)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B74"/>
                          </a:solidFill>
                          <a:latin typeface="微軟正黑體"/>
                          <a:ea typeface="微軟正黑體"/>
                        </a:rPr>
                        <a:t>kpmIndication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HO 速率 / 成功比(cell 級 + 每鄰區關係)+ 失敗原因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HandoverEvent 真事件(含 CellNotAvailable 等 cause)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B74"/>
                          </a:solidFill>
                          <a:latin typeface="微軟正黑體"/>
                          <a:ea typeface="微軟正黑體"/>
                        </a:rPr>
                        <a:t>rlfKpm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RLF 掉線率 / 掉話率 / 重建 inbound(依來源 PCI)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RlfEvent — Sionna 真 SINR 驅動 T310 判定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B74"/>
                          </a:solidFill>
                          <a:latin typeface="微軟正黑體"/>
                          <a:ea typeface="微軟正黑體"/>
                        </a:rPr>
                        <a:t>mroKpm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MRO 換手病態歸因(TooEarly / TooLate / ToWrongCell)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RLF + HO 時序推導</a:t>
                      </a:r>
                    </a:p>
                  </a:txBody>
                  <a:tcPr marL="54864" marR="54864" marT="27432" marB="27432" anchor="ctr">
                    <a:solidFill>
                      <a:srgbClr val="EF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B74"/>
                          </a:solidFill>
                          <a:latin typeface="微軟正黑體"/>
                          <a:ea typeface="微軟正黑體"/>
                        </a:rPr>
                        <a:t>e2MessageCopyAggregate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量測聚合:依 PCI 的 RSRP 中位數 / P90 / 標準差 / 樣本率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02A33"/>
                          </a:solidFill>
                          <a:latin typeface="微軟正黑體"/>
                          <a:ea typeface="微軟正黑體"/>
                        </a:rPr>
                        <a:t>MeasurementLog(每秒光追量測)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977639"/>
            <a:ext cx="3931920" cy="685800"/>
          </a:xfrm>
          <a:prstGeom prst="rect">
            <a:avLst/>
          </a:prstGeom>
          <a:solidFill>
            <a:srgbClr val="EFF3F5"/>
          </a:solidFill>
          <a:ln w="19050">
            <a:solidFill>
              <a:srgbClr val="C0504D"/>
            </a:solidFill>
          </a:ln>
        </p:spPr>
        <p:txBody>
          <a:bodyPr wrap="square" lIns="109728">
            <a:spAutoFit/>
          </a:bodyPr>
          <a:lstStyle/>
          <a:p>
            <a:r>
              <a:rPr sz="1050" b="1">
                <a:solidFill>
                  <a:srgbClr val="C0504D"/>
                </a:solidFill>
                <a:latin typeface="微軟正黑體"/>
                <a:ea typeface="微軟正黑體"/>
              </a:rPr>
              <a:t>缺漏鄰區(修復前)</a:t>
            </a:r>
          </a:p>
          <a:p>
            <a:r>
              <a:rPr sz="1100" b="1">
                <a:solidFill>
                  <a:srgbClr val="202A33"/>
                </a:solidFill>
                <a:latin typeface="微軟正黑體"/>
                <a:ea typeface="微軟正黑體"/>
              </a:rPr>
              <a:t>RLF 3.33/min    HO 0/min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3977639"/>
            <a:ext cx="3931920" cy="685800"/>
          </a:xfrm>
          <a:prstGeom prst="rect">
            <a:avLst/>
          </a:prstGeom>
          <a:solidFill>
            <a:srgbClr val="EFF3F5"/>
          </a:solidFill>
          <a:ln w="19050">
            <a:solidFill>
              <a:srgbClr val="42BA97"/>
            </a:solidFill>
          </a:ln>
        </p:spPr>
        <p:txBody>
          <a:bodyPr wrap="square" lIns="109728">
            <a:spAutoFit/>
          </a:bodyPr>
          <a:lstStyle/>
          <a:p>
            <a:r>
              <a:rPr sz="1050" b="1">
                <a:solidFill>
                  <a:srgbClr val="42BA97"/>
                </a:solidFill>
                <a:latin typeface="微軟正黑體"/>
                <a:ea typeface="微軟正黑體"/>
              </a:rPr>
              <a:t>xApp ANR ADD(修復後)</a:t>
            </a:r>
          </a:p>
          <a:p>
            <a:r>
              <a:rPr sz="1100" b="1">
                <a:solidFill>
                  <a:srgbClr val="202A33"/>
                </a:solidFill>
                <a:latin typeface="微軟正黑體"/>
                <a:ea typeface="微軟正黑體"/>
              </a:rPr>
              <a:t>RLF 0/min    HO 3.33/min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40873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35B74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90872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556672"/>
                </a:solidFill>
                <a:latin typeface="微軟正黑體"/>
                <a:ea typeface="微軟正黑體"/>
              </a:rPr>
              <a:t>閉環實測:xApp 由 rlfKpm 判定缺漏鄰區 → 下 ANR ADD → 換手 1:1 取代掉線(止血)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202A33"/>
                </a:solidFill>
                <a:latin typeface="微軟正黑體"/>
                <a:ea typeface="微軟正黑體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35B74"/>
                </a:solidFill>
                <a:latin typeface="微軟正黑體"/>
                <a:ea typeface="微軟正黑體"/>
              </a:rPr>
              <a:t>實際收到的 E2 資料格式(實測擷取,非示意)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33856"/>
            <a:ext cx="8229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56672"/>
                </a:solidFill>
                <a:latin typeface="微軟正黑體"/>
                <a:ea typeface="微軟正黑體"/>
              </a:rPr>
              <a:t>與 E2_data_example.md 結構逐鍵一致(pm 190 欄全對);wire 上只送 data 層,UE position 已移除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4206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683C6"/>
                </a:solidFill>
                <a:latin typeface="微軟正黑體"/>
                <a:ea typeface="微軟正黑體"/>
              </a:rPr>
              <a:t>FULLKPM(func 5)— 190 欄完整 KPM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73352"/>
            <a:ext cx="4206240" cy="3429000"/>
          </a:xfrm>
          <a:prstGeom prst="rect">
            <a:avLst/>
          </a:prstGeom>
          <a:solidFill>
            <a:srgbClr val="1E2832"/>
          </a:solidFill>
          <a:ln w="12700">
            <a:solidFill>
              <a:srgbClr val="2683C6"/>
            </a:solidFill>
          </a:ln>
        </p:spPr>
        <p:txBody>
          <a:bodyPr wrap="square" tIns="54864" rIns="73152">
            <a:spAutoFit/>
          </a:bodyPr>
          <a:lstStyle/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{                          // 與 E2_data_example.md 同結構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"success": true,  "message": "OK",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"data": {                // ← wire 上只送這層(zlib 壓縮)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"timestamp_ms": 1786526657412,  "compute_ms": 43,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"e2": [ { "gnb_id": "src", "cells": [ { "ues": [ {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  "rsrp": -73,  "rsrq": -11,  "sinr": 7,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  "interfered": 1,  "rb_start": 0,  "rb_width": 23,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  "neighbors": [ {"nbr_c0": {"rsrp":-88,"rsrq":-26}} ]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} ] } ] } ],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"ue_status": [ {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"ue_id": "ru0",  "serving_gnb": "src",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"rsrp_dbm": -73.4,  "sinr_db": 6.8,  "quality": "fair",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"all_rsrp": {"src": -73.4, "nbr": -88.2},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"throughput_dl_mbps": 4,  "mcs_dl": 6,  "qos_5qi": 9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} ],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"pm": { "gnb-src": [ {      // 每 cell 190 欄(節錄 6 欄)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"cu_RRC.ConnMean": "5",  "cu_MM.HoExeIntraSucc": "44",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"cu_DRB.PdcpSduVolumeDL_5QI9": "29383338",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"du_DRB.AirIfDelayDlAvg.5QI9": "117",  … } ] 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"bbu_status": { "gnb-src": {"cpu": 6.53, "mem": 43.1} 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"warnings": []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41605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27CED7"/>
                </a:solidFill>
                <a:latin typeface="微軟正黑體"/>
                <a:ea typeface="微軟正黑體"/>
              </a:rPr>
              <a:t>ANR(func 6)— 觀測資料五大塊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73352"/>
            <a:ext cx="4160520" cy="3429000"/>
          </a:xfrm>
          <a:prstGeom prst="rect">
            <a:avLst/>
          </a:prstGeom>
          <a:solidFill>
            <a:srgbClr val="1E2832"/>
          </a:solidFill>
          <a:ln w="12700">
            <a:solidFill>
              <a:srgbClr val="27CED7"/>
            </a:solidFill>
          </a:ln>
        </p:spPr>
        <p:txBody>
          <a:bodyPr wrap="square" tIns="54864" rIns="73152">
            <a:spAutoFit/>
          </a:bodyPr>
          <a:lstStyle/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{                          // 範例檔沒有 —— 本平台新增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"success": true,  "message": "ok",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"data": {                // ← wire 上只送這層(zlib 壓縮)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"e2NodeInformation": {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"neighbourCellRelations": [ {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"sourceCellNcgi": "src_c0",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"targetCellGlobalId": "nbr_c0",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"targetPhysicalCellId": 30,  "version": 1,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"isHoAllowed": true,  "xnX2Established": false,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"flags": {"hoBlocklist": false, "noRemove": false}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} ],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"relationChangeEvents": [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{"action":"ADD", "targetCellGlobalId":"nbr_c0",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 "by":"xapp"} ] 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"rlfKpm": { "cellLevel": { "src_c0": {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"RLF.DetectedRate": 3.33,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"RRC.ConnReEstabInboundRatePerMin": 3.33 } 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"reestablishmentInboundByPreviousPci": [ {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"cellNcgi": "nbr_c0",  "byPreviousPci": [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    {"previousPhysicalCellId": 20, "ratePerMin": 3.33} ]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  } ] 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"mroKpm": { "total": {"HO.IntraSys.TooLateRate": 0.5} },</a:t>
            </a:r>
          </a:p>
          <a:p>
            <a:pPr>
              <a:lnSpc>
                <a:spcPct val="100000"/>
              </a:lnSpc>
            </a:pPr>
            <a:r>
              <a:rPr sz="760">
                <a:solidFill>
                  <a:srgbClr val="D8E4EC"/>
                </a:solidFill>
                <a:latin typeface="Consolas"/>
              </a:rPr>
              <a:t>    "e2MessageCopyAggregate": { … } }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995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2D48991-E583-0D95-E43F-A3736AFC9576}"/>
              </a:ext>
            </a:extLst>
          </p:cNvPr>
          <p:cNvSpPr txBox="1"/>
          <p:nvPr/>
        </p:nvSpPr>
        <p:spPr>
          <a:xfrm>
            <a:off x="542677" y="907611"/>
            <a:ext cx="4599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SzPts val="2400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RAN-SIM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可以支援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94EEB02-B208-65A5-5951-754A539891B4}"/>
              </a:ext>
            </a:extLst>
          </p:cNvPr>
          <p:cNvSpPr txBox="1"/>
          <p:nvPr/>
        </p:nvSpPr>
        <p:spPr>
          <a:xfrm>
            <a:off x="502919" y="1370000"/>
            <a:ext cx="813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5B74"/>
                </a:solidFill>
                <a:latin typeface="微軟正黑體"/>
              </a:rPr>
              <a:t>ANR(func6):6 觀測命令(訂閱 → 五大 indication 塊)+ 4 控制(SON 觸發 / HO)+ SMO_NOTIFY;另支援 RC PRB Quota(Style2)、CCC 開關(func4)</a:t>
            </a:r>
            <a:endParaRPr lang="zh-TW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19" y="1730000"/>
          <a:ext cx="8138160" cy="29799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20000"/>
                <a:gridCol w="2340000"/>
                <a:gridCol w="3020000"/>
                <a:gridCol w="2158160"/>
              </a:tblGrid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類</a:t>
                      </a:r>
                    </a:p>
                  </a:txBody>
                  <a:tcPr anchor="ctr" marL="54000" marR="45000" marT="9000" marB="9000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命令(卷面原語)</a:t>
                      </a:r>
                    </a:p>
                  </a:txBody>
                  <a:tcPr anchor="ctr" marL="54000" marR="45000" marT="9000" marB="9000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平台對應(func6 塊 / 落地效果)</a:t>
                      </a:r>
                    </a:p>
                  </a:txBody>
                  <a:tcPr anchor="ctr" marL="54000" marR="45000" marT="9000" marB="9000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用途 / 解決題型</a:t>
                      </a:r>
                    </a:p>
                  </a:txBody>
                  <a:tcPr anchor="ctr" marL="54000" marR="45000" marT="9000" marB="9000">
                    <a:solidFill>
                      <a:srgbClr val="335B74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觀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測</a:t>
                      </a:r>
                    </a:p>
                  </a:txBody>
                  <a:tcPr anchor="ctr" marL="54000" marR="45000" marT="9000" marB="9000">
                    <a:solidFill>
                      <a:srgbClr val="27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RC_E2NODEINFO_QUERY/SUBSCRIBE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e2NodeInformation:NRT §9.3.38 + freqRelations + relationChangeEvents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讀鄰區關係表、confirm(version 變化)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觀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測</a:t>
                      </a:r>
                    </a:p>
                  </a:txBody>
                  <a:tcPr anchor="ctr" marL="54000" marR="45000" marT="9000" marB="9000">
                    <a:solidFill>
                      <a:srgbClr val="27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perNeighbourRelation KPM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kpmIndication:MM.HoExeAtt/Succ + handoverFailureCause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有害鄰居 / 過期偵測(第7、10題)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觀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測</a:t>
                      </a:r>
                    </a:p>
                  </a:txBody>
                  <a:tcPr anchor="ctr" marL="54000" marR="45000" marT="9000" marB="9000">
                    <a:solidFill>
                      <a:srgbClr val="27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RC_MSGCOPY_SUBSCRIBE_MEAS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e2MessageCopyAggregate:RSRP 分位數 P50/P90/std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量測側反推缺漏(第2、3題)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觀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測</a:t>
                      </a:r>
                    </a:p>
                  </a:txBody>
                  <a:tcPr anchor="ctr" marL="54000" marR="45000" marT="9000" marB="9000">
                    <a:solidFill>
                      <a:srgbClr val="27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RC_MSGCOPY_SUBSCRIBE_REESTAB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rlfKpm:RLF/重建速率 + reestablishmentInboundByPreviousPci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重建統計反推缺漏(第1題)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觀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測</a:t>
                      </a:r>
                    </a:p>
                  </a:txBody>
                  <a:tcPr anchor="ctr" marL="54000" marR="45000" marT="9000" marB="9000">
                    <a:solidFill>
                      <a:srgbClr val="27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RC_MSGCOPY_SUBSCRIBE_MOBILITY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mroKpm:HO TooEarly/TooLate/ToWrongCell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MRO 歸因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觀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測</a:t>
                      </a:r>
                    </a:p>
                  </a:txBody>
                  <a:tcPr anchor="ctr" marL="54000" marR="45000" marT="9000" marB="9000">
                    <a:solidFill>
                      <a:srgbClr val="278E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RC_MEASCONFIG_REPORTCGI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PCI+ARFCN → 全域 CGI(unique / confusion)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鄰區發現 / 撞號消歧(第4、5題)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控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制</a:t>
                      </a:r>
                    </a:p>
                  </a:txBody>
                  <a:tcPr anchor="ctr" marL="54000" marR="45000" marT="9000" marB="9000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SONTRIG_ANR_ADD_REQUEST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新增鄰區關係,version+1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缺漏鄰區止血(第1–4題)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控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制</a:t>
                      </a:r>
                    </a:p>
                  </a:txBody>
                  <a:tcPr anchor="ctr" marL="54000" marR="45000" marT="9000" marB="9000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SONTRIG_ANR_REMOVE_REQUEST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移除關係;保護條目(no_remove)拒絕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過期 / 老化 / 先刪後建(第10、11題)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控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制</a:t>
                      </a:r>
                    </a:p>
                  </a:txBody>
                  <a:tcPr anchor="ctr" marL="54000" marR="45000" marT="9000" marB="9000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SONTRIG_ANR_FLAG_REQUEST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set/clear hoBlocklist 等旗標,A3 略過目標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有害鄰居秒級止血(第7題)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控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制</a:t>
                      </a:r>
                    </a:p>
                  </a:txBody>
                  <a:tcPr anchor="ctr" marL="54000" marR="45000" marT="9000" marB="9000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RC_MOBILITY_HO_CONTROL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逐 UE 換手 / CGI steering(指定目標)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撞號秒級止血、指定導向(第5題)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  <a:tr h="248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上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微軟正黑體"/>
                        </a:rPr>
                        <a:t>報</a:t>
                      </a:r>
                    </a:p>
                  </a:txBody>
                  <a:tcPr anchor="ctr" marL="54000" marR="45000" marT="9000" marB="9000">
                    <a:solidFill>
                      <a:srgbClr val="9A6A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35B74"/>
                          </a:solidFill>
                          <a:latin typeface="微軟正黑體"/>
                        </a:rPr>
                        <a:t>SMO_NOTIFY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交管理面(超出 E2 xApp 能力範疇)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202A33"/>
                          </a:solidFill>
                          <a:latin typeface="微軟正黑體"/>
                        </a:rPr>
                        <a:t>Xn 探索 / PCI 重配 / 屬性稽核(第6、12題)</a:t>
                      </a:r>
                    </a:p>
                  </a:txBody>
                  <a:tcPr anchor="ctr" marL="54000" marR="45000" marT="9000" marB="9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641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73" y="0"/>
            <a:ext cx="8229600" cy="742950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B3CE5E-4DA0-82D5-70A8-99D7B645D99C}"/>
              </a:ext>
            </a:extLst>
          </p:cNvPr>
          <p:cNvSpPr txBox="1"/>
          <p:nvPr/>
        </p:nvSpPr>
        <p:spPr>
          <a:xfrm>
            <a:off x="542677" y="907611"/>
            <a:ext cx="4599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SzPts val="2400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RAN-SIM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可以支援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xApp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6C2D5D-64D9-A7B1-6E92-290382739D33}"/>
              </a:ext>
            </a:extLst>
          </p:cNvPr>
          <p:cNvSpPr txBox="1"/>
          <p:nvPr/>
        </p:nvSpPr>
        <p:spPr>
          <a:xfrm>
            <a:off x="1417319" y="1432397"/>
            <a:ext cx="60489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5B74"/>
                </a:solidFill>
                <a:latin typeface="微軟正黑體"/>
              </a:rPr>
              <a:t>ANR 驗測 campaign:5 情境端到端閉環(真 RIC xApp 自動診斷→下命令→止血)+ E2 控制 10/10 通過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19" y="1820000"/>
          <a:ext cx="8138160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00000"/>
                <a:gridCol w="2438160"/>
                <a:gridCol w="3800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情境 (ANR情境_v8)</a:t>
                      </a:r>
                    </a:p>
                  </a:txBody>
                  <a:tcPr anchor="ctr" marL="64008" marR="64008" marT="18000" marB="18000">
                    <a:solidFill>
                      <a:srgbClr val="42BA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xApp 操作</a:t>
                      </a:r>
                    </a:p>
                  </a:txBody>
                  <a:tcPr anchor="ctr" marL="64008" marR="64008" marT="18000" marB="18000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實測結果(閉環)</a:t>
                      </a:r>
                    </a:p>
                  </a:txBody>
                  <a:tcPr anchor="ctr" marL="64008" marR="64008" marT="18000" marB="18000">
                    <a:solidFill>
                      <a:srgbClr val="335B7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第1題 缺漏鄰區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REPORTCGI → ADD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9E6A"/>
                          </a:solidFill>
                          <a:latin typeface="微軟正黑體"/>
                        </a:rPr>
                        <a:t>RLF 3.33/min → 0;換手 1:1 取代掉線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第5題 PCI 撞號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REPORTCGI (confusion)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9E6A"/>
                          </a:solidFill>
                          <a:latin typeface="微軟正黑體"/>
                        </a:rPr>
                        <a:t>判定 confusion → 抑制 ADD,NRT 不加錯關係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第7題 有害鄰居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FLAG hoBlocklist=set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9E6A"/>
                          </a:solidFill>
                          <a:latin typeface="微軟正黑體"/>
                        </a:rPr>
                        <a:t>接入失敗(RandomAccessProblem)凍結;A3 略過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第10題 過期對應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(同站換 PCI)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REPORTCGI → REMOVE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→ ADD(先刪後建)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9E6A"/>
                          </a:solidFill>
                          <a:latin typeface="微軟正黑體"/>
                        </a:rPr>
                        <a:t>CellNotAvailable → 0;HO 恢復成功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第11題 老化/自動刪除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REMOVE + 保護判定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9E6A"/>
                          </a:solidFill>
                          <a:latin typeface="微軟正黑體"/>
                        </a:rPr>
                        <a:t>過期 ghost 移除;保護 prot 回 REJECTED_PROTECTED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42BA97"/>
                          </a:solidFill>
                          <a:latin typeface="微軟正黑體"/>
                        </a:rPr>
                        <a:t>E2 控制命令總測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ReportCGI/ADD/FLAG/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202A33"/>
                          </a:solidFill>
                          <a:latin typeface="微軟正黑體"/>
                        </a:rPr>
                        <a:t>REMOVE/HO/PRB/CCC/訂閱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9E6A"/>
                          </a:solidFill>
                          <a:latin typeface="微軟正黑體"/>
                        </a:rPr>
                        <a:t>10/10 通過;ADD/REMOVE/FLAG ACK 皆帶 outcome</a:t>
                      </a:r>
                    </a:p>
                  </a:txBody>
                  <a:tcPr anchor="ctr" marL="64008" marR="64008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486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E520-AA65-5DA0-F613-112787A3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90A8-08EC-93DD-AC27-731B0341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E4FA73-A466-9932-B2D6-96F8156F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accent2"/>
                </a:solidFill>
                <a:latin typeface="+mn-lt"/>
                <a:ea typeface="微軟正黑體"/>
              </a:rPr>
              <a:t>工作規劃</a:t>
            </a:r>
            <a:endParaRPr lang="en-US" altLang="zh-TW" sz="1400" dirty="0">
              <a:solidFill>
                <a:schemeClr val="accent2"/>
              </a:solidFill>
              <a:latin typeface="+mn-lt"/>
              <a:ea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F2152-D5B9-4635-42CC-A44B738FD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18D2-64BC-1D9C-9909-8CF0C7862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43245"/>
              </p:ext>
            </p:extLst>
          </p:nvPr>
        </p:nvGraphicFramePr>
        <p:xfrm>
          <a:off x="764644" y="1971364"/>
          <a:ext cx="7614712" cy="2271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656">
                  <a:extLst>
                    <a:ext uri="{9D8B030D-6E8A-4147-A177-3AD203B41FA5}">
                      <a16:colId xmlns:a16="http://schemas.microsoft.com/office/drawing/2014/main" val="248413856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1062149114"/>
                    </a:ext>
                  </a:extLst>
                </a:gridCol>
                <a:gridCol w="4080406">
                  <a:extLst>
                    <a:ext uri="{9D8B030D-6E8A-4147-A177-3AD203B41FA5}">
                      <a16:colId xmlns:a16="http://schemas.microsoft.com/office/drawing/2014/main" val="259960909"/>
                    </a:ext>
                  </a:extLst>
                </a:gridCol>
              </a:tblGrid>
              <a:tr h="560729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工作性質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工作規劃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預期成果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420317"/>
                  </a:ext>
                </a:extLst>
              </a:tr>
              <a:tr h="855385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拉取真實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RAN 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得資料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到實體環境拿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SMO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DB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中紀錄的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RAN 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的資料</a:t>
                      </a:r>
                      <a:endParaRPr lang="en-US" altLang="zh-TW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微軟正黑體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用實體環境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RAN 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的資訊取代一些 虛擬不同步的資料問題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119418"/>
                  </a:ext>
                </a:extLst>
              </a:tr>
              <a:tr h="855385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做出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near RT RIC 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給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Agent</a:t>
                      </a:r>
                      <a:r>
                        <a:rPr lang="zh-TW" altLang="en-US" sz="1400" dirty="0">
                          <a:latin typeface="+mn-lt"/>
                          <a:ea typeface="微軟正黑體" panose="020B0604030504040204" pitchFamily="34" charset="-120"/>
                        </a:rPr>
                        <a:t>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串接 </a:t>
                      </a:r>
                      <a:r>
                        <a:rPr lang="en-US" altLang="zh-TW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RAN+</a:t>
                      </a:r>
                      <a:r>
                        <a:rPr lang="zh-TW" alt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微軟正黑體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400" dirty="0">
                          <a:latin typeface="+mn-lt"/>
                          <a:ea typeface="微軟正黑體" panose="020B0604030504040204" pitchFamily="34" charset="-120"/>
                        </a:rPr>
                        <a:t>near RT RIC</a:t>
                      </a:r>
                      <a:endParaRPr lang="en-US" altLang="zh-TW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微軟正黑體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+mn-lt"/>
                          <a:ea typeface="微軟正黑體"/>
                        </a:rPr>
                        <a:t>實測</a:t>
                      </a:r>
                      <a:r>
                        <a:rPr lang="en-US" altLang="zh-TW" sz="1400" dirty="0" err="1">
                          <a:latin typeface="+mn-lt"/>
                          <a:ea typeface="微軟正黑體"/>
                        </a:rPr>
                        <a:t>xApp</a:t>
                      </a:r>
                      <a:r>
                        <a:rPr lang="zh-TW" altLang="en-US" sz="1400" dirty="0">
                          <a:latin typeface="+mn-lt"/>
                          <a:ea typeface="微軟正黑體"/>
                        </a:rPr>
                        <a:t>  有資料給 </a:t>
                      </a:r>
                      <a:r>
                        <a:rPr lang="en-US" altLang="zh-TW" sz="1400" dirty="0" err="1">
                          <a:latin typeface="+mn-lt"/>
                          <a:ea typeface="微軟正黑體"/>
                        </a:rPr>
                        <a:t>xApp</a:t>
                      </a:r>
                      <a:r>
                        <a:rPr lang="zh-TW" altLang="en-US" sz="1400" dirty="0">
                          <a:latin typeface="+mn-lt"/>
                          <a:ea typeface="微軟正黑體"/>
                        </a:rPr>
                        <a:t>分析 並下命六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20087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E18E0369-6730-8773-D51F-EC27EFD4429C}"/>
              </a:ext>
            </a:extLst>
          </p:cNvPr>
          <p:cNvSpPr txBox="1"/>
          <p:nvPr/>
        </p:nvSpPr>
        <p:spPr>
          <a:xfrm>
            <a:off x="977900" y="1560300"/>
            <a:ext cx="5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OAI</a:t>
            </a:r>
            <a:r>
              <a:rPr lang="zh-TW" altLang="en-US" dirty="0"/>
              <a:t> 設定檔案 </a:t>
            </a:r>
            <a:r>
              <a:rPr lang="en-US" altLang="zh-TW" dirty="0"/>
              <a:t>(</a:t>
            </a:r>
            <a:r>
              <a:rPr lang="zh-TW" altLang="en-US" dirty="0"/>
              <a:t>流量 </a:t>
            </a:r>
            <a:r>
              <a:rPr lang="en-US" altLang="zh-TW" dirty="0"/>
              <a:t>UE</a:t>
            </a:r>
            <a:r>
              <a:rPr lang="zh-TW" altLang="en-US" dirty="0"/>
              <a:t> </a:t>
            </a:r>
            <a:r>
              <a:rPr lang="en-US" altLang="zh-TW" dirty="0"/>
              <a:t>network </a:t>
            </a:r>
            <a:r>
              <a:rPr lang="en-US" altLang="zh-TW" dirty="0" err="1"/>
              <a:t>silce</a:t>
            </a:r>
            <a:r>
              <a:rPr lang="en-US" altLang="zh-TW" dirty="0"/>
              <a:t>)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8319589"/>
      </p:ext>
    </p:extLst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2824</TotalTime>
  <Words>675</Words>
  <Application>Microsoft Office PowerPoint</Application>
  <PresentationFormat>如螢幕大小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10</cp:revision>
  <dcterms:modified xsi:type="dcterms:W3CDTF">2026-08-12T02:49:59Z</dcterms:modified>
</cp:coreProperties>
</file>